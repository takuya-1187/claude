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95728"/>
            <a:ext cx="128016" cy="155448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大学担当者育成勉強会（全4回）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920240" cy="566928"/>
          </a:xfrm>
          <a:prstGeom prst="roundRect">
            <a:avLst>
              <a:gd name="adj" fmla="val 3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第 4 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— シリーズ最終回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世界が変わる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BFE8D2"/>
                </a:solidFill>
                <a:latin typeface="Meiryo UI"/>
                <a:ea typeface="Meiryo UI"/>
              </a:rPr>
              <a:t>〜 集めた情報を「武器」に変え、エリア戦略を描く 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2026年8月6日（木）｜60〜90分（内容により＋30分延長）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BFE8D2"/>
                </a:solidFill>
                <a:latin typeface="Meiryo UI"/>
                <a:ea typeface="Meiryo UI"/>
              </a:rPr>
              <a:t>全員が主体的に参加：10分レクチャー × ワーク × 共有</a:t>
            </a:r>
          </a:p>
          <a:p>
            <a:pPr algn="l"/>
            <a:r>
              <a:rPr sz="1200" b="0" i="0">
                <a:solidFill>
                  <a:srgbClr val="9ECFB8"/>
                </a:solidFill>
                <a:latin typeface="Meiryo UI"/>
                <a:ea typeface="Meiryo UI"/>
              </a:rPr>
              <a:t>進行：腎臓領域担当（大学・基幹病院担当）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CHECK-IN｜5分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チェックイン：まず、全員で口を開く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Q. この3回の勉強会で、あなたの</a:t>
            </a:r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実際の動き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が変わったことを</a:t>
            </a:r>
          </a:p>
          <a:p>
            <a:pPr algn="ctr"/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ひとつだけ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教えてください（1人30秒）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順番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指名リレー方式。話した人が次の人を指名する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30秒厳守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短いほど良い。「小さな変化」こそ価値がある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メモ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他の人の変化で「真似したい」ものを1つメモする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ねらい：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最初の5分で全員が発言すると、この後のワークの発言ハードルが一気に下がります。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「変わったことが思いつかない」もOK。「変わらなかった理由」が今日の学びの出発点になります。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この90分は、62名のアンケートから設計しました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27632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皆さんの不安 TOP5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27632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皆さんの期待 TOP5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76272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① 継続面会・アポネタの獲得（最多）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ワーク①＋「アポネタ製造機」で直接回答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39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② 医局の構造・人間関係・肩書きの意味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構造マップの型＋付録D「肩書き早見表」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93007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③ 教わったことがない・自己流でやってきた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「型」で目線合わせ：構造マップ × 4Sシート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51375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④ 腎領域の知識・専門的な対話への不安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「教えてください」の武器化＋気づきリストで知を蓄積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09743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⑤ 寄附金・宣伝許可などのルール</a:t>
            </a:r>
          </a:p>
          <a:p>
            <a:pPr algn="l"/>
            <a:r>
              <a:rPr sz="1000" b="1" i="0">
                <a:solidFill>
                  <a:srgbClr val="C00000"/>
                </a:solidFill>
                <a:latin typeface="Meiryo UI"/>
                <a:ea typeface="Meiryo UI"/>
              </a:rPr>
              <a:t>→ 付録E「コンプライアンスの5原則」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76272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① 他メンバーの事例・考え方（圧倒的最多）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共有を3回設計＋「全国気づきリスト」を今日から開始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② 明日から使える実践スキル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7つの習慣・アポネタ・ネクストアクション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493007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③ 大学担当としての型・基本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構造マップと4S、2つの「型」を持ち帰る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51375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④ エリア戦略・優先順位付け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今日の本丸：レクチャー③＋「3つのモノサシ」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809743"/>
            <a:ext cx="525780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 tIns="36576" bIns="36576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⑤ 全国の横のつながり</a:t>
            </a:r>
          </a:p>
          <a:p>
            <a:pPr algn="l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→ 気づきリスト＝このメンバーで続くネットワークの起点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14416"/>
            <a:ext cx="10698480" cy="56692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回答いただいた62名の皆さん、ありがとうございました。</a:t>
            </a:r>
          </a:p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このアンケートが今日の設計図です。扱いきれないテーマは付録と「気づきリスト」で持ち帰れるようにしています。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ここまでの歩み — 今日は「集めた情報」を回収する回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7" name="Chevron 6"/>
          <p:cNvSpPr/>
          <p:nvPr/>
        </p:nvSpPr>
        <p:spPr>
          <a:xfrm>
            <a:off x="594360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大学・基幹病院のイロハ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大学担当者に求められる視点を理解し、医師・施設の影響力構造とニーズを説明できる</a:t>
            </a:r>
          </a:p>
        </p:txBody>
      </p:sp>
      <p:sp>
        <p:nvSpPr>
          <p:cNvPr id="9" name="Chevron 8"/>
          <p:cNvSpPr/>
          <p:nvPr/>
        </p:nvSpPr>
        <p:spPr>
          <a:xfrm>
            <a:off x="3447288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「会えない」を「会える」に変える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医師の行動パターンを基にBest Time / Best Placeを特定し、面談機会を設計できる</a:t>
            </a:r>
          </a:p>
        </p:txBody>
      </p:sp>
      <p:sp>
        <p:nvSpPr>
          <p:cNvPr id="11" name="Chevron 10"/>
          <p:cNvSpPr/>
          <p:nvPr/>
        </p:nvSpPr>
        <p:spPr>
          <a:xfrm>
            <a:off x="6300216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やっぱりMRは情報が命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施設・医師の仮説に基づき、必要な情報を意図的に取りに行く行動を設計・実行できる</a:t>
            </a:r>
          </a:p>
        </p:txBody>
      </p:sp>
      <p:sp>
        <p:nvSpPr>
          <p:cNvPr id="13" name="Chevron 12"/>
          <p:cNvSpPr/>
          <p:nvPr/>
        </p:nvSpPr>
        <p:spPr>
          <a:xfrm>
            <a:off x="9153144" y="1828800"/>
            <a:ext cx="2971800" cy="777240"/>
          </a:xfrm>
          <a:prstGeom prst="chevron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第4回　★本日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ちょっと分かるだけで世界が変わる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収集した情報から4Sシートを用いて、エリアの課題・原因・解決方法を可視化できる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623560"/>
            <a:ext cx="11109960" cy="6858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第3回で「集め方」を学んだ情報は、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整理して・意味づけて・行動に変えて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初めて成果になる。今日はその変換装置を手に入れる回。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TOOLBOX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第1〜3回で手に入れた「道具」を、今日すべて使う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783080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影響力構造のメガネ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偉さと役割の違い・採用ルール・大学の影響圏という「見る目」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955279" y="2194560"/>
            <a:ext cx="411480" cy="384048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8200" y="1783080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ワーク①：構造マップの土台になる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172968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Best Time × Best Place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医師の導線・スケジュール仮説から面談機会を設計する技術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55279" y="3584448"/>
            <a:ext cx="411480" cy="38404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3172968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特定したキーパーソンに「実際に会いに行く」計画で使う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62856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4562856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情報源マップ＋Wetな情報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Link・スマイルPJ等のDry情報と、現場でつかむWet情報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55279" y="4974336"/>
            <a:ext cx="411480" cy="384048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4562856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ワーク②：4Sシートの「根拠」になる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今日の90分は、3回分の学びの総決算。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道具はもう揃っている。あとは組み合わせて「戦略」にするだけ。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本日のゴール — 帰るときに、この状態になっている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収集した情報から４Sシートを用いて、エリアの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課題・原因・解決方法を可視化</a:t>
            </a: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①　整理する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971800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施設情報を「構造（人・役割・関係性）」で整理し、キーパーソンを特定できる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0" y="2971800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95928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②　変換する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3995928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「知っている」を「動ける」に変える。事実→解釈→打ち手を4Sシートで1枚に描ける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0" y="3995928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0056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③　繋げる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5020056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大学で分かったことを起点に、エリアアプローチ戦略を自分の言葉で説明できる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5020056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レクチャー③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シリーズのゴール：担当者としての「自覚」＝ 自分が誰よりもこの施設・このエリアを分かっている、という状態。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本日の進め方（90分設計・60分短縮対応）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6420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00–05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19" y="166420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チェックイン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6420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3回の振り返りを1人30秒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66420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9913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05–15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19913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19913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情報を「構造」で整理する／キーパーソンの見つけ方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19913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3405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15–30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73405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73405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担当施設の構造マップを描く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73405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8980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30–40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268980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268980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ペアで質問をプレゼント → 全体共有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3268980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ペア＋全体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803904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40–50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803904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3803904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「知っている」を「動ける」に変える／4Sシートの書き方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3803904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3882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50–70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433882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33882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自施設の4Sシートを作成（成功像→課題→原因→解決策）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433882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7375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70–80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487375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80" y="487375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3人グループで発表＋フィードバック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487375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グループ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0867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80–90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74519" y="540867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レクチャー③＋まとめ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0" y="540867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エリア戦略へ繋げる／ギフト集（持ち帰り可）／明日からの行動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58400" y="540867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講義＋全員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98932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⏱ 60分で終える場合：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ワーク①を10分・ワーク②を15分に短縮／共有はペアのみ／レクチャー③は資料配布＋3分要約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情報は、集めただけでは1円にもならない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第3回の到達点：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「何を・どこで」つかむか（デスクトップリサーチ＋Wetな情報）は身についた。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28A54"/>
                </a:solidFill>
                <a:latin typeface="Meiryo UI"/>
                <a:ea typeface="Meiryo UI"/>
              </a:rPr>
              <a:t>点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集める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面会メモ、HP、Veeva Link、医局の貼り紙、廊下の会話…バラバラの事実の山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77639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B88A00"/>
                </a:solidFill>
                <a:latin typeface="Meiryo UI"/>
                <a:ea typeface="Meiryo UI"/>
              </a:rPr>
              <a:t>線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整理する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人と人・部署と部署を「関係」で結ぶ＝今日のワーク①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72400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00000"/>
                </a:solidFill>
                <a:latin typeface="Meiryo UI"/>
                <a:ea typeface="Meiryo UI"/>
              </a:rPr>
              <a:t>面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意味づける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施設全体・エリア全体の構造が見え、打ち手が浮かぶ ＝今日のワーク②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62626"/>
                </a:solidFill>
                <a:latin typeface="Meiryo UI"/>
                <a:ea typeface="Meiryo UI"/>
              </a:rPr>
              <a:t>多くのMRは「点」で止まる。</a:t>
            </a:r>
          </a:p>
          <a:p>
            <a:pPr algn="l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同じ情報量でも、「線」と「面」にした人だけが次の一手を打てる。今日やるのは、この2段の変換。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「構造」で整理する — 人・役割・関係性の3点セット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人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・教授・准教授・講師・助教・医員・専攻医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・外来／病棟／透析室などの担当医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・薬剤部・看護部・地域連携室・医事課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役割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誰が何を決めるか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・診療方針を決める人（≠処方を書く人）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・採用・院内手続きを動かす人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・若手を教える人／勉強会を仕切る人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誰と誰が繋がるか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・医局人事：関連病院の部長は誰の系列か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・紹介・逆紹介：患者はどこから来てどこへ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・師弟・同門・研究グループの繋がり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10515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ポイント：役職表は病院HPに載っている。載っていない「役割」と「関係性」こそMRの付加価値。</a:t>
            </a:r>
          </a:p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第1回で学んだ「この先生、どれだけ偉い？」は肩書の話。今日は「この先生、何を動かせる？」に進化させる。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キーパーソンは「役職」ではなく「影響力」で見る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次の5つの問いに固有名詞で答えられれば、その診療科は「分かっている」と言える。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12848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6192" y="2212848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治療方針は、誰の一言で決まる？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2212848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◎ 方針決定者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9504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36192" y="2889504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新しい治療を最初に試すのは、誰？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889504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○ アーリーアダプター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" y="3566160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若手が困ったとき、誰に聞きに行く？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56616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B88A00"/>
                </a:solidFill>
                <a:latin typeface="Meiryo UI"/>
                <a:ea typeface="Meiryo UI"/>
              </a:rPr>
              <a:t>★ 情報ハブ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42816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36192" y="4242816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紹介患者の受け入れ・行き先を差配するのは、誰？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4242816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◇ 連携の要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19472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36192" y="4919472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研究会・講演会など「外の顔」は、誰？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4919472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□ 対外の顔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69280"/>
            <a:ext cx="10698480" cy="804672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5つの答えは同一人物とは限らない。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「教授＝キーパーソン」と決めつけた瞬間、他の4人が見えなくなる。</a:t>
            </a:r>
          </a:p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学会の重鎮（KOL）と、その施設で物事を動かす人（キーパーソン）は別モノ。両方をマップに書き分ける。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構造マップの描き方 — 例：A大学病院 腎臓内科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6858000" cy="42062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院内（腎臓内科）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148840"/>
            <a:ext cx="2103120" cy="77724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◎方針決定・医局人事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医局長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★情報ハブ・人事実務
講演／面会の窓口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病棟医長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○入院治療の実務リーダー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外来医長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◇紹介患者の受付・差配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助教（臨床研究）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○新規治療の導入役
若手の相談相手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専攻医・医員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実処方の担い手
数年で関連病院へ異動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透析室・コメディカル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薬剤部・看護・連携室
※情報の宝庫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920240" y="2926080"/>
            <a:ext cx="17830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03320" y="2926080"/>
            <a:ext cx="45720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03320" y="2926080"/>
            <a:ext cx="26974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024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6052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0080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1691640"/>
            <a:ext cx="3794760" cy="4206240"/>
          </a:xfrm>
          <a:prstGeom prst="roundRect">
            <a:avLst>
              <a:gd name="adj" fmla="val 4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院外（エリア）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1945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基幹病院B 腎臓内科部長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元・同医局。教授の直系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31089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連携病院C・クリニック群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紹介元。逆紹介の受け皿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40233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県の研究会・地方会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教授が代表世話人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9377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医師会・行政（健診）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早期発見の入口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98079" y="2514600"/>
            <a:ext cx="502921" cy="4572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498079" y="3474720"/>
            <a:ext cx="502921" cy="9144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54880" y="2377440"/>
            <a:ext cx="3246120" cy="13716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6035040"/>
            <a:ext cx="6858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◎方針決定　○実行・導入　★情報ハブ　◇連携の要　</a:t>
            </a: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点線＝院外との関係（人事・紹介・研究会）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60350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※本スライドの例はすべて架空です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①｜15分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自分の担当施設の「構造マップ」を描く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担当大学（または基幹病院）の診療科を1つ選び、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記憶だけで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構造マップを描いてください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1（7分）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278892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人を書く：役職・名前を思い出せる限り配置する（テンプレは巻末）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2（4分）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56616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マークを付ける：◎方針決定 ○実行 ★情報ハブ ◇連携の要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3（4分）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34340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「？」を付ける：書けない・自信がない場所に赤で？を付ける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6858000" cy="1051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このワークの主役は「？」。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スラスラ書ける部分はもう財産。書けない場所＝次の面会で聞くべきことリスト。？が多い人ほど収穫の多いワークです。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691640"/>
            <a:ext cx="361188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28600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ルール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・スマホ・Veeva Linkは見ない（記憶が実力）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・名前が出なければ「メガネの若い先生」でOK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・医師以外（薬剤部・連携室・秘書）も必ず入れる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・きれいに書かない。手が止まったら次のSTEPへ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共有：ペアで「質問」をプレゼントし合う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隣の人とペアになり、お互いのマップを見せ合う（1人3分×2）→ 最後に全体で2名共有（4分）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話す人（3分）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・マップを見せながら診療科の構造を説明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・「？」の場所＝自分が知らないことを白状する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・一番のキーパーソンだと思う人と、その理由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聞く人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・「その人は誰と繋がっていますか？」と関係性を掘る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・自分の施設との共通点・違いを探す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・最後に「次の面会でこれを聞いたら？」という質問を1つプレゼント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他人のマップは最高の鏡。</a:t>
            </a: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「自分の施設ではこの箱が空欄だ」という気づきが、そのまま行動計画になる。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最大の不安「継続面会・アポネタ」— ネタは、施設の中にある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アンケート最多の不安への答え：</a:t>
            </a: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いま作った構造マップが、そのまま「アポネタ製造機」になります。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①「？」は最高のアポネタ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62656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37160" bIns="36576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「先生、○○について教えてください」— 教えを乞う面会は断られにくい。マップの？の数だけ面会理由がある。完全アポ制の施設なら、秘書さん・連携室経由で聞くのも立派な一手。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② 仮説をぶつける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962656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37160" bIns="36576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「私はこう理解していますが、合っていますか？」— 仮説の確認は医師の知的関心をくすぐる、一段上のアポネタ。4Sシートの成功像や原因が、そのままディスカッションテーマになる。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③ 情報を先に贈る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962656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37160" bIns="36576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学会・地域・連携の情報を先にギフトする。「あのMRは持ってくる」と認知されれば、次の面会は先生の方から理由をくれるようになる。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577840"/>
            <a:ext cx="10698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「アポネタがない」は、「施設をまだ分かっていない」の別名。</a:t>
            </a:r>
          </a:p>
          <a:p>
            <a:pPr algn="ctr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分かるほど、ネタは無限に湧く — だから今日の学びは、明日のアポに直結する。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「知っている」と「動ける」の間 — 事実→解釈→打ち手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事実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Fact：何を知った？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8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解釈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So What?：だから何が起きる？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Now What?：だから私は何をする？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「教授が来年3月で退官予定らしい」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医局長との雑談で得た、たった一言のWetな情報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・後任人事で診療方針が変わり得る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・医局員の玉突き異動が起きる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・関連病院の部長ポストも動く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・研究会の世話人体制が変わる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B88A00"/>
                </a:solidFill>
                <a:latin typeface="Meiryo UI"/>
                <a:ea typeface="Meiryo UI"/>
              </a:rPr>
              <a:t>→ 1つの事実から未来が4つ見える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・後任候補（准教授・医局長）との関係を今から築く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・異動しそうな中堅の「行き先」を追う準備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・チーム・上司に共有し、エリア計画に反映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→ 半年後、「なぜ君はもう知ってるの？」と言われる側になる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06440"/>
            <a:ext cx="10698480" cy="5486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この「So What? / Now What?」を、施設・エリア単位で体系的にやる道具が 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４Sシート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— 課題・原因・解決方法を1枚で可視化する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あるべき姿・ゴール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50591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担当施設・エリアが「こうなっていたら最高」という状態を具体的に書く。ここから書き始めるのが鉄則。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理想とのGAP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50591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成功像と現実の差分を書く。「〜できていない」「〜が滞っている」。数字や事実で書けると強い。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なぜそのGAPがあるのか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9087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課題の裏にある真因。「なぜ？」を3回繰り返して、表面的な理由の奥まで掘る。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自分は何を打つか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9087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原因を解消する打ち手。講演会・面会・資材・連携…会社の武器と自分の行動を組み合わせる。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60720" y="237744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 rot="2700000">
            <a:off x="5870448" y="3493008"/>
            <a:ext cx="384048" cy="43891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5760720" y="461772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11539728" y="2331720"/>
            <a:ext cx="292608" cy="3017520"/>
          </a:xfrm>
          <a:prstGeom prst="up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5943600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書く順番：①成功像 → ②現状・課題 → ③原因 → ④解決策。</a:t>
            </a: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　現状から書くと「愚痴のリスト」、理想から書くと「戦略」になる。</a:t>
            </a:r>
          </a:p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仕上げの確認：④→①へ戻り「この打ち手で、成功像に本当に近づくか？」をチェック — これで4Sが1周閉じる。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記入例：腎臓内科 × エリア連携（架空の例）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エリアの連携病院・クリニックから、専門治療が必要な患者さんが適切なタイミングで大学に紹介され、安定した患者さんは地域に逆紹介される「双方向の流れ」ができている。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紹介はあるが、かなり進行してからの紹介が中心。逆紹介も滞りがちで大学外来がパンク気味。連携の「入口」も「出口」も詰まっている。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原因（なぜ×3）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なぜ遅い？→紹介の目安が浸透していない → なぜ？→大学と地域の医師が診療科レベルで顔見知りでない → なぜ？→合同で話す「場」がここ数年ない。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教授（対外の顔）×連携病院の先生方による地域連携の場（研究会・講演会）を企画し、紹介・逆紹介の目安を共有。医局長（情報ハブ）を実務窓口に、連携室と共催で設計する。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43600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注目：</a:t>
            </a: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「講演会」が先にあるのではない。成功像→課題→原因と掘った結果、手段として会が出てくる。この順番が説得力の正体。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最後に④→①の確認：「この会で紹介の目安が共有されれば、双方向の流れに近づくか？」→ Yesなら実行。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「良い4S」と「惜しい4S」— 3つのチェックポイント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169164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課題は「ギャップ」で書けているか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「〜できていない」単体は感想。成功像とセットで初めて課題になる。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691640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先生に会えていない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成功像は月2回の情報交換。現状は月0回、面会は挨拶のみ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27832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3227832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原因は「なぜ」を3回掘ったか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1回目の「なぜ」は大抵、環境のせい。3回掘ると自分の打ち手が見える。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227832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先生が忙しいから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忙しい中でも会う医師はいる → 優先されない → 会う価値を提示できていない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64024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12848" y="4764024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解決策は「自分が動ける」ことか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主語が自分でない解決策は実行されない。明日の自分の行動で書く。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4764024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本社が資材を作るべき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私が医局長に○○の相談をし、△△を企画する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3620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△＝惜しい例　○＝直した例。ワーク②の後、この3つで自分のシートをセルフチェックします。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②｜20分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自分の担当施設・エリアで「4Sシート」を書く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ワーク①のマップと手持ちの情報を総動員して、担当施設（またはエリア）の4Sシートを1枚書き切る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78892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2736" y="2788920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1年後、この施設・エリアが「こうなっていたら最高」を具体的に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38727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9928" y="3538727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3538727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成功像とのGAPを事実ベースで。数字が入るとなお良い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88536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4288536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6" y="4288536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「なぜ？」を3回。人・関係性・場の不足まで掘る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5038344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2736" y="5038344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主語は自分。誰に・何を・いつやるかまで書く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52160"/>
            <a:ext cx="685800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合言葉：完璧より仮説。60点で書き切る。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　空欄はワーク①の「？」と同じ、次の宿題。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69164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01168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困ったときのヒント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 「上司に自慢したい状態」を想像する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マップの「？」や、詰まっている流れ（紹介・面会・採用）を探す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・原因が浅い → 「それでも動く人がいるのはなぜ？」と自問する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・解決策が出ない → キーパーソン（◎○★◇）を1人選び、その人と何をするかを考える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共有：3人グループで「戦略」として語る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315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3人1組。1人3分（発表2分＋フィードバック1分）× 3ラウンド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発表者（2分）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4Sシートを見せず、口頭で語るのがおすすめ：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「私の施設は本当は◯◯◯になれるはずです（成功像）。でも今は△△△です（課題）。原因は□□□。だから私は◇◇◇をやります（解決策）」</a:t>
            </a:r>
          </a:p>
          <a:p>
            <a:pPr algn="l"/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→ この型で話せたら、もう支店会議で戦略を語れる。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聞き手（1分でフィードバック）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質問はこの2つだけ：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❶ 「その原因、本当に真因ですか？」（もう1回なぜ？を促す）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❷ 「その解決策、あなたにしかできない要素はどこ？」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ダメ出しではなく、シートを1段深くするための質問。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15000"/>
            <a:ext cx="10698480" cy="64008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時間が余ったグループは：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3枚のシートに共通する「エリアの課題」がないか探してみる → レクチャー③に繋がります。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③｜5分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大学は「エリアのハブ」— 4Sをエリア戦略へ広げる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大学が分かると、なぜエリア全体が見えるのか。大学には3つの「流れ」の源流があるから。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医師の流れ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関連病院の部長・医長は元医局員。大学の人事が動けば、エリアの処方方針も動く。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紹介・逆紹介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重症例は大学へ、安定例は地域へ。この動線が分かれば「どの施設に何を届けるか」が決まる。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情報の流れ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研究会・講演会・治療方針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大学発の治療方針は、時間差でエリアに広がる。源流を知る人は先回りできる。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10698480" cy="12344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エリアストーリーの型（この1文で語れれば合格）</a:t>
            </a:r>
          </a:p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「大学で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が分かった。だからエリアでは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が起きるはず。だから私は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□□（施設）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◇◇（行動）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を始める」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③｜5分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全部は回れない — エリアの優先順位「3つのモノサシ」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期待の声「県全体の攻略」「優先順位付け」への答え：施設を3つのモノサシで採点し、攻める順番を決める。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モノサシ①　</a:t>
            </a: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医局の繋がりの太さ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元医局員がいるか。人事で人が動く先か。大学の方針が波及しやすい施設ほど高得点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モノサシ②　</a:t>
            </a: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患者の流れの量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74320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紹介・逆紹介がどれだけ行き来しているか。流れが太い施設は、変化の影響も大きい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031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モノサシ③　</a:t>
            </a: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動かせる度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4320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会えるか。キーパーソンと関係があるか。どんな好条件も、動かせなければ絵に描いた餅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施設（例）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41648" y="3977639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繋がり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397763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9984" y="397763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動かせる度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5592" y="3977639"/>
            <a:ext cx="333756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打ち方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80559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基幹病院B（部長が元医局員）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1648" y="4480559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94376" y="448055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9984" y="448055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4480559"/>
            <a:ext cx="3337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最優先：足で通う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83479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連携クリニック群C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41648" y="4983479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94376" y="498347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9984" y="498347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65592" y="4983479"/>
            <a:ext cx="3337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連携室・会で面として攻める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486399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遠方のD病院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41648" y="5486399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94376" y="548639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29984" y="5486399"/>
            <a:ext cx="14173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65592" y="5486399"/>
            <a:ext cx="3337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情報収集のみ（今は捨てる）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608076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「頑張って会いに行く施設」と「情報だけ取る施設」を分けるのが戦略。</a:t>
            </a: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　県攻略は、捨てる勇気から始まる。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MINI WORK｜10分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エリアストーリーを30秒で語る（延長時／宿題）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自分の4Sシートから1つ選び、先ほどの型でエリアストーリーを作る（3分）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→ 隣の人に30秒で語る（30秒×2人）→ 全体で1〜2名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36576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記入欄（メモ）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大学で（　　　　　　　　　　　　　）が分かった。だからエリアでは（　　　　　　　　　　　　　）が起きるはず。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だから私は（　　　　　　　　）という施設から、（　　　　　　　　　　　　　）を始める。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4924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60分運営で時間がない場合は宿題に：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次回のチーム会議・上司との同行前に、この1文を作って口頭で伝えてみる。</a:t>
            </a:r>
          </a:p>
          <a:p>
            <a:pPr algn="ctr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「シートを書ける人」より「ストーリーを語れる人」が、エリアを任される人。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今日の気づきを「全国62名の財産」にする — 気づきリスト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STEP 1｜今日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828800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73152" tIns="36576" bIns="36576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終了前に1人1行、「一番の気づき」をチャットに投稿（30秒）。小さな気づきほど歓迎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37360" y="2743200"/>
            <a:ext cx="320040" cy="256032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04495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STEP 2｜今週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044952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73152" tIns="36576" bIns="36576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事務局が「全国気づきリスト」として集約し、録画とあわせて全員（欠席者含む）へ共有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737360" y="3959352"/>
            <a:ext cx="320040" cy="256032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261104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STEP 3｜明日から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4261104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73152" tIns="36576" bIns="36576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現場でうまくいった工夫・事例を随時追加。使ってみた人は「やってみた結果」も書き戻す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1828800"/>
            <a:ext cx="1618488" cy="3300984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なぜ
やるか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アンケートで圧倒的1位の期待は「他メンバーの事例・考え方」。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62名の現場知が1枚のリストに集まれば、どんな研修より強い教材になる。勉強会は今日が最終回、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ネットワークは今日が初回。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私からのギフト：明日から真似できる「大学担当 7つの習慣」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64208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① 面会後5分メモ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Wetな情報は3時間で蒸発する。廊下を出たらその場でメモ。誰が・何を・どんな表情で、まで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64208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② 週1回のHP巡回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外来表・医局員一覧・行事案内の更新は、異動や方針転換の予兆。変化に最初に気づく人になる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24912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③ 秘書さん・連携室に名前を覚えてもらう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面会の成否の3割は「取り次ぎ」で決まる。医師の手前にいる人こそ丁寧に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24912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④ 質問を1つ持って行く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用件がない日ほど「教えてください」が効く。教育的な質問は先生との関係を深める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85615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⑤ 4月と10月は種まき月間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人事異動の直後は、新任の先生も情報を欲しがっている。関係構築のゴールデンタイム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85615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⑥ 若手・専攻医こそ丁寧に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3年後、エリアの関連病院で「あの時のMRさん」として再会する。未来への先行投資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46320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⑦ 情報は先に差し出す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学会・地域・連携の情報を先にギブする。情報は、出す人のところに集まってくる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46320"/>
            <a:ext cx="5212080" cy="950976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どれも特別な才能は要らない。</a:t>
            </a:r>
          </a:p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1つでも習慣になれば、今日の90分の元は取れます。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4476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※ 時間が押した場合は持ち帰り用。次の1週間で「まず1つ」選んで試してみてください。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視点が変わる「なるほど」6選 — 活動に取り入れてほしい見方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48255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「会えない日」は「観察日」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面会ゼロでも収穫はある。外来表・掲示板・待合の混み具合・医局前の空気が施設を語っている。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73736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2048255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医師の後ろに「流れ」を見る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目の前の1人は、人事・患者・情報という3つの流れの結節点。1人の言葉からエリアが読める。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3736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2048255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大学1施設＝エリア10施設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大学での30分は、関連病院10軒分の価値になり得る。だから大学担当は「割に合う」仕事。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97096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「知らない」と言えるのは強さ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分からないことを「？」として言語化できた人から成長する。曖昧なままが一番怖い。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7407" y="388620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4197096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会場では「誰と誰が話すか」を見る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講演会・研究会は構造マップの答え合わせの場。演題より人の繋がりに注目する。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3886200"/>
            <a:ext cx="3493008" cy="201168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eiryo UI"/>
                <a:ea typeface="Meiryo UI"/>
              </a:rPr>
              <a:t>なるほど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4197096"/>
            <a:ext cx="3493008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3657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記録は「未来の自分」への申し送り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構造マップと4Sは、担当が変わっても戦える資産。引き継ぎ資料としても最強。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989320"/>
            <a:ext cx="1069848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共通点：どれも「追加の時間」はほぼゼロ。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変えるのは行動量ではなく、ものの見方。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４Sシートを完璧に仕上げる「8つのコツ」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64208"/>
            <a:ext cx="5257800" cy="47548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書くときの4つ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64208"/>
            <a:ext cx="525780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磨くときの4つ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31136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1．成功像は「日付＋固有名詞＋状態」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「1年後、B病院から早期の紹介が月5件ある」— 曖昧な理想は測れず、測れないものは達成できない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2．主役は患者さんと医療の姿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自社都合の成功像は医師に見せられない。医療の姿で書けば、そのまま先生と共有できる4Sになる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9664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3．課題は数字とセット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「少ない」ではなく「月1件」。数字で書けない課題は、現状把握がまだ足りないサイン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38928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4．原因は「人・関係性・場・情報」の4方向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この4分類で探すと漏れがない。大抵の真因は「場がない」「関係が診療科レベルでない」に潜む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231136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5．3回目の「なぜ」は自分に向ける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環境のせいで終わらせず「自分に何が足りない？」まで掘る。そこから先だけが自分で変えられる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00400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6．解決策は「電話1本サイズ」に割る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最初の一歩が小さいほど実行される。「連携室に共催の前例を1本聞く」から始まる戦略もある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69664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7．2分で語れるかテスト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シートを見ずに語れない箇所＝考え切れていない箇所。語る練習が最高の推敲になる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38928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8．四半期に1回、書き直す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4Sは提出物ではなく「生きた作戦板」。情報が更新されたら書き換えるから武器であり続ける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4476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今日のワーク②では1〜4を、宿題（2週間以内の上司共有）では5〜8を意識してみてください。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大学担当がやりがちな3つの失敗と処方箋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698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どれも「頑張っている人」ほど陥る罠。先に知っておけば、数年分ショートカットできます。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4754880" cy="120700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失敗①　教授にだけ通う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「教授に会えている＝担当できている」という錯覚。教授は多忙で、現場の情報はむしろ薄い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96128" y="2505456"/>
            <a:ext cx="457200" cy="40233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103120"/>
            <a:ext cx="5257800" cy="120700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医局長・若手・コメディカルまで「面」で通う。構造マップの◎○★◇を巡回ルートにする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56432"/>
            <a:ext cx="4754880" cy="120700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失敗②　集めて満足する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手帳は情報でいっぱい、でも行動はゼロ。「情報通のMR」で止まってしまう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96128" y="3858768"/>
            <a:ext cx="457200" cy="40233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3456432"/>
            <a:ext cx="5257800" cy="120700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情報を得た日は「So What?（だから何）」を1行書き足す。書けない情報は、まだ活かせていない情報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09744"/>
            <a:ext cx="4754880" cy="120700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失敗③　講演会が目的化する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「開催すること」がゴールになり、成功像が消える。終わった後に何も変わらない会になる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5212080"/>
            <a:ext cx="457200" cy="40233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4809744"/>
            <a:ext cx="5257800" cy="120700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処方箋</a:t>
            </a:r>
          </a:p>
          <a:p>
            <a:pPr algn="l">
              <a:lnSpc>
                <a:spcPct val="122000"/>
              </a:lnSpc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4Sの④→①確認を使う：「この会で成功像に近づくか？」にYesと言えない企画は、やり直す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172200"/>
            <a:ext cx="10698480" cy="384048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失敗は恥ではなく教材。今日の4Sシートには、この3つの「防止装置」がすでに組み込まれています。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GIFT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４S習熟度セルフチェック — 自分は今どのレベル？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709160"/>
            <a:ext cx="2542032" cy="12344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09728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LEVEL 1</a:t>
            </a:r>
          </a:p>
          <a:p>
            <a:pPr algn="ctr">
              <a:spcAft>
                <a:spcPts val="500"/>
              </a:spcAft>
            </a:pPr>
            <a:r>
              <a:rPr sz="1550" b="1" i="0">
                <a:solidFill>
                  <a:srgbClr val="128A54"/>
                </a:solidFill>
                <a:latin typeface="Meiryo UI"/>
                <a:ea typeface="Meiryo UI"/>
              </a:rPr>
              <a:t>埋められる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4つの箱を自分の言葉で書き切れる</a:t>
            </a:r>
          </a:p>
          <a:p>
            <a:pPr algn="l"/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← 今日、全員ここに到達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4023360"/>
            <a:ext cx="2542032" cy="192024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09728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LEVEL 2</a:t>
            </a:r>
          </a:p>
          <a:p>
            <a:pPr algn="ctr">
              <a:spcAft>
                <a:spcPts val="500"/>
              </a:spcAft>
            </a:pPr>
            <a:r>
              <a:rPr sz="1550" b="1" i="0">
                <a:solidFill>
                  <a:srgbClr val="1F3864"/>
                </a:solidFill>
                <a:latin typeface="Meiryo UI"/>
                <a:ea typeface="Meiryo UI"/>
              </a:rPr>
              <a:t>根拠がある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全項目が数字・固有名詞で裏づけられている</a:t>
            </a:r>
          </a:p>
          <a:p>
            <a:pPr algn="l"/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目安：2週間以内（上司共有まで）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3337560"/>
            <a:ext cx="2542032" cy="26060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09728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LEVEL 3</a:t>
            </a:r>
          </a:p>
          <a:p>
            <a:pPr algn="ctr">
              <a:spcAft>
                <a:spcPts val="500"/>
              </a:spcAft>
            </a:pPr>
            <a:r>
              <a:rPr sz="1550" b="1" i="0">
                <a:solidFill>
                  <a:srgbClr val="B86A00"/>
                </a:solidFill>
                <a:latin typeface="Meiryo UI"/>
                <a:ea typeface="Meiryo UI"/>
              </a:rPr>
              <a:t>2分で語れる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シートを見ずに、質問にも答えながら戦略として話せる</a:t>
            </a:r>
          </a:p>
          <a:p>
            <a:pPr algn="l"/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目安：1ヶ月（実行開始まで）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2651760"/>
            <a:ext cx="2542032" cy="329184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09728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LEVEL 4</a:t>
            </a:r>
          </a:p>
          <a:p>
            <a:pPr algn="ctr">
              <a:spcAft>
                <a:spcPts val="500"/>
              </a:spcAft>
            </a:pPr>
            <a:r>
              <a:rPr sz="1550" b="1" i="0">
                <a:solidFill>
                  <a:srgbClr val="C00000"/>
                </a:solidFill>
                <a:latin typeface="Meiryo UI"/>
                <a:ea typeface="Meiryo UI"/>
              </a:rPr>
              <a:t>エリアへ展開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大学の4Sを、エリア全施設の打ち手に翻訳できる</a:t>
            </a:r>
          </a:p>
          <a:p>
            <a:pPr algn="l"/>
            <a:r>
              <a:rPr sz="1000" b="1" i="0">
                <a:solidFill>
                  <a:srgbClr val="595959"/>
                </a:solidFill>
                <a:latin typeface="Meiryo UI"/>
                <a:ea typeface="Meiryo UI"/>
              </a:rPr>
              <a:t>ここまで来たら、大学担当として一人前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6016752"/>
            <a:ext cx="10661904" cy="45720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卒業基準：</a:t>
            </a: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上司の「あなたのエリア戦略は？」に、4Sの型（成功像→課題→原因→解決策）で即答できること。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ちょっと分かるだけで、世界が変わる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148840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情報は「構造（人・役割・関係性）」で整理した瞬間、武器になる。書けない場所＝次に聞くこと。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72968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変換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3172968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事実→解釈→打ち手。4Sシートに書けば、課題と戦略を1枚で・2分で語れる。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97096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拡張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4197096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大学は医師・患者・情報の流れの源流。大学が分かれば、エリアの打ち手が先回りできる。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49240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シリーズを通じたゴール：担当者としての「自覚」</a:t>
            </a:r>
          </a:p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イロハを知り（第1回）、会えるようになり（第2回）、情報をつかみ（第3回）、今日、それを戦略に変えた。</a:t>
            </a:r>
          </a:p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「この施設とこのエリアのことは、社内の誰よりも私が分かっている」— そう言える担当者になろう。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NEXT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明日からの3つの行動 — 研修を「成果」に変える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今週中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73736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「？」を1つ埋める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構造マップの「？」から1つ選び、次の面会・電話で確認する。医師以外（連携室・薬剤部）に聞くのも立派な一手。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39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2週間以内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063239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4Sを上司・チームに見せる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自分の4Sシートを上司または同僚1人に見せ、「原因は真因か？」のフィードバックを1つもらう。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1ヶ月以内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38912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解決策を1つ実行する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4Sシートの解決策から1つを実行に移す。結果はどうあれ「4Sを回した」経験が財産になる。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69848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情報のメンテナンスを習慣に：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Link・スマイルPJ等での更新チェックを定例化。構造マップと4Sは「生き物」、四半期に1回は書き直す。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6949440" cy="4297680"/>
          </a:xfrm>
          <a:prstGeom prst="roundRect">
            <a:avLst>
              <a:gd name="adj" fmla="val 3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院内：診療科（　　　　　　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10312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教授／診療科長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医局長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病棟医長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外来医長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若手・専攻医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臨床研究の担い手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コメディカル・事務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892807" y="3017520"/>
            <a:ext cx="1947673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840480" y="3017520"/>
            <a:ext cx="338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840480" y="3017520"/>
            <a:ext cx="2624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18120" y="1645920"/>
            <a:ext cx="3749039" cy="4297680"/>
          </a:xfrm>
          <a:prstGeom prst="roundRect">
            <a:avLst>
              <a:gd name="adj" fmla="val 3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1737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院外：エリアとの繋がり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148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関連・基幹病院（元医局員は？）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31089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紹介元・逆紹介先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40690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研究会・地方会（世話人は？）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502920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医師会・行政・健診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6016752"/>
            <a:ext cx="1092708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凡例：◎方針決定　○実行・導入　★情報ハブ　◇連携の要　</a:t>
            </a: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？＝分からない場所（＝次の面会で聞くことリスト）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施設・エリア名（　　　　　　　　　　）　作成日（　　／　　）　作成者（　　　　　　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　— 1年後、こうなっていたら最高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誰が・何を・どうなっている状態か、具体的に。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 成功像とのGAP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事実・数字で。「〜できていない」は成功像とセットで。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原因　— なぜ？×3回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なぜ①→なぜ②→なぜ③（真因）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解決策　— 主語は自分。誰に・何を・いつ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会社の武器（講演会・資材・連携）×自分の行動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144768"/>
            <a:ext cx="10698480" cy="384048"/>
          </a:xfrm>
          <a:prstGeom prst="roundRect">
            <a:avLst>
              <a:gd name="adj" fmla="val 2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セルフチェック：□ 課題はギャップで書けている　□ 原因はなぜ×3　□ 解決策の主語は自分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・事前案内（Outlook）：A4白紙2枚とペン持参、担当施設の顔ぶれを思い出してくる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・録画を回し、気づきリストとセットで欠席者へ共有（アンケートで要望多数）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・ワークは「あと2分」を予告してから切る。延長判断は共有②の前に宣言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・チェックインは自分（進行役）が30秒の見本を最初にやる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・ワーク中は沈黙OKと伝える。机間巡視で1人1声かけ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・共有で出た良い視点は、その場で口頭で「今のは◎」と拾う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・マップが書けない人には「まず外来と病棟の2箱から」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・4Sが止まった人には巻末のヒント欄を指差しで案内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・議論が製品の話に寄ったら「今日は構造と戦略の日」と戻す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次回への接続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・最終回なので、シリーズ全体の感想を1言ずつ集めて終える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・作成した4Sシートは各自のエリア計画・上司面談で活用を宣言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・希望者には構造マップ・4Sのデータ版テンプレを共有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本資料の事例・人名はすべて架空です。実施設の情報を扱う際は社内の情報取り扱いルールに従ってください。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 — 立場の読み方と注意点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27632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27632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76272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方針・人事の最終決定者。ただし多忙で、現場の細部は下のポジションが握っていることが多い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63824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実務の要であり、次期教授候補。3年後のキーパーソンとして関係構築は先行投資になる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51376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実処方と臨床研究の担い手。「教えてください」の相手として最適で、将来は関連病院の幹部に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38928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医局長（役職名は大学ごと）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人事実務・外部窓口の情報ハブ。講演依頼・面会調整はまずこの人、という大学が多い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176272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特任教授・特任講師 など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特定プロジェクトや資金で任用。医局ラインの人事権・決定権とは別枠のことが多い→役割を個別確認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63824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本務は他施設。院内の決定権は限定的だが、施設間ネットワークのハブになっていることがある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51376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退官後の称号で現役の決定権はない。ただし人脈・影響力は健在。研究会や講演会の重鎮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38928"/>
            <a:ext cx="525780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寄附講座（教員）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寄附により設置された講座。本流医局との距離感は大学ごとに全く違う→最初に立ち位置を確認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144768"/>
            <a:ext cx="1069848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肩書きは「地図の記号」。同じ肩書きでも大学ごとに意味が違う — 実際の力関係は構造マップで個別に確かめる。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アンケートの不安「寄附金・広告協賛・宣伝許可・施設ルール」に応えて。攻める活動ほど、守りが土台になる。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566160" cy="71323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69951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訪問・面会・資材配布のルールは施設ごとに違う。着任時と変更時に必ず確認し、迷ったら守りに倒す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07791"/>
            <a:ext cx="3566160" cy="71323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寄附金・広告協賛は「その場で約束しない」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907791"/>
            <a:ext cx="69951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依頼を受けたら即答せず、必ず社内の申請・審査手続きに乗せる。誠実な「持ち帰ります」は信頼を損なわない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12463"/>
            <a:ext cx="3566160" cy="71323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宣伝許可・採用ルールは現行の文書で確認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712463"/>
            <a:ext cx="69951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「前任者がやっていた」は根拠にならない。院内手続きの現行ルールを自分の目で確認する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17136"/>
            <a:ext cx="3566160" cy="71323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迷ったら自己判断しない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4517136"/>
            <a:ext cx="69951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判断基準はプロモーションコードと社内SOP。少しでも迷ったら上司・コンプライアンス部門に相談してから動く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21807"/>
            <a:ext cx="3566160" cy="71323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321807"/>
            <a:ext cx="69951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依頼・回答・手続きの経緯を記録に残す。誠実さの証明であり、先生と自分の両方を守る武器になる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※ 本スライドは一般的な注意喚起です。個別の案件は、必ず最新の社内規程と担当部門の指示に従ってください。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