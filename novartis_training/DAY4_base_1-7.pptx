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402" r:id="rId3"/>
    <p:sldId id="499" r:id="rId4"/>
    <p:sldId id="400" r:id="rId5"/>
    <p:sldId id="393" r:id="rId6"/>
    <p:sldId id="394" r:id="rId7"/>
    <p:sldId id="399" r:id="rId8"/>
    <p:sldId id="396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D533AA-C579-1C45-BEA3-440ECA50460C}" v="3" dt="2026-07-27T11:46:49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拓也 井上" userId="36cefa26ecca6a8b" providerId="LiveId" clId="{654E1465-D65A-515B-9566-95ABAE39F78F}"/>
    <pc:docChg chg="undo custSel addSld delSld modSld">
      <pc:chgData name="拓也 井上" userId="36cefa26ecca6a8b" providerId="LiveId" clId="{654E1465-D65A-515B-9566-95ABAE39F78F}" dt="2026-07-27T11:49:06.077" v="36" actId="1038"/>
      <pc:docMkLst>
        <pc:docMk/>
      </pc:docMkLst>
      <pc:sldChg chg="addSp delSp modSp add del mod">
        <pc:chgData name="拓也 井上" userId="36cefa26ecca6a8b" providerId="LiveId" clId="{654E1465-D65A-515B-9566-95ABAE39F78F}" dt="2026-07-27T11:49:06.077" v="36" actId="1038"/>
        <pc:sldMkLst>
          <pc:docMk/>
          <pc:sldMk cId="2656205384" sldId="393"/>
        </pc:sldMkLst>
        <pc:spChg chg="del">
          <ac:chgData name="拓也 井上" userId="36cefa26ecca6a8b" providerId="LiveId" clId="{654E1465-D65A-515B-9566-95ABAE39F78F}" dt="2026-07-27T11:48:17.748" v="13" actId="478"/>
          <ac:spMkLst>
            <pc:docMk/>
            <pc:sldMk cId="2656205384" sldId="393"/>
            <ac:spMk id="7" creationId="{68A3AD31-DDFC-BA89-25E8-B71709CCAB51}"/>
          </ac:spMkLst>
        </pc:spChg>
        <pc:spChg chg="add mod">
          <ac:chgData name="拓也 井上" userId="36cefa26ecca6a8b" providerId="LiveId" clId="{654E1465-D65A-515B-9566-95ABAE39F78F}" dt="2026-07-27T11:49:06.077" v="36" actId="1038"/>
          <ac:spMkLst>
            <pc:docMk/>
            <pc:sldMk cId="2656205384" sldId="393"/>
            <ac:spMk id="12" creationId="{14366105-51EE-2A58-66B0-3AD72D6C0221}"/>
          </ac:spMkLst>
        </pc:spChg>
      </pc:sldChg>
      <pc:sldChg chg="add del">
        <pc:chgData name="拓也 井上" userId="36cefa26ecca6a8b" providerId="LiveId" clId="{654E1465-D65A-515B-9566-95ABAE39F78F}" dt="2026-07-27T11:46:49.443" v="4"/>
        <pc:sldMkLst>
          <pc:docMk/>
          <pc:sldMk cId="378351639" sldId="394"/>
        </pc:sldMkLst>
      </pc:sldChg>
      <pc:sldChg chg="add del">
        <pc:chgData name="拓也 井上" userId="36cefa26ecca6a8b" providerId="LiveId" clId="{654E1465-D65A-515B-9566-95ABAE39F78F}" dt="2026-07-27T11:46:49.443" v="4"/>
        <pc:sldMkLst>
          <pc:docMk/>
          <pc:sldMk cId="641085143" sldId="396"/>
        </pc:sldMkLst>
      </pc:sldChg>
      <pc:sldChg chg="add del">
        <pc:chgData name="拓也 井上" userId="36cefa26ecca6a8b" providerId="LiveId" clId="{654E1465-D65A-515B-9566-95ABAE39F78F}" dt="2026-07-27T11:46:49.443" v="4"/>
        <pc:sldMkLst>
          <pc:docMk/>
          <pc:sldMk cId="3007888129" sldId="399"/>
        </pc:sldMkLst>
      </pc:sldChg>
      <pc:sldChg chg="modSp add del mod">
        <pc:chgData name="拓也 井上" userId="36cefa26ecca6a8b" providerId="LiveId" clId="{654E1465-D65A-515B-9566-95ABAE39F78F}" dt="2026-07-27T11:46:49.443" v="4"/>
        <pc:sldMkLst>
          <pc:docMk/>
          <pc:sldMk cId="2697407459" sldId="400"/>
        </pc:sldMkLst>
        <pc:spChg chg="mod">
          <ac:chgData name="拓也 井上" userId="36cefa26ecca6a8b" providerId="LiveId" clId="{654E1465-D65A-515B-9566-95ABAE39F78F}" dt="2026-07-27T11:46:49.402" v="3"/>
          <ac:spMkLst>
            <pc:docMk/>
            <pc:sldMk cId="2697407459" sldId="400"/>
            <ac:spMk id="17" creationId="{C23B6A35-B6F0-D784-4F8B-1364DB108CD7}"/>
          </ac:spMkLst>
        </pc:spChg>
      </pc:sldChg>
      <pc:sldChg chg="add del">
        <pc:chgData name="拓也 井上" userId="36cefa26ecca6a8b" providerId="LiveId" clId="{654E1465-D65A-515B-9566-95ABAE39F78F}" dt="2026-07-27T11:46:49.443" v="4"/>
        <pc:sldMkLst>
          <pc:docMk/>
          <pc:sldMk cId="248841499" sldId="402"/>
        </pc:sldMkLst>
      </pc:sldChg>
      <pc:sldChg chg="modSp add del mod">
        <pc:chgData name="拓也 井上" userId="36cefa26ecca6a8b" providerId="LiveId" clId="{654E1465-D65A-515B-9566-95ABAE39F78F}" dt="2026-07-27T11:47:08.564" v="12" actId="20577"/>
        <pc:sldMkLst>
          <pc:docMk/>
          <pc:sldMk cId="2501997366" sldId="499"/>
        </pc:sldMkLst>
        <pc:spChg chg="mod">
          <ac:chgData name="拓也 井上" userId="36cefa26ecca6a8b" providerId="LiveId" clId="{654E1465-D65A-515B-9566-95ABAE39F78F}" dt="2026-07-27T11:47:08.564" v="12" actId="20577"/>
          <ac:spMkLst>
            <pc:docMk/>
            <pc:sldMk cId="2501997366" sldId="499"/>
            <ac:spMk id="17" creationId="{FADAD954-F788-17B4-4954-5A19C0C37BD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B85529-F70A-4750-9FED-7F46D522D6CB}" type="doc">
      <dgm:prSet loTypeId="urn:microsoft.com/office/officeart/2024/layout/NumberedTitleCardList#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B8186F1-4D8D-4F1C-8A3F-E9750182C3BC}">
      <dgm:prSet phldrT="[テキスト]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広瀬正和さん</a:t>
          </a:r>
          <a:endParaRPr kumimoji="1" lang="en-US" altLang="ja-JP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首都圏第一営業所</a:t>
          </a:r>
        </a:p>
      </dgm:t>
    </dgm:pt>
    <dgm:pt modelId="{F6A3CC97-B1D0-4568-B79D-73B7C3DB2F4E}" type="parTrans" cxnId="{0FC7696E-A495-41B7-8A91-10453AA05F10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6642FE9-9D8B-4BF9-9AE6-A4B052F3EA2B}" type="sibTrans" cxnId="{0FC7696E-A495-41B7-8A91-10453AA05F10}">
      <dgm:prSet phldrT="01" phldr="0"/>
      <dgm:spPr/>
      <dgm:t>
        <a:bodyPr/>
        <a:lstStyle/>
        <a:p>
          <a:r>
            <a: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01</a:t>
          </a:r>
        </a:p>
      </dgm:t>
    </dgm:pt>
    <dgm:pt modelId="{9D4579C2-549C-4E36-ADCD-807A30AC87BF}">
      <dgm:prSet phldrT="[テキスト]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藤直之さん</a:t>
          </a:r>
          <a:endParaRPr kumimoji="1" lang="en-US" altLang="ja-JP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首都圏第一営業所</a:t>
          </a:r>
        </a:p>
      </dgm:t>
    </dgm:pt>
    <dgm:pt modelId="{03E57B4E-B8DB-4AD7-8B18-C53DDE978EFE}" type="parTrans" cxnId="{A5DC40A2-DD3E-4991-96C9-326DF2FCB6D5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7929EAD-6052-41FF-8B67-AF7D936E0390}" type="sibTrans" cxnId="{A5DC40A2-DD3E-4991-96C9-326DF2FCB6D5}">
      <dgm:prSet phldrT="02" phldr="0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02</a:t>
          </a:r>
        </a:p>
      </dgm:t>
    </dgm:pt>
    <dgm:pt modelId="{32783916-157E-4466-ADD3-4068200EA9E7}">
      <dgm:prSet phldrT="[テキスト]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菅俣充さん</a:t>
          </a:r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/>
            <a:ea typeface="Meiryo UI"/>
          </a:endParaRPr>
        </a:p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関東・新潟営業所</a:t>
          </a:r>
        </a:p>
      </dgm:t>
    </dgm:pt>
    <dgm:pt modelId="{4F7CFC40-7992-40F5-B54F-DA5CD7B59DA4}" type="parTrans" cxnId="{138E49BB-DDA7-475D-A4DA-F829546D1563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681992B0-7757-4550-BF07-EC8C3E6B5591}" type="sibTrans" cxnId="{138E49BB-DDA7-475D-A4DA-F829546D1563}">
      <dgm:prSet phldrT="03" phldr="0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03</a:t>
          </a:r>
        </a:p>
      </dgm:t>
    </dgm:pt>
    <dgm:pt modelId="{2958E64B-E2FC-4C7C-B297-C0822142C871}">
      <dgm:prSet phldrT="[テキスト]"/>
      <dgm:spPr/>
      <dgm:t>
        <a:bodyPr/>
        <a:lstStyle/>
        <a:p>
          <a:pPr rtl="0"/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森田由梨香さん</a:t>
          </a:r>
        </a:p>
        <a:p>
          <a:pPr rtl="0"/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首都圏第一営業所</a:t>
          </a:r>
          <a:endParaRPr kumimoji="1" lang="ja-JP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206639D-6D46-480A-8AFF-4CEC78AF0F4C}" type="parTrans" cxnId="{E55A6F15-C820-428A-9A9D-CF867ED99ABD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FE0B7CE-5D13-4E42-813E-15AF889D9106}" type="sibTrans" cxnId="{E55A6F15-C820-428A-9A9D-CF867ED99ABD}">
      <dgm:prSet phldrT="04" phldr="0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04</a:t>
          </a:r>
        </a:p>
      </dgm:t>
    </dgm:pt>
    <dgm:pt modelId="{7B6B7B79-4675-40F5-887D-ECCA77238154}">
      <dgm:prSet phldrT="[テキスト]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井上拓也さん</a:t>
          </a:r>
        </a:p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関東甲信北陸営業所</a:t>
          </a:r>
        </a:p>
      </dgm:t>
    </dgm:pt>
    <dgm:pt modelId="{797B3C42-55B6-416C-B23F-C20DD9AEC73F}" type="parTrans" cxnId="{4A205C94-32E3-4FB5-904B-45B85854154D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ADEEDE36-5E15-4EB3-9060-FB728839363A}" type="sibTrans" cxnId="{4A205C94-32E3-4FB5-904B-45B85854154D}">
      <dgm:prSet phldrT="05" phldr="0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05</a:t>
          </a:r>
        </a:p>
      </dgm:t>
    </dgm:pt>
    <dgm:pt modelId="{48F22D86-A0F2-47FB-A49B-EA81CC2DED97}">
      <dgm:prSet phldrT="[テキスト]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早川徹さん</a:t>
          </a:r>
          <a:endParaRPr kumimoji="1" lang="en-US" altLang="ja-JP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首都圏第一営業所</a:t>
          </a:r>
        </a:p>
      </dgm:t>
    </dgm:pt>
    <dgm:pt modelId="{83A5E9FE-F64E-4640-AFEF-B94FEEE5333B}" type="parTrans" cxnId="{8CA5681B-E089-4EF1-A39F-A2C04042A906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2B2BAFB-2ECA-4E40-9F20-0A1C56B0A416}" type="sibTrans" cxnId="{8CA5681B-E089-4EF1-A39F-A2C04042A906}">
      <dgm:prSet phldrT="06" phldr="0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06</a:t>
          </a:r>
        </a:p>
      </dgm:t>
    </dgm:pt>
    <dgm:pt modelId="{3CAD313A-0762-434E-855A-3186959C14E0}">
      <dgm:prSet phldrT="[テキスト]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中山航さん</a:t>
          </a:r>
          <a:endParaRPr kumimoji="1" lang="en-US" altLang="ja-JP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近畿営業所</a:t>
          </a:r>
        </a:p>
      </dgm:t>
    </dgm:pt>
    <dgm:pt modelId="{CD6B353A-A339-41E3-8D60-670A3EE8CF9F}" type="parTrans" cxnId="{FB14B0D2-36DA-4ECC-90EC-8A6B1896F341}">
      <dgm:prSet/>
      <dgm:spPr/>
      <dgm:t>
        <a:bodyPr/>
        <a:lstStyle/>
        <a:p>
          <a:endParaRPr kumimoji="1" lang="ja-JP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1C86B84-C6B4-4FAA-A4E0-62E8EE799ED5}" type="sibTrans" cxnId="{FB14B0D2-36DA-4ECC-90EC-8A6B1896F341}">
      <dgm:prSet phldrT="07" phldr="0"/>
      <dgm:spPr/>
      <dgm:t>
        <a:bodyPr/>
        <a:lstStyle/>
        <a:p>
          <a:r>
            <a:rPr kumimoji="1"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07</a:t>
          </a:r>
        </a:p>
      </dgm:t>
    </dgm:pt>
    <dgm:pt modelId="{AADE4A29-391E-4656-A93A-5061E8E0368F}" type="pres">
      <dgm:prSet presAssocID="{03B85529-F70A-4750-9FED-7F46D522D6CB}" presName="Name0" presStyleCnt="0">
        <dgm:presLayoutVars>
          <dgm:dir/>
          <dgm:animLvl val="lvl"/>
          <dgm:resizeHandles val="exact"/>
        </dgm:presLayoutVars>
      </dgm:prSet>
      <dgm:spPr/>
    </dgm:pt>
    <dgm:pt modelId="{B38823E7-9137-4844-AA39-54F585FDB7E4}" type="pres">
      <dgm:prSet presAssocID="{BB8186F1-4D8D-4F1C-8A3F-E9750182C3BC}" presName="compositeNode" presStyleCnt="0">
        <dgm:presLayoutVars>
          <dgm:bulletEnabled val="1"/>
        </dgm:presLayoutVars>
      </dgm:prSet>
      <dgm:spPr/>
    </dgm:pt>
    <dgm:pt modelId="{A080688E-08E3-435C-85E6-43689A127273}" type="pres">
      <dgm:prSet presAssocID="{BB8186F1-4D8D-4F1C-8A3F-E9750182C3BC}" presName="bgRect" presStyleLbl="fgAcc1" presStyleIdx="0" presStyleCnt="7"/>
      <dgm:spPr/>
    </dgm:pt>
    <dgm:pt modelId="{0E8EE4A5-58D7-41AC-B6B1-D0B65540F95D}" type="pres">
      <dgm:prSet presAssocID="{B6642FE9-9D8B-4BF9-9AE6-A4B052F3EA2B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87C6D550-2CD4-498A-A034-951E2B3FDB38}" type="pres">
      <dgm:prSet presAssocID="{BB8186F1-4D8D-4F1C-8A3F-E9750182C3BC}" presName="nodeRect" presStyleLbl="parChTrans1D1" presStyleIdx="0" presStyleCnt="0">
        <dgm:presLayoutVars>
          <dgm:bulletEnabled val="1"/>
        </dgm:presLayoutVars>
      </dgm:prSet>
      <dgm:spPr/>
    </dgm:pt>
    <dgm:pt modelId="{BCDA101A-9E87-4180-AC8A-9FAE60C973E4}" type="pres">
      <dgm:prSet presAssocID="{B6642FE9-9D8B-4BF9-9AE6-A4B052F3EA2B}" presName="sibTrans" presStyleCnt="0"/>
      <dgm:spPr/>
    </dgm:pt>
    <dgm:pt modelId="{2B4FB054-DD74-446B-ABAE-BE513872EDB7}" type="pres">
      <dgm:prSet presAssocID="{9D4579C2-549C-4E36-ADCD-807A30AC87BF}" presName="compositeNode" presStyleCnt="0">
        <dgm:presLayoutVars>
          <dgm:bulletEnabled val="1"/>
        </dgm:presLayoutVars>
      </dgm:prSet>
      <dgm:spPr/>
    </dgm:pt>
    <dgm:pt modelId="{4C6D55FC-7AFE-450D-A3F6-B289CC98E468}" type="pres">
      <dgm:prSet presAssocID="{9D4579C2-549C-4E36-ADCD-807A30AC87BF}" presName="bgRect" presStyleLbl="fgAcc1" presStyleIdx="1" presStyleCnt="7"/>
      <dgm:spPr/>
    </dgm:pt>
    <dgm:pt modelId="{7FF21B61-C7E6-4652-A878-8116A44B181B}" type="pres">
      <dgm:prSet presAssocID="{27929EAD-6052-41FF-8B67-AF7D936E0390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0790A5DC-F788-4527-BBA6-914092D8CA6D}" type="pres">
      <dgm:prSet presAssocID="{9D4579C2-549C-4E36-ADCD-807A30AC87BF}" presName="nodeRect" presStyleLbl="parChTrans1D1" presStyleIdx="0" presStyleCnt="0">
        <dgm:presLayoutVars>
          <dgm:bulletEnabled val="1"/>
        </dgm:presLayoutVars>
      </dgm:prSet>
      <dgm:spPr/>
    </dgm:pt>
    <dgm:pt modelId="{021298B4-4532-40C2-AC2D-FFA843FEFEDE}" type="pres">
      <dgm:prSet presAssocID="{27929EAD-6052-41FF-8B67-AF7D936E0390}" presName="sibTrans" presStyleCnt="0"/>
      <dgm:spPr/>
    </dgm:pt>
    <dgm:pt modelId="{C48E5267-E899-4805-8855-EBF8129FB628}" type="pres">
      <dgm:prSet presAssocID="{32783916-157E-4466-ADD3-4068200EA9E7}" presName="compositeNode" presStyleCnt="0">
        <dgm:presLayoutVars>
          <dgm:bulletEnabled val="1"/>
        </dgm:presLayoutVars>
      </dgm:prSet>
      <dgm:spPr/>
    </dgm:pt>
    <dgm:pt modelId="{B2551D55-18D2-464C-89E7-029111DAA796}" type="pres">
      <dgm:prSet presAssocID="{32783916-157E-4466-ADD3-4068200EA9E7}" presName="bgRect" presStyleLbl="fgAcc1" presStyleIdx="2" presStyleCnt="7"/>
      <dgm:spPr/>
    </dgm:pt>
    <dgm:pt modelId="{31D3F57C-87CF-476C-938B-28015F23DEB9}" type="pres">
      <dgm:prSet presAssocID="{681992B0-7757-4550-BF07-EC8C3E6B5591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300EDA17-CD19-4B1B-AC1C-4FB3552FD21D}" type="pres">
      <dgm:prSet presAssocID="{32783916-157E-4466-ADD3-4068200EA9E7}" presName="nodeRect" presStyleLbl="parChTrans1D1" presStyleIdx="0" presStyleCnt="0">
        <dgm:presLayoutVars>
          <dgm:bulletEnabled val="1"/>
        </dgm:presLayoutVars>
      </dgm:prSet>
      <dgm:spPr/>
    </dgm:pt>
    <dgm:pt modelId="{0E31BCB4-A0D0-4BD9-B929-10F05905872C}" type="pres">
      <dgm:prSet presAssocID="{681992B0-7757-4550-BF07-EC8C3E6B5591}" presName="sibTrans" presStyleCnt="0"/>
      <dgm:spPr/>
    </dgm:pt>
    <dgm:pt modelId="{63C68671-1A05-4F50-A485-48293A6929C4}" type="pres">
      <dgm:prSet presAssocID="{2958E64B-E2FC-4C7C-B297-C0822142C871}" presName="compositeNode" presStyleCnt="0">
        <dgm:presLayoutVars>
          <dgm:bulletEnabled val="1"/>
        </dgm:presLayoutVars>
      </dgm:prSet>
      <dgm:spPr/>
    </dgm:pt>
    <dgm:pt modelId="{B64A6869-3771-41CE-BD3A-30479DBC0A06}" type="pres">
      <dgm:prSet presAssocID="{2958E64B-E2FC-4C7C-B297-C0822142C871}" presName="bgRect" presStyleLbl="fgAcc1" presStyleIdx="3" presStyleCnt="7"/>
      <dgm:spPr/>
    </dgm:pt>
    <dgm:pt modelId="{8D4D5760-C982-4AC0-AD41-50FEA18DA049}" type="pres">
      <dgm:prSet presAssocID="{AFE0B7CE-5D13-4E42-813E-15AF889D9106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7043F631-B4D5-481E-BCE4-7A82C4D084BF}" type="pres">
      <dgm:prSet presAssocID="{2958E64B-E2FC-4C7C-B297-C0822142C871}" presName="nodeRect" presStyleLbl="parChTrans1D1" presStyleIdx="0" presStyleCnt="0">
        <dgm:presLayoutVars>
          <dgm:bulletEnabled val="1"/>
        </dgm:presLayoutVars>
      </dgm:prSet>
      <dgm:spPr/>
    </dgm:pt>
    <dgm:pt modelId="{48AF6C25-0289-4699-9CDE-2F1C0AFE0A4E}" type="pres">
      <dgm:prSet presAssocID="{AFE0B7CE-5D13-4E42-813E-15AF889D9106}" presName="sibTrans" presStyleCnt="0"/>
      <dgm:spPr/>
    </dgm:pt>
    <dgm:pt modelId="{4E3888B3-0FA1-4FA9-95A5-4DF05C7DA07C}" type="pres">
      <dgm:prSet presAssocID="{7B6B7B79-4675-40F5-887D-ECCA77238154}" presName="compositeNode" presStyleCnt="0">
        <dgm:presLayoutVars>
          <dgm:bulletEnabled val="1"/>
        </dgm:presLayoutVars>
      </dgm:prSet>
      <dgm:spPr/>
    </dgm:pt>
    <dgm:pt modelId="{8093F356-20E1-4280-BC99-9887605E6BCF}" type="pres">
      <dgm:prSet presAssocID="{7B6B7B79-4675-40F5-887D-ECCA77238154}" presName="bgRect" presStyleLbl="fgAcc1" presStyleIdx="4" presStyleCnt="7"/>
      <dgm:spPr/>
    </dgm:pt>
    <dgm:pt modelId="{9B4DE1DC-8E0E-4FF0-8126-A90761FF94F0}" type="pres">
      <dgm:prSet presAssocID="{ADEEDE36-5E15-4EB3-9060-FB728839363A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2DA0C161-3273-4843-B4CE-3364F74BA688}" type="pres">
      <dgm:prSet presAssocID="{7B6B7B79-4675-40F5-887D-ECCA77238154}" presName="nodeRect" presStyleLbl="parChTrans1D1" presStyleIdx="0" presStyleCnt="0">
        <dgm:presLayoutVars>
          <dgm:bulletEnabled val="1"/>
        </dgm:presLayoutVars>
      </dgm:prSet>
      <dgm:spPr/>
    </dgm:pt>
    <dgm:pt modelId="{7D385B09-08CE-49DE-B671-9895980686E6}" type="pres">
      <dgm:prSet presAssocID="{ADEEDE36-5E15-4EB3-9060-FB728839363A}" presName="sibTrans" presStyleCnt="0"/>
      <dgm:spPr/>
    </dgm:pt>
    <dgm:pt modelId="{D60B1E5F-DCB4-452E-B977-1E00122E3505}" type="pres">
      <dgm:prSet presAssocID="{48F22D86-A0F2-47FB-A49B-EA81CC2DED97}" presName="compositeNode" presStyleCnt="0">
        <dgm:presLayoutVars>
          <dgm:bulletEnabled val="1"/>
        </dgm:presLayoutVars>
      </dgm:prSet>
      <dgm:spPr/>
    </dgm:pt>
    <dgm:pt modelId="{5EA9B79B-7FD2-40C6-8CD8-187B6D8BFABA}" type="pres">
      <dgm:prSet presAssocID="{48F22D86-A0F2-47FB-A49B-EA81CC2DED97}" presName="bgRect" presStyleLbl="fgAcc1" presStyleIdx="5" presStyleCnt="7"/>
      <dgm:spPr/>
    </dgm:pt>
    <dgm:pt modelId="{18C7778A-3502-4516-A4B2-37F2693F96FB}" type="pres">
      <dgm:prSet presAssocID="{92B2BAFB-2ECA-4E40-9F20-0A1C56B0A416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CEA0F690-C043-4D0A-920D-D240FD4E560C}" type="pres">
      <dgm:prSet presAssocID="{48F22D86-A0F2-47FB-A49B-EA81CC2DED97}" presName="nodeRect" presStyleLbl="parChTrans1D1" presStyleIdx="0" presStyleCnt="0">
        <dgm:presLayoutVars>
          <dgm:bulletEnabled val="1"/>
        </dgm:presLayoutVars>
      </dgm:prSet>
      <dgm:spPr/>
    </dgm:pt>
    <dgm:pt modelId="{47334656-510F-4C4A-A861-0EB2C7CF394B}" type="pres">
      <dgm:prSet presAssocID="{92B2BAFB-2ECA-4E40-9F20-0A1C56B0A416}" presName="sibTrans" presStyleCnt="0"/>
      <dgm:spPr/>
    </dgm:pt>
    <dgm:pt modelId="{46BCA9A9-37C0-490E-8ECA-920B9802916A}" type="pres">
      <dgm:prSet presAssocID="{3CAD313A-0762-434E-855A-3186959C14E0}" presName="compositeNode" presStyleCnt="0">
        <dgm:presLayoutVars>
          <dgm:bulletEnabled val="1"/>
        </dgm:presLayoutVars>
      </dgm:prSet>
      <dgm:spPr/>
    </dgm:pt>
    <dgm:pt modelId="{CA888CED-7953-4585-B4D7-05B747E4FE8C}" type="pres">
      <dgm:prSet presAssocID="{3CAD313A-0762-434E-855A-3186959C14E0}" presName="bgRect" presStyleLbl="fgAcc1" presStyleIdx="6" presStyleCnt="7"/>
      <dgm:spPr/>
    </dgm:pt>
    <dgm:pt modelId="{C2F5A284-C492-4399-A874-2766E85D6E32}" type="pres">
      <dgm:prSet presAssocID="{B1C86B84-C6B4-4FAA-A4E0-62E8EE799ED5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729D5C8E-5096-4FDE-9C30-25E7639153F0}" type="pres">
      <dgm:prSet presAssocID="{3CAD313A-0762-434E-855A-3186959C14E0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B5F03114-6906-44CE-ABDD-C6FAFBA09AD4}" type="presOf" srcId="{32783916-157E-4466-ADD3-4068200EA9E7}" destId="{300EDA17-CD19-4B1B-AC1C-4FB3552FD21D}" srcOrd="1" destOrd="0" presId="urn:microsoft.com/office/officeart/2024/layout/NumberedTitleCardList#1"/>
    <dgm:cxn modelId="{E55A6F15-C820-428A-9A9D-CF867ED99ABD}" srcId="{03B85529-F70A-4750-9FED-7F46D522D6CB}" destId="{2958E64B-E2FC-4C7C-B297-C0822142C871}" srcOrd="3" destOrd="0" parTransId="{0206639D-6D46-480A-8AFF-4CEC78AF0F4C}" sibTransId="{AFE0B7CE-5D13-4E42-813E-15AF889D9106}"/>
    <dgm:cxn modelId="{8CA5681B-E089-4EF1-A39F-A2C04042A906}" srcId="{03B85529-F70A-4750-9FED-7F46D522D6CB}" destId="{48F22D86-A0F2-47FB-A49B-EA81CC2DED97}" srcOrd="5" destOrd="0" parTransId="{83A5E9FE-F64E-4640-AFEF-B94FEEE5333B}" sibTransId="{92B2BAFB-2ECA-4E40-9F20-0A1C56B0A416}"/>
    <dgm:cxn modelId="{3B1BD61C-D74A-4F8A-99FF-612AB3B5999F}" type="presOf" srcId="{2958E64B-E2FC-4C7C-B297-C0822142C871}" destId="{7043F631-B4D5-481E-BCE4-7A82C4D084BF}" srcOrd="1" destOrd="0" presId="urn:microsoft.com/office/officeart/2024/layout/NumberedTitleCardList#1"/>
    <dgm:cxn modelId="{ED1FDB2D-61D5-44A2-972F-5353DA8D0020}" type="presOf" srcId="{48F22D86-A0F2-47FB-A49B-EA81CC2DED97}" destId="{5EA9B79B-7FD2-40C6-8CD8-187B6D8BFABA}" srcOrd="0" destOrd="0" presId="urn:microsoft.com/office/officeart/2024/layout/NumberedTitleCardList#1"/>
    <dgm:cxn modelId="{2161CA39-8CAC-4EE4-BA72-ECE8D4184165}" type="presOf" srcId="{BB8186F1-4D8D-4F1C-8A3F-E9750182C3BC}" destId="{87C6D550-2CD4-498A-A034-951E2B3FDB38}" srcOrd="1" destOrd="0" presId="urn:microsoft.com/office/officeart/2024/layout/NumberedTitleCardList#1"/>
    <dgm:cxn modelId="{67F4FD39-4F68-467D-9B97-49DCF89B4E82}" type="presOf" srcId="{9D4579C2-549C-4E36-ADCD-807A30AC87BF}" destId="{0790A5DC-F788-4527-BBA6-914092D8CA6D}" srcOrd="1" destOrd="0" presId="urn:microsoft.com/office/officeart/2024/layout/NumberedTitleCardList#1"/>
    <dgm:cxn modelId="{C414144A-8394-465D-A1B9-F7257D10E5AE}" type="presOf" srcId="{32783916-157E-4466-ADD3-4068200EA9E7}" destId="{B2551D55-18D2-464C-89E7-029111DAA796}" srcOrd="0" destOrd="0" presId="urn:microsoft.com/office/officeart/2024/layout/NumberedTitleCardList#1"/>
    <dgm:cxn modelId="{6CCFB252-1A65-40C2-B25A-7DE6311C5E68}" type="presOf" srcId="{ADEEDE36-5E15-4EB3-9060-FB728839363A}" destId="{9B4DE1DC-8E0E-4FF0-8126-A90761FF94F0}" srcOrd="0" destOrd="0" presId="urn:microsoft.com/office/officeart/2024/layout/NumberedTitleCardList#1"/>
    <dgm:cxn modelId="{F46F2356-35EE-472A-A9A2-834443A7B303}" type="presOf" srcId="{AFE0B7CE-5D13-4E42-813E-15AF889D9106}" destId="{8D4D5760-C982-4AC0-AD41-50FEA18DA049}" srcOrd="0" destOrd="0" presId="urn:microsoft.com/office/officeart/2024/layout/NumberedTitleCardList#1"/>
    <dgm:cxn modelId="{D1ABE361-A9A1-49DF-A275-7927F77C29FE}" type="presOf" srcId="{2958E64B-E2FC-4C7C-B297-C0822142C871}" destId="{B64A6869-3771-41CE-BD3A-30479DBC0A06}" srcOrd="0" destOrd="0" presId="urn:microsoft.com/office/officeart/2024/layout/NumberedTitleCardList#1"/>
    <dgm:cxn modelId="{0FC7696E-A495-41B7-8A91-10453AA05F10}" srcId="{03B85529-F70A-4750-9FED-7F46D522D6CB}" destId="{BB8186F1-4D8D-4F1C-8A3F-E9750182C3BC}" srcOrd="0" destOrd="0" parTransId="{F6A3CC97-B1D0-4568-B79D-73B7C3DB2F4E}" sibTransId="{B6642FE9-9D8B-4BF9-9AE6-A4B052F3EA2B}"/>
    <dgm:cxn modelId="{15DE5C77-F847-4D1C-A337-DC38FE7E71C5}" type="presOf" srcId="{92B2BAFB-2ECA-4E40-9F20-0A1C56B0A416}" destId="{18C7778A-3502-4516-A4B2-37F2693F96FB}" srcOrd="0" destOrd="0" presId="urn:microsoft.com/office/officeart/2024/layout/NumberedTitleCardList#1"/>
    <dgm:cxn modelId="{0ED3F680-3595-4824-AEF4-95A663B0A7BD}" type="presOf" srcId="{3CAD313A-0762-434E-855A-3186959C14E0}" destId="{729D5C8E-5096-4FDE-9C30-25E7639153F0}" srcOrd="1" destOrd="0" presId="urn:microsoft.com/office/officeart/2024/layout/NumberedTitleCardList#1"/>
    <dgm:cxn modelId="{E7FA7682-FECD-48AA-833D-A2E257C42B71}" type="presOf" srcId="{7B6B7B79-4675-40F5-887D-ECCA77238154}" destId="{8093F356-20E1-4280-BC99-9887605E6BCF}" srcOrd="0" destOrd="0" presId="urn:microsoft.com/office/officeart/2024/layout/NumberedTitleCardList#1"/>
    <dgm:cxn modelId="{5FE23586-851F-4A48-93C0-F1E24C891715}" type="presOf" srcId="{681992B0-7757-4550-BF07-EC8C3E6B5591}" destId="{31D3F57C-87CF-476C-938B-28015F23DEB9}" srcOrd="0" destOrd="0" presId="urn:microsoft.com/office/officeart/2024/layout/NumberedTitleCardList#1"/>
    <dgm:cxn modelId="{4A205C94-32E3-4FB5-904B-45B85854154D}" srcId="{03B85529-F70A-4750-9FED-7F46D522D6CB}" destId="{7B6B7B79-4675-40F5-887D-ECCA77238154}" srcOrd="4" destOrd="0" parTransId="{797B3C42-55B6-416C-B23F-C20DD9AEC73F}" sibTransId="{ADEEDE36-5E15-4EB3-9060-FB728839363A}"/>
    <dgm:cxn modelId="{A5DC40A2-DD3E-4991-96C9-326DF2FCB6D5}" srcId="{03B85529-F70A-4750-9FED-7F46D522D6CB}" destId="{9D4579C2-549C-4E36-ADCD-807A30AC87BF}" srcOrd="1" destOrd="0" parTransId="{03E57B4E-B8DB-4AD7-8B18-C53DDE978EFE}" sibTransId="{27929EAD-6052-41FF-8B67-AF7D936E0390}"/>
    <dgm:cxn modelId="{138E49BB-DDA7-475D-A4DA-F829546D1563}" srcId="{03B85529-F70A-4750-9FED-7F46D522D6CB}" destId="{32783916-157E-4466-ADD3-4068200EA9E7}" srcOrd="2" destOrd="0" parTransId="{4F7CFC40-7992-40F5-B54F-DA5CD7B59DA4}" sibTransId="{681992B0-7757-4550-BF07-EC8C3E6B5591}"/>
    <dgm:cxn modelId="{692BFFC8-BF40-4048-852D-B61969B400D0}" type="presOf" srcId="{48F22D86-A0F2-47FB-A49B-EA81CC2DED97}" destId="{CEA0F690-C043-4D0A-920D-D240FD4E560C}" srcOrd="1" destOrd="0" presId="urn:microsoft.com/office/officeart/2024/layout/NumberedTitleCardList#1"/>
    <dgm:cxn modelId="{D027AECA-C5B9-4040-8D63-639188DF1FFA}" type="presOf" srcId="{03B85529-F70A-4750-9FED-7F46D522D6CB}" destId="{AADE4A29-391E-4656-A93A-5061E8E0368F}" srcOrd="0" destOrd="0" presId="urn:microsoft.com/office/officeart/2024/layout/NumberedTitleCardList#1"/>
    <dgm:cxn modelId="{FB14B0D2-36DA-4ECC-90EC-8A6B1896F341}" srcId="{03B85529-F70A-4750-9FED-7F46D522D6CB}" destId="{3CAD313A-0762-434E-855A-3186959C14E0}" srcOrd="6" destOrd="0" parTransId="{CD6B353A-A339-41E3-8D60-670A3EE8CF9F}" sibTransId="{B1C86B84-C6B4-4FAA-A4E0-62E8EE799ED5}"/>
    <dgm:cxn modelId="{238497D4-5BA8-462D-B151-D11D923CD1CF}" type="presOf" srcId="{3CAD313A-0762-434E-855A-3186959C14E0}" destId="{CA888CED-7953-4585-B4D7-05B747E4FE8C}" srcOrd="0" destOrd="0" presId="urn:microsoft.com/office/officeart/2024/layout/NumberedTitleCardList#1"/>
    <dgm:cxn modelId="{3B80A1D8-9071-4AFC-8C71-5D8A8B1E082F}" type="presOf" srcId="{27929EAD-6052-41FF-8B67-AF7D936E0390}" destId="{7FF21B61-C7E6-4652-A878-8116A44B181B}" srcOrd="0" destOrd="0" presId="urn:microsoft.com/office/officeart/2024/layout/NumberedTitleCardList#1"/>
    <dgm:cxn modelId="{7896DFDA-8EDE-4B0D-BD20-CA1E53F15D6D}" type="presOf" srcId="{B1C86B84-C6B4-4FAA-A4E0-62E8EE799ED5}" destId="{C2F5A284-C492-4399-A874-2766E85D6E32}" srcOrd="0" destOrd="0" presId="urn:microsoft.com/office/officeart/2024/layout/NumberedTitleCardList#1"/>
    <dgm:cxn modelId="{E10615DE-B173-4258-B52F-70DBE0B7AEDD}" type="presOf" srcId="{9D4579C2-549C-4E36-ADCD-807A30AC87BF}" destId="{4C6D55FC-7AFE-450D-A3F6-B289CC98E468}" srcOrd="0" destOrd="0" presId="urn:microsoft.com/office/officeart/2024/layout/NumberedTitleCardList#1"/>
    <dgm:cxn modelId="{FF575BE4-AF07-4E27-A325-E7E3CA3BF70A}" type="presOf" srcId="{7B6B7B79-4675-40F5-887D-ECCA77238154}" destId="{2DA0C161-3273-4843-B4CE-3364F74BA688}" srcOrd="1" destOrd="0" presId="urn:microsoft.com/office/officeart/2024/layout/NumberedTitleCardList#1"/>
    <dgm:cxn modelId="{78A1FEE5-C5F5-43AD-8D5B-1070EC698489}" type="presOf" srcId="{B6642FE9-9D8B-4BF9-9AE6-A4B052F3EA2B}" destId="{0E8EE4A5-58D7-41AC-B6B1-D0B65540F95D}" srcOrd="0" destOrd="0" presId="urn:microsoft.com/office/officeart/2024/layout/NumberedTitleCardList#1"/>
    <dgm:cxn modelId="{86AE48EC-E411-4C44-B62A-47653866E70A}" type="presOf" srcId="{BB8186F1-4D8D-4F1C-8A3F-E9750182C3BC}" destId="{A080688E-08E3-435C-85E6-43689A127273}" srcOrd="0" destOrd="0" presId="urn:microsoft.com/office/officeart/2024/layout/NumberedTitleCardList#1"/>
    <dgm:cxn modelId="{24D42230-A82C-45B3-9ED4-35FA0A7DE135}" type="presParOf" srcId="{AADE4A29-391E-4656-A93A-5061E8E0368F}" destId="{B38823E7-9137-4844-AA39-54F585FDB7E4}" srcOrd="0" destOrd="0" presId="urn:microsoft.com/office/officeart/2024/layout/NumberedTitleCardList#1"/>
    <dgm:cxn modelId="{DDAC9509-4BB9-4DC1-98E2-58C8DD926FCB}" type="presParOf" srcId="{B38823E7-9137-4844-AA39-54F585FDB7E4}" destId="{A080688E-08E3-435C-85E6-43689A127273}" srcOrd="0" destOrd="0" presId="urn:microsoft.com/office/officeart/2024/layout/NumberedTitleCardList#1"/>
    <dgm:cxn modelId="{8D8EA4FB-72E6-466D-8BF6-1342986E6045}" type="presParOf" srcId="{B38823E7-9137-4844-AA39-54F585FDB7E4}" destId="{0E8EE4A5-58D7-41AC-B6B1-D0B65540F95D}" srcOrd="1" destOrd="0" presId="urn:microsoft.com/office/officeart/2024/layout/NumberedTitleCardList#1"/>
    <dgm:cxn modelId="{C88A516D-337D-42FC-B813-2E0469434AE4}" type="presParOf" srcId="{B38823E7-9137-4844-AA39-54F585FDB7E4}" destId="{87C6D550-2CD4-498A-A034-951E2B3FDB38}" srcOrd="2" destOrd="0" presId="urn:microsoft.com/office/officeart/2024/layout/NumberedTitleCardList#1"/>
    <dgm:cxn modelId="{BACD3B3D-4E35-4D23-BBF7-AF0CD8CF5BD2}" type="presParOf" srcId="{AADE4A29-391E-4656-A93A-5061E8E0368F}" destId="{BCDA101A-9E87-4180-AC8A-9FAE60C973E4}" srcOrd="1" destOrd="0" presId="urn:microsoft.com/office/officeart/2024/layout/NumberedTitleCardList#1"/>
    <dgm:cxn modelId="{D6F449D0-329F-4761-8A1C-48C2FBC6BC9C}" type="presParOf" srcId="{AADE4A29-391E-4656-A93A-5061E8E0368F}" destId="{2B4FB054-DD74-446B-ABAE-BE513872EDB7}" srcOrd="2" destOrd="0" presId="urn:microsoft.com/office/officeart/2024/layout/NumberedTitleCardList#1"/>
    <dgm:cxn modelId="{F7CB3DCA-3BCA-4122-B290-7241458B7BFF}" type="presParOf" srcId="{2B4FB054-DD74-446B-ABAE-BE513872EDB7}" destId="{4C6D55FC-7AFE-450D-A3F6-B289CC98E468}" srcOrd="0" destOrd="0" presId="urn:microsoft.com/office/officeart/2024/layout/NumberedTitleCardList#1"/>
    <dgm:cxn modelId="{A36475E9-5983-4513-977E-8CFBD00C5D18}" type="presParOf" srcId="{2B4FB054-DD74-446B-ABAE-BE513872EDB7}" destId="{7FF21B61-C7E6-4652-A878-8116A44B181B}" srcOrd="1" destOrd="0" presId="urn:microsoft.com/office/officeart/2024/layout/NumberedTitleCardList#1"/>
    <dgm:cxn modelId="{82DA02AC-CE69-4FC1-8BDF-FE8EBB662E08}" type="presParOf" srcId="{2B4FB054-DD74-446B-ABAE-BE513872EDB7}" destId="{0790A5DC-F788-4527-BBA6-914092D8CA6D}" srcOrd="2" destOrd="0" presId="urn:microsoft.com/office/officeart/2024/layout/NumberedTitleCardList#1"/>
    <dgm:cxn modelId="{E7666053-9E47-434F-805C-2288F87650A8}" type="presParOf" srcId="{AADE4A29-391E-4656-A93A-5061E8E0368F}" destId="{021298B4-4532-40C2-AC2D-FFA843FEFEDE}" srcOrd="3" destOrd="0" presId="urn:microsoft.com/office/officeart/2024/layout/NumberedTitleCardList#1"/>
    <dgm:cxn modelId="{E3E06BFD-6D20-46FB-A381-33361E653239}" type="presParOf" srcId="{AADE4A29-391E-4656-A93A-5061E8E0368F}" destId="{C48E5267-E899-4805-8855-EBF8129FB628}" srcOrd="4" destOrd="0" presId="urn:microsoft.com/office/officeart/2024/layout/NumberedTitleCardList#1"/>
    <dgm:cxn modelId="{48935F18-8897-4D7C-B5FC-D2B15FF83F5A}" type="presParOf" srcId="{C48E5267-E899-4805-8855-EBF8129FB628}" destId="{B2551D55-18D2-464C-89E7-029111DAA796}" srcOrd="0" destOrd="0" presId="urn:microsoft.com/office/officeart/2024/layout/NumberedTitleCardList#1"/>
    <dgm:cxn modelId="{E1ACCF95-0756-499B-9D9C-78F19641B17B}" type="presParOf" srcId="{C48E5267-E899-4805-8855-EBF8129FB628}" destId="{31D3F57C-87CF-476C-938B-28015F23DEB9}" srcOrd="1" destOrd="0" presId="urn:microsoft.com/office/officeart/2024/layout/NumberedTitleCardList#1"/>
    <dgm:cxn modelId="{FEFEAE85-A1A7-4AE1-B592-B929479260E8}" type="presParOf" srcId="{C48E5267-E899-4805-8855-EBF8129FB628}" destId="{300EDA17-CD19-4B1B-AC1C-4FB3552FD21D}" srcOrd="2" destOrd="0" presId="urn:microsoft.com/office/officeart/2024/layout/NumberedTitleCardList#1"/>
    <dgm:cxn modelId="{4BF4C83A-8993-4829-9448-EE43CA7EDADB}" type="presParOf" srcId="{AADE4A29-391E-4656-A93A-5061E8E0368F}" destId="{0E31BCB4-A0D0-4BD9-B929-10F05905872C}" srcOrd="5" destOrd="0" presId="urn:microsoft.com/office/officeart/2024/layout/NumberedTitleCardList#1"/>
    <dgm:cxn modelId="{9598DC4F-A3B0-4B4F-B469-8B3625D94339}" type="presParOf" srcId="{AADE4A29-391E-4656-A93A-5061E8E0368F}" destId="{63C68671-1A05-4F50-A485-48293A6929C4}" srcOrd="6" destOrd="0" presId="urn:microsoft.com/office/officeart/2024/layout/NumberedTitleCardList#1"/>
    <dgm:cxn modelId="{43BD6248-BA10-4072-814D-DD631079279E}" type="presParOf" srcId="{63C68671-1A05-4F50-A485-48293A6929C4}" destId="{B64A6869-3771-41CE-BD3A-30479DBC0A06}" srcOrd="0" destOrd="0" presId="urn:microsoft.com/office/officeart/2024/layout/NumberedTitleCardList#1"/>
    <dgm:cxn modelId="{292CE510-F060-4E86-9F80-5B0C05D06598}" type="presParOf" srcId="{63C68671-1A05-4F50-A485-48293A6929C4}" destId="{8D4D5760-C982-4AC0-AD41-50FEA18DA049}" srcOrd="1" destOrd="0" presId="urn:microsoft.com/office/officeart/2024/layout/NumberedTitleCardList#1"/>
    <dgm:cxn modelId="{B8C0A15B-971C-4E19-8080-4CB738FC304A}" type="presParOf" srcId="{63C68671-1A05-4F50-A485-48293A6929C4}" destId="{7043F631-B4D5-481E-BCE4-7A82C4D084BF}" srcOrd="2" destOrd="0" presId="urn:microsoft.com/office/officeart/2024/layout/NumberedTitleCardList#1"/>
    <dgm:cxn modelId="{2B1E60E0-3F33-4F35-A374-2CC9AEADFDB2}" type="presParOf" srcId="{AADE4A29-391E-4656-A93A-5061E8E0368F}" destId="{48AF6C25-0289-4699-9CDE-2F1C0AFE0A4E}" srcOrd="7" destOrd="0" presId="urn:microsoft.com/office/officeart/2024/layout/NumberedTitleCardList#1"/>
    <dgm:cxn modelId="{339D8686-1E9A-466A-945C-9DD819371D56}" type="presParOf" srcId="{AADE4A29-391E-4656-A93A-5061E8E0368F}" destId="{4E3888B3-0FA1-4FA9-95A5-4DF05C7DA07C}" srcOrd="8" destOrd="0" presId="urn:microsoft.com/office/officeart/2024/layout/NumberedTitleCardList#1"/>
    <dgm:cxn modelId="{56032845-6C01-4F85-BDA4-9A696DC02BE1}" type="presParOf" srcId="{4E3888B3-0FA1-4FA9-95A5-4DF05C7DA07C}" destId="{8093F356-20E1-4280-BC99-9887605E6BCF}" srcOrd="0" destOrd="0" presId="urn:microsoft.com/office/officeart/2024/layout/NumberedTitleCardList#1"/>
    <dgm:cxn modelId="{80FD2F69-7C15-4090-94B9-EA64A462FF1F}" type="presParOf" srcId="{4E3888B3-0FA1-4FA9-95A5-4DF05C7DA07C}" destId="{9B4DE1DC-8E0E-4FF0-8126-A90761FF94F0}" srcOrd="1" destOrd="0" presId="urn:microsoft.com/office/officeart/2024/layout/NumberedTitleCardList#1"/>
    <dgm:cxn modelId="{9D2AF02F-110B-4DBD-B510-A05A5EEC5A73}" type="presParOf" srcId="{4E3888B3-0FA1-4FA9-95A5-4DF05C7DA07C}" destId="{2DA0C161-3273-4843-B4CE-3364F74BA688}" srcOrd="2" destOrd="0" presId="urn:microsoft.com/office/officeart/2024/layout/NumberedTitleCardList#1"/>
    <dgm:cxn modelId="{FA99D3C3-94D8-48DB-BF6B-0637E1B0AEE0}" type="presParOf" srcId="{AADE4A29-391E-4656-A93A-5061E8E0368F}" destId="{7D385B09-08CE-49DE-B671-9895980686E6}" srcOrd="9" destOrd="0" presId="urn:microsoft.com/office/officeart/2024/layout/NumberedTitleCardList#1"/>
    <dgm:cxn modelId="{5C5ACB08-CAF2-45A7-B4E8-66247441823D}" type="presParOf" srcId="{AADE4A29-391E-4656-A93A-5061E8E0368F}" destId="{D60B1E5F-DCB4-452E-B977-1E00122E3505}" srcOrd="10" destOrd="0" presId="urn:microsoft.com/office/officeart/2024/layout/NumberedTitleCardList#1"/>
    <dgm:cxn modelId="{D1567079-B6E2-45FC-BBEA-AD5371D9EE0A}" type="presParOf" srcId="{D60B1E5F-DCB4-452E-B977-1E00122E3505}" destId="{5EA9B79B-7FD2-40C6-8CD8-187B6D8BFABA}" srcOrd="0" destOrd="0" presId="urn:microsoft.com/office/officeart/2024/layout/NumberedTitleCardList#1"/>
    <dgm:cxn modelId="{34B98DCC-5DFD-4B07-A694-4605AE6F71EE}" type="presParOf" srcId="{D60B1E5F-DCB4-452E-B977-1E00122E3505}" destId="{18C7778A-3502-4516-A4B2-37F2693F96FB}" srcOrd="1" destOrd="0" presId="urn:microsoft.com/office/officeart/2024/layout/NumberedTitleCardList#1"/>
    <dgm:cxn modelId="{E12F7E1F-94F1-47EA-9606-9A98E717E2A6}" type="presParOf" srcId="{D60B1E5F-DCB4-452E-B977-1E00122E3505}" destId="{CEA0F690-C043-4D0A-920D-D240FD4E560C}" srcOrd="2" destOrd="0" presId="urn:microsoft.com/office/officeart/2024/layout/NumberedTitleCardList#1"/>
    <dgm:cxn modelId="{0395AB8E-DE44-4F83-A28D-00121C842E91}" type="presParOf" srcId="{AADE4A29-391E-4656-A93A-5061E8E0368F}" destId="{47334656-510F-4C4A-A861-0EB2C7CF394B}" srcOrd="11" destOrd="0" presId="urn:microsoft.com/office/officeart/2024/layout/NumberedTitleCardList#1"/>
    <dgm:cxn modelId="{D9E016CD-B6FE-4F5C-9AD7-C83DAE3CE633}" type="presParOf" srcId="{AADE4A29-391E-4656-A93A-5061E8E0368F}" destId="{46BCA9A9-37C0-490E-8ECA-920B9802916A}" srcOrd="12" destOrd="0" presId="urn:microsoft.com/office/officeart/2024/layout/NumberedTitleCardList#1"/>
    <dgm:cxn modelId="{4C88D6CA-95FA-4595-996F-849F8F6E1525}" type="presParOf" srcId="{46BCA9A9-37C0-490E-8ECA-920B9802916A}" destId="{CA888CED-7953-4585-B4D7-05B747E4FE8C}" srcOrd="0" destOrd="0" presId="urn:microsoft.com/office/officeart/2024/layout/NumberedTitleCardList#1"/>
    <dgm:cxn modelId="{110988EC-66F1-4BE5-8B49-1EE167084CC1}" type="presParOf" srcId="{46BCA9A9-37C0-490E-8ECA-920B9802916A}" destId="{C2F5A284-C492-4399-A874-2766E85D6E32}" srcOrd="1" destOrd="0" presId="urn:microsoft.com/office/officeart/2024/layout/NumberedTitleCardList#1"/>
    <dgm:cxn modelId="{29BA53A6-6E18-4640-A891-096DB4BC026B}" type="presParOf" srcId="{46BCA9A9-37C0-490E-8ECA-920B9802916A}" destId="{729D5C8E-5096-4FDE-9C30-25E7639153F0}" srcOrd="2" destOrd="0" presId="urn:microsoft.com/office/officeart/2024/layout/NumberedTitleCardList#1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0688E-08E3-435C-85E6-43689A127273}">
      <dsp:nvSpPr>
        <dsp:cNvPr id="0" name=""/>
        <dsp:cNvSpPr/>
      </dsp:nvSpPr>
      <dsp:spPr>
        <a:xfrm>
          <a:off x="6337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広瀬正和さん</a:t>
          </a:r>
          <a:endParaRPr kumimoji="1" lang="en-US" altLang="ja-JP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首都圏第一営業所</a:t>
          </a:r>
        </a:p>
      </dsp:txBody>
      <dsp:txXfrm>
        <a:off x="6337" y="2527723"/>
        <a:ext cx="1561526" cy="1124298"/>
      </dsp:txXfrm>
    </dsp:sp>
    <dsp:sp modelId="{0E8EE4A5-58D7-41AC-B6B1-D0B65540F95D}">
      <dsp:nvSpPr>
        <dsp:cNvPr id="0" name=""/>
        <dsp:cNvSpPr/>
      </dsp:nvSpPr>
      <dsp:spPr>
        <a:xfrm>
          <a:off x="6337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01</a:t>
          </a:r>
        </a:p>
      </dsp:txBody>
      <dsp:txXfrm>
        <a:off x="6337" y="1778190"/>
        <a:ext cx="1561526" cy="749532"/>
      </dsp:txXfrm>
    </dsp:sp>
    <dsp:sp modelId="{4C6D55FC-7AFE-450D-A3F6-B289CC98E468}">
      <dsp:nvSpPr>
        <dsp:cNvPr id="0" name=""/>
        <dsp:cNvSpPr/>
      </dsp:nvSpPr>
      <dsp:spPr>
        <a:xfrm>
          <a:off x="1692785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藤直之さん</a:t>
          </a:r>
          <a:endParaRPr kumimoji="1" lang="en-US" altLang="ja-JP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首都圏第一営業所</a:t>
          </a:r>
        </a:p>
      </dsp:txBody>
      <dsp:txXfrm>
        <a:off x="1692785" y="2527723"/>
        <a:ext cx="1561526" cy="1124298"/>
      </dsp:txXfrm>
    </dsp:sp>
    <dsp:sp modelId="{7FF21B61-C7E6-4652-A878-8116A44B181B}">
      <dsp:nvSpPr>
        <dsp:cNvPr id="0" name=""/>
        <dsp:cNvSpPr/>
      </dsp:nvSpPr>
      <dsp:spPr>
        <a:xfrm>
          <a:off x="1692785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02</a:t>
          </a:r>
        </a:p>
      </dsp:txBody>
      <dsp:txXfrm>
        <a:off x="1692785" y="1778190"/>
        <a:ext cx="1561526" cy="749532"/>
      </dsp:txXfrm>
    </dsp:sp>
    <dsp:sp modelId="{B2551D55-18D2-464C-89E7-029111DAA796}">
      <dsp:nvSpPr>
        <dsp:cNvPr id="0" name=""/>
        <dsp:cNvSpPr/>
      </dsp:nvSpPr>
      <dsp:spPr>
        <a:xfrm>
          <a:off x="3379233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菅俣充さん</a:t>
          </a:r>
          <a:endParaRPr kumimoji="1" lang="ja-JP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/>
            <a:ea typeface="Meiryo UI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関東・新潟営業所</a:t>
          </a:r>
        </a:p>
      </dsp:txBody>
      <dsp:txXfrm>
        <a:off x="3379233" y="2527723"/>
        <a:ext cx="1561526" cy="1124298"/>
      </dsp:txXfrm>
    </dsp:sp>
    <dsp:sp modelId="{31D3F57C-87CF-476C-938B-28015F23DEB9}">
      <dsp:nvSpPr>
        <dsp:cNvPr id="0" name=""/>
        <dsp:cNvSpPr/>
      </dsp:nvSpPr>
      <dsp:spPr>
        <a:xfrm>
          <a:off x="3379233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03</a:t>
          </a:r>
        </a:p>
      </dsp:txBody>
      <dsp:txXfrm>
        <a:off x="3379233" y="1778190"/>
        <a:ext cx="1561526" cy="749532"/>
      </dsp:txXfrm>
    </dsp:sp>
    <dsp:sp modelId="{B64A6869-3771-41CE-BD3A-30479DBC0A06}">
      <dsp:nvSpPr>
        <dsp:cNvPr id="0" name=""/>
        <dsp:cNvSpPr/>
      </dsp:nvSpPr>
      <dsp:spPr>
        <a:xfrm>
          <a:off x="5065681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森田由梨香さん</a:t>
          </a:r>
        </a:p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首都圏第一営業所</a:t>
          </a:r>
          <a:endParaRPr kumimoji="1" lang="ja-JP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065681" y="2527723"/>
        <a:ext cx="1561526" cy="1124298"/>
      </dsp:txXfrm>
    </dsp:sp>
    <dsp:sp modelId="{8D4D5760-C982-4AC0-AD41-50FEA18DA049}">
      <dsp:nvSpPr>
        <dsp:cNvPr id="0" name=""/>
        <dsp:cNvSpPr/>
      </dsp:nvSpPr>
      <dsp:spPr>
        <a:xfrm>
          <a:off x="5065681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04</a:t>
          </a:r>
        </a:p>
      </dsp:txBody>
      <dsp:txXfrm>
        <a:off x="5065681" y="1778190"/>
        <a:ext cx="1561526" cy="749532"/>
      </dsp:txXfrm>
    </dsp:sp>
    <dsp:sp modelId="{8093F356-20E1-4280-BC99-9887605E6BCF}">
      <dsp:nvSpPr>
        <dsp:cNvPr id="0" name=""/>
        <dsp:cNvSpPr/>
      </dsp:nvSpPr>
      <dsp:spPr>
        <a:xfrm>
          <a:off x="6752130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井上拓也さん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/>
              <a:ea typeface="Meiryo UI"/>
            </a:rPr>
            <a:t>関東甲信北陸営業所</a:t>
          </a:r>
        </a:p>
      </dsp:txBody>
      <dsp:txXfrm>
        <a:off x="6752130" y="2527723"/>
        <a:ext cx="1561526" cy="1124298"/>
      </dsp:txXfrm>
    </dsp:sp>
    <dsp:sp modelId="{9B4DE1DC-8E0E-4FF0-8126-A90761FF94F0}">
      <dsp:nvSpPr>
        <dsp:cNvPr id="0" name=""/>
        <dsp:cNvSpPr/>
      </dsp:nvSpPr>
      <dsp:spPr>
        <a:xfrm>
          <a:off x="6752130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05</a:t>
          </a:r>
        </a:p>
      </dsp:txBody>
      <dsp:txXfrm>
        <a:off x="6752130" y="1778190"/>
        <a:ext cx="1561526" cy="749532"/>
      </dsp:txXfrm>
    </dsp:sp>
    <dsp:sp modelId="{5EA9B79B-7FD2-40C6-8CD8-187B6D8BFABA}">
      <dsp:nvSpPr>
        <dsp:cNvPr id="0" name=""/>
        <dsp:cNvSpPr/>
      </dsp:nvSpPr>
      <dsp:spPr>
        <a:xfrm>
          <a:off x="8438578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早川徹さん</a:t>
          </a:r>
          <a:endParaRPr kumimoji="1" lang="en-US" altLang="ja-JP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首都圏第一営業所</a:t>
          </a:r>
        </a:p>
      </dsp:txBody>
      <dsp:txXfrm>
        <a:off x="8438578" y="2527723"/>
        <a:ext cx="1561526" cy="1124298"/>
      </dsp:txXfrm>
    </dsp:sp>
    <dsp:sp modelId="{18C7778A-3502-4516-A4B2-37F2693F96FB}">
      <dsp:nvSpPr>
        <dsp:cNvPr id="0" name=""/>
        <dsp:cNvSpPr/>
      </dsp:nvSpPr>
      <dsp:spPr>
        <a:xfrm>
          <a:off x="8438578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06</a:t>
          </a:r>
        </a:p>
      </dsp:txBody>
      <dsp:txXfrm>
        <a:off x="8438578" y="1778190"/>
        <a:ext cx="1561526" cy="749532"/>
      </dsp:txXfrm>
    </dsp:sp>
    <dsp:sp modelId="{CA888CED-7953-4585-B4D7-05B747E4FE8C}">
      <dsp:nvSpPr>
        <dsp:cNvPr id="0" name=""/>
        <dsp:cNvSpPr/>
      </dsp:nvSpPr>
      <dsp:spPr>
        <a:xfrm>
          <a:off x="10125026" y="1778190"/>
          <a:ext cx="1561526" cy="1873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0" rIns="2754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中山航さん</a:t>
          </a:r>
          <a:endParaRPr kumimoji="1" lang="en-US" altLang="ja-JP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Meiryo UI" panose="020B0604030504040204" pitchFamily="50" charset="-128"/>
            <a:ea typeface="Meiryo UI" panose="020B0604030504040204" pitchFamily="50" charset="-128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近畿営業所</a:t>
          </a:r>
        </a:p>
      </dsp:txBody>
      <dsp:txXfrm>
        <a:off x="10125026" y="2527723"/>
        <a:ext cx="1561526" cy="1124298"/>
      </dsp:txXfrm>
    </dsp:sp>
    <dsp:sp modelId="{C2F5A284-C492-4399-A874-2766E85D6E32}">
      <dsp:nvSpPr>
        <dsp:cNvPr id="0" name=""/>
        <dsp:cNvSpPr/>
      </dsp:nvSpPr>
      <dsp:spPr>
        <a:xfrm>
          <a:off x="10125026" y="1778190"/>
          <a:ext cx="1561526" cy="74953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087" tIns="165100" rIns="27544" bIns="16510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rPr>
            <a:t>07</a:t>
          </a:r>
        </a:p>
      </dsp:txBody>
      <dsp:txXfrm>
        <a:off x="10125026" y="1778190"/>
        <a:ext cx="1561526" cy="749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list" pri="8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65E86F0A-D270-4099-B08B-A2DC00CCA9A8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996DB9E2-43E4-4C32-913C-1B4D21716AFE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C4ED3F72-69EB-4E67-8F0D-A1A861DC08ED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Logo">
            <a:extLst>
              <a:ext uri="{FF2B5EF4-FFF2-40B4-BE49-F238E27FC236}">
                <a16:creationId xmlns:a16="http://schemas.microsoft.com/office/drawing/2014/main" id="{572B6447-BD74-E19F-F82F-B6AB6B813F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63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1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dient background">
            <a:extLst>
              <a:ext uri="{FF2B5EF4-FFF2-40B4-BE49-F238E27FC236}">
                <a16:creationId xmlns:a16="http://schemas.microsoft.com/office/drawing/2014/main" id="{92928F57-07A1-1A1B-92F7-6684E21D98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6057900"/>
            <a:ext cx="12192000" cy="800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E11E6EF-7DEE-709C-8F7C-C05A9D414C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56DCA5C-54BE-B570-7771-24B6F32B86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CEC8C55-6D9F-A0BC-1D15-F83CA5ED26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5B90D9E-31F6-9A74-2145-A6288C92CE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EE872-17BA-5687-6409-5D696FD2CC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544A-606F-A954-EFCC-B2A52625FF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13402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5B2D-557F-82D7-1FBB-918B87784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652521A-CD45-F485-9C10-82CE67ACE2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8724D9F6-3E07-EAAB-9C0A-FB3B644A6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1"/>
            <a:ext cx="12192000" cy="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34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51C14DD-9794-E6F9-AF00-3571E64B89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DBE46BF-4100-2DC3-ABDE-7C925CA29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B367B8-A7CD-7CB8-9517-8197F72C4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AA0FEE-BD89-5565-F585-CC60A499B7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</p:spTree>
    <p:extLst>
      <p:ext uri="{BB962C8B-B14F-4D97-AF65-F5344CB8AC3E}">
        <p14:creationId xmlns:p14="http://schemas.microsoft.com/office/powerpoint/2010/main" val="1353846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 flipH="1">
            <a:off x="-1" y="2420888"/>
            <a:ext cx="4281056" cy="443711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11" t="-811" r="-811" b="-811"/>
            </a:stretch>
          </a:blip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95B2D-557F-82D7-1FBB-918B87784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5" y="2420888"/>
            <a:ext cx="7766945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5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29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>
            <a:off x="0" y="2420888"/>
            <a:ext cx="4281056" cy="443711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6" y="2420888"/>
            <a:ext cx="7766944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6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4A620D-E72D-0599-539C-16ECD62CD3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</p:spTree>
    <p:extLst>
      <p:ext uri="{BB962C8B-B14F-4D97-AF65-F5344CB8AC3E}">
        <p14:creationId xmlns:p14="http://schemas.microsoft.com/office/powerpoint/2010/main" val="350520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 flipH="1">
            <a:off x="615" y="2420888"/>
            <a:ext cx="4280440" cy="443711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5" y="2420888"/>
            <a:ext cx="7766945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5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DBD3AB-8D5C-9430-21B5-DB44408225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</p:spTree>
    <p:extLst>
      <p:ext uri="{BB962C8B-B14F-4D97-AF65-F5344CB8AC3E}">
        <p14:creationId xmlns:p14="http://schemas.microsoft.com/office/powerpoint/2010/main" val="3708621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able of conte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table of contents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35F424A1-9BB3-B324-997B-7DA2CBB4B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F5F6786-619A-37D6-0082-EDF431617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CA8EA4-F7B2-6078-77B7-8F2AB8EFA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3412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7D9958F-D7E9-E341-64EF-0414563D5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359696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806D21-D8B0-D169-3BEA-BE646E92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E53736-3FEA-0BB6-0AEC-B1FB5B19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11724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BF6F1D10-A4CD-E6DC-2DE0-E4703326D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68008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8EB2553-2FBB-C46C-B935-78FBAF6AAD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168008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4CDD227-79BA-3E0A-A169-54BDF73EDD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0036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EFC52AE-56A9-D690-BC97-D54E2DB805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976320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45BFC4-DD57-EE1C-86D1-53BBE74E9E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976320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A44FE0D-01E5-CFDE-EB9B-8D1C77A8F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228348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pic>
        <p:nvPicPr>
          <p:cNvPr id="27" name="Logo">
            <a:extLst>
              <a:ext uri="{FF2B5EF4-FFF2-40B4-BE49-F238E27FC236}">
                <a16:creationId xmlns:a16="http://schemas.microsoft.com/office/drawing/2014/main" id="{6CB62FDA-7C32-F694-6DE6-E1D01DA97A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29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able of conte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table of contents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35F424A1-9BB3-B324-997B-7DA2CBB4B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F5F6786-619A-37D6-0082-EDF431617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CA8EA4-F7B2-6078-77B7-8F2AB8EFA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3412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7D9958F-D7E9-E341-64EF-0414563D5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359696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806D21-D8B0-D169-3BEA-BE646E92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E53736-3FEA-0BB6-0AEC-B1FB5B19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11724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BF6F1D10-A4CD-E6DC-2DE0-E4703326D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68008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8EB2553-2FBB-C46C-B935-78FBAF6AAD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168008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4CDD227-79BA-3E0A-A169-54BDF73EDD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0036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EFC52AE-56A9-D690-BC97-D54E2DB805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976320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45BFC4-DD57-EE1C-86D1-53BBE74E9E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976320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A44FE0D-01E5-CFDE-EB9B-8D1C77A8F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228348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87E83465-E936-9562-7382-58B2C6BC3AC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551384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E294DF-F384-A74E-EE39-69C112F65F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51384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3654B84-E40B-FCB1-3724-1DABC8B173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803384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26F7F342-6CB9-4537-438D-BA9E5446D5C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359696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6DED-D6C9-416B-DE95-E998EB5207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359696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B2BFA5B-027E-0A7B-FD2A-AAC3CBC9749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611724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9" name="Picture Placeholder 7">
            <a:extLst>
              <a:ext uri="{FF2B5EF4-FFF2-40B4-BE49-F238E27FC236}">
                <a16:creationId xmlns:a16="http://schemas.microsoft.com/office/drawing/2014/main" id="{0F726FBF-CB4A-AF8D-5B1E-DCD4213344B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gray">
          <a:xfrm>
            <a:off x="6168008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0D834FA-1583-AE1B-9B41-FD20F66F22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6168008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D640CFF1-EE63-44B9-98DB-23D254A8FD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6420036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EAC21E38-8163-B540-E913-991D48522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8976320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1F29D8D5-6E5E-8B9E-0128-955D7E46C2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8976320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841AE9E9-C6DA-13DA-947A-F29639F258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9228348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pic>
        <p:nvPicPr>
          <p:cNvPr id="33" name="Logo">
            <a:extLst>
              <a:ext uri="{FF2B5EF4-FFF2-40B4-BE49-F238E27FC236}">
                <a16:creationId xmlns:a16="http://schemas.microsoft.com/office/drawing/2014/main" id="{7D38B19B-8E1F-2476-5E13-10CCDB113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03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0A9B968-2C0B-3E87-C3F8-5A609C6918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11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 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95B531DC-EDFA-F406-F1A3-7CCD05D7950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3735" t="784" r="487" b="784"/>
          <a:stretch>
            <a:fillRect/>
          </a:stretch>
        </p:blipFill>
        <p:spPr bwMode="hidden">
          <a:xfrm>
            <a:off x="11641138" y="1"/>
            <a:ext cx="555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10440000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Click to edit section name (maximum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320988"/>
            <a:ext cx="10440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00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 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10440000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Click to edit section name (maximum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320988"/>
            <a:ext cx="10440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19D055-168E-C9A6-4B8C-59B80F8FA4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878"/>
          <a:stretch>
            <a:fillRect/>
          </a:stretch>
        </p:blipFill>
        <p:spPr>
          <a:xfrm flipH="1">
            <a:off x="11641138" y="0"/>
            <a:ext cx="558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54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2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Section Divi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4926549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Section name (max.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593291"/>
            <a:ext cx="507262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CA65FF8-CA33-78E1-DB61-531BB02E1E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5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95">
          <p15:clr>
            <a:srgbClr val="FBAE40"/>
          </p15:clr>
        </p15:guide>
        <p15:guide id="3" pos="388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11088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4620EFA-9440-BC50-A006-004423448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(One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473179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3179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4620EFA-9440-BC50-A006-004423448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2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420C-8A57-5FE0-A3B3-87E196E65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68008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3044E95F-CA3F-13A8-2786-33924D4D7A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7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153">
          <p15:clr>
            <a:srgbClr val="9FCC3B"/>
          </p15:clr>
        </p15:guide>
        <p15:guide id="14" pos="6244">
          <p15:clr>
            <a:srgbClr val="9FCC3B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hree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420C-8A57-5FE0-A3B3-87E196E65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95800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1804F57-3A4A-9DF7-253D-B1D02A1E5C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040216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E285D2F7-CECB-F944-A2C5-B4FE6727F6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5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527">
          <p15:clr>
            <a:srgbClr val="9FCC3B"/>
          </p15:clr>
        </p15:guide>
        <p15:guide id="12" pos="1436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imag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69120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69120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DF71F51-0B3A-FA94-83C0-0892861AA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9912350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DF71F51-0B3A-FA94-83C0-0892861AA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08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two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0" y="350100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778B60-B2B6-2C1B-6489-97359DB625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9912350" y="6301888"/>
            <a:ext cx="1691980" cy="2528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2DDFF32-ABCB-33C4-9D6C-A673B4B53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69120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09FD615-2E6A-9A47-5949-05F77046E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69120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7460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153">
          <p15:clr>
            <a:srgbClr val="9FCC3B"/>
          </p15:clr>
        </p15:guide>
        <p15:guide id="14" pos="6244">
          <p15:clr>
            <a:srgbClr val="9FCC3B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two images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168008" y="350100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2BC9066-B5D9-AF6D-6531-C5B70B0F4B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10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153">
          <p15:clr>
            <a:srgbClr val="9FCC3B"/>
          </p15:clr>
        </p15:guide>
        <p15:guide id="14" pos="6244">
          <p15:clr>
            <a:srgbClr val="9FCC3B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wo images,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31788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168008" y="0"/>
            <a:ext cx="6023992" cy="31788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3717032"/>
            <a:ext cx="54720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68008" y="3717032"/>
            <a:ext cx="5472000" cy="2340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1CE46F8-E5F0-79EC-BCFD-07B38471E42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/>
            <a:endParaRPr lang="en-US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132686C-3404-59C2-A915-D1BF3E0108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C98B57A-3555-40BA-AB17-E55AA71BD4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2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153">
          <p15:clr>
            <a:srgbClr val="9FCC3B"/>
          </p15:clr>
        </p15:guide>
        <p15:guide id="14" pos="6244">
          <p15:clr>
            <a:srgbClr val="9FCC3B"/>
          </p15:clr>
        </p15:guide>
        <p15:guide id="15" orient="horz" pos="234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61E2592-C1EF-3D9B-8998-9CBE468D2E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214862B1-1BEA-07E1-834B-64536F34BB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51384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FDE0631-BFE0-D7CB-B38E-9800DAD94A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51384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25D5CD-EB13-7B23-8CE8-72C1140C3D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95800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9D56707-D9C5-867A-9B10-EEE16F55F4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4295800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18DCF02-18F0-F413-650A-1BBBB77FE2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95800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0B06B7A-FFCC-5BC2-0870-633DD5EE8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040216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8F0C17C-68B4-7D82-079D-FE5525B2C86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8040216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C875757-40AA-FFE0-19F9-4B08BD4DB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040216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3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Full image  (name and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600" y="0"/>
            <a:ext cx="121932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CE8921B-3DA6-94DA-A776-DD044CCFAE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1384" y="5264626"/>
            <a:ext cx="2398193" cy="792666"/>
          </a:xfrm>
          <a:solidFill>
            <a:schemeClr val="bg1"/>
          </a:solidFill>
        </p:spPr>
        <p:txBody>
          <a:bodyPr wrap="none" lIns="108000" tIns="133200" rIns="108000" bIns="169200" anchor="b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937465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Media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1">
            <a:extLst>
              <a:ext uri="{FF2B5EF4-FFF2-40B4-BE49-F238E27FC236}">
                <a16:creationId xmlns:a16="http://schemas.microsoft.com/office/drawing/2014/main" id="{CBB6E684-2097-3EE4-C891-8AFA7D49DEA4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 bwMode="gray">
          <a:xfrm>
            <a:off x="-600" y="0"/>
            <a:ext cx="121932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メディアを追加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202670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 Key message 1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dient background">
            <a:extLst>
              <a:ext uri="{FF2B5EF4-FFF2-40B4-BE49-F238E27FC236}">
                <a16:creationId xmlns:a16="http://schemas.microsoft.com/office/drawing/2014/main" id="{8D74D201-83D3-6FD9-8655-C4045985B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11641138" y="0"/>
            <a:ext cx="555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8559"/>
            <a:ext cx="10440000" cy="4904676"/>
          </a:xfrm>
        </p:spPr>
        <p:txBody>
          <a:bodyPr>
            <a:spAutoFit/>
          </a:bodyPr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179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Key message 2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266D735-8620-C437-0FB3-0FE9AE77E0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05247"/>
            <a:ext cx="10440000" cy="1692515"/>
          </a:xfrm>
        </p:spPr>
        <p:txBody>
          <a:bodyPr/>
          <a:lstStyle>
            <a:lvl1pPr>
              <a:lnSpc>
                <a:spcPct val="83000"/>
              </a:lnSpc>
              <a:defRPr sz="6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5C384BCF-9353-711D-04BF-7AF1446ED0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64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 message 1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803874-3F49-6B30-F1BA-029CAB9E94C7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21362"/>
            <a:ext cx="10440000" cy="4904676"/>
          </a:xfrm>
        </p:spPr>
        <p:txBody>
          <a:bodyPr>
            <a:spAutoFit/>
          </a:bodyPr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45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 message 2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CC37E-F977-0808-8FE2-EBFB981F74D1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05247"/>
            <a:ext cx="10440000" cy="1692515"/>
          </a:xfrm>
        </p:spPr>
        <p:txBody>
          <a:bodyPr/>
          <a:lstStyle>
            <a:lvl1pPr>
              <a:lnSpc>
                <a:spcPct val="83000"/>
              </a:lnSpc>
              <a:defRPr sz="6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5C384BCF-9353-711D-04BF-7AF1446ED0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354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 (Background Grey)">
            <a:extLst>
              <a:ext uri="{FF2B5EF4-FFF2-40B4-BE49-F238E27FC236}">
                <a16:creationId xmlns:a16="http://schemas.microsoft.com/office/drawing/2014/main" id="{F56792E5-C6B9-EC9B-17EE-7D7E78258F0A}"/>
              </a:ext>
            </a:extLst>
          </p:cNvPr>
          <p:cNvSpPr/>
          <p:nvPr userDrawn="1"/>
        </p:nvSpPr>
        <p:spPr bwMode="gray">
          <a:xfrm>
            <a:off x="6168008" y="512676"/>
            <a:ext cx="5472000" cy="55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4720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E0B544B-42EB-16A3-0EBF-8006B62CA0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528008" y="836712"/>
            <a:ext cx="4752000" cy="1846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chart 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A94ADB8-8BB9-7BA9-B6D8-7500FFA90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528008" y="1052736"/>
            <a:ext cx="4752000" cy="1846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unit of value</a:t>
            </a:r>
          </a:p>
        </p:txBody>
      </p:sp>
      <p:sp>
        <p:nvSpPr>
          <p:cNvPr id="12" name="Chart Placeholder 1">
            <a:extLst>
              <a:ext uri="{FF2B5EF4-FFF2-40B4-BE49-F238E27FC236}">
                <a16:creationId xmlns:a16="http://schemas.microsoft.com/office/drawing/2014/main" id="{6F45CE3C-CE03-F84F-458B-8EB30D44E2C2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6527521" y="1340768"/>
            <a:ext cx="4752975" cy="4140000"/>
          </a:xfrm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グラフを追加</a:t>
            </a:r>
            <a:endParaRPr lang="en-US" noProof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1429D25-4756-CAC6-F902-90E7E3E788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528008" y="5589530"/>
            <a:ext cx="4752000" cy="107722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7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7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footnote/source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8DAF8DC-04B4-6F33-FDF5-0EC9726FA8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endParaRPr lang="en-US" noProof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C90698-5AC9-14B7-D67A-08FAA7A9C01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268BFFB-23FF-B2EF-20B1-9397D5C51E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950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9DD3A440-1CA9-B6A2-DB83-4AED31D076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87116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21D8988-0F40-25F1-D7E7-AD2B2BD5BE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BF10AE8-C121-8442-377B-88627C9560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59696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5885C9B-BDFD-3544-8568-29E1331A42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15ECF1-9C67-32ED-D4D3-DDFE8EE0FA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168008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9C6BBFC-28AE-9E58-2344-AD9D8C100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168008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E697D5E-1E96-8C69-B935-640772D9971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8976320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ja-JP" altLang="en-US" noProof="0"/>
              <a:t>アイコンをクリックして図を追加</a:t>
            </a:r>
            <a:endParaRPr lang="en-US" noProof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99907E-A59A-265E-C3BE-FF36FAD57D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976320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1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40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9F1196-D343-C4C6-E6C1-0481148364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7C11606-5708-5AF1-A745-7C48C94318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8" name="Gradient background">
            <a:extLst>
              <a:ext uri="{FF2B5EF4-FFF2-40B4-BE49-F238E27FC236}">
                <a16:creationId xmlns:a16="http://schemas.microsoft.com/office/drawing/2014/main" id="{C5FA1B03-9A8B-0B3A-DF97-DDA924BDB59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3735" t="784" r="487" b="784"/>
          <a:stretch>
            <a:fillRect/>
          </a:stretch>
        </p:blipFill>
        <p:spPr bwMode="hidden">
          <a:xfrm>
            <a:off x="11641138" y="1"/>
            <a:ext cx="5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7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EBA909-1CBA-C07A-6241-B3E5C730C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592B1CA-9888-E4D0-38AA-72644C82C1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878"/>
          <a:stretch>
            <a:fillRect/>
          </a:stretch>
        </p:blipFill>
        <p:spPr>
          <a:xfrm flipH="1">
            <a:off x="11641138" y="0"/>
            <a:ext cx="558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61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EE5160-7157-FD00-72DD-B0C1659617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ja-JP" altLang="en-US"/>
              <a:t>アイコンをクリックして図を追加</a:t>
            </a:r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7ABF2EA-E0E1-5E97-F9DF-0A25325C6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238B284-6E1F-DB98-291C-B688B697E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71B56941-9CB9-1B31-EE5C-90530DC68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11641138" y="0"/>
            <a:ext cx="5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765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53C5D2-2DA0-43FA-4736-78C3F7AAAC1F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915" y="745103"/>
            <a:ext cx="10440000" cy="1226170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Q&amp;A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EBA909-1CBA-C07A-6241-B3E5C730C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94" y="2872882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B71C6042-1A08-DE22-F443-2471CE7EB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1"/>
            <a:ext cx="12192000" cy="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53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293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2438" indent="-452438">
              <a:buSzPct val="100000"/>
              <a:buFont typeface="+mj-lt"/>
              <a:buAutoNum type="arabicPeriod"/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84213" indent="-231775"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14400" indent="-230188"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146175" indent="-231775"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368425" indent="-222250"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5470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56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(Soft White)">
            <a:extLst>
              <a:ext uri="{FF2B5EF4-FFF2-40B4-BE49-F238E27FC236}">
                <a16:creationId xmlns:a16="http://schemas.microsoft.com/office/drawing/2014/main" id="{AA716554-F91F-95C6-1065-438A52A6D658}"/>
              </a:ext>
            </a:extLst>
          </p:cNvPr>
          <p:cNvSpPr/>
          <p:nvPr userDrawn="1"/>
        </p:nvSpPr>
        <p:spPr bwMode="hidden">
          <a:xfrm>
            <a:off x="-60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CD9D9-86A4-E818-1FE4-D228D5CDB0B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51384" y="476672"/>
            <a:ext cx="11088000" cy="4154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5B76263-23BE-7BB5-2901-CB7111507685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51384" y="1844824"/>
            <a:ext cx="11088000" cy="421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D872605-B8A3-4560-D1E5-773A17639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168008" y="6433635"/>
            <a:ext cx="4824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algn="l"/>
            <a:endParaRPr lang="en-US" noProof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8CE6BD9B-B3F1-1D85-5718-E7D48314B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52584" y="6433635"/>
            <a:ext cx="288032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9444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AC39-1CFD-3465-8C0F-C42600EE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merald Q&amp;A background" descr="emerald-minimalist-abstract-background-for-corpora_2026-06-30T03-11-31_image_DAS_0.jpg">
            <a:extLst>
              <a:ext uri="{FF2B5EF4-FFF2-40B4-BE49-F238E27FC236}">
                <a16:creationId xmlns:a16="http://schemas.microsoft.com/office/drawing/2014/main" id="{CF1B9F71-D57B-600E-BD78-3FF6B3BE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11" b="9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B1BE8B-26B9-3D0E-D827-51CEEAFE73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wrap="squar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87DB73-A292-27DE-217E-9280D21A13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wrap="square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D9F3E-8BFD-4E3C-98D1-767322780FD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E32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5FF174-0484-BD41-1C9F-1DD56D41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0428"/>
            <a:ext cx="12192000" cy="445172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76757A0-119C-A88A-987C-38E2D06A0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144" y="515837"/>
            <a:ext cx="10673728" cy="1226233"/>
          </a:xfrm>
        </p:spPr>
        <p:txBody>
          <a:bodyPr wrap="square"/>
          <a:lstStyle/>
          <a:p>
            <a:pPr algn="ctr"/>
            <a:r>
              <a:rPr lang="en-US" altLang="ja-JP" sz="4800" dirty="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Renal</a:t>
            </a:r>
            <a:r>
              <a:rPr lang="ja-JP" altLang="en-US" sz="4800" dirty="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　</a:t>
            </a:r>
            <a:r>
              <a:rPr lang="en-US" altLang="ja-JP" sz="4800" dirty="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MR</a:t>
            </a:r>
            <a:r>
              <a:rPr lang="ja-JP" altLang="en-US" sz="4800" dirty="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　スキルアッププロジェクト</a:t>
            </a:r>
            <a:r>
              <a:rPr lang="en-US" altLang="ja-JP" sz="4800" dirty="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DAY</a:t>
            </a:r>
            <a:r>
              <a:rPr lang="ja-JP" altLang="en-US" sz="4800" dirty="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４　</a:t>
            </a:r>
            <a:endParaRPr lang="en-US" altLang="ja-JP" sz="4800" dirty="0">
              <a:solidFill>
                <a:schemeClr val="bg1"/>
              </a:solidFill>
              <a:latin typeface="Meiryo UI"/>
              <a:ea typeface="Meiryo U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C8CCA-F3FD-B67F-15C9-26BBD4EA7D22}"/>
              </a:ext>
            </a:extLst>
          </p:cNvPr>
          <p:cNvSpPr txBox="1"/>
          <p:nvPr/>
        </p:nvSpPr>
        <p:spPr>
          <a:xfrm>
            <a:off x="5644134" y="1799639"/>
            <a:ext cx="6185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/>
                <a:ea typeface="Meiryo UI"/>
                <a:cs typeface="Arial"/>
              </a:rPr>
              <a:t>担当：藤・井上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4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AC696-18A0-CC86-8111-72FDDD6B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 descr="仕事でのストレスを感じている男性">
            <a:extLst>
              <a:ext uri="{FF2B5EF4-FFF2-40B4-BE49-F238E27FC236}">
                <a16:creationId xmlns:a16="http://schemas.microsoft.com/office/drawing/2014/main" id="{AFD2267D-3C48-5FBA-5823-5297B0445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" b="1554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2" name="emerald wash overlay">
            <a:extLst>
              <a:ext uri="{FF2B5EF4-FFF2-40B4-BE49-F238E27FC236}">
                <a16:creationId xmlns:a16="http://schemas.microsoft.com/office/drawing/2014/main" id="{B81A50B6-5E3C-6747-4532-C5F2702996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8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FADAD954-F788-17B4-4954-5A19C0C3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784531"/>
            <a:ext cx="9217455" cy="1727139"/>
          </a:xfrm>
        </p:spPr>
        <p:txBody>
          <a:bodyPr wrap="square" lIns="91440" tIns="45720" rIns="91440" bIns="45720" anchor="t"/>
          <a:lstStyle/>
          <a:p>
            <a:r>
              <a:rPr lang="ja-JP" altLang="en-US" sz="3200" dirty="0">
                <a:solidFill>
                  <a:schemeClr val="bg1"/>
                </a:solidFill>
                <a:latin typeface="Meiryo UI"/>
                <a:ea typeface="Meiryo UI"/>
              </a:rPr>
              <a:t>■オープニング　5分</a:t>
            </a:r>
          </a:p>
          <a:p>
            <a:r>
              <a:rPr lang="ja-JP" altLang="en-US" sz="3200" dirty="0">
                <a:solidFill>
                  <a:schemeClr val="bg1"/>
                </a:solidFill>
                <a:latin typeface="Meiryo UI"/>
                <a:ea typeface="Meiryo UI"/>
              </a:rPr>
              <a:t>■レクチャー&amp;ワーク①「構造</a:t>
            </a:r>
            <a:r>
              <a:rPr lang="ja-JP" altLang="en-US" sz="3200">
                <a:solidFill>
                  <a:schemeClr val="bg1"/>
                </a:solidFill>
                <a:latin typeface="Meiryo UI"/>
                <a:ea typeface="Meiryo UI"/>
              </a:rPr>
              <a:t>マップ」</a:t>
            </a:r>
            <a:endParaRPr lang="ja-JP" altLang="en-US" sz="3200" dirty="0">
              <a:solidFill>
                <a:schemeClr val="bg1"/>
              </a:solidFill>
              <a:latin typeface="Meiryo UI"/>
              <a:ea typeface="Meiryo UI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Meiryo UI"/>
                <a:ea typeface="Meiryo UI"/>
              </a:rPr>
              <a:t>■レクチャー&amp;ワーク②「4S</a:t>
            </a:r>
            <a:r>
              <a:rPr lang="ja-JP" altLang="en-US" sz="3200">
                <a:solidFill>
                  <a:schemeClr val="bg1"/>
                </a:solidFill>
                <a:latin typeface="Meiryo UI"/>
                <a:ea typeface="Meiryo UI"/>
              </a:rPr>
              <a:t>シート」</a:t>
            </a:r>
            <a:endParaRPr lang="ja-JP" altLang="en-US" sz="3200" dirty="0">
              <a:solidFill>
                <a:schemeClr val="bg1"/>
              </a:solidFill>
              <a:latin typeface="Meiryo UI"/>
              <a:ea typeface="Meiryo UI"/>
            </a:endParaRPr>
          </a:p>
          <a:p>
            <a:r>
              <a:rPr lang="ja-JP" altLang="en-US" sz="3200" dirty="0">
                <a:solidFill>
                  <a:schemeClr val="bg1"/>
                </a:solidFill>
                <a:latin typeface="Meiryo UI"/>
                <a:ea typeface="Meiryo UI"/>
              </a:rPr>
              <a:t>■エリア戦略・まとめ　5分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5E049360-E5C5-D85E-E9E6-5AABC40C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4" y="6433635"/>
            <a:ext cx="288032" cy="138499"/>
          </a:xfrm>
        </p:spPr>
        <p:txBody>
          <a:bodyPr wrap="square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D9F3E-8BFD-4E3C-98D1-767322780FD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E32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C9FD2A0-37FB-8455-88BF-06BDBB0A4B4A}"/>
              </a:ext>
            </a:extLst>
          </p:cNvPr>
          <p:cNvSpPr txBox="1">
            <a:spLocks/>
          </p:cNvSpPr>
          <p:nvPr/>
        </p:nvSpPr>
        <p:spPr bwMode="gray">
          <a:xfrm>
            <a:off x="594927" y="687915"/>
            <a:ext cx="6590370" cy="61311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kumimoji="1" sz="6600" b="1" kern="1200" spc="-6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800" b="1" i="0" u="none" strike="noStrike" kern="1200" cap="none" spc="-6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/>
                <a:ea typeface="Meiryo UI"/>
                <a:cs typeface="+mj-cs"/>
              </a:rPr>
              <a:t>Agenda</a:t>
            </a:r>
            <a:endParaRPr kumimoji="1" lang="ja-JP" altLang="en-US" sz="4800" b="1" i="0" u="none" strike="noStrike" kern="1200" cap="none" spc="-60" normalizeH="0" baseline="0" noProof="0" dirty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/>
              <a:ea typeface="Meiryo UI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1997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 descr="仕事でのストレスを感じている男性">
            <a:extLst>
              <a:ext uri="{FF2B5EF4-FFF2-40B4-BE49-F238E27FC236}">
                <a16:creationId xmlns:a16="http://schemas.microsoft.com/office/drawing/2014/main" id="{7A5E2B9B-30B1-5640-9240-A723519D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" b="1554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2" name="emerald wash 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8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C23B6A35-B6F0-D784-4F8B-1364DB10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2539274"/>
            <a:ext cx="6590370" cy="408702"/>
          </a:xfrm>
        </p:spPr>
        <p:txBody>
          <a:bodyPr wrap="square"/>
          <a:lstStyle/>
          <a:p>
            <a:r>
              <a:rPr lang="ja-JP" altLang="en-US" sz="3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集めた情報、次の一手は？、、、</a:t>
            </a:r>
            <a:endParaRPr lang="en-US" sz="3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F8083B8D-3664-6E79-A2BB-CEF7CEE5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4" y="6433635"/>
            <a:ext cx="288032" cy="138499"/>
          </a:xfrm>
        </p:spPr>
        <p:txBody>
          <a:bodyPr wrap="square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EDD9F3E-8BFD-4E3C-98D1-767322780FD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E322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6589FF1D-C39C-D5BF-3830-442EA1F6E63F}"/>
              </a:ext>
            </a:extLst>
          </p:cNvPr>
          <p:cNvSpPr txBox="1">
            <a:spLocks/>
          </p:cNvSpPr>
          <p:nvPr/>
        </p:nvSpPr>
        <p:spPr bwMode="gray">
          <a:xfrm>
            <a:off x="551384" y="4126230"/>
            <a:ext cx="6590370" cy="40870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kumimoji="1" sz="6600" b="1" kern="1200" spc="-6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-60" normalizeH="0" baseline="0" noProof="0" dirty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エリア戦略って、、、</a:t>
            </a:r>
            <a:endParaRPr kumimoji="1" lang="en-US" sz="3200" b="1" i="0" u="none" strike="noStrike" kern="1200" cap="none" spc="-60" normalizeH="0" baseline="0" noProof="0" dirty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9E12BD-BFD0-66C0-89E3-C57B308AB563}"/>
              </a:ext>
            </a:extLst>
          </p:cNvPr>
          <p:cNvSpPr txBox="1">
            <a:spLocks/>
          </p:cNvSpPr>
          <p:nvPr/>
        </p:nvSpPr>
        <p:spPr bwMode="gray">
          <a:xfrm>
            <a:off x="555194" y="3332752"/>
            <a:ext cx="6590370" cy="40870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kumimoji="1" sz="6600" b="1" kern="1200" spc="-6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-60" normalizeH="0" baseline="0" noProof="0" dirty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いよいよ最終回、、、</a:t>
            </a:r>
            <a:endParaRPr kumimoji="1" lang="en-US" sz="3200" b="1" i="0" u="none" strike="noStrike" kern="1200" cap="none" spc="-60" normalizeH="0" baseline="0" noProof="0" dirty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88ABD1-1BBB-28E5-8343-E78C68DD1C25}"/>
              </a:ext>
            </a:extLst>
          </p:cNvPr>
          <p:cNvSpPr txBox="1">
            <a:spLocks/>
          </p:cNvSpPr>
          <p:nvPr/>
        </p:nvSpPr>
        <p:spPr bwMode="gray">
          <a:xfrm>
            <a:off x="551384" y="1065286"/>
            <a:ext cx="6590370" cy="40870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kumimoji="1" sz="6600" b="1" kern="1200" spc="-6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i="0" u="none" strike="noStrike" kern="1200" cap="none" spc="-6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皆様のお気持ちは？</a:t>
            </a:r>
            <a:endParaRPr kumimoji="1" lang="en-US" sz="3200" b="1" i="0" u="none" strike="noStrike" kern="1200" cap="none" spc="-6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740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0929841C-57BA-89BA-7F4F-DB543459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11" b="9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emerald wash 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2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4DE1810-19F1-5CF2-085F-A1970AE7A0FD}"/>
              </a:ext>
            </a:extLst>
          </p:cNvPr>
          <p:cNvSpPr/>
          <p:nvPr/>
        </p:nvSpPr>
        <p:spPr>
          <a:xfrm>
            <a:off x="605790" y="365760"/>
            <a:ext cx="2583180" cy="548640"/>
          </a:xfrm>
          <a:prstGeom prst="roundRect">
            <a:avLst/>
          </a:prstGeom>
          <a:solidFill>
            <a:srgbClr val="0D8B5F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概要・イメージ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A8B4306-536C-C523-53C2-61A4A6755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245" y="1315978"/>
            <a:ext cx="6096528" cy="3429297"/>
          </a:xfrm>
          <a:prstGeom prst="rect">
            <a:avLst/>
          </a:prstGeom>
        </p:spPr>
      </p:pic>
      <p:sp>
        <p:nvSpPr>
          <p:cNvPr id="2" name="矢印: 下 1">
            <a:extLst>
              <a:ext uri="{FF2B5EF4-FFF2-40B4-BE49-F238E27FC236}">
                <a16:creationId xmlns:a16="http://schemas.microsoft.com/office/drawing/2014/main" id="{7ABE689D-35AB-8B1F-D092-F57A12EB7D20}"/>
              </a:ext>
            </a:extLst>
          </p:cNvPr>
          <p:cNvSpPr/>
          <p:nvPr/>
        </p:nvSpPr>
        <p:spPr>
          <a:xfrm>
            <a:off x="11357902" y="1694297"/>
            <a:ext cx="287079" cy="1392865"/>
          </a:xfrm>
          <a:prstGeom prst="downArrow">
            <a:avLst/>
          </a:prstGeom>
          <a:solidFill>
            <a:srgbClr val="A7D7BF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180000" marR="0" lvl="0" indent="-1800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ja-JP" altLang="en-US" sz="1800" b="0" i="0" u="none" strike="noStrike" kern="1200" cap="none" spc="0" normalizeH="0" baseline="0" noProof="0" err="1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E1596E16-1B7D-618E-F9B9-DFC22D1F4D13}"/>
              </a:ext>
            </a:extLst>
          </p:cNvPr>
          <p:cNvSpPr/>
          <p:nvPr/>
        </p:nvSpPr>
        <p:spPr>
          <a:xfrm>
            <a:off x="11376171" y="3101293"/>
            <a:ext cx="287079" cy="1392865"/>
          </a:xfrm>
          <a:prstGeom prst="downArrow">
            <a:avLst/>
          </a:prstGeom>
          <a:solidFill>
            <a:srgbClr val="A7D7BF"/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180000" marR="0" lvl="0" indent="-1800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ja-JP" altLang="en-US" sz="1800" b="0" i="0" u="none" strike="noStrike" kern="1200" cap="none" spc="0" normalizeH="0" baseline="0" noProof="0" err="1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4D548AD-7AD8-DE61-6175-DA788B61CD6A}"/>
              </a:ext>
            </a:extLst>
          </p:cNvPr>
          <p:cNvSpPr/>
          <p:nvPr/>
        </p:nvSpPr>
        <p:spPr>
          <a:xfrm>
            <a:off x="5996940" y="1699747"/>
            <a:ext cx="428847" cy="1392865"/>
          </a:xfrm>
          <a:prstGeom prst="roundRect">
            <a:avLst/>
          </a:prstGeom>
          <a:solidFill>
            <a:srgbClr val="A7D7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早期完成</a:t>
            </a:r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8C403BE-4263-6D6B-C79B-7C952D2E932E}"/>
              </a:ext>
            </a:extLst>
          </p:cNvPr>
          <p:cNvSpPr/>
          <p:nvPr/>
        </p:nvSpPr>
        <p:spPr>
          <a:xfrm>
            <a:off x="6002655" y="3161989"/>
            <a:ext cx="428847" cy="1392864"/>
          </a:xfrm>
          <a:prstGeom prst="roundRect">
            <a:avLst/>
          </a:prstGeom>
          <a:solidFill>
            <a:srgbClr val="A7D7B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順次完成</a:t>
            </a:r>
            <a:endParaRPr kumimoji="0" lang="en-US" altLang="ja-JP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A64EBC1-A89F-5909-3BF3-F045DF12FD06}"/>
              </a:ext>
            </a:extLst>
          </p:cNvPr>
          <p:cNvSpPr/>
          <p:nvPr/>
        </p:nvSpPr>
        <p:spPr>
          <a:xfrm>
            <a:off x="1771650" y="5269526"/>
            <a:ext cx="8812530" cy="888882"/>
          </a:xfrm>
          <a:prstGeom prst="roundRect">
            <a:avLst/>
          </a:prstGeom>
          <a:gradFill flip="none" rotWithShape="1">
            <a:gsLst>
              <a:gs pos="0">
                <a:srgbClr val="14543F"/>
              </a:gs>
              <a:gs pos="50000">
                <a:srgbClr val="0D8B5F"/>
              </a:gs>
              <a:gs pos="100000">
                <a:srgbClr val="6BC79B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不安を払拭し、その日からアクションできる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5E71789-B1D2-E7FF-6039-12113C3E91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75"/>
          <a:stretch>
            <a:fillRect/>
          </a:stretch>
        </p:blipFill>
        <p:spPr>
          <a:xfrm>
            <a:off x="125203" y="1315978"/>
            <a:ext cx="5738388" cy="3429297"/>
          </a:xfrm>
          <a:prstGeom prst="rect">
            <a:avLst/>
          </a:prstGeom>
        </p:spPr>
      </p:pic>
      <p:sp>
        <p:nvSpPr>
          <p:cNvPr id="10" name="タイトル 1">
            <a:extLst>
              <a:ext uri="{FF2B5EF4-FFF2-40B4-BE49-F238E27FC236}">
                <a16:creationId xmlns:a16="http://schemas.microsoft.com/office/drawing/2014/main" id="{AF93FE1E-7B8D-24BF-8C8D-E1359ED25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8206" y="518014"/>
            <a:ext cx="8622354" cy="357662"/>
          </a:xfrm>
        </p:spPr>
        <p:txBody>
          <a:bodyPr wrap="square"/>
          <a:lstStyle/>
          <a:p>
            <a:r>
              <a:rPr lang="en-US" altLang="ja-JP" sz="280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Renal </a:t>
            </a:r>
            <a:r>
              <a:rPr lang="en-US" altLang="ja-JP" sz="2800" err="1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大学</a:t>
            </a:r>
            <a:r>
              <a:rPr lang="en-US" altLang="ja-JP" sz="280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/</a:t>
            </a:r>
            <a:r>
              <a:rPr lang="en-US" altLang="ja-JP" sz="2800" err="1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基幹病院担当者スキルアッププロジェクト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366105-51EE-2A58-66B0-3AD72D6C0221}"/>
              </a:ext>
            </a:extLst>
          </p:cNvPr>
          <p:cNvSpPr/>
          <p:nvPr/>
        </p:nvSpPr>
        <p:spPr>
          <a:xfrm>
            <a:off x="6464601" y="4093537"/>
            <a:ext cx="5178055" cy="6060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kumimoji="1" lang="ja-JP" altLang="en-US" dirty="0" err="1"/>
          </a:p>
        </p:txBody>
      </p:sp>
    </p:spTree>
    <p:extLst>
      <p:ext uri="{BB962C8B-B14F-4D97-AF65-F5344CB8AC3E}">
        <p14:creationId xmlns:p14="http://schemas.microsoft.com/office/powerpoint/2010/main" val="265620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89B34-1110-A4B3-6213-181DD852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547B61F-8C0E-1529-D029-CB03A1EE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0" y="0"/>
            <a:ext cx="12127320" cy="6858000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87C0AEB-F3DA-ED72-B649-4B73767F7C39}"/>
              </a:ext>
            </a:extLst>
          </p:cNvPr>
          <p:cNvSpPr/>
          <p:nvPr/>
        </p:nvSpPr>
        <p:spPr>
          <a:xfrm>
            <a:off x="605790" y="365760"/>
            <a:ext cx="2583180" cy="548640"/>
          </a:xfrm>
          <a:prstGeom prst="roundRect">
            <a:avLst/>
          </a:prstGeom>
          <a:solidFill>
            <a:srgbClr val="0D8B5F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ゴール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D11EB31-F6B4-EF3A-3542-19CC6507C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590" y="1200150"/>
            <a:ext cx="9635489" cy="49784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52E46A4-BE7B-2C87-BD61-B36C125E2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8206" y="518014"/>
            <a:ext cx="8622354" cy="357662"/>
          </a:xfrm>
        </p:spPr>
        <p:txBody>
          <a:bodyPr wrap="square"/>
          <a:lstStyle/>
          <a:p>
            <a:r>
              <a:rPr lang="en-US" altLang="ja-JP" sz="280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Renal </a:t>
            </a:r>
            <a:r>
              <a:rPr lang="en-US" altLang="ja-JP" sz="2800" err="1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大学</a:t>
            </a:r>
            <a:r>
              <a:rPr lang="en-US" altLang="ja-JP" sz="2800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/</a:t>
            </a:r>
            <a:r>
              <a:rPr lang="en-US" altLang="ja-JP" sz="2800" err="1">
                <a:solidFill>
                  <a:schemeClr val="bg1"/>
                </a:solidFill>
                <a:latin typeface="Meiryo UI"/>
                <a:ea typeface="Meiryo UI"/>
                <a:cs typeface="Arial"/>
              </a:rPr>
              <a:t>基幹病院担当者スキルアッププロジェクト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7706F-0669-7DBA-8ED9-B7E78EA60F06}"/>
              </a:ext>
            </a:extLst>
          </p:cNvPr>
          <p:cNvSpPr txBox="1"/>
          <p:nvPr/>
        </p:nvSpPr>
        <p:spPr>
          <a:xfrm>
            <a:off x="1522093" y="4302132"/>
            <a:ext cx="7817849" cy="58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D2C5-0EB7-C594-BDA2-251203D6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erald wash 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2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A5C4EFE-E5B9-8467-5497-61815DDE3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11" b="9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5748EB0D-A802-1E0E-6EC1-B0AC3A634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7498"/>
          </a:xfrm>
          <a:prstGeom prst="rect">
            <a:avLst/>
          </a:prstGeom>
        </p:spPr>
      </p:pic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B90D169A-CAAD-A716-A031-7239C2838D06}"/>
              </a:ext>
            </a:extLst>
          </p:cNvPr>
          <p:cNvGraphicFramePr/>
          <p:nvPr/>
        </p:nvGraphicFramePr>
        <p:xfrm>
          <a:off x="217170" y="365760"/>
          <a:ext cx="11692890" cy="5430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F84BD35-B2A0-CEF0-2BA5-680A95BEDDD8}"/>
              </a:ext>
            </a:extLst>
          </p:cNvPr>
          <p:cNvSpPr/>
          <p:nvPr/>
        </p:nvSpPr>
        <p:spPr>
          <a:xfrm>
            <a:off x="605790" y="365760"/>
            <a:ext cx="2583180" cy="548640"/>
          </a:xfrm>
          <a:prstGeom prst="roundRect">
            <a:avLst/>
          </a:prstGeom>
          <a:solidFill>
            <a:srgbClr val="0D8B5F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プロジェクトメンバー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E97FF1-906A-DBE1-D182-0FD5C8A5F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297401"/>
            <a:ext cx="10266734" cy="817403"/>
          </a:xfrm>
        </p:spPr>
        <p:txBody>
          <a:bodyPr wrap="square"/>
          <a:lstStyle/>
          <a:p>
            <a:r>
              <a:rPr lang="en-US" altLang="ja-JP" sz="3200">
                <a:solidFill>
                  <a:schemeClr val="bg1"/>
                </a:soli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  <a:cs typeface="Arial"/>
              </a:rPr>
              <a:t>Renal </a:t>
            </a:r>
            <a:r>
              <a:rPr lang="en-US" altLang="ja-JP" sz="3200" err="1">
                <a:solidFill>
                  <a:schemeClr val="bg1"/>
                </a:soli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  <a:cs typeface="Arial"/>
              </a:rPr>
              <a:t>大学</a:t>
            </a:r>
            <a:r>
              <a:rPr lang="en-US" altLang="ja-JP" sz="3200">
                <a:solidFill>
                  <a:schemeClr val="bg1"/>
                </a:soli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  <a:cs typeface="Arial"/>
              </a:rPr>
              <a:t>/</a:t>
            </a:r>
            <a:r>
              <a:rPr lang="en-US" altLang="ja-JP" sz="3200" err="1">
                <a:solidFill>
                  <a:schemeClr val="bg1"/>
                </a:solidFill>
                <a:latin typeface="HG創英ﾌﾟﾚｾﾞﾝｽEB" panose="02020809000000000000" pitchFamily="17" charset="-128"/>
                <a:ea typeface="HG創英ﾌﾟﾚｾﾞﾝｽEB" panose="02020809000000000000" pitchFamily="17" charset="-128"/>
                <a:cs typeface="Arial"/>
              </a:rPr>
              <a:t>基幹病院担当者スキルアッププロジェクト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59E61-A38A-77ED-C1DC-2B7D93032893}"/>
              </a:ext>
            </a:extLst>
          </p:cNvPr>
          <p:cNvSpPr txBox="1"/>
          <p:nvPr/>
        </p:nvSpPr>
        <p:spPr>
          <a:xfrm>
            <a:off x="1832064" y="2028741"/>
            <a:ext cx="1695325" cy="21736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4D68D-8EED-203E-6047-C01DBFD925C1}"/>
              </a:ext>
            </a:extLst>
          </p:cNvPr>
          <p:cNvSpPr txBox="1"/>
          <p:nvPr/>
        </p:nvSpPr>
        <p:spPr>
          <a:xfrm>
            <a:off x="6903972" y="1994044"/>
            <a:ext cx="1695325" cy="21736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88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D012-DDA1-D41D-65DA-57E0BA1F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F7488F29-00B5-FA7E-D7C1-E9FDF0735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7498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D09851C-9131-A14A-9A7A-CF6D2A4F251E}"/>
              </a:ext>
            </a:extLst>
          </p:cNvPr>
          <p:cNvSpPr/>
          <p:nvPr/>
        </p:nvSpPr>
        <p:spPr>
          <a:xfrm>
            <a:off x="605790" y="365760"/>
            <a:ext cx="2583180" cy="548640"/>
          </a:xfrm>
          <a:prstGeom prst="roundRect">
            <a:avLst/>
          </a:prstGeom>
          <a:solidFill>
            <a:srgbClr val="0D8B5F"/>
          </a:solidFill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今後の流れ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F64936-655E-A5FE-2C24-7CD708F7AAFD}"/>
              </a:ext>
            </a:extLst>
          </p:cNvPr>
          <p:cNvSpPr txBox="1"/>
          <p:nvPr/>
        </p:nvSpPr>
        <p:spPr>
          <a:xfrm>
            <a:off x="3503045" y="456129"/>
            <a:ext cx="722276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※</a:t>
            </a:r>
            <a:r>
              <a:rPr kumimoji="0" lang="en-US" altLang="ja-JP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全員が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主体的に参加・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10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分程度レクチャー・ワーク・共有のイメージ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74363B5-F17F-B5BE-25ED-B80B09710E83}"/>
              </a:ext>
            </a:extLst>
          </p:cNvPr>
          <p:cNvSpPr/>
          <p:nvPr/>
        </p:nvSpPr>
        <p:spPr>
          <a:xfrm>
            <a:off x="205740" y="3542124"/>
            <a:ext cx="2788920" cy="3159955"/>
          </a:xfrm>
          <a:prstGeom prst="roundRect">
            <a:avLst/>
          </a:prstGeom>
          <a:gradFill flip="none" rotWithShape="1">
            <a:gsLst>
              <a:gs pos="0">
                <a:srgbClr val="14543F"/>
              </a:gs>
              <a:gs pos="52000">
                <a:srgbClr val="0D8B5F"/>
              </a:gs>
              <a:gs pos="100000">
                <a:srgbClr val="72C99F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大学・基幹病院のイロハ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大学病院ってなぜあるの？</a:t>
            </a: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この先生、どれだけ偉い？</a:t>
            </a: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「採用」活動の心得</a:t>
            </a: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…etc</a:t>
            </a: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この会に参加すると→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病院に訪問する怖さがちょっとだけ減っているかも🤏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2A49435-E163-4B58-59D7-E082C531BB8C}"/>
              </a:ext>
            </a:extLst>
          </p:cNvPr>
          <p:cNvSpPr/>
          <p:nvPr/>
        </p:nvSpPr>
        <p:spPr>
          <a:xfrm>
            <a:off x="3253740" y="3542125"/>
            <a:ext cx="2788920" cy="3217272"/>
          </a:xfrm>
          <a:prstGeom prst="roundRect">
            <a:avLst/>
          </a:prstGeom>
          <a:gradFill flip="none" rotWithShape="1">
            <a:gsLst>
              <a:gs pos="0">
                <a:srgbClr val="14543F"/>
              </a:gs>
              <a:gs pos="52000">
                <a:srgbClr val="0D8B5F"/>
              </a:gs>
              <a:gs pos="100000">
                <a:srgbClr val="72C99F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48F0575-2B38-80BF-40CC-32B88F6554CD}"/>
              </a:ext>
            </a:extLst>
          </p:cNvPr>
          <p:cNvSpPr/>
          <p:nvPr/>
        </p:nvSpPr>
        <p:spPr>
          <a:xfrm>
            <a:off x="6244590" y="3542125"/>
            <a:ext cx="2788920" cy="3217272"/>
          </a:xfrm>
          <a:prstGeom prst="roundRect">
            <a:avLst/>
          </a:prstGeom>
          <a:gradFill flip="none" rotWithShape="1">
            <a:gsLst>
              <a:gs pos="0">
                <a:srgbClr val="14543F"/>
              </a:gs>
              <a:gs pos="52000">
                <a:srgbClr val="0D8B5F"/>
              </a:gs>
              <a:gs pos="100000">
                <a:srgbClr val="72C99F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やっぱり</a:t>
            </a:r>
            <a:r>
              <a:rPr kumimoji="1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MR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は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情報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が命</a:t>
            </a:r>
            <a:endParaRPr kumimoji="1" lang="en-US" altLang="ja-JP" sz="1800" b="1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１：「何を、どこでつかむか」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1-1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：デスクトップリサーチ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→社内外のツールを使いこなす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1-2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：</a:t>
            </a: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Wet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な情報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をつかむ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F7FBF8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→何を、どこでつかむか</a:t>
            </a:r>
            <a:b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：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得た情報をどう活かすか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この会に参加すると→</a:t>
            </a:r>
            <a:br>
              <a:rPr kumimoji="1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「分かって</a:t>
            </a: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MR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」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7FBF8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として信頼がえられるかも🤏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B612F91-5DA9-E5C5-6010-BE98F96CB455}"/>
              </a:ext>
            </a:extLst>
          </p:cNvPr>
          <p:cNvSpPr txBox="1"/>
          <p:nvPr/>
        </p:nvSpPr>
        <p:spPr>
          <a:xfrm>
            <a:off x="745490" y="3029458"/>
            <a:ext cx="16573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E32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第一回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4BB7DBC-DE48-B39E-822A-20B93FB1EC28}"/>
              </a:ext>
            </a:extLst>
          </p:cNvPr>
          <p:cNvSpPr txBox="1"/>
          <p:nvPr/>
        </p:nvSpPr>
        <p:spPr>
          <a:xfrm>
            <a:off x="9767570" y="3029457"/>
            <a:ext cx="16573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E32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第四回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313F23A-BB66-8173-3A30-5545CF8F7E7D}"/>
              </a:ext>
            </a:extLst>
          </p:cNvPr>
          <p:cNvSpPr txBox="1"/>
          <p:nvPr/>
        </p:nvSpPr>
        <p:spPr>
          <a:xfrm>
            <a:off x="6795770" y="3051366"/>
            <a:ext cx="16573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E32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第三回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6C49A9-2C2F-C94C-475D-BCB26B7B576A}"/>
              </a:ext>
            </a:extLst>
          </p:cNvPr>
          <p:cNvSpPr txBox="1"/>
          <p:nvPr/>
        </p:nvSpPr>
        <p:spPr>
          <a:xfrm>
            <a:off x="3888740" y="3051366"/>
            <a:ext cx="16573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E32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第二回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D2C33E4-045B-0B64-7331-8AC18EA4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45" y="1035293"/>
            <a:ext cx="3178623" cy="1840087"/>
          </a:xfrm>
          <a:prstGeom prst="rect">
            <a:avLst/>
          </a:prstGeom>
          <a:ln w="12700">
            <a:solidFill>
              <a:srgbClr val="DDEAE1"/>
            </a:solidFill>
          </a:ln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ECCEFBF-7944-BB5B-CDDA-DBD497F486C0}"/>
              </a:ext>
            </a:extLst>
          </p:cNvPr>
          <p:cNvSpPr txBox="1"/>
          <p:nvPr/>
        </p:nvSpPr>
        <p:spPr>
          <a:xfrm>
            <a:off x="282892" y="1060132"/>
            <a:ext cx="6716078" cy="1754326"/>
          </a:xfrm>
          <a:prstGeom prst="rect">
            <a:avLst/>
          </a:prstGeom>
          <a:ln w="12700">
            <a:solidFill>
              <a:srgbClr val="A7D7B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【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開催日程等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】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/>
                <a:ea typeface="Meiryo UI"/>
                <a:cs typeface="+mn-cs"/>
              </a:rPr>
              <a:t>出欠管理は“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/>
                <a:ea typeface="Meiryo UI"/>
                <a:cs typeface="+mn-cs"/>
              </a:rPr>
              <a:t>Outlook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eiryo UI"/>
                <a:ea typeface="Meiryo UI"/>
                <a:cs typeface="+mn-cs"/>
              </a:rPr>
              <a:t>”にてチェック✅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■計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4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回シリーズ　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➀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7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月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16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日（木）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9:00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～　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②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7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月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23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日（木）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9:00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～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③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7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月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29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日（水）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14:00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～　④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8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月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6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日（木）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9:00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～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E322A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※リジュベネーション考慮</a:t>
            </a:r>
            <a:endParaRPr kumimoji="0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■時間　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10:00~11:00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（内容によって前後＋</a:t>
            </a: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30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73A3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分延長）</a:t>
            </a:r>
          </a:p>
        </p:txBody>
      </p:sp>
      <p:sp>
        <p:nvSpPr>
          <p:cNvPr id="5" name="四角形: 角を丸くする 1">
            <a:extLst>
              <a:ext uri="{FF2B5EF4-FFF2-40B4-BE49-F238E27FC236}">
                <a16:creationId xmlns:a16="http://schemas.microsoft.com/office/drawing/2014/main" id="{EE641EDE-2F7D-C520-4FF0-F263BA0FBB9C}"/>
              </a:ext>
            </a:extLst>
          </p:cNvPr>
          <p:cNvSpPr/>
          <p:nvPr/>
        </p:nvSpPr>
        <p:spPr>
          <a:xfrm>
            <a:off x="3253739" y="3571152"/>
            <a:ext cx="2788920" cy="3159955"/>
          </a:xfrm>
          <a:prstGeom prst="roundRect">
            <a:avLst/>
          </a:prstGeom>
          <a:gradFill flip="none" rotWithShape="1">
            <a:gsLst>
              <a:gs pos="0">
                <a:srgbClr val="14543F"/>
              </a:gs>
              <a:gs pos="52000">
                <a:srgbClr val="0D8B5F"/>
              </a:gs>
              <a:gs pos="100000">
                <a:srgbClr val="72C99F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「会えない」を「会える」に変える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医師の導線の見つけ方は？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「会う」ための情報収集は？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継続的に会うための工夫は？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この会に参加すると→</a:t>
            </a:r>
            <a:endParaRPr kumimoji="0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「いつでもどこでも会えるMR」への手がかりが掴めるかも🤏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20" name="四角形: 角を丸くする 1">
            <a:extLst>
              <a:ext uri="{FF2B5EF4-FFF2-40B4-BE49-F238E27FC236}">
                <a16:creationId xmlns:a16="http://schemas.microsoft.com/office/drawing/2014/main" id="{E22EB87F-465B-E288-A038-BCF80447D941}"/>
              </a:ext>
            </a:extLst>
          </p:cNvPr>
          <p:cNvSpPr/>
          <p:nvPr/>
        </p:nvSpPr>
        <p:spPr>
          <a:xfrm>
            <a:off x="9235440" y="3571152"/>
            <a:ext cx="2788920" cy="3159955"/>
          </a:xfrm>
          <a:prstGeom prst="roundRect">
            <a:avLst/>
          </a:prstGeom>
          <a:gradFill flip="none" rotWithShape="1">
            <a:gsLst>
              <a:gs pos="0">
                <a:srgbClr val="14543F"/>
              </a:gs>
              <a:gs pos="52000">
                <a:srgbClr val="0D8B5F"/>
              </a:gs>
              <a:gs pos="100000">
                <a:srgbClr val="72C99F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08000" tIns="108000" rIns="108000" bIns="10800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「ちょっと分かるだけで　世界が変わる」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得た情報を整理する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知ることで何ができる？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エリア戦略まで繋げる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この会に参加すると→</a:t>
            </a:r>
            <a:endParaRPr kumimoji="0" lang="ja-JP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担当者としての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自覚がもてるかも🤏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0890E8-5B6F-F809-41C2-76277E1E2EEF}"/>
              </a:ext>
            </a:extLst>
          </p:cNvPr>
          <p:cNvSpPr txBox="1"/>
          <p:nvPr/>
        </p:nvSpPr>
        <p:spPr>
          <a:xfrm>
            <a:off x="9111342" y="2875380"/>
            <a:ext cx="3039355" cy="39516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322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08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BFE8D2"/>
                </a:solidFill>
                <a:latin typeface="Meiryo UI"/>
                <a:ea typeface="Meiryo UI"/>
              </a:rPr>
              <a:t>Renal 大学/基幹病院担当者スキルアッププロジェクト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691640" cy="56692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2200" b="1" i="0">
                <a:solidFill>
                  <a:srgbClr val="0B4F37"/>
                </a:solidFill>
                <a:latin typeface="Meiryo UI"/>
                <a:ea typeface="Meiryo UI"/>
              </a:rPr>
              <a:t>DAY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48132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シリーズ最終回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03327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300" b="1" i="0">
                <a:solidFill>
                  <a:srgbClr val="FFFFFF"/>
                </a:solidFill>
                <a:latin typeface="Meiryo UI"/>
                <a:ea typeface="Meiryo UI"/>
              </a:rPr>
              <a:t>ちょっと分かるだけで</a:t>
            </a:r>
          </a:p>
          <a:p>
            <a:pPr algn="l"/>
            <a:r>
              <a:rPr sz="4300" b="1" i="0">
                <a:solidFill>
                  <a:srgbClr val="FFFFFF"/>
                </a:solidFill>
                <a:latin typeface="Meiryo UI"/>
                <a:ea typeface="Meiryo UI"/>
              </a:rPr>
              <a:t>世界が変わる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BFE8D2"/>
                </a:solidFill>
                <a:latin typeface="Meiryo UI"/>
                <a:ea typeface="Meiryo UI"/>
              </a:rPr>
              <a:t>〜 集めた情報を、エリアを動かす「戦略」に変える 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7863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2026年8月6日（木）　｜　60分（内容により＋30分延長）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FE8D2"/>
                </a:solidFill>
                <a:latin typeface="Meiryo UI"/>
                <a:ea typeface="Meiryo UI"/>
              </a:rPr>
              <a:t>全員が主体的に参加：レクチャー × グループワーク × 共有</a:t>
            </a:r>
          </a:p>
          <a:p>
            <a:pPr algn="l"/>
            <a:r>
              <a:rPr sz="1150" b="0" i="0">
                <a:solidFill>
                  <a:srgbClr val="9ECFB8"/>
                </a:solidFill>
                <a:latin typeface="Meiryo UI"/>
                <a:ea typeface="Meiryo UI"/>
              </a:rPr>
              <a:t>担当：腎臓領域（大学・基幹病院担当）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553212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BFE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不安を払拭し、</a:t>
            </a:r>
          </a:p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その日からアクションできる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本日の進め方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00–10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572768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オープニング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72768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DAY1〜3の振り返り／今日のゴール／Ice 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572768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全員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10–18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19456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レクチャー①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9456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集めた情報を「構造」で整理する（人・役割・関係性）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2194560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講義8分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18–21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816352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ミニワーク①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816352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担当施設の「分かっていないこと」を3つ書き出す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816352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個人3分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38144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21–30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438144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レクチャー②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38144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４Sシート：成功像・現状/課題・原因・解決策で言語化する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3438144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講義9分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59936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30–50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059936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グループワーク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059936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自施設・エリアの４Sシートを書く（個人8分＋グループ共有12分）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4059936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個人＋G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81728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50–55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4681728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全体共有＆Tips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681728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各グループから1つ／エリア戦略への広げ方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4681728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全員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03520"/>
            <a:ext cx="1051560" cy="548640"/>
          </a:xfrm>
          <a:prstGeom prst="roundRect">
            <a:avLst>
              <a:gd name="adj" fmla="val 2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55–60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530352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■ まとめ＆行動宣言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530352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明日からの一手を1人1行、チャットに宣言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5303520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Meiryo UI"/>
                <a:ea typeface="Meiryo UI"/>
              </a:rPr>
              <a:t>全員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80175"/>
            <a:ext cx="11109960" cy="658368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eiryo UI"/>
                <a:ea typeface="Meiryo UI"/>
              </a:rPr>
              <a:t>＋30分延長する場合：</a:t>
            </a: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レクチャー①のあとに「構造マップ」作成ワーク（15分）とペア共有（10分）を追加。</a:t>
            </a:r>
          </a:p>
          <a:p>
            <a:pPr algn="l"/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巻末に GIFT（持ち帰り用の実践Tips）と 付録（テンプレート・早見表）を収録しています。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TODAY'S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DAY1〜3の振り返り — 3回で、ここまで来ました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人は1日で67%を忘れると言われます。まず、3回分の学びを1枚で取り戻しましょう。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38528"/>
            <a:ext cx="3566160" cy="68580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DAY 1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大学・基幹病院のイロハ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88336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・医局のキーパーソンを見極める（教授だけでなく准教授・講師・医局長）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・情報収集は複数ルートで（HP・論文・学会＋若手・関連病院・OB）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・採用・処方前に院内運用を必ず確認（薬剤部DI・採用形態・確認書）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938528"/>
            <a:ext cx="3566160" cy="6858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DAY 2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「会えない」を「会える」に変える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688336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・一人で突破しない（CV・MS・医局秘書・若手・上位医師を巻き込む）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・Best Time / Best Place を探す（曜日・時間帯・動線・カンファ）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・面談は「次につなげる」— 一度会うことがゴールではない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38528"/>
            <a:ext cx="3566160" cy="68580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DAY 3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やっぱりMRは情報が命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688336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・ドライ情報×ウェット情報を組み合わせて顧客理解の解像度を上げる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・分からないことは small b として面会に持ち込み、少しずつクリアにする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・面会後は「なぜ」を分解し、仮説を立てて次の面会へ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109960" cy="114300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37"/>
                </a:solidFill>
                <a:latin typeface="Meiryo UI"/>
                <a:ea typeface="Meiryo UI"/>
              </a:rPr>
              <a:t>そして今日、DAY4。</a:t>
            </a:r>
            <a:r>
              <a:rPr sz="1500" b="0" i="0">
                <a:solidFill>
                  <a:srgbClr val="262626"/>
                </a:solidFill>
                <a:latin typeface="Meiryo UI"/>
                <a:ea typeface="Meiryo UI"/>
              </a:rPr>
              <a:t>　3回で集めた「情報」を、エリアを動かす「戦略」に変換します。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Meiryo UI"/>
                <a:ea typeface="Meiryo UI"/>
              </a:rPr>
              <a:t>欠席された回がある方へ：VTR＆資料アーカイブがあります。今日の内容だけでも、必ず持ち帰れるよう設計しています。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本プロジェクトで成し遂げたいこと — 今日は「戦略的活動」の回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◆ 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691640"/>
            <a:ext cx="7635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大学・基幹病院特有の採用ルール・プロセスを理解し、担当施設の状況を適切に調査できる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691640"/>
            <a:ext cx="1417320" cy="84124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DAY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◆ 面会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2651760"/>
            <a:ext cx="7635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大学を中心とした継続的な面会機会を創出できる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651760"/>
            <a:ext cx="1417320" cy="84124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DAY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◆ 情報収集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7168" y="3611880"/>
            <a:ext cx="7635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デスクトップリサーチを効果的に行い、実地にて成果につながる必要な情報を適切に収集できる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3611880"/>
            <a:ext cx="1417320" cy="841248"/>
          </a:xfrm>
          <a:prstGeom prst="roundRect">
            <a:avLst>
              <a:gd name="adj" fmla="val 15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DAY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◆ 戦略的活動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7168" y="4572000"/>
            <a:ext cx="7635240" cy="841248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担当施設と周辺エリアに対する成功像・現状・課題・解決法を言語化できる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4572000"/>
            <a:ext cx="1417320" cy="841248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DAY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0000"/>
                </a:solidFill>
                <a:latin typeface="Meiryo UI"/>
                <a:ea typeface="Meiryo UI"/>
              </a:rPr>
              <a:t>「言語化できる」がゴール。</a:t>
            </a:r>
            <a:r>
              <a:rPr sz="1450" b="0" i="0">
                <a:solidFill>
                  <a:srgbClr val="262626"/>
                </a:solidFill>
                <a:latin typeface="Meiryo UI"/>
                <a:ea typeface="Meiryo UI"/>
              </a:rPr>
              <a:t>　頭の中にある情報を、誰かに説明できる形にした瞬間、はじめて戦略になります。</a:t>
            </a:r>
          </a:p>
          <a:p>
            <a:pPr algn="l"/>
            <a:r>
              <a:rPr sz="1250" b="0" i="0">
                <a:solidFill>
                  <a:srgbClr val="595959"/>
                </a:solidFill>
                <a:latin typeface="Meiryo UI"/>
                <a:ea typeface="Meiryo UI"/>
              </a:rPr>
              <a:t>今日はそのための道具 ——「構造マップ」と「４Sシート」—— を持ち帰っていただきます。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DAY3で見たあの実例には、実は「型」がありました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第3回でご共有いただいた事例（循環器領域・広瀬さん）を、4つの箱に分解してみます。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109960" cy="658368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大学病院を起点に治療指針を可視化 → 教授のInfluenceで医療圏の病院へ展開波及 → </a:t>
            </a:r>
            <a:r>
              <a:rPr sz="1400" b="1" i="0">
                <a:solidFill>
                  <a:srgbClr val="FFC000"/>
                </a:solidFill>
                <a:latin typeface="Meiryo UI"/>
                <a:ea typeface="Meiryo UI"/>
              </a:rPr>
              <a:t>新規症例 1月15例 → 2月17例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542032" cy="50292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① 成功像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1012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医療圏の患者さんが、どの病院にかかっても適切な治療にたどり着いている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6392" y="3840480"/>
            <a:ext cx="182880" cy="237744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64992" y="2743200"/>
            <a:ext cx="2542032" cy="5029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② 現状・課題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331012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治療の考え方が施設ごとにバラバラ。医療圏全体では救えていない患者さんがいる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52744" y="3840480"/>
            <a:ext cx="182880" cy="237744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81344" y="2743200"/>
            <a:ext cx="2542032" cy="50292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③ 原因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31012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医療圏の中心となる指針が可視化・共有されておらず、施設をつなぐ「旗」がない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69096" y="3840480"/>
            <a:ext cx="182880" cy="237744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97696" y="2743200"/>
            <a:ext cx="2542032" cy="5029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④ 解決策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331012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大学の治療指針を可視化し、教授の影響力で医療圏の病院へ展開する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4F37"/>
                </a:solidFill>
                <a:latin typeface="Meiryo UI"/>
                <a:ea typeface="Meiryo UI"/>
              </a:rPr>
              <a:t>この4つの箱が、今日つくる「４Sシート」です。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あの事例は特別な才能の産物ではなく、</a:t>
            </a:r>
            <a:r>
              <a:rPr sz="1400" b="1" i="0">
                <a:solidFill>
                  <a:srgbClr val="C00000"/>
                </a:solidFill>
                <a:latin typeface="Meiryo UI"/>
                <a:ea typeface="Meiryo UI"/>
              </a:rPr>
              <a:t>成功像から逆算して原因を掘り、打ち手を決めた</a:t>
            </a: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という「型」の産物。今日は、その型を全員が自分のエリアで再現できるようにします。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本日のゴール — 帰るときに、この状態になっている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Meiryo UI"/>
                <a:ea typeface="Meiryo UI"/>
              </a:rPr>
              <a:t>収集した情報から４Sシートを用いて、エリアの</a:t>
            </a:r>
            <a:r>
              <a:rPr sz="1900" b="1" i="0">
                <a:solidFill>
                  <a:srgbClr val="FFC000"/>
                </a:solidFill>
                <a:latin typeface="Meiryo UI"/>
                <a:ea typeface="Meiryo UI"/>
              </a:rPr>
              <a:t>課題・原因・解決方法を可視化</a:t>
            </a:r>
            <a:r>
              <a:rPr sz="1900" b="1" i="0">
                <a:solidFill>
                  <a:srgbClr val="FFFFFF"/>
                </a:solidFill>
                <a:latin typeface="Meiryo UI"/>
                <a:ea typeface="Meiryo UI"/>
              </a:rPr>
              <a:t>できる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4320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28A54"/>
                </a:solidFill>
                <a:latin typeface="Meiryo UI"/>
                <a:ea typeface="Meiryo UI"/>
              </a:rPr>
              <a:t>整理する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施設情報を「構造（人・役割・関係性）」で整理し、キーパーソンを特定できる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743200"/>
            <a:ext cx="3200400" cy="82296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レクチャー①＋ミニワーク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94759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70332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Meiryo UI"/>
                <a:ea typeface="Meiryo UI"/>
              </a:rPr>
              <a:t>言語化する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成功像・現状/課題・原因・解決策を、４Sシート1枚に書き切れる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703320"/>
            <a:ext cx="3200400" cy="82296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レクチャー②＋グループワーク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54879"/>
            <a:ext cx="640080" cy="640080"/>
          </a:xfrm>
          <a:prstGeom prst="ellipse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66344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B86A00"/>
                </a:solidFill>
                <a:latin typeface="Meiryo UI"/>
                <a:ea typeface="Meiryo UI"/>
              </a:rPr>
              <a:t>繋げる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大学で分かったことを起点に、エリアアプローチ戦略を自分の言葉で説明できる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663440"/>
            <a:ext cx="3200400" cy="822960"/>
          </a:xfrm>
          <a:prstGeom prst="roundRect">
            <a:avLst>
              <a:gd name="adj" fmla="val 12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全体共有＋Tips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109960" cy="621792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0B4F37"/>
                </a:solidFill>
                <a:latin typeface="Meiryo UI"/>
                <a:ea typeface="Meiryo UI"/>
              </a:rPr>
              <a:t>シリーズ全体のゴール：</a:t>
            </a: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「この施設とこのエリアのことは、社内の誰よりも私が分かっている」と言える担当者になること。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YOUR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この60分は、皆さん62名のアンケートから設計しました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皆さんの不安 TOP5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27632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皆さんの期待 TOP5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① 継続面会・アポネタの獲得（最多）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Meiryo UI"/>
                <a:ea typeface="Meiryo UI"/>
              </a:rPr>
              <a:t>→ ミニワーク①＋「？はアポネタになる」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39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② 医局の構造・人間関係・肩書きの意味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Meiryo UI"/>
                <a:ea typeface="Meiryo UI"/>
              </a:rPr>
              <a:t>→ レクチャー①＋付録C「肩書き早見表」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11296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③ 教わったことがない・自己流でやってきた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Meiryo UI"/>
                <a:ea typeface="Meiryo UI"/>
              </a:rPr>
              <a:t>→ 「型」で目線合わせ：構造マップ × ４S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87952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④ 腎領域の知識・専門的な対話への不安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Meiryo UI"/>
                <a:ea typeface="Meiryo UI"/>
              </a:rPr>
              <a:t>→ 「教えてください」の武器化＋気づきリスト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64608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⑤ 寄附金・宣伝許可などのルール</a:t>
            </a:r>
          </a:p>
          <a:p>
            <a:pPr algn="l"/>
            <a:r>
              <a:rPr sz="1000" b="1" i="0">
                <a:solidFill>
                  <a:srgbClr val="C00000"/>
                </a:solidFill>
                <a:latin typeface="Meiryo UI"/>
                <a:ea typeface="Meiryo UI"/>
              </a:rPr>
              <a:t>→ 付録D「コンプライアンスの5原則」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57984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① 他メンバーの事例・考え方（圧倒的最多）</a:t>
            </a:r>
          </a:p>
          <a:p>
            <a:pPr algn="l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→ グループ共有＋全国気づきリストを本日始動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34639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② 明日から使える実践スキル</a:t>
            </a:r>
          </a:p>
          <a:p>
            <a:pPr algn="l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→ 行動宣言＋GIFT「7つの習慣」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11296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③ 大学担当としての型・基本</a:t>
            </a:r>
          </a:p>
          <a:p>
            <a:pPr algn="l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→ 構造マップと４S、2つの型を持ち帰る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187952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④ エリア戦略・優先順位付け</a:t>
            </a:r>
          </a:p>
          <a:p>
            <a:pPr algn="l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→ 本日の本丸：Tips「3つのモノサシ」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864608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3210" rIns="118872" bIns="83210" rtlCol="0" anchor="ctr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⑤ 全国の横のつながり</a:t>
            </a:r>
          </a:p>
          <a:p>
            <a:pPr algn="l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→ 気づきリスト＝続くネットワークの起点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96128"/>
            <a:ext cx="11109960" cy="77724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ご回答いただいた62名の皆さん、ありがとうございました。</a:t>
            </a:r>
          </a:p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このアンケートが今日の設計図です。60分で扱いきれないテーマは、巻末のGIFT・付録と「気づきリスト」で必ず持ち帰れるようにしました。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10896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ICE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0B4F37"/>
                </a:solidFill>
                <a:latin typeface="Meiryo UI"/>
                <a:ea typeface="Meiryo UI"/>
              </a:rPr>
              <a:t>Ice Break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262626"/>
                </a:solidFill>
                <a:latin typeface="Meiryo UI"/>
                <a:ea typeface="Meiryo UI"/>
              </a:rPr>
              <a:t>Q. あなたが今、担当施設について</a:t>
            </a:r>
            <a:r>
              <a:rPr sz="2400" b="1" i="0">
                <a:solidFill>
                  <a:srgbClr val="C00000"/>
                </a:solidFill>
                <a:latin typeface="Meiryo UI"/>
                <a:ea typeface="Meiryo UI"/>
              </a:rPr>
              <a:t>「これが分かっていない」</a:t>
            </a:r>
            <a:r>
              <a:rPr sz="2400" b="1" i="0">
                <a:solidFill>
                  <a:srgbClr val="262626"/>
                </a:solidFill>
                <a:latin typeface="Meiryo UI"/>
                <a:ea typeface="Meiryo UI"/>
              </a:rPr>
              <a:t>と</a:t>
            </a:r>
          </a:p>
          <a:p>
            <a:pPr algn="ctr"/>
            <a:r>
              <a:rPr sz="2400" b="1" i="0">
                <a:solidFill>
                  <a:srgbClr val="262626"/>
                </a:solidFill>
                <a:latin typeface="Meiryo UI"/>
                <a:ea typeface="Meiryo UI"/>
              </a:rPr>
              <a:t>感じていることを、1つだけ教えてください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749039"/>
            <a:ext cx="5029200" cy="566928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チャットにコメント記入をお願いします！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28A54"/>
                </a:solidFill>
                <a:latin typeface="Meiryo UI"/>
                <a:ea typeface="Meiryo UI"/>
              </a:rPr>
              <a:t>30秒でOK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長さは不問。一言で十分です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4617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28A54"/>
                </a:solidFill>
                <a:latin typeface="Meiryo UI"/>
                <a:ea typeface="Meiryo UI"/>
              </a:rPr>
              <a:t>「分からない」が正解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書けた不明点が、今日のワークの材料になります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4617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28A54"/>
                </a:solidFill>
                <a:latin typeface="Meiryo UI"/>
                <a:ea typeface="Meiryo UI"/>
              </a:rPr>
              <a:t>他の人の投稿も見る</a:t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同じ悩みを持つ仲間が、全国にいると分かります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595959"/>
                </a:solidFill>
                <a:latin typeface="Meiryo UI"/>
                <a:ea typeface="Meiryo UI"/>
              </a:rPr>
              <a:t>DAY3で学んだ「分からないことは small b として面会に持ち込む」— その small b を、今ここで棚卸ししましょう。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1D7451"/>
                </a:solidFill>
                <a:latin typeface="Meiryo UI"/>
                <a:ea typeface="Meiryo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874519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SECTION 01 ｜ 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33172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Meiryo UI"/>
                <a:ea typeface="Meiryo UI"/>
              </a:rPr>
              <a:t>集めた情報を「構造」にする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3931920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400507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情報は、集めただけでは1円にもならない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4645152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718304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人・役割・関係性の3点セットで整理する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5358383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431536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キーパーソンは「役職」ではなく「影響力」で見る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FE8D2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BFE8D2"/>
                </a:solidFill>
                <a:latin typeface="Meiryo UI"/>
                <a:ea typeface="Meiryo UI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　｜　8分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情報は、集めただけでは1円にもならない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DAY3の到達点：「何を・どこで」つかむか（ドライ情報×ウェット情報）は身についた。では、その先は？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t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128A54"/>
                </a:solidFill>
                <a:latin typeface="Meiryo UI"/>
                <a:ea typeface="Meiryo UI"/>
              </a:rPr>
              <a:t>点</a:t>
            </a:r>
          </a:p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集める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面会メモ、病院HP、Veeva Link、医局の掲示物、廊下の会話……バラバラの事実の山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0208" y="3063240"/>
            <a:ext cx="438912" cy="411480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t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B86A00"/>
                </a:solidFill>
                <a:latin typeface="Meiryo UI"/>
                <a:ea typeface="Meiryo UI"/>
              </a:rPr>
              <a:t>線</a:t>
            </a:r>
          </a:p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整理する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人と人・部署と部署を「関係」で結ぶ＝ レクチャー①＋ミニワーク①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82127" y="3063240"/>
            <a:ext cx="438912" cy="411480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0" y="201168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t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C00000"/>
                </a:solidFill>
                <a:latin typeface="Meiryo UI"/>
                <a:ea typeface="Meiryo UI"/>
              </a:rPr>
              <a:t>面</a:t>
            </a:r>
          </a:p>
          <a:p>
            <a:pPr algn="ctr">
              <a:spcAft>
                <a:spcPts val="1000"/>
              </a:spcAft>
            </a:pPr>
            <a:r>
              <a:rPr sz="1800" b="1" i="0">
                <a:solidFill>
                  <a:srgbClr val="0B4F37"/>
                </a:solidFill>
                <a:latin typeface="Meiryo UI"/>
                <a:ea typeface="Meiryo UI"/>
              </a:rPr>
              <a:t>戦略にする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施設全体・エリア全体の構造が見え、打ち手が浮かぶ＝ ４Sシート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060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2626"/>
                </a:solidFill>
                <a:latin typeface="Meiryo UI"/>
                <a:ea typeface="Meiryo UI"/>
              </a:rPr>
              <a:t>多くのMRは「点」で止まります。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同じ情報量でも、「線」と「面」にした人だけが次の一手を打てる。DAY3の広瀬さんの事例も、集めた情報を医療圏という「面」で捉えた結果でした。</a:t>
            </a:r>
          </a:p>
          <a:p>
            <a:pPr algn="l"/>
            <a:r>
              <a:rPr sz="1450" b="1" i="0">
                <a:solidFill>
                  <a:srgbClr val="C00000"/>
                </a:solidFill>
                <a:latin typeface="Meiryo UI"/>
                <a:ea typeface="Meiryo UI"/>
              </a:rPr>
              <a:t>今日やるのは、この2段の変換だけです。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　｜　8分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「構造」で整理する — 人・役割・関係性の3点セット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Meiryo UI"/>
                <a:ea typeface="Meiryo UI"/>
              </a:rPr>
              <a:t>人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誰がいるか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78608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・教授・准教授・講師・助教・医員・専攻医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・外来／病棟／透析室などの担当医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・薬剤部・看護部・地域連携室・医事課・秘書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69164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Meiryo UI"/>
                <a:ea typeface="Meiryo UI"/>
              </a:rPr>
              <a:t>役割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誰が何を決めるか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578608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・診療方針を決める人（≠ 処方を書く人）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・採用・院内手続きを動かす人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・若手を教える人／勉強会を仕切る人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69164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Meiryo UI"/>
                <a:ea typeface="Meiryo UI"/>
              </a:rPr>
              <a:t>関係性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誰と誰が繋がるか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2578608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・医局人事：関連病院の部長は誰の系列か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・紹介・逆紹介：患者はどこから来てどこへ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・師弟・同門・研究グループの繋がり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109960" cy="128016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役職表は病院HPに載っています。載っていない「役割」と「関係性」こそが、MRの付加価値。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DAY1で学んだ「この先生、どれだけ偉い？」は肩書きの話。今日はそれを</a:t>
            </a: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「この先生、何を動かせる？」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に進化させます。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　｜　8分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キーパーソンは「役職」ではなく「影響力」で見る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次の5つの問いに固有名詞で答えられれば、その診療科は「分かっている」と言えます。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Q1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965960"/>
            <a:ext cx="74980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/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治療方針は、誰の一言で決まる？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96596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◎ 方針決定者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06039"/>
            <a:ext cx="548640" cy="548640"/>
          </a:xfrm>
          <a:prstGeom prst="ellipse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Q2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2606039"/>
            <a:ext cx="74980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/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新しい治療を最初に試すのは、誰？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606039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○ アーリーアダプター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Q3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246120"/>
            <a:ext cx="74980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/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若手が困ったとき、誰に聞きに行く？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24612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B86A00"/>
                </a:solidFill>
                <a:latin typeface="Meiryo UI"/>
                <a:ea typeface="Meiryo UI"/>
              </a:rPr>
              <a:t>★ 情報ハブ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Q4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886200"/>
            <a:ext cx="74980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/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紹介患者の受け入れ・行き先を差配するのは、誰？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88620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◇ 連携の要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Q5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526280"/>
            <a:ext cx="74980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/>
            <a:r>
              <a:rPr sz="1400" b="1" i="0">
                <a:solidFill>
                  <a:srgbClr val="262626"/>
                </a:solidFill>
                <a:latin typeface="Meiryo UI"/>
                <a:ea typeface="Meiryo UI"/>
              </a:rPr>
              <a:t>研究会・講演会など「外の顔」は、誰？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52628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□ 対外の顔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0368"/>
            <a:ext cx="11109960" cy="100584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Meiryo UI"/>
                <a:ea typeface="Meiryo UI"/>
              </a:rPr>
              <a:t>5つの答えは同一人物とは限りません。</a:t>
            </a: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「教授＝キーパーソン」と決めつけた瞬間、他の4人が見えなくなります。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Meiryo UI"/>
                <a:ea typeface="Meiryo UI"/>
              </a:rPr>
              <a:t>学会の重鎮（KOL）と、その施設で物事を動かす人（キーパーソン）は別モノ。両方をマップに書き分けましょう。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①　｜　8分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構造マップの描き方 — 例：A大学病院 腎臓内科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6903720" cy="4114800"/>
          </a:xfrm>
          <a:prstGeom prst="roundRect">
            <a:avLst>
              <a:gd name="adj" fmla="val 3000"/>
            </a:avLst>
          </a:prstGeom>
          <a:solidFill>
            <a:srgbClr val="F4FAF6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院内（腎臓内科）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121408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 w="12700">
            <a:solidFill>
              <a:srgbClr val="0B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教授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◎ 方針決定・医局人事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546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FF6DC"/>
          </a:solidFill>
          <a:ln w="1270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医局長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★ 情報ハブ・人事実務
講演／面会の窓口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1546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病棟医長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○ 入院治療の実務リーダー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1546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外来医長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◇ 紹介患者の受付・差配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251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助教（臨床研究）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○ 新規治療の導入役
若手の相談相手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251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専攻医・医員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実処方の担い手
数年で関連病院へ異動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425196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262626"/>
                </a:solidFill>
                <a:latin typeface="Meiryo UI"/>
                <a:ea typeface="Meiryo UI"/>
              </a:rPr>
              <a:t>薬剤部・連携室・秘書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※ 情報の宝庫
DAY2「一人で突破しない」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874519" y="2852928"/>
            <a:ext cx="1783081" cy="301752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2852928"/>
            <a:ext cx="457200" cy="301752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2852928"/>
            <a:ext cx="2697480" cy="301752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74519" y="3886200"/>
            <a:ext cx="0" cy="36576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14800" y="3886200"/>
            <a:ext cx="0" cy="36576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55080" y="3886200"/>
            <a:ext cx="0" cy="36576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80960" y="1691640"/>
            <a:ext cx="3977639" cy="4114800"/>
          </a:xfrm>
          <a:prstGeom prst="roundRect">
            <a:avLst>
              <a:gd name="adj" fmla="val 3000"/>
            </a:avLst>
          </a:prstGeom>
          <a:solidFill>
            <a:srgbClr val="EAF0F9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5552" y="17830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院外（エリア）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2148840"/>
            <a:ext cx="35661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基幹病院B 腎臓内科部長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元・同医局。教授の直系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3035808"/>
            <a:ext cx="35661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連携病院C・クリニック群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紹介元。逆紹介の受け皿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922776"/>
            <a:ext cx="35661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県の研究会・地方会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教授が代表世話人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4809744"/>
            <a:ext cx="356616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8404" rIns="54864" bIns="38404" rtlCol="0" anchor="ctr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医師会・行政（健診）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95959"/>
                </a:solidFill>
                <a:latin typeface="Meiryo UI"/>
                <a:ea typeface="Meiryo UI"/>
              </a:rPr>
              <a:t>早期発見の入口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52360" y="2487168"/>
            <a:ext cx="429767" cy="18288"/>
          </a:xfrm>
          <a:prstGeom prst="line">
            <a:avLst/>
          </a:prstGeom>
          <a:ln w="19050">
            <a:solidFill>
              <a:srgbClr val="1F386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52360" y="3392424"/>
            <a:ext cx="429767" cy="128016"/>
          </a:xfrm>
          <a:prstGeom prst="line">
            <a:avLst/>
          </a:prstGeom>
          <a:ln w="19050">
            <a:solidFill>
              <a:srgbClr val="1F386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09160" y="2331720"/>
            <a:ext cx="3172967" cy="155448"/>
          </a:xfrm>
          <a:prstGeom prst="line">
            <a:avLst/>
          </a:prstGeom>
          <a:ln w="19050">
            <a:solidFill>
              <a:srgbClr val="1F386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5897880"/>
            <a:ext cx="8138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262626"/>
                </a:solidFill>
                <a:latin typeface="Meiryo UI"/>
                <a:ea typeface="Meiryo UI"/>
              </a:rPr>
              <a:t>◎方針決定　○実行・導入　★情報ハブ　◇連携の要　</a:t>
            </a:r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点線＝院外との関係（人事・紹介・研究会）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589788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※ 本例はすべて架空です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852928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MINI WORK ①　｜　3分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担当施設で「まだ分かっていないこと」を3つ書く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7315200" cy="86868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626"/>
                </a:solidFill>
                <a:latin typeface="Meiryo UI"/>
                <a:ea typeface="Meiryo UI"/>
              </a:rPr>
              <a:t>担当する大学（または基幹病院）の診療科を1つ思い浮かべ、先ほどの5つの問いに答えてみてください。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1分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2743200"/>
            <a:ext cx="656539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5つの問いに、頭の中で固有名詞を当ててみる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2分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3429000"/>
            <a:ext cx="656539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答えられなかった問い／自信がない箇所を「？」として3つ書き出す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4114800"/>
            <a:ext cx="656539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その3つが、今日の後半と明日の面会で使う「材料」になります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7315200" cy="1371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Meiryo UI"/>
                <a:ea typeface="Meiryo UI"/>
              </a:rPr>
              <a:t>このワークの主役は「？」です。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スラスラ書ける部分は、もう財産。書けない場所こそ、次の面会で聞くべきことリスト。「？」が多い人ほど、収穫の多いワークです。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0817" rIns="201168" bIns="140817" rtlCol="0" anchor="t"/>
          <a:lstStyle/>
          <a:p>
            <a:pPr algn="ctr">
              <a:spcAft>
                <a:spcPts val="1200"/>
              </a:spcAft>
            </a:pPr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ルール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・スマホ・Veeva Linkは見ない（記憶が実力）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・名前が出なければ「メガネの若い先生」でOK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・医師以外（薬剤部・連携室・秘書）も必ず思い出す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・きれいに書かない。手が止まったら、それが「？」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100" b="1" i="0">
                <a:solidFill>
                  <a:srgbClr val="BFE8D2"/>
                </a:solidFill>
                <a:latin typeface="Meiryo UI"/>
                <a:ea typeface="Meiryo UI"/>
              </a:rPr>
              <a:t>＋30分延長の回では、ここで構造マップを実際に描きます（付録Aのテンプレート使用）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その「？」が、最大の不安を解く鍵になります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アンケート最多の不安「継続面会・アポネタ」への答え：ネタは、施設の中にあります。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①「？」は最高のアポネタ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96896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8813" rIns="155448" bIns="108813" rtlCol="0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「先生、○○について教えてください」— 教えを乞う面会は断られにくい。マップの？の数だけ面会理由がある。完全アポ制の施設なら、秘書さん・連携室経由で聞くのも立派な一手。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965960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② 仮説をぶつける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596896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8813" rIns="155448" bIns="108813" rtlCol="0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「私はこう理解していますが、合っていますか？」— 仮説の確認は医師の知的関心をくすぐる、一段上のアポネタ。DAY3の small b は、まさにこれ。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65960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③ 情報を先に贈る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596896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8813" rIns="155448" bIns="108813" rtlCol="0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学会・地域・連携の情報を先にギブする。「あのMRは持ってくる」と認知されれば、次の面会理由は先生の方からくれるようになる。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00000"/>
                </a:solidFill>
                <a:latin typeface="Meiryo UI"/>
                <a:ea typeface="Meiryo UI"/>
              </a:rPr>
              <a:t>「アポネタがない」は、「その施設をまだ分かっていない」の別名。</a:t>
            </a:r>
          </a:p>
          <a:p>
            <a:pPr algn="ctr"/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分かるほど、ネタは無限に湧きます。だから今日の学びは、明日のアポに直結します。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1D7451"/>
                </a:solidFill>
                <a:latin typeface="Meiryo UI"/>
                <a:ea typeface="Meiryo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874519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SECTION 02 ｜ 言語化する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33172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Meiryo UI"/>
                <a:ea typeface="Meiryo UI"/>
              </a:rPr>
              <a:t>4つの箱で、戦略を言語化する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3931920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400507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事実 → 解釈 → 打ち手：「知っている」を「動ける」に変える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4645152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718304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４Sシート：成功像・現状/課題・原因・解決策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5358383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431536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書いて終わりにしない。2分で語れる状態まで磨く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FE8D2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BFE8D2"/>
                </a:solidFill>
                <a:latin typeface="Meiryo UI"/>
                <a:ea typeface="Meiryo UI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　｜　9分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「知っている」と「動ける」の間 — 事実→解釈→打ち手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事実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Meiryo UI"/>
                <a:ea typeface="Meiryo UI"/>
              </a:rPr>
              <a:t>Fact：何を知った？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9663" y="1828800"/>
            <a:ext cx="256032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88536" y="164592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解釈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Meiryo UI"/>
                <a:ea typeface="Meiryo UI"/>
              </a:rPr>
              <a:t>So What?：だから何が起きる？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09559" y="1828800"/>
            <a:ext cx="256032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28431" y="164592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Meiryo UI"/>
                <a:ea typeface="Meiryo UI"/>
              </a:rPr>
              <a:t>打ち手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Meiryo UI"/>
                <a:ea typeface="Meiryo UI"/>
              </a:rPr>
              <a:t>Now What?：だから私は何をする？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50592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「教授が来年3月で退官予定らしい」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医局長との雑談で得た、たった一言のウェットな情報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450592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270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t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・後任人事で診療方針が変わり得る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・医局員の玉突き異動が起きる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・関連病院の部長ポストも動く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・研究会の世話人体制が変わる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86A00"/>
                </a:solidFill>
                <a:latin typeface="Meiryo UI"/>
                <a:ea typeface="Meiryo UI"/>
              </a:rPr>
              <a:t>→ 1つの事実から、未来が4つ見える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450592"/>
            <a:ext cx="3611880" cy="25146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t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・後任候補（准教授・医局長）との関係を今から築く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・異動しそうな中堅の「行き先」を追う準備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・チーム・上司に共有し、エリア計画に反映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0000"/>
                </a:solidFill>
                <a:latin typeface="Meiryo UI"/>
                <a:ea typeface="Meiryo UI"/>
              </a:rPr>
              <a:t>→ 半年後、「なぜ君はもう知ってるの？」と言われる側になる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02352"/>
            <a:ext cx="11109960" cy="1143000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DAY3の「面会後→次回面会」は、1回の面会を分解して解像度を上げる</a:t>
            </a:r>
            <a:r>
              <a:rPr sz="1350" b="1" i="0">
                <a:solidFill>
                  <a:srgbClr val="1F3864"/>
                </a:solidFill>
                <a:latin typeface="Meiryo UI"/>
                <a:ea typeface="Meiryo UI"/>
              </a:rPr>
              <a:t>ミニ・ループ</a:t>
            </a: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今日の４Sシートは、それを</a:t>
            </a:r>
            <a:r>
              <a:rPr sz="1350" b="1" i="0">
                <a:solidFill>
                  <a:srgbClr val="C00000"/>
                </a:solidFill>
                <a:latin typeface="Meiryo UI"/>
                <a:ea typeface="Meiryo UI"/>
              </a:rPr>
              <a:t>施設・エリア規模で回す大きなループ</a:t>
            </a: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です。同じ「なぜ」を、もっと大きな単位で掘ります。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　｜　9分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４Sシート — 成功像・現状/課題・原因・解決策を1枚で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4208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① 成功像</a:t>
            </a:r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　あるべき姿・ゴール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担当施設・エリアが「こうなっていたら最高」という状態を具体的に書く。ここから書き始めるのが鉄則。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64208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② 現状・課題</a:t>
            </a:r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　理想とのGAP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成功像と現実の差分を書く。「〜できていない」「〜が滞っている」。数字や事実で書けると強い。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③ 原因</a:t>
            </a:r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　なぜそのGAPがあるのか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62272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課題の裏にある真因。「なぜ？」を3回繰り返して、表面的な理由の奥まで掘る。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 UI"/>
                <a:ea typeface="Meiryo UI"/>
              </a:rPr>
              <a:t>④ 解決策</a:t>
            </a:r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　自分は何を打つか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462272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原因を解消する打ち手。講演会・面会・資材・連携…会社の武器と自分の行動を組み合わせる。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2331720"/>
            <a:ext cx="201168" cy="274320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 rot="2700000">
            <a:off x="5971032" y="3429000"/>
            <a:ext cx="201168" cy="292608"/>
          </a:xfrm>
          <a:prstGeom prst="down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961888" y="4507992"/>
            <a:ext cx="201168" cy="274320"/>
          </a:xfrm>
          <a:prstGeom prst="right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Up Arrow 16"/>
          <p:cNvSpPr/>
          <p:nvPr/>
        </p:nvSpPr>
        <p:spPr>
          <a:xfrm>
            <a:off x="11631168" y="2395728"/>
            <a:ext cx="219456" cy="2651760"/>
          </a:xfrm>
          <a:prstGeom prst="up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1099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書く順番：①成功像 → ②現状・課題 → ③原因 → ④解決策。</a:t>
            </a: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　現状から書くと「愚痴のリスト」、理想から書くと「戦略」になります。</a:t>
            </a:r>
          </a:p>
          <a:p>
            <a:pPr algn="l"/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仕上げの確認：④→①へ戻り「この打ち手で、成功像に本当に近づくか？」をチェック — これで４Sが1周閉じます。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　｜　9分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記入例：腎臓内科 × エリア連携（架空の例）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① 成功像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エリアの連携病院・クリニックから、専門治療が必要な患者さんが適切なタイミングで大学に紹介され、安定した患者さんは地域に逆紹介される「双方向の流れ」ができている。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② 現状・課題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紹介はあるが、かなり進行してからの紹介が中心。逆紹介も滞りがちで大学外来がパンク気味。連携の「入口」も「出口」も詰まっている。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③ 原因（なぜ×3）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59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なぜ遅い？→紹介の目安が浸透していない →なぜ？→大学と地域の医師が診療科レベルで顔見知りでない →なぜ？→合同で話す「場」がここ数年ない。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④ 解決策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251959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教授（対外の顔）×連携病院の先生方による地域連携の場を企画し、紹介・逆紹介の目安を共有。医局長（情報ハブ）を実務窓口に、連携室と共催で設計する。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77840"/>
            <a:ext cx="11109960" cy="82296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注目：</a:t>
            </a:r>
            <a:r>
              <a:rPr sz="1300" b="1" i="0">
                <a:solidFill>
                  <a:srgbClr val="262626"/>
                </a:solidFill>
                <a:latin typeface="Meiryo UI"/>
                <a:ea typeface="Meiryo UI"/>
              </a:rPr>
              <a:t>「講演会をやろう」が先にあるのではありません。成功像→課題→原因と掘った結果、手段として会が出てくる。この順番が説得力の正体です。</a:t>
            </a:r>
          </a:p>
          <a:p>
            <a:pPr algn="l"/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最後に④→①の確認：「この会で紹介の目安が共有されれば、双方向の流れに近づくか？」→ Yesなら実行。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LECTURE ②　｜　9分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「良い４S」と「惜しい４S」— 3つのチェックポイント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4208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CHECK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4248" y="1664208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課題は「ギャップ」で書けているか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「〜できていない」単体は感想。成功像とセットで初めて課題になる。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64208"/>
            <a:ext cx="4892040" cy="137160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△ 先生に会えていない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○ 成功像は月2回の情報交換。現状は月0回、面会は挨拶のみ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45536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CHECK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4248" y="3145536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原因は「なぜ」を3回掘ったか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1回目の「なぜ」は大抵、環境のせい。3回掘ると自分の打ち手が見える。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145536"/>
            <a:ext cx="4892040" cy="137160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△ 先生が忙しいから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○ 忙しい中でも会う医師はいる → 優先されない → 会う価値を提示できていない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26864"/>
            <a:ext cx="1325880" cy="13716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CHECK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4248" y="4626864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解決策は「自分が動ける」ことか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主語が自分でない解決策は実行されない。明日の自分の行動で書く。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626864"/>
            <a:ext cx="4892040" cy="137160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△ 本社が資材を作るべき</a:t>
            </a:r>
          </a:p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○ 私が医局長に○○の相談をし、△△を企画する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109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△＝惜しい例　○＝直した例。グループワークの後、この3つでご自分のシートをセルフチェックしてください。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852928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GROUP WORK　｜　20分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自分の担当施設・エリアで「４Sシート」を書く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7360920" cy="73152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ミニワーク①で書いた「？」と、DAY3までに集めた情報を総動員して、４Sシートを1枚書き切ります。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個人ワーク　8分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514600"/>
            <a:ext cx="48920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①成功像（2分）→ ②現状・課題（2分）→ ③原因（2分）→ ④解決策（2分）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19272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グループ共有　12分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319272"/>
            <a:ext cx="48920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3〜4人1組。1人3分（発表2分＋フィードバック1分）で全員が話す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7360920" cy="105156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発表はシートを見ずに、この型で：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「私の施設は本当は◯◯になれるはずです（成功像）。でも今は△△（課題）。原因は□□。だから私は◇◇をやります（解決策）」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49240"/>
            <a:ext cx="7360920" cy="91440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00000"/>
                </a:solidFill>
                <a:latin typeface="Meiryo UI"/>
                <a:ea typeface="Meiryo UI"/>
              </a:rPr>
              <a:t>合言葉：完璧より仮説。60点で書き切る。</a:t>
            </a:r>
          </a:p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空欄はミニワークの「？」と同じ、次の宿題です。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27632"/>
            <a:ext cx="3520440" cy="4636008"/>
          </a:xfrm>
          <a:prstGeom prst="roundRect">
            <a:avLst>
              <a:gd name="adj" fmla="val 6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t"/>
          <a:lstStyle/>
          <a:p>
            <a:pPr algn="ctr">
              <a:spcAft>
                <a:spcPts val="1200"/>
              </a:spcAft>
            </a:pPr>
            <a:r>
              <a:rPr sz="1450" b="1" i="0">
                <a:solidFill>
                  <a:srgbClr val="FFFFFF"/>
                </a:solidFill>
                <a:latin typeface="Meiryo UI"/>
                <a:ea typeface="Meiryo UI"/>
              </a:rPr>
              <a:t>困ったときのヒント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・成功像が出ない → 「上司に自慢したい状態」を想像する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・課題が出ない → 詰まっている流れ（紹介・面会・採用）を探す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・原因が浅い → 「それでも動く人がいるのはなぜ？」と自問する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 i="0">
                <a:solidFill>
                  <a:srgbClr val="FFFFFF"/>
                </a:solidFill>
                <a:latin typeface="Meiryo UI"/>
                <a:ea typeface="Meiryo UI"/>
              </a:rPr>
              <a:t>・解決策が出ない → キーパーソン（◎○★◇）を1人選び、その人と何をするかを考える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BFE8D2"/>
                </a:solidFill>
                <a:latin typeface="Meiryo UI"/>
                <a:ea typeface="Meiryo UI"/>
              </a:rPr>
              <a:t>聞き手の質問はこの2つだけ：
❶その原因、本当に真因ですか？
❷その解決策、あなたにしかできない要素は？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WORK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４Sシート（記入用）— 手元の紙に、この4つの箱を書いてください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09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施設・エリア名（　　　　　　　　　　）　　　　作成日（　　／　　）　　　　作成者（　　　　　　　　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① 成功像　—　1年後、こうなっていたら最高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D9D9D9"/>
                </a:solidFill>
                <a:latin typeface="Meiryo UI"/>
                <a:ea typeface="Meiryo UI"/>
              </a:rPr>
              <a:t>（例）エリアの連携病院から、適切なタイミングで紹介が来ている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② 現状・課題　—　成功像とのGAP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2316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D9D9D9"/>
                </a:solidFill>
                <a:latin typeface="Meiryo UI"/>
                <a:ea typeface="Meiryo UI"/>
              </a:rPr>
              <a:t>（例）紹介は月1件。しかもかなり進行してから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③ 原因　—　なぜ？を3回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79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D9D9D9"/>
                </a:solidFill>
                <a:latin typeface="Meiryo UI"/>
                <a:ea typeface="Meiryo UI"/>
              </a:rPr>
              <a:t>（例）なぜ①→なぜ②→なぜ③（真因）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④ 解決策　—　主語は自分。誰に・何を・いつ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26279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D9D9D9"/>
                </a:solidFill>
                <a:latin typeface="Meiryo UI"/>
                <a:ea typeface="Meiryo UI"/>
              </a:rPr>
              <a:t>（例）私が医局長に相談し、連携室と共催で◯◯を企画する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035040"/>
            <a:ext cx="11109960" cy="438912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セルフチェック：　□ 課題はギャップで書けている　　□ 原因は「なぜ」を3回　　□ 解決策の主語は自分　　□ ④→①で成功像に近づく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1D7451"/>
                </a:solidFill>
                <a:latin typeface="Meiryo UI"/>
                <a:ea typeface="Meiryo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874519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SECTION 03 ｜ 繋げる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33172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Meiryo UI"/>
                <a:ea typeface="Meiryo UI"/>
              </a:rPr>
              <a:t>大学から、エリアへ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3931920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4005072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大学は医師・患者・情報という3つの流れの源流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4645152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718304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全部は回れない — 優先順位は3つのモノサシで決める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5358383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431536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エリアストーリーを、30秒で語れるようにする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FE8D2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BFE8D2"/>
                </a:solidFill>
                <a:latin typeface="Meiryo UI"/>
                <a:ea typeface="Meiryo U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TIPS　｜　5分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大学は「エリアのハブ」— ４Sをエリア戦略へ広げる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大学が分かると、なぜエリア全体が見えるのか。大学には3つの「流れ」の源流があるからです。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医師の流れ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医局人事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07208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関連病院の部長・医長は元医局員。大学の人事が動けば、エリアの処方方針も動く。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965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患者の流れ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紹介・逆紹介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807208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重症例は大学へ、安定例は地域へ。この動線が分かれば「どの施設に何を届けるか」が決まる。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65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Meiryo UI"/>
                <a:ea typeface="Meiryo UI"/>
              </a:rPr>
              <a:t>情報の流れ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Meiryo UI"/>
                <a:ea typeface="Meiryo UI"/>
              </a:rPr>
              <a:t>研究会・講演会・治療方針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807208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大学発の治療方針は、時間差でエリアに広がる。源流を知る人は先回りできる。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109960" cy="1234440"/>
          </a:xfrm>
          <a:prstGeom prst="roundRect">
            <a:avLst>
              <a:gd name="adj" fmla="val 8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エリアストーリーの型（この1文で語れれば合格）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「大学で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〇〇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が分かった。だからエリアでは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△△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が起きるはず。だから私は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□□（施設）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から </a:t>
            </a:r>
            <a:r>
              <a:rPr sz="1500" b="1" i="0">
                <a:solidFill>
                  <a:srgbClr val="FFC000"/>
                </a:solidFill>
                <a:latin typeface="Meiryo UI"/>
                <a:ea typeface="Meiryo UI"/>
              </a:rPr>
              <a:t>◇◇（行動）</a:t>
            </a:r>
            <a:r>
              <a:rPr sz="1500" b="0" i="0">
                <a:solidFill>
                  <a:srgbClr val="FFFFFF"/>
                </a:solidFill>
                <a:latin typeface="Meiryo UI"/>
                <a:ea typeface="Meiryo UI"/>
              </a:rPr>
              <a:t> を始める」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Meiryo UI"/>
                <a:ea typeface="Meiryo UI"/>
              </a:rPr>
              <a:t>DAY3の事例は、まさにこの型でした：大学の指針を可視化 → 医療圏に波及するはず → だから教授に呼びかけをお願いする。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TIPS　｜　5分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全部は回れない — エリアの優先順位「3つのモノサシ」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期待の声「県全体の攻略」「優先順位付け」への答え：施設を3つのモノサシで採点し、攻める順番を決めます。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38528"/>
            <a:ext cx="3566160" cy="530352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 UI"/>
                <a:ea typeface="Meiryo UI"/>
              </a:rPr>
              <a:t>モノサシ①　</a:t>
            </a:r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医局の繋がりの太さ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32888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元医局員がいるか。人事で人が動く先か。大学の方針が波及しやすい施設ほど高得点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938528"/>
            <a:ext cx="3566160" cy="53035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 UI"/>
                <a:ea typeface="Meiryo UI"/>
              </a:rPr>
              <a:t>モノサシ②　</a:t>
            </a:r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患者の流れの量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532888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紹介・逆紹介がどれだけ行き来しているか。流れが太い施設は、変化の影響も大きい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38528"/>
            <a:ext cx="3566160" cy="530352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 UI"/>
                <a:ea typeface="Meiryo UI"/>
              </a:rPr>
              <a:t>モノサシ③　</a:t>
            </a:r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動かせる度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532888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F4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会えるか。キーパーソンと関係があるか。どんな好条件も、動かせなければ絵に描いた餅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3383280" cy="47548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 UI"/>
                <a:ea typeface="Meiryo UI"/>
              </a:rPr>
              <a:t>施設（例）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9352" y="3703320"/>
            <a:ext cx="1188720" cy="47548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 UI"/>
                <a:ea typeface="Meiryo UI"/>
              </a:rPr>
              <a:t>繋がり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3703320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 UI"/>
                <a:ea typeface="Meiryo UI"/>
              </a:rPr>
              <a:t>患者の流れ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4536" y="3703320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 UI"/>
                <a:ea typeface="Meiryo UI"/>
              </a:rPr>
              <a:t>動かせる度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3703320"/>
            <a:ext cx="3566160" cy="47548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 UI"/>
                <a:ea typeface="Meiryo UI"/>
              </a:rPr>
              <a:t>打ち方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8"/>
            <a:ext cx="338328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基幹病院B（部長が元医局員）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9352" y="4224528"/>
            <a:ext cx="1188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4224528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4536" y="4224528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4224528"/>
            <a:ext cx="35661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最優先：足で通う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45736"/>
            <a:ext cx="338328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連携クリニック群C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9352" y="4745736"/>
            <a:ext cx="1188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75504" y="4745736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4745736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4745736"/>
            <a:ext cx="35661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連携室・会で「面」として攻める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6944"/>
            <a:ext cx="338328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遠方のD病院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9352" y="5266944"/>
            <a:ext cx="1188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75504" y="5266944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74536" y="5266944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ctr"/>
            <a:r>
              <a:rPr sz="1100" b="1" i="0">
                <a:solidFill>
                  <a:srgbClr val="128A54"/>
                </a:solidFill>
                <a:latin typeface="Meiryo UI"/>
                <a:ea typeface="Meiryo UI"/>
              </a:rPr>
              <a:t>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5266944"/>
            <a:ext cx="35661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情報収集のみ（今は攻めない）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52160"/>
            <a:ext cx="11109960" cy="54864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「頑張って会いに行く施設」と「情報だけ取る施設」を分けるのが戦略。</a:t>
            </a: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　県攻略は、捨てる勇気から始まります。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2258568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ACTION　｜　5分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行動宣言 — 明日からの一手を、1人1行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62626"/>
                </a:solidFill>
                <a:latin typeface="Meiryo UI"/>
                <a:ea typeface="Meiryo UI"/>
              </a:rPr>
              <a:t>今日つくった４Sシートから</a:t>
            </a:r>
            <a:r>
              <a:rPr sz="1700" b="1" i="0">
                <a:solidFill>
                  <a:srgbClr val="C00000"/>
                </a:solidFill>
                <a:latin typeface="Meiryo UI"/>
                <a:ea typeface="Meiryo UI"/>
              </a:rPr>
              <a:t>「明日やること」を1つだけ</a:t>
            </a:r>
            <a:r>
              <a:rPr sz="1700" b="1" i="0">
                <a:solidFill>
                  <a:srgbClr val="262626"/>
                </a:solidFill>
                <a:latin typeface="Meiryo UI"/>
                <a:ea typeface="Meiryo UI"/>
              </a:rPr>
              <a:t>選び、チャットに投稿してください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Meiryo UI"/>
                <a:ea typeface="Meiryo UI"/>
              </a:rPr>
              <a:t>宣言した瞬間、研修は「聞いた話」から「自分の計画」に変わります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書き方の例①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971800"/>
            <a:ext cx="87325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「A大学の医局長に、外来体制について教えてくださいとアポを取る」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書き方の例②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749039"/>
            <a:ext cx="87325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「B病院部長が元医局員か、来週の面会で確認する」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79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書き方の例③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526279"/>
            <a:ext cx="87325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「４Sシートを上司に見せて、原因が真因かFBをもらう」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C00000"/>
                </a:solidFill>
                <a:latin typeface="Meiryo UI"/>
                <a:ea typeface="Meiryo UI"/>
              </a:rPr>
              <a:t>コツは「電話1本サイズ」に割ること。</a:t>
            </a:r>
            <a:r>
              <a:rPr sz="1350" b="0" i="0">
                <a:solidFill>
                  <a:srgbClr val="262626"/>
                </a:solidFill>
                <a:latin typeface="Meiryo UI"/>
                <a:ea typeface="Meiryo UI"/>
              </a:rPr>
              <a:t>　最初の一歩が小さいほど、実行されます。</a:t>
            </a:r>
          </a:p>
          <a:p>
            <a:pPr algn="ctr"/>
            <a:r>
              <a:rPr sz="1250" b="0" i="0">
                <a:solidFill>
                  <a:srgbClr val="595959"/>
                </a:solidFill>
                <a:latin typeface="Meiryo UI"/>
                <a:ea typeface="Meiryo UI"/>
              </a:rPr>
              <a:t>投稿された宣言は「全国気づきリスト」の第1号コンテンツとして、全員に共有します。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Meiryo UI"/>
                <a:ea typeface="Meiryo UI"/>
              </a:rPr>
              <a:t>ちょっと分かるだけで、世界が変わる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508760" cy="841248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700" b="1" i="0">
                <a:solidFill>
                  <a:srgbClr val="0B4F37"/>
                </a:solidFill>
                <a:latin typeface="Meiryo UI"/>
                <a:ea typeface="Meiryo UI"/>
              </a:rPr>
              <a:t>整理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8823960" cy="841248"/>
          </a:xfrm>
          <a:prstGeom prst="roundRect">
            <a:avLst>
              <a:gd name="adj" fmla="val 10000"/>
            </a:avLst>
          </a:prstGeom>
          <a:solidFill>
            <a:srgbClr val="11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iryo UI"/>
                <a:ea typeface="Meiryo UI"/>
              </a:rPr>
              <a:t>情報は「構造（人・役割・関係性）」で整理した瞬間、武器になる。書けない場所＝次に聞くこと。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44952"/>
            <a:ext cx="1508760" cy="841248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700" b="1" i="0">
                <a:solidFill>
                  <a:srgbClr val="0B4F37"/>
                </a:solidFill>
                <a:latin typeface="Meiryo UI"/>
                <a:ea typeface="Meiryo UI"/>
              </a:rPr>
              <a:t>言語化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044952"/>
            <a:ext cx="8823960" cy="841248"/>
          </a:xfrm>
          <a:prstGeom prst="roundRect">
            <a:avLst>
              <a:gd name="adj" fmla="val 10000"/>
            </a:avLst>
          </a:prstGeom>
          <a:solidFill>
            <a:srgbClr val="11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iryo UI"/>
                <a:ea typeface="Meiryo UI"/>
              </a:rPr>
              <a:t>成功像・現状/課題・原因・解決策。４Sシートに書けば、戦略を1枚で・2分で語れる。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32504"/>
            <a:ext cx="1508760" cy="841248"/>
          </a:xfrm>
          <a:prstGeom prst="roundRect">
            <a:avLst>
              <a:gd name="adj" fmla="val 1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700" b="1" i="0">
                <a:solidFill>
                  <a:srgbClr val="0B4F37"/>
                </a:solidFill>
                <a:latin typeface="Meiryo UI"/>
                <a:ea typeface="Meiryo UI"/>
              </a:rPr>
              <a:t>拡張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4032504"/>
            <a:ext cx="8823960" cy="841248"/>
          </a:xfrm>
          <a:prstGeom prst="roundRect">
            <a:avLst>
              <a:gd name="adj" fmla="val 10000"/>
            </a:avLst>
          </a:prstGeom>
          <a:solidFill>
            <a:srgbClr val="11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iryo UI"/>
                <a:ea typeface="Meiryo UI"/>
              </a:rPr>
              <a:t>大学は医師・患者・情報の流れの源流。大学が分かれば、エリアの打ち手が先回りできる。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2064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ctr">
              <a:spcAft>
                <a:spcPts val="500"/>
              </a:spcAft>
            </a:pPr>
            <a:r>
              <a:rPr sz="1450" b="1" i="0">
                <a:solidFill>
                  <a:srgbClr val="FFC000"/>
                </a:solidFill>
                <a:latin typeface="Meiryo UI"/>
                <a:ea typeface="Meiryo UI"/>
              </a:rPr>
              <a:t>4回シリーズを通じたゴール：担当者としての「自覚」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Meiryo UI"/>
                <a:ea typeface="Meiryo UI"/>
              </a:rPr>
              <a:t>イロハを知り（DAY1）、会えるようになり（DAY2）、情報をつかみ（DAY3）、今日、それを戦略に変えました。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「この施設とこのエリアのことは、社内の誰よりも私が分かっている」— そう言える担当者になりましょう。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FE8D2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BFE8D2"/>
                </a:solidFill>
                <a:latin typeface="Meiryo UI"/>
                <a:ea typeface="Meiryo UI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研修を「成果」に変える3つのステップ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Meiryo UI"/>
                <a:ea typeface="Meiryo UI"/>
              </a:rPr>
              <a:t>今週中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691640"/>
            <a:ext cx="917143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「？」を1つ埋める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ミニワークで書いた「？」から1つ選び、次の面会・電話で確認する。医師以外（連携室・薬剤部・秘書）に聞くのも立派な一手。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44952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Meiryo UI"/>
                <a:ea typeface="Meiryo UI"/>
              </a:rPr>
              <a:t>2週間以内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3044952"/>
            <a:ext cx="917143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４Sを上司・チームに見せる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自分の４Sシートを上司または同僚1人に見せ、「原因は真因か？」のフィードバックを1つもらう。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Meiryo UI"/>
                <a:ea typeface="Meiryo UI"/>
              </a:rPr>
              <a:t>1ヶ月以内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4398264"/>
            <a:ext cx="917143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5" rIns="182880" bIns="128015" rtlCol="0" anchor="ctr"/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B4F37"/>
                </a:solidFill>
                <a:latin typeface="Meiryo UI"/>
                <a:ea typeface="Meiryo UI"/>
              </a:rPr>
              <a:t>解決策を1つ実行する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４Sシートの解決策から1つを実行に移す。結果はどうあれ「４Sを回した」経験が財産になる。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1109960" cy="658368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情報のメンテナンスを習慣に：</a:t>
            </a:r>
            <a:r>
              <a:rPr sz="1250" b="0" i="0">
                <a:solidFill>
                  <a:srgbClr val="262626"/>
                </a:solidFill>
                <a:latin typeface="Meiryo UI"/>
                <a:ea typeface="Meiryo UI"/>
              </a:rPr>
              <a:t>病院HP・Veeva Link・スマイルPJ等での更新チェックを定例化。構造マップと４Sは「生き物」、四半期に1回は書き直す。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今日の気づきを「全国62名の財産」にする — 気づきリスト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STEP 1｜今日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783080"/>
            <a:ext cx="6355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8813" rIns="155448" bIns="108813" rtlCol="0" anchor="ctr"/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行動宣言と一緒に、「一番の気づき」を1行チャットへ。小さな気づきほど歓迎</a:t>
            </a:r>
          </a:p>
        </p:txBody>
      </p:sp>
      <p:sp>
        <p:nvSpPr>
          <p:cNvPr id="8" name="Down Arrow 7"/>
          <p:cNvSpPr/>
          <p:nvPr/>
        </p:nvSpPr>
        <p:spPr>
          <a:xfrm>
            <a:off x="1572768" y="2697480"/>
            <a:ext cx="292608" cy="237744"/>
          </a:xfrm>
          <a:prstGeom prst="down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999232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STEP 2｜今週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999232"/>
            <a:ext cx="6355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8813" rIns="155448" bIns="108813" rtlCol="0" anchor="ctr"/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事務局が「全国気づきリスト」として集約し、VTR・資料とあわせて全員（欠席者含む）へ共有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572768" y="3913632"/>
            <a:ext cx="292608" cy="237744"/>
          </a:xfrm>
          <a:prstGeom prst="downArrow">
            <a:avLst/>
          </a:prstGeom>
          <a:solidFill>
            <a:srgbClr val="3D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4215384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STEP 3｜明日から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215384"/>
            <a:ext cx="63550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108813" rIns="155448" bIns="108813" rtlCol="0" anchor="ctr"/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現場でうまくいった工夫・事例を随時追加。使ってみた人は「やってみた結果」も書き戻す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783080"/>
            <a:ext cx="2103120" cy="3300984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C000"/>
                </a:solidFill>
                <a:latin typeface="Meiryo UI"/>
                <a:ea typeface="Meiryo UI"/>
              </a:rPr>
              <a:t>62名</a:t>
            </a:r>
          </a:p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の現場知が
1枚に集まれば、
どんな研修より
強い教材になる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10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アンケートで圧倒的1位の期待は「他メンバーの事例・考え方」、5位は「全国の横のつながり」でした。</a:t>
            </a:r>
          </a:p>
          <a:p>
            <a:pPr algn="l"/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勉強会は今日が最終回。でも、</a:t>
            </a: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ネットワークは今日が初回です。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困ったときに相談できる仲間が、全国に61人います。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明日から真似できる「大学担当 7つの習慣」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① 面会後5分メモ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ウェットな情報は3時間で蒸発する。廊下を出たらその場でメモ。誰が・何を・どんな表情で、まで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27632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② 週1回のHP巡回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外来表・医局員一覧・行事案内の更新は、異動や方針転換の予兆。変化に最初に気づく人になる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88336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③ 秘書さん・連携室に名前を覚えてもらう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面会の成否の3割は「取り次ぎ」で決まる。医師の手前にいる人こそ丁寧に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88336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④ 質問を1つ持って行く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用件がない日ほど「教えてください」が効く。教育的な質問は先生との関係を深める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⑤ 4月と10月は種まき月間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人事異動の直後は、新任の先生も情報を欲しがっている。関係構築のゴールデンタイム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49039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⑥ 若手・専攻医こそ丁寧に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3年後、エリアの関連病院で「あの時のMRさん」として再会する。未来への先行投資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9744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B86A00"/>
                </a:solidFill>
                <a:latin typeface="Meiryo UI"/>
                <a:ea typeface="Meiryo UI"/>
              </a:rPr>
              <a:t>⑦ 情報は先に差し出す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学会・地域・連携の情報を先にギブする。情報は、出す人のところに集まってくる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809744"/>
            <a:ext cx="5486400" cy="950976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どれも特別な才能は要りません。</a:t>
            </a:r>
          </a:p>
          <a:p>
            <a:pPr algn="ctr"/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1つでも習慣になれば、今日の60分の元は取れます。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109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Meiryo UI"/>
                <a:ea typeface="Meiryo UI"/>
              </a:rPr>
              <a:t>※ 時間が押した場合は持ち帰り用。次の1週間で「まず1つ」選んで試してみてください。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視点が変わる「なるほど」6選 — 活動に取り入れてほしい見方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3911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「会えない日」は「観察日」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面会ゼロでも収穫はある。外来表・掲示板・待合の混み具合・医局前の空気が施設を語っている。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691640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03911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医師の後ろに「流れ」を見る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目の前の1人は、人事・患者・情報という3つの流れの結節点。1人の言葉からエリアが読める。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691640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203911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大学1施設＝エリア10施設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大学での30分は、関連病院10軒分の価値になり得る。だから大学担当は「割に合う」仕事。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4223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「知らない」と言えるのは強さ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分からないことを「？」として言語化できた人から成長する。曖昧なままが一番怖い。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3794760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414223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会場では「誰と誰が話すか」を見る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講演会・研究会は構造マップの答え合わせの場。演題より人の繋がりに注目する。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3794760"/>
            <a:ext cx="3566160" cy="310896"/>
          </a:xfrm>
          <a:prstGeom prst="roundRect">
            <a:avLst>
              <a:gd name="adj" fmla="val 12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 UI"/>
                <a:ea typeface="Meiryo UI"/>
              </a:rPr>
              <a:t>なるほど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14223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0B4F37"/>
                </a:solidFill>
                <a:latin typeface="Meiryo UI"/>
                <a:ea typeface="Meiryo UI"/>
              </a:rPr>
              <a:t>記録は「未来の自分」への申し送り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構造マップと４Sは、担当が変わっても戦える資産。引き継ぎ資料としても最強。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109960" cy="457200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共通点：どれも「追加の時間」はほぼゼロ。</a:t>
            </a:r>
            <a:r>
              <a:rPr sz="1300" b="0" i="0">
                <a:solidFill>
                  <a:srgbClr val="262626"/>
                </a:solidFill>
                <a:latin typeface="Meiryo UI"/>
                <a:ea typeface="Meiryo UI"/>
              </a:rPr>
              <a:t>　変えるのは行動量ではなく、ものの見方です。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４Sシートを完璧に仕上げる「8つのコツ」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書くときの4つ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27632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 UI"/>
                <a:ea typeface="Meiryo UI"/>
              </a:rPr>
              <a:t>磨くときの4つ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1．成功像は「日付＋固有名詞＋状態」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「1年後、B病院から早期の紹介が月5件ある」— 曖昧な理想は測れず、測れないものは達成できない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63824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2．主役は患者さんと医療の姿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自社都合の成功像は医師に見せられない。医療の姿で書けば、そのまま先生と共有できる４Sになる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33087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3．課題は数字とセット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「少ない」ではなく「月1件」。数字で書けない課題は、現状把握がまだ足りないサイン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02352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28A54"/>
                </a:solidFill>
                <a:latin typeface="Meiryo UI"/>
                <a:ea typeface="Meiryo UI"/>
              </a:rPr>
              <a:t>4．原因は「人・関係性・場・情報」の4方向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この4分類で探すと漏れがない。大抵の真因は「場がない」「関係が診療科レベルでない」に潜む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5．3回目の「なぜ」は自分に向ける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環境のせいで終わらせず「自分に何が足りない？」まで掘る。そこから先だけが自分で変えられる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63824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6．解決策は「電話1本サイズ」に割る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最初の一歩が小さいほど実行される。「連携室に共催の前例を1本聞く」から始まる戦略もある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33087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7．2分で語れるかテスト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シートを見ずに語れない箇所＝考え切れていない箇所。語る練習が最高の推敲になる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102352"/>
            <a:ext cx="548640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Meiryo UI"/>
                <a:ea typeface="Meiryo UI"/>
              </a:rPr>
              <a:t>8．四半期に1回、書き直す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４Sは提出物ではなく「生きた作戦板」。情報が更新されたら書き換えるから武器であり続ける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08192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95959"/>
                </a:solidFill>
                <a:latin typeface="Meiryo UI"/>
                <a:ea typeface="Meiryo UI"/>
              </a:rPr>
              <a:t>グループワークでは1〜4を、宿題（2週間以内の上司共有）では5〜8を意識してみてください。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大学担当がやりがちな3つの失敗と処方箋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どれも「頑張っている人」ほど陥る罠。先に知っておけば、数年分ショートカットできます。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4846320" cy="1207008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失敗①　教授にだけ通う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「教授に会えている＝担当できている」という錯覚。教授は多忙で、現場の情報はむしろ薄い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04688" y="2368296"/>
            <a:ext cx="411480" cy="38404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5040" y="1965960"/>
            <a:ext cx="5623560" cy="1207008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28A54"/>
                </a:solidFill>
                <a:latin typeface="Meiryo UI"/>
                <a:ea typeface="Meiryo UI"/>
              </a:rPr>
              <a:t>処方箋</a:t>
            </a:r>
          </a:p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医局長・若手・コメディカルまで「面」で通う。構造マップの◎○★◇を巡回ルートにする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19272"/>
            <a:ext cx="4846320" cy="1207008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失敗②　集めて満足する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手帳は情報でいっぱい、でも行動はゼロ。「情報通のMR」で止まってしまう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04688" y="3721608"/>
            <a:ext cx="411480" cy="38404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5040" y="3319272"/>
            <a:ext cx="5623560" cy="1207008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28A54"/>
                </a:solidFill>
                <a:latin typeface="Meiryo UI"/>
                <a:ea typeface="Meiryo UI"/>
              </a:rPr>
              <a:t>処方箋</a:t>
            </a:r>
          </a:p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情報を得た日は「So What?（だから何）」を1行書き足す。書けない情報は、まだ活かせていない情報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72583"/>
            <a:ext cx="4846320" cy="1207008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Meiryo UI"/>
                <a:ea typeface="Meiryo UI"/>
              </a:rPr>
              <a:t>失敗③　講演会が目的化する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「開催すること」がゴールになり、成功像が消える。終わった後に何も変わらない会になる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04688" y="5074919"/>
            <a:ext cx="411480" cy="38404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35040" y="4672583"/>
            <a:ext cx="5623560" cy="1207008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28A54"/>
                </a:solidFill>
                <a:latin typeface="Meiryo UI"/>
                <a:ea typeface="Meiryo UI"/>
              </a:rPr>
              <a:t>処方箋</a:t>
            </a:r>
          </a:p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４Sの④→①確認を使う：「この会で成功像に近づくか？」にYesと言えない企画は、やり直す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035040"/>
            <a:ext cx="11109960" cy="411480"/>
          </a:xfrm>
          <a:prstGeom prst="roundRect">
            <a:avLst>
              <a:gd name="adj" fmla="val 15000"/>
            </a:avLst>
          </a:prstGeom>
          <a:solidFill>
            <a:srgbClr val="FFF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失敗は恥ではなく教材。今日の４Sシートには、この3つの「防止装置」がすでに組み込まれています。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GIFT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４S習熟度セルフチェック — 自分は今どのレベル？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1772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9F5EE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LEVEL 1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28A54"/>
                </a:solidFill>
                <a:latin typeface="Meiryo UI"/>
                <a:ea typeface="Meiryo UI"/>
              </a:rPr>
              <a:t>埋められる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4つの箱を自分の言葉で書き切れる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← 今日、全員ここに到達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79" y="3959352"/>
            <a:ext cx="2606040" cy="1892808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LEVEL 2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F3864"/>
                </a:solidFill>
                <a:latin typeface="Meiryo UI"/>
                <a:ea typeface="Meiryo UI"/>
              </a:rPr>
              <a:t>根拠がある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全項目が数字・固有名詞で裏づけられている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目安：2週間以内（上司共有まで）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300984"/>
            <a:ext cx="2606040" cy="2551176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270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B86A00"/>
                </a:solidFill>
                <a:latin typeface="Meiryo UI"/>
                <a:ea typeface="Meiryo UI"/>
              </a:rPr>
              <a:t>LEVEL 3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B86A00"/>
                </a:solidFill>
                <a:latin typeface="Meiryo UI"/>
                <a:ea typeface="Meiryo UI"/>
              </a:rPr>
              <a:t>2分で語れる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シートを見ずに、質問にも答えながら戦略として話せる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目安：1ヶ月（実行開始まで）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19" y="2642616"/>
            <a:ext cx="2606040" cy="320954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t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LEVEL 4</a:t>
            </a:r>
          </a:p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C00000"/>
                </a:solidFill>
                <a:latin typeface="Meiryo UI"/>
                <a:ea typeface="Meiryo UI"/>
              </a:rPr>
              <a:t>エリアへ展開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大学の４Sを、エリア全施設の打ち手に翻訳できる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95959"/>
                </a:solidFill>
                <a:latin typeface="Meiryo UI"/>
                <a:ea typeface="Meiryo UI"/>
              </a:rPr>
              <a:t>ここまで来たら、大学担当として一人前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961888"/>
            <a:ext cx="11018520" cy="475488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0B4F37"/>
                </a:solidFill>
                <a:latin typeface="Meiryo UI"/>
                <a:ea typeface="Meiryo UI"/>
              </a:rPr>
              <a:t>卒業基準：</a:t>
            </a:r>
            <a:r>
              <a:rPr sz="1300" b="1" i="0">
                <a:solidFill>
                  <a:srgbClr val="262626"/>
                </a:solidFill>
                <a:latin typeface="Meiryo UI"/>
                <a:ea typeface="Meiryo UI"/>
              </a:rPr>
              <a:t>上司の「あなたのエリア戦略は？」に、４Sの型（成功像→課題→原因→解決策）で即答できること。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構造マップ テンプレート（印刷・配布用）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6949440" cy="4297680"/>
          </a:xfrm>
          <a:prstGeom prst="roundRect">
            <a:avLst>
              <a:gd name="adj" fmla="val 3000"/>
            </a:avLst>
          </a:prstGeom>
          <a:solidFill>
            <a:srgbClr val="F4FAF6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28A54"/>
                </a:solidFill>
                <a:latin typeface="Meiryo UI"/>
                <a:ea typeface="Meiryo UI"/>
              </a:rPr>
              <a:t>院内：診療科（　　　　　　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029968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教授／診療科長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17296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医局長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17296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病棟医長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17296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外来医長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36168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若手・専攻医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36168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臨床研究の担い手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436168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薬剤部・連携室・秘書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801368" y="2944368"/>
            <a:ext cx="1947671" cy="22860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49039" y="2944368"/>
            <a:ext cx="365761" cy="22860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49039" y="2944368"/>
            <a:ext cx="2651761" cy="22860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79" y="1572768"/>
            <a:ext cx="3931920" cy="4297680"/>
          </a:xfrm>
          <a:prstGeom prst="roundRect">
            <a:avLst>
              <a:gd name="adj" fmla="val 3000"/>
            </a:avLst>
          </a:prstGeom>
          <a:solidFill>
            <a:srgbClr val="EAF0F9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91272" y="16642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Meiryo UI"/>
                <a:ea typeface="Meiryo UI"/>
              </a:rPr>
              <a:t>院外：エリアとの繋がり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057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関連・基幹病院（元医局員は？）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01752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紹介元・逆紹介先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977639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研究会・地方会（世話人は？）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93776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t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595959"/>
                </a:solidFill>
                <a:latin typeface="Meiryo UI"/>
                <a:ea typeface="Meiryo UI"/>
              </a:rPr>
              <a:t>医師会・行政・健診</a:t>
            </a:r>
          </a:p>
          <a:p>
            <a:pPr algn="l"/>
            <a:r>
              <a:rPr sz="1000" b="0" i="0">
                <a:solidFill>
                  <a:srgbClr val="262626"/>
                </a:solidFill>
                <a:latin typeface="Meiryo UI"/>
                <a:ea typeface="Meiryo UI"/>
              </a:rPr>
              <a:t>氏名：　　　　　　</a:t>
            </a:r>
          </a:p>
          <a:p>
            <a:pPr algn="l"/>
            <a:r>
              <a:rPr sz="950" b="0" i="0">
                <a:solidFill>
                  <a:srgbClr val="D9D9D9"/>
                </a:solidFill>
                <a:latin typeface="Meiryo UI"/>
                <a:ea typeface="Meiryo UI"/>
              </a:rPr>
              <a:t>マーク：◎ ○ ★ ◇ 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89320"/>
            <a:ext cx="1110996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50" b="1" i="0">
                <a:solidFill>
                  <a:srgbClr val="262626"/>
                </a:solidFill>
                <a:latin typeface="Meiryo UI"/>
                <a:ea typeface="Meiryo UI"/>
              </a:rPr>
              <a:t>凡例：◎方針決定　○実行・導入　★情報ハブ　◇連携の要　</a:t>
            </a:r>
            <a:r>
              <a:rPr sz="1150" b="1" i="0">
                <a:solidFill>
                  <a:srgbClr val="C00000"/>
                </a:solidFill>
                <a:latin typeface="Meiryo UI"/>
                <a:ea typeface="Meiryo UI"/>
              </a:rPr>
              <a:t>？＝分からない場所（＝次の面会で聞くことリスト）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４Sシート テンプレート（印刷・配布用）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09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eiryo UI"/>
                <a:ea typeface="Meiryo UI"/>
              </a:rPr>
              <a:t>施設・エリア名（　　　　　　　　　　）　　作成日（　　／　　）　　作成者（　　　　　　）　　次回見直し（　　／　　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① 成功像　—　1年後、こうなっていたら最高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誰が・何を・どうなっている状態か、具体的に。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② 現状・課題　—　成功像とのGAP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2316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事実・数字で。「〜できていない」は成功像とセットで。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B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③ 原因　—　なぜ？×3回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79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なぜ①→なぜ②→なぜ③（真因）　※人・関係性・場・情報の4方向で探す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④ 解決策　—　主語は自分。誰に・何を・いつ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26279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/>
            <a:r>
              <a:rPr sz="1050" b="0" i="0">
                <a:solidFill>
                  <a:srgbClr val="595959"/>
                </a:solidFill>
                <a:latin typeface="Meiryo UI"/>
                <a:ea typeface="Meiryo UI"/>
              </a:rPr>
              <a:t>会社の武器（講演会・資材・連携）×自分の行動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035040"/>
            <a:ext cx="11109960" cy="438912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セルフチェック：　□ 課題はギャップで書けている　　□ 原因は「なぜ」×3　　□ 解決策の主語は自分　　□ ④→①で成功像に近づく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大学の「肩書き」早見表 — 立場の読み方と注意点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2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院内の本流ライン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727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 UI"/>
                <a:ea typeface="Meiryo UI"/>
              </a:rPr>
              <a:t>読み違えやすい肩書き（要・個別確認）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21408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教授（診療科長）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方針・人事の最終決定者。ただし多忙で、現場の細部は下のポジションが握っていることが多い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准教授・講師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実務の要であり、次期教授候補。3年後のキーパーソンとして関係構築は先行投資になる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96512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助教・医員・専攻医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実処方と臨床研究の担い手。「教えてください」の相手として最適で、将来は関連病院の幹部に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84064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28A54"/>
                </a:solidFill>
                <a:latin typeface="Meiryo UI"/>
                <a:ea typeface="Meiryo UI"/>
              </a:rPr>
              <a:t>医局長（呼称は大学ごと）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人事実務・外部窓口の情報ハブ。講演依頼・面会調整はまずこの人、という大学が多い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21408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特任教授・特任講師 など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特定プロジェクトや資金で任用。医局ラインの人事権・決定権とは別枠のことが多い → 役割を個別確認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0896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客員・非常勤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本務は他施設。院内の決定権は限定的だが、施設間ネットワークのハブになっていることがある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96512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名誉教授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退官後の称号で現役の決定権はない。ただし人脈・影響力は健在。研究会や講演会の重鎮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084064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eiryo UI"/>
                <a:ea typeface="Meiryo UI"/>
              </a:rPr>
              <a:t>寄附講座（教員）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626"/>
                </a:solidFill>
                <a:latin typeface="Meiryo UI"/>
                <a:ea typeface="Meiryo UI"/>
              </a:rPr>
              <a:t>寄附により設置された講座。本流医局との距離感は大学ごとに全く違う → 最初に立ち位置を確認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108192"/>
            <a:ext cx="11109960" cy="384048"/>
          </a:xfrm>
          <a:prstGeom prst="roundRect">
            <a:avLst>
              <a:gd name="adj" fmla="val 1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 i="0">
                <a:solidFill>
                  <a:srgbClr val="0B4F37"/>
                </a:solidFill>
                <a:latin typeface="Meiryo UI"/>
                <a:ea typeface="Meiryo UI"/>
              </a:rPr>
              <a:t>肩書きは「地図の記号」。同じ肩書きでも大学ごとに意味が違います — 実際の力関係は、構造マップで個別に確かめましょう。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大学活動 コンプライアンスの5原則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62626"/>
                </a:solidFill>
                <a:latin typeface="Meiryo UI"/>
                <a:ea typeface="Meiryo UI"/>
              </a:rPr>
              <a:t>アンケートの不安「寄附金・広告協賛・宣伝許可・施設ルール」に応えて。攻める活動ほど、守りが土台になります。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① 施設ルールが最優先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7178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訪問・面会・資材配布のルールは施設ごとに違う。着任時と変更時に必ず確認し、迷ったら守りに倒す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② 寄附金・広告協賛は「その場で約束しない」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788920"/>
            <a:ext cx="7178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依頼を受けたら即答せず、必ず社内の申請・審査手続きに乗せる。誠実な「持ち帰ります」は信頼を損なわない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79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③ 宣伝許可・採用ルールは現行の文書で確認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611879"/>
            <a:ext cx="7178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「前任者がやっていた」は根拠にならない。DAY1で学んだ院内運用の確認を、毎回やり直す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④ 迷ったら自己判断しない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434840"/>
            <a:ext cx="7178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判断基準はプロモーションコードと社内SOP。少しでも迷ったら上司・コンプライアンス部門に相談してから動く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 UI"/>
                <a:ea typeface="Meiryo UI"/>
              </a:rPr>
              <a:t>⑤ 記録を残す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5257800"/>
            <a:ext cx="7178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626"/>
                </a:solidFill>
                <a:latin typeface="Meiryo UI"/>
                <a:ea typeface="Meiryo UI"/>
              </a:rPr>
              <a:t>依頼・回答・手続きの経緯を記録に残す。誠実さの証明であり、先生と自分の両方を守る武器になる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1109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95959"/>
                </a:solidFill>
                <a:latin typeface="Meiryo UI"/>
                <a:ea typeface="Meiryo UI"/>
              </a:rPr>
              <a:t>※ 本スライドは一般的な注意喚起です。個別の案件は、必ず最新の社内規程と担当部門の指示に従ってください。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bIns="36576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 UI"/>
                <a:ea typeface="Meiryo UI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4F37"/>
                </a:solidFill>
                <a:latin typeface="Meiryo UI"/>
                <a:ea typeface="Meiryo UI"/>
              </a:rPr>
              <a:t>ファシリテーター用メモ（進行のコツ）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128A54"/>
                </a:solidFill>
                <a:latin typeface="Meiryo UI"/>
                <a:ea typeface="Meiryo UI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86400" cy="475488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事前準備・時間管理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30552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・事前案内（Outlook）：A4白紙1枚とペンを持参、担当施設の顔ぶれを思い出してくる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・録画を回し、気づきリストとセットで欠席者へ共有（アンケートで要望多数）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・ワークは「あと2分」を予告してから切る。延長判断は全体共有の前に宣言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486400" cy="475488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場づくり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30552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・Ice Breakでは自分（進行役）が最初に投稿し、投稿のハードルを下げる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・ワーク中は沈黙OKと伝える。ブレイクアウトは各室を1周して1声かけ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・共有で出た良い視点は、その場で「今のは◎」と口頭で拾う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486400" cy="475488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つまずき対応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70832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・構造が書けない人には「まず外来と病棟の2箱から」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・４Sが止まった人には、スライドの「困ったときのヒント」を指差しで案内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・議論が製品の話に寄ったら「今日は構造と戦略の日」と戻す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86400" cy="475488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eiryo UI"/>
                <a:ea typeface="Meiryo UI"/>
              </a:rPr>
              <a:t>最終回としての締め方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370832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t"/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・シリーズ全体の感想を1言ずつ集めてから終える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・作成した４Sシートは各自のエリア計画・上司面談で活用することを宣言してもらう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262626"/>
                </a:solidFill>
                <a:latin typeface="Meiryo UI"/>
                <a:ea typeface="Meiryo UI"/>
              </a:rPr>
              <a:t>・構造マップ・４Sのデータ版テンプレと気づきリストの共有方法を必ずアナウンス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109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eiryo UI"/>
                <a:ea typeface="Meiryo UI"/>
              </a:rPr>
              <a:t>本資料の事例・人名はすべて架空です。実施設の情報を扱う際は、社内の情報取り扱いルールに従ってください。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eiryo UI"/>
                <a:ea typeface="Meiryo UI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718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BFE8D2"/>
                </a:solidFill>
                <a:latin typeface="Meiryo UI"/>
                <a:ea typeface="Meiryo UI"/>
              </a:rPr>
              <a:t>4回シリーズ、おつかれさまでした。ここからが本番です。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246120" cy="1051560"/>
          </a:xfrm>
          <a:prstGeom prst="roundRect">
            <a:avLst>
              <a:gd name="adj" fmla="val 10000"/>
            </a:avLst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000"/>
                </a:solidFill>
                <a:latin typeface="Meiryo UI"/>
                <a:ea typeface="Meiryo UI"/>
              </a:rPr>
              <a:t>今日中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行動宣言＋気づきをチャットへ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931920"/>
            <a:ext cx="3246120" cy="1051560"/>
          </a:xfrm>
          <a:prstGeom prst="roundRect">
            <a:avLst>
              <a:gd name="adj" fmla="val 10000"/>
            </a:avLst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000"/>
                </a:solidFill>
                <a:latin typeface="Meiryo UI"/>
                <a:ea typeface="Meiryo UI"/>
              </a:rPr>
              <a:t>今週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気づきリスト・VTR・テンプレートを事務局から共有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931920"/>
            <a:ext cx="3246120" cy="1051560"/>
          </a:xfrm>
          <a:prstGeom prst="roundRect">
            <a:avLst>
              <a:gd name="adj" fmla="val 10000"/>
            </a:avLst>
          </a:prstGeom>
          <a:solidFill>
            <a:srgbClr val="07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6012" rIns="137160" bIns="96012" rtlCol="0" anchor="ctr"/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000"/>
                </a:solidFill>
                <a:latin typeface="Meiryo UI"/>
                <a:ea typeface="Meiryo UI"/>
              </a:rPr>
              <a:t>これから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Meiryo UI"/>
                <a:ea typeface="Meiryo UI"/>
              </a:rPr>
              <a:t>困ったら、全国61人の仲間に相談を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FE8D2"/>
                </a:solidFill>
                <a:latin typeface="Meiryo UI"/>
                <a:ea typeface="Meiryo UI"/>
              </a:rPr>
              <a:t>「この施設とこのエリアのことは、社内の誰よりも私が分かっている」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FE8D2"/>
                </a:solidFill>
                <a:latin typeface="Meiryo UI"/>
                <a:ea typeface="Meiryo UI"/>
              </a:rPr>
              <a:t>Renal 大学/基幹病院担当者スキルアッププロジェクト DAY4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BFE8D2"/>
                </a:solidFill>
                <a:latin typeface="Meiryo UI"/>
                <a:ea typeface="Meiryo U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merald Chic">
  <a:themeElements>
    <a:clrScheme name="Novartis 2025">
      <a:dk1>
        <a:srgbClr val="0E322A"/>
      </a:dk1>
      <a:lt1>
        <a:srgbClr val="F7FBF8"/>
      </a:lt1>
      <a:dk2>
        <a:srgbClr val="173A32"/>
      </a:dk2>
      <a:lt2>
        <a:srgbClr val="DDEAE1"/>
      </a:lt2>
      <a:accent1>
        <a:srgbClr val="0D8B5F"/>
      </a:accent1>
      <a:accent2>
        <a:srgbClr val="14543F"/>
      </a:accent2>
      <a:accent3>
        <a:srgbClr val="4C6F62"/>
      </a:accent3>
      <a:accent4>
        <a:srgbClr val="A7D7BF"/>
      </a:accent4>
      <a:accent5>
        <a:srgbClr val="B7CDC2"/>
      </a:accent5>
      <a:accent6>
        <a:srgbClr val="E8F2EC"/>
      </a:accent6>
      <a:hlink>
        <a:srgbClr val="14543F"/>
      </a:hlink>
      <a:folHlink>
        <a:srgbClr val="4C6F62"/>
      </a:folHlink>
    </a:clrScheme>
    <a:fontScheme name="Novartis 2025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108000" rIns="108000" bIns="108000" rtlCol="0" anchor="t"/>
      <a:lstStyle>
        <a:defPPr marL="180000" indent="-180000" algn="l">
          <a:spcBef>
            <a:spcPts val="800"/>
          </a:spcBef>
          <a:buFont typeface="Arial" panose="020B0604020202020204" pitchFamily="34" charset="0"/>
          <a:buChar char="•"/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Bef>
            <a:spcPts val="800"/>
          </a:spcBef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>
      <a:srgbClr val="0D8B5F"/>
    </a:custClr>
    <a:custClr>
      <a:srgbClr val="C9D9F9"/>
    </a:custClr>
  </a:custClrLst>
  <a:extLst>
    <a:ext uri="{05A4C25C-085E-4340-85A3-A5531E510DB2}">
      <thm15:themeFamily xmlns:thm15="http://schemas.microsoft.com/office/thememl/2012/main" name="Novartis PowerPoint" id="{46FD7BFE-C972-1446-9555-CBDA807834FC}" vid="{71B7A1DA-CA9E-CE4E-99A9-0C1B386393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4993</Words>
  <Application>Microsoft Macintosh PowerPoint</Application>
  <PresentationFormat>ワイド画面</PresentationFormat>
  <Paragraphs>834</Paragraphs>
  <Slides>47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47</vt:i4>
      </vt:variant>
    </vt:vector>
  </HeadingPairs>
  <TitlesOfParts>
    <vt:vector size="53" baseType="lpstr">
      <vt:lpstr>HG創英ﾌﾟﾚｾﾞﾝｽEB</vt:lpstr>
      <vt:lpstr>Meiryo UI</vt:lpstr>
      <vt:lpstr>Arial</vt:lpstr>
      <vt:lpstr>Calibri</vt:lpstr>
      <vt:lpstr>Office Theme</vt:lpstr>
      <vt:lpstr>Emerald Chic</vt:lpstr>
      <vt:lpstr>Renal　MR　スキルアッププロジェクトDAY４　</vt:lpstr>
      <vt:lpstr>■オープニング　5分 ■レクチャー&amp;ワーク①「構造マップ」 ■レクチャー&amp;ワーク②「4Sシート」 ■エリア戦略・まとめ　5分</vt:lpstr>
      <vt:lpstr>集めた情報、次の一手は？、、、</vt:lpstr>
      <vt:lpstr>Renal 大学/基幹病院担当者スキルアッププロジェクト</vt:lpstr>
      <vt:lpstr>Renal 大学/基幹病院担当者スキルアッププロジェクト</vt:lpstr>
      <vt:lpstr>Renal 大学/基幹病院担当者スキルアッププロジェクト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拓也 井上</cp:lastModifiedBy>
  <cp:revision>1</cp:revision>
  <dcterms:created xsi:type="dcterms:W3CDTF">2013-01-27T09:14:16Z</dcterms:created>
  <dcterms:modified xsi:type="dcterms:W3CDTF">2026-07-27T11:49:09Z</dcterms:modified>
  <cp:category/>
</cp:coreProperties>
</file>