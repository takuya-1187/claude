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  <p:sldId id="528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10分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■テーマ①「影響力を見極めた経験」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■テーマ②「エリアの中の影響力」　30分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■まとめ・行動宣言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10分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3回の振り返り／DAY3からDAY4へ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テーマ①「影響力を見極めた経験」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92608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これまでの経験を持ち寄る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テーマ②「エリアの中の影響力」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023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30分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023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藤さんの事例10分 → 自分のエリアへ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2064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50" b="1" i="0">
                <a:solidFill>
                  <a:srgbClr val="FFFFFF"/>
                </a:solidFill>
                <a:latin typeface="Meiryo UI"/>
                <a:ea typeface="Meiryo UI"/>
              </a:rPr>
              <a:t>■ まとめ・行動宣言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12064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1206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3つの学び／次に確かめたいこと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顧客理解を、エリアを見る力に変える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595959"/>
                </a:solidFill>
                <a:latin typeface="Meiryo UI"/>
                <a:ea typeface="Meiryo UI"/>
              </a:rPr>
              <a:t>― 大学・基幹病院の影響力を見極め、エリア全体を捉える 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本日の到達点：自分のエリアにおける影響力のつながりを、自分の言葉で説明できる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① 経験を持ち寄る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影響力を、どう見極めてきたか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51376" y="3950208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88536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② 事例から学ぶ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藤さんのエリアでは、どう広がっていたか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91271" y="3950208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28431" y="379476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③ 自分に当てはめる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443484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私のエリアでは、どうつながっているか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6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C000"/>
                </a:solidFill>
                <a:latin typeface="Meiryo UI"/>
                <a:ea typeface="Meiryo UI"/>
              </a:rPr>
              <a:t>「自分のエリアでは、どの施設・医師が、どんな関係を通じて影響しているか」を語れること。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3分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1109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1000"/>
              </a:spcAft>
            </a:pPr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この3回で、あなたの</a:t>
            </a:r>
            <a:r>
              <a:rPr sz="2800" b="1" i="0">
                <a:solidFill>
                  <a:srgbClr val="C00000"/>
                </a:solidFill>
                <a:latin typeface="Meiryo UI"/>
                <a:ea typeface="Meiryo UI"/>
              </a:rPr>
              <a:t>「大学の見方」</a:t>
            </a:r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は変わりましたか？</a:t>
            </a:r>
          </a:p>
          <a:p>
            <a:pPr algn="ctr"/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大学担当としての</a:t>
            </a:r>
            <a:r>
              <a:rPr sz="2800" b="1" i="0">
                <a:solidFill>
                  <a:srgbClr val="C00000"/>
                </a:solidFill>
                <a:latin typeface="Meiryo UI"/>
                <a:ea typeface="Meiryo UI"/>
              </a:rPr>
              <a:t>「自信」</a:t>
            </a:r>
            <a:r>
              <a:rPr sz="2800" b="1" i="0">
                <a:solidFill>
                  <a:srgbClr val="262626"/>
                </a:solidFill>
                <a:latin typeface="Meiryo UI"/>
                <a:ea typeface="Meiryo UI"/>
              </a:rPr>
              <a:t>はつきましたか？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3246120"/>
            <a:ext cx="6355080" cy="77724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Teamsチャットへ、自由に書き込んでください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846320"/>
            <a:ext cx="36118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大学に行くとき、以前と違うことは？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4846320"/>
            <a:ext cx="36118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会う人・聞くことは、変わった？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4846320"/>
            <a:ext cx="36118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まだ「分からない」と思うことは？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情報を集めるだけでは、エリアは見えてこない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0352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DAY3までにできるようになったこと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30352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・どんな情報が必要か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・どこから情報を取るか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・仮説を持って確認する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3108960"/>
            <a:ext cx="594360" cy="54864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480060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DAY4で考えること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487168"/>
            <a:ext cx="4800600" cy="196596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・その情報から、誰の影響力が見えるか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・その影響は、どこまで広がっているか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・大学・基幹病院が、エリアでどんな役割を持つか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916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Meiryo UI"/>
                <a:ea typeface="Meiryo UI"/>
              </a:rPr>
              <a:t>情報の価値は、持っている量ではなく、</a:t>
            </a:r>
          </a:p>
          <a:p>
            <a:pPr algn="ctr"/>
            <a:r>
              <a:rPr sz="2300" b="1" i="0">
                <a:solidFill>
                  <a:srgbClr val="FFC000"/>
                </a:solidFill>
                <a:latin typeface="Meiryo UI"/>
                <a:ea typeface="Meiryo UI"/>
              </a:rPr>
              <a:t>見方や活動が変わるかで決まる。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15分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影響力を見極めた経験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「この先生・この施設が鍵だった」と気づいた経験は？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3〜4人で、思い出した経験を自由に話す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最後に、グループで「見極めるうえで重要だったこと」を1つ決める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影響力を見極めた経験を共有する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これまでの活動で、</a:t>
            </a: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「この先生・この施設が鍵だった」</a:t>
            </a:r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と気づいた経験は？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話を深めるヒント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640080" cy="64008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3337560"/>
            <a:ext cx="102412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何をきっかけに、その先生・施設が重要だと気づきましたか？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87368"/>
            <a:ext cx="640080" cy="64008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4087368"/>
            <a:ext cx="102412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その後、活動の進め方や関わる相手はどう変わりましたか？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37176"/>
            <a:ext cx="640080" cy="64008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20" y="4837176"/>
            <a:ext cx="102412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結果として、何が前進しましたか？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最後に、グループで「見極めるうえで重要だったこと」を1つ決める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影響力は、どこを見れば分かるのか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グループで決めたことを共有する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周囲がどう反応しているか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・誰に相談しているか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・誰の意見を参考にしているか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・誰の発言で議論が進むか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実際にどんな役割を担っているか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・診療方針を示す／新しい取り組みを実行する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・若手を育成する／施設間をつなぐ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・院外へ情報を発信する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6888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その影響がどこまで届くか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3108960"/>
            <a:ext cx="35661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・施設の中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・関連病院／担当エリア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・担当エリアの外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2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/>
            <a:r>
              <a:rPr sz="2200" b="1" i="0">
                <a:solidFill>
                  <a:srgbClr val="FFC000"/>
                </a:solidFill>
                <a:latin typeface="Meiryo UI"/>
                <a:ea typeface="Meiryo UI"/>
              </a:rPr>
              <a:t>肩書きではなく、周囲の反応・実際の役割・届く範囲で見る。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エリアの中の影響力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その影響力は、エリアの中でどう広がっているか？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藤さんの事例から、影響力の広がり方を見る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自分のエリアに当てはめて考える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メンバーと共有する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影響力は、何を通じて広がるのか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医局人事・医師派遣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患者紹介・症例相談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教育・若手育成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874519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同門・卒大・人脈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研究会・講演会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研究・学会発信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743200"/>
            <a:ext cx="2697480" cy="64008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日常的な医師同士の相談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743200"/>
            <a:ext cx="2551176" cy="64008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…など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C000"/>
                </a:solidFill>
                <a:latin typeface="Meiryo UI"/>
                <a:ea typeface="Meiryo UI"/>
              </a:rPr>
              <a:t>大学が常に中心とは限らない。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大学と基幹病院が、それぞれ異なる役割を持っている場合もある。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5780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藤さんの事例で、実際の広がり方を見る。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藤さんの事例紹介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4208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0" i="0">
                <a:solidFill>
                  <a:srgbClr val="262626"/>
                </a:solidFill>
                <a:latin typeface="Meiryo UI"/>
                <a:ea typeface="Meiryo UI"/>
              </a:rPr>
              <a:t>見どころ：</a:t>
            </a: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どの情報から、エリア内の影響力のつながりを読み取ったか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379476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① 担当エリアの背景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423160"/>
            <a:ext cx="717804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どんな大学・基幹病院があるか／当初どう見ていたか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44952"/>
            <a:ext cx="3794760" cy="530352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② 転機となった情報・気づき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044952"/>
            <a:ext cx="717804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どの先生・施設が鍵だと気づいたか／何がきっかけか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66744"/>
            <a:ext cx="3794760" cy="53035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③ 影響力のつながり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666744"/>
            <a:ext cx="717804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大学と基幹病院がどうつながっていたか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88536"/>
            <a:ext cx="3794760" cy="53035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④ 活動の変化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4288536"/>
            <a:ext cx="717804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見方が変わる前と後で、活動はどう変わったか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10327"/>
            <a:ext cx="3794760" cy="53035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⑤ 伝えたい学び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4910327"/>
            <a:ext cx="717804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肩書きだけでは分からなかったこと／応用できる視点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62356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「自分のエリアを見るとき、最初にどこを確認しますか？」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① 担当エリアの背景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85953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・どんな大学・基幹病院がありますか？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・当初、エリアをどのように見ていましたか？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24328"/>
            <a:ext cx="11109960" cy="363931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② 転機となった情報・気づき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・どの先生・施設が鍵だと気づきましたか？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・何をきっかけに気づきましたか？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・Dry情報／Wet情報のどちらでしたか？　誰から得た情報でしたか？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62072"/>
            <a:ext cx="11109960" cy="340156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③ 影響力のつながり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859536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・大学と基幹病院は、どうつながっていましたか？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・医師同士の関係／人事・派遣／患者紹介／研究会・同門／情報発信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24328"/>
            <a:ext cx="11109960" cy="363931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34056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凡例：　人事・派遣　／　患者紹介・症例相談　／　同門・卒大　／　研究会・教育　／　情報発信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藤さんの事例　④ 活動の変化と、伝えたい学び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・見方が変わる前と後で、活動はどう変わりましたか？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・大学だけでなく、基幹病院をどう組み合わせましたか？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・肩書きだけでは分からなかったこと／他のエリアでも応用できる視点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62072"/>
            <a:ext cx="11109960" cy="340156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藤さんのスライド・図をこのエリアに配置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自分のエリアの「影響力のつながり」を考える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大学・基幹病院の影響力は、どこからどこへ、どのように広がっているか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考えるヒント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44368"/>
            <a:ext cx="5486400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・影響力の起点となっている先生・施設はどこですか？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・どのようなつながりを通じて、影響が広がっていますか？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・大学と基幹病院は、それぞれどんな役割を持っていますか？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・まだ分からない関係やつながりは、どこですか？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395728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描いてよいもの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44368"/>
            <a:ext cx="5486400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・大学・基幹病院／重要な医師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・医局人事・医師派遣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・患者紹介・症例相談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・同門・卒大／教育・研究会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・情報発信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・分からない関係は「？」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6636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正確な組織図は不要。文字でも図でも構いません。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DISCUSSION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自分のエリアの見え方を共有する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4208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3人1組で、自分のエリアを説明する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影響力の中心はどこか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377440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大学か／基幹病院か／特定の医師か／複数の施設か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45536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何を通じて広がっているか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3145536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人事・派遣／患者紹介／教育／同門・人脈／研究会／情報発信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13632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大学と基幹病院の役割の違い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3913632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大学が方針を示し基幹病院が実践する／基幹病院の経験を大学が発信する など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681728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まだ分からないことは何か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4681728"/>
            <a:ext cx="7680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誰が誰に相談しているか／医局人事の実態／研究会の中心人物／施設間の関係性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最後に「他の人のエリアと最も違っていた点」を話す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エリアの見方は、どう変わったか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他の人のエリアを聞いて、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自分のエリアの見方が変わった点</a:t>
            </a:r>
            <a:r>
              <a:rPr sz="2000" b="0" i="0">
                <a:solidFill>
                  <a:srgbClr val="262626"/>
                </a:solidFill>
                <a:latin typeface="Meiryo UI"/>
                <a:ea typeface="Meiryo UI"/>
              </a:rPr>
              <a:t>は何ですか？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364992"/>
            <a:ext cx="8183879" cy="56692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大学が中心ではないエリアがある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023360"/>
            <a:ext cx="8183879" cy="56692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同じ大学でも、疾患によって影響範囲が違う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4681728"/>
            <a:ext cx="8183879" cy="56692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基幹病院の影響が大きいこともある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5340096"/>
            <a:ext cx="8183879" cy="56692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一人の医師が、複数の施設をつないでいる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本日の3つの学び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影響力は、肩書きだけでは分からない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周囲が誰を頼り、誰の意見で動いているかを見る。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影響力は、施設の外へ広がっている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人事、派遣、紹介、教育、研究会、人脈を通じてエリアへ広がる。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エリアの見方に、唯一の正解はない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大学が中心の場合も、基幹病院が中心の場合もある。自分の言葉で説明できることが重要。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大学の中だけを詳しく知ることが、大学担当者の仕事ではない。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エリアの中で、どうつながり、どこに影響しているかを説明できること。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行動宣言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600" b="1" i="0">
                <a:solidFill>
                  <a:srgbClr val="262626"/>
                </a:solidFill>
                <a:latin typeface="Meiryo UI"/>
                <a:ea typeface="Meiryo UI"/>
              </a:rPr>
              <a:t>自分のエリアで、次に確かめたいこと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880360"/>
            <a:ext cx="6355080" cy="6400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Teamsチャットへ、自由に書き込んでください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4069080"/>
            <a:ext cx="818387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大学と主要基幹病院の間で、誰が日常的に相談されているか確認する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36008"/>
            <a:ext cx="818387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医局長に、関連病院への派遣と役割分担を聞く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202936"/>
            <a:ext cx="818387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基幹病院部長が、どの先生の意見を参考にしているか確認する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5769864"/>
            <a:ext cx="818387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研究会の企画を、実際に動かしている先生を確認する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364991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4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62472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9952" y="1828800"/>
            <a:ext cx="128016" cy="219456"/>
          </a:xfrm>
          <a:prstGeom prst="rightArrow">
            <a:avLst/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5087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エリアを見る力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97480"/>
            <a:ext cx="10515600" cy="13258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第3回では、顧客を理解するために「どんな情報を取るか」を考えました。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第4回では、その情報をつなげ、大学・基幹病院の影響力をエリアの中で捉えました。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大学担当者に求められるのは、大学の中だけを詳しく知ることではありません。</a:t>
            </a:r>
          </a:p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大学・基幹病院がエリアの中でどうつながり、</a:t>
            </a:r>
          </a:p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どこに影響しているかを説明できることです。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ワークシート：自分のエリアの「影響力のつながり」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担当エリア（　　　　　　　　　　　　）　　作成日（　　／　　）　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8138160" cy="3977639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文字でも図でも構いません。分からない関係は「？」で。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82880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ctr">
              <a:spcAft>
                <a:spcPts val="9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描いてよいもの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大学・基幹病院／重要な医師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医局人事・医師派遣</a:t>
            </a: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患者紹介・症例相談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同門・卒大／教育・研究会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□ 情報発信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886200"/>
            <a:ext cx="2743200" cy="192024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ctr">
              <a:spcAft>
                <a:spcPts val="9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考えるヒント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・影響力の起点はどこか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・何を通じて広がっているか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・大学と基幹病院の役割の違い</a:t>
            </a:r>
          </a:p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・まだ分からない関係はどこか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正確な組織図ではなく、「自分がエリアをどう見ているか」を表すシートです。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参考：影響力の見極め方（DAY1の復習）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テリトリーとニーズ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HP（基幹病院）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1病院 → 医師会・医療圏 → 関連病院・出身医局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ニーズ：紹介率を上げたい／関連病院と協働したい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10128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HS（大学病院）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県内 → 県内＋他大学・専門領域 → 日本全体・学会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ニーズ：研修医が欲しい／論文を出したい／県内での存在感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大学が動かせるもの（7つ）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776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教育／研究／臨床／医局人事／医師派遣／情報発信／講演会・研究会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9164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影響力を持つ5つの役割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2240280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2240280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方針を決める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807208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807208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最初に試す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新しい治療を最初に使う。実務の中心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3374136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3374136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情報ハブ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若手が困ったら聞きに行く。医局長に多い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3941064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3941064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連携の要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</a:t>
            </a:r>
          </a:p>
        </p:txBody>
      </p:sp>
      <p:sp>
        <p:nvSpPr>
          <p:cNvPr id="20" name="Oval 19"/>
          <p:cNvSpPr/>
          <p:nvPr/>
        </p:nvSpPr>
        <p:spPr>
          <a:xfrm>
            <a:off x="6172200" y="4507992"/>
            <a:ext cx="475488" cy="47548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507992"/>
            <a:ext cx="4846320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50" b="1" i="0">
                <a:solidFill>
                  <a:srgbClr val="B86A00"/>
                </a:solidFill>
                <a:latin typeface="Meiryo UI"/>
                <a:ea typeface="Meiryo UI"/>
              </a:rPr>
              <a:t>対外の顔　</a:t>
            </a: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研究会・講演会で外に発信する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07492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教授の裁量権（DAY1）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① 臨床機会の配分　② 医局人事・異動　③ 教授会・教授選　④ 研究・教育の方向性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98932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本編では扱いません。ディスカッションで「見極めの視点」を整理するときの参考に。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参考：エリアのパターンと、影響が届く範囲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770632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9" name="Oval 8"/>
          <p:cNvSpPr/>
          <p:nvPr/>
        </p:nvSpPr>
        <p:spPr>
          <a:xfrm>
            <a:off x="2423160" y="35478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0" name="Oval 9"/>
          <p:cNvSpPr/>
          <p:nvPr/>
        </p:nvSpPr>
        <p:spPr>
          <a:xfrm>
            <a:off x="822959" y="363931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方針がエリア全体に波及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3048" y="281635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5" name="Oval 14"/>
          <p:cNvSpPr/>
          <p:nvPr/>
        </p:nvSpPr>
        <p:spPr>
          <a:xfrm>
            <a:off x="4956048" y="3364992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6" name="Oval 15"/>
          <p:cNvSpPr/>
          <p:nvPr/>
        </p:nvSpPr>
        <p:spPr>
          <a:xfrm>
            <a:off x="4590288" y="2615184"/>
            <a:ext cx="530352" cy="530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31736" y="2816352"/>
            <a:ext cx="1097280" cy="109728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1" name="Oval 20"/>
          <p:cNvSpPr/>
          <p:nvPr/>
        </p:nvSpPr>
        <p:spPr>
          <a:xfrm>
            <a:off x="6574536" y="3730752"/>
            <a:ext cx="640080" cy="6400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2" name="Oval 21"/>
          <p:cNvSpPr/>
          <p:nvPr/>
        </p:nvSpPr>
        <p:spPr>
          <a:xfrm>
            <a:off x="8037575" y="3685032"/>
            <a:ext cx="566928" cy="566928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実務の影響力は基幹病院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17373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2221992"/>
            <a:ext cx="2697480" cy="214884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18903" y="2770632"/>
            <a:ext cx="1005840" cy="100584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7" name="Oval 26"/>
          <p:cNvSpPr/>
          <p:nvPr/>
        </p:nvSpPr>
        <p:spPr>
          <a:xfrm>
            <a:off x="10890503" y="2724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8" name="Oval 27"/>
          <p:cNvSpPr/>
          <p:nvPr/>
        </p:nvSpPr>
        <p:spPr>
          <a:xfrm>
            <a:off x="10981943" y="3685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4462272"/>
            <a:ext cx="269748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営業所・全国への展開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7492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影響が届く範囲（4層）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院内の方針・採用は動く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01568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医局人事・派遣を通じて系列に届く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4496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研究会・講演会・地域連携で系列を越える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424" y="5623560"/>
            <a:ext cx="269748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④ その先</a:t>
            </a:r>
          </a:p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学会・全国の研究会で担当範囲を超える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参考：その情報は、誰から取れるか（DAY3）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医師本人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直接聞くのが、最も有効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・今後の目標・成し遂げたいこと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・興味のある領域・研究テーマ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・参考にしている先生・KOL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・人脈、連携している施設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周辺関係者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会えない時間を埋めてくれる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・医局秘書：予定・医局の動き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・看護師・師長：現場の課題と関係性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・若手医師：医局の雰囲気と本音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・前任者・他領域MR・MS・社内メディカル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8308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学会・研究会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人的ネットワークが見える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4203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・共著論文：誰と誰が組んでいるか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・演者の顔ぶれ・座長との関係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・卒大・同門・同年次のつながり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・※DAY3事例：同年同卒を調べて会を設計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聞き方のコツ（DAY3）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仮説を持って行き、「クローズドで聞ける状態」にしてから会う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663440"/>
            <a:ext cx="5486400" cy="77724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噂レベルの情報は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複数の関係者から確認して、精度を上げる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77840"/>
            <a:ext cx="11109960" cy="6858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信頼が深まっているサイン　—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プライベートな話をしてくれる／将来の話をしてくれる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　→ 味方になってくれる可能性が高い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参考：DAY1〜3の学び 総まとめ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・大学の3使命：教育・研究・臨床。医師派遣で地域を支える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・教授の裁量権：臨床機会・医局人事・教授選・研究教育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で設計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・アクセス：訪問ルール確認・秘書経由・メール・手紙・直接訪問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・カレンダーで情報管理し、行動ログで検証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・会う理由を設計し次の約束を残す。My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・顧客理解を深める必要性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・どこで、どの情報を取るか（ドライ×ウェット）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・仮説を持ち、クローズドで聞ける状態にする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・そして —— その情報を、どう活かすか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DAY4は、この3つを「エリアを見る力」に変える回でした。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参考：大学の「肩書き」早見表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方針・人事の最終決定者。多忙で現場の細部は下が握ることも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実務の要であり次期教授候補。関係構築は先行投資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医局の雑務・人事、行事の窓口。教授の信頼が厚く影響力大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実処方と臨床研究の担い手。数年後は関連病院の幹部へ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臨床・病院運営に強い。採用・薬審には効くが医局人事権は別のことも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寄附講座・外部資金による任用。研究・講演に強いが医局人事は限定的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本務は他施設。院内の決定権は限定的だがネットワークのハブに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現役の決定権はない。人脈・影響力は健在。研究会の重鎮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見極めの5点：① 財源　② 任期　③ 実権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828800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訪問・面会・資材配布のルールは施設ごとに違う。迷ったら守りに倒す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79192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その場で約束しない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679192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寄附金・広告協賛の依頼は即答せず、必ず社内の申請・審査手続きへ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9584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現行の文書で確認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529584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「前任者がやっていた」は根拠にならない。薬審・採用は施設ごとに毎回確認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79976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自己判断しない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379976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基準はプロモーションコードと社内SOP。迷ったら相談してから動く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30368"/>
            <a:ext cx="3291840" cy="768096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5230368"/>
            <a:ext cx="768096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依頼・回答・手続きの経緯を記録に。先生と自分の両方を守る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6089904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参考：疾患が変わると、影響力の見え方も変わる（架空の例）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C3腎症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大学・主要基幹病院の間で、疑う患者像、病理・補体評価、専門医への相談経路について共通認識がある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影響力の広がり方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病理や補体領域に詳しい大学医師から、関連基幹病院へ診断上の視点を発信する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28A54"/>
                </a:solidFill>
                <a:latin typeface="Meiryo UI"/>
                <a:ea typeface="Meiryo UI"/>
              </a:rPr>
              <a:t>大学の「研究」「情報発信」の輪が効きやすい。まず疑ってもらう段階から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37360"/>
            <a:ext cx="5486400" cy="5486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IgA腎症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目指したい状態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0720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主要な大学・基幹病院で、患者選択、治療導入、フォローに関する考え方が整理されている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影響力の広がり方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242816"/>
            <a:ext cx="5486400" cy="8229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診療経験を持つ基幹病院医師と大学医師が、施設間の治療課題を共有する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515721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基幹病院の「臨床」の輪も大きい。大学と基幹病院を組み合わせる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25312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本編では扱いません。同じエリアでも、疾患が違えば重要施設もキーパーソンも変わります。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当日の進行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・0-10 オープニング／10-25 テーマ①／25-55 テーマ②／55-60 まとめ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・冒頭は タイトル → 4回のロードマップ → Agenda の3枚だけ投影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・レクチャーは合計6分。話しすぎないこと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テーマ①（15分）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・ディスカッション12分＋全体共有3分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・正解は示さず、参加者の経験を引き出す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・3つの補助質問は画面に残したまま進める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藤さんの事例（10分）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・①背景1分／②転機2分／③つながり3分／④変化と学び4分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・③の図は、口頭説明よりも図を見せる時間を長く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・最後に「自分のエリアを見るとき、最初にどこを確認するか」を聞く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テーマ②・締め方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・事例10分＋個人ワーク6分＋共有10分＋全体共有4分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・個人ワークは「正確な組織図ではない」と最初に伝える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・全体共有は戦略の巧拙ではなく「視座が変わった点」を拾う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