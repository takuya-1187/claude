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57800"/>
            <a:ext cx="12191695" cy="160020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7724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FE8D2"/>
                </a:solidFill>
                <a:latin typeface="Meiryo UI"/>
                <a:ea typeface="Meiryo UI"/>
              </a:rPr>
              <a:t>Renal 大学/基幹病院担当者スキルアッププロジェクト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371600"/>
            <a:ext cx="1691640" cy="566928"/>
          </a:xfrm>
          <a:prstGeom prst="roundRect">
            <a:avLst>
              <a:gd name="adj" fmla="val 5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2200" b="1" i="0">
                <a:solidFill>
                  <a:srgbClr val="0B4F37"/>
                </a:solidFill>
                <a:latin typeface="Meiryo UI"/>
                <a:ea typeface="Meiryo UI"/>
              </a:rPr>
              <a:t>DAY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148132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FE8D2"/>
                </a:solidFill>
                <a:latin typeface="Meiryo UI"/>
                <a:ea typeface="Meiryo UI"/>
              </a:rPr>
              <a:t>シリーズ最終回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103327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300" b="1" i="0">
                <a:solidFill>
                  <a:srgbClr val="FFFFFF"/>
                </a:solidFill>
                <a:latin typeface="Meiryo UI"/>
                <a:ea typeface="Meiryo UI"/>
              </a:rPr>
              <a:t>ちょっと分かるだけで</a:t>
            </a:r>
          </a:p>
          <a:p>
            <a:pPr algn="l"/>
            <a:r>
              <a:rPr sz="4300" b="1" i="0">
                <a:solidFill>
                  <a:srgbClr val="FFFFFF"/>
                </a:solidFill>
                <a:latin typeface="Meiryo UI"/>
                <a:ea typeface="Meiryo UI"/>
              </a:rPr>
              <a:t>世界が変わる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297680"/>
            <a:ext cx="10332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BFE8D2"/>
                </a:solidFill>
                <a:latin typeface="Meiryo UI"/>
                <a:ea typeface="Meiryo UI"/>
              </a:rPr>
              <a:t>〜 集めた情報を、エリアを動かす「戦略」に変える 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2026年8月6日（木）　｜　60分（内容により＋30分延長）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BFE8D2"/>
                </a:solidFill>
                <a:latin typeface="Meiryo UI"/>
                <a:ea typeface="Meiryo UI"/>
              </a:rPr>
              <a:t>全員が主体的に参加：レクチャー × グループワーク × 共有</a:t>
            </a:r>
          </a:p>
          <a:p>
            <a:pPr algn="l"/>
            <a:r>
              <a:rPr sz="1150" b="0" i="0">
                <a:solidFill>
                  <a:srgbClr val="9ECFB8"/>
                </a:solidFill>
                <a:latin typeface="Meiryo UI"/>
                <a:ea typeface="Meiryo UI"/>
              </a:rPr>
              <a:t>担当：腎臓領域（大学・基幹病院担当）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0" y="5532120"/>
            <a:ext cx="2514600" cy="685800"/>
          </a:xfrm>
          <a:prstGeom prst="roundRect">
            <a:avLst>
              <a:gd name="adj" fmla="val 12000"/>
            </a:avLst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不安を払拭し、</a:t>
            </a:r>
          </a:p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その日からアクションできる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72768"/>
            <a:ext cx="1051560" cy="548640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00–10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91640" y="1572768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■ オープニング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572768"/>
            <a:ext cx="55321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DAY1〜3の振り返り／今日のゴール／Ice Break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04120" y="1572768"/>
            <a:ext cx="1554480" cy="548640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全員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1051560" cy="548640"/>
          </a:xfrm>
          <a:prstGeom prst="roundRect">
            <a:avLst>
              <a:gd name="adj" fmla="val 2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10–18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1640" y="2194560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■ レクチャー①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2194560"/>
            <a:ext cx="55321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集めた情報を「構造」で整理する（人・役割・関係性）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04120" y="2194560"/>
            <a:ext cx="1554480" cy="548640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講義8分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16352"/>
            <a:ext cx="1051560" cy="548640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18–21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816352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■ ミニワーク①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2816352"/>
            <a:ext cx="55321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担当施設の「分かっていないこと」を3つ書き出す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04120" y="2816352"/>
            <a:ext cx="1554480" cy="548640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個人3分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438144"/>
            <a:ext cx="1051560" cy="548640"/>
          </a:xfrm>
          <a:prstGeom prst="roundRect">
            <a:avLst>
              <a:gd name="adj" fmla="val 2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21–30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438144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■ レクチャー②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60" y="3438144"/>
            <a:ext cx="55321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４Sシート：成功像・現状/課題・原因・解決策で言語化する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04120" y="3438144"/>
            <a:ext cx="1554480" cy="548640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講義9分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059936"/>
            <a:ext cx="1051560" cy="548640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30–50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4059936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■ グループワーク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4059936"/>
            <a:ext cx="55321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自施設・エリアの４Sシートを書く（個人8分＋グループ共有12分）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04120" y="4059936"/>
            <a:ext cx="1554480" cy="548640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個人＋G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681728"/>
            <a:ext cx="1051560" cy="548640"/>
          </a:xfrm>
          <a:prstGeom prst="roundRect">
            <a:avLst>
              <a:gd name="adj" fmla="val 2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50–55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681728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■ 全体共有＆Tips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80560" y="4681728"/>
            <a:ext cx="55321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各グループから1つ／エリア戦略への広げ方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04120" y="4681728"/>
            <a:ext cx="1554480" cy="548640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全員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303520"/>
            <a:ext cx="1051560" cy="548640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55–60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5303520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■ まとめ＆行動宣言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80560" y="5303520"/>
            <a:ext cx="55321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明日からの一手を1人1行、チャットに宣言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04120" y="5303520"/>
            <a:ext cx="1554480" cy="548640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全員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980175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C00000"/>
                </a:solidFill>
                <a:latin typeface="Meiryo UI"/>
                <a:ea typeface="Meiryo UI"/>
              </a:rPr>
              <a:t>＋30分延長する場合：</a:t>
            </a: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レクチャー①のあとに「構造マップ」作成ワーク（15分）とペア共有（10分）を追加。</a:t>
            </a:r>
          </a:p>
          <a:p>
            <a:pPr algn="l"/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巻末に GIFT（持ち帰り用の実践Tips）と 付録（テンプレート・早見表）を収録しています。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TODAY'S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DAY1〜3の振り返り — 3回で、ここまで来ました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人は1日で67%を忘れると言われます。まず、3回分の学びを1枚で取り戻しましょう。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38528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大学・基幹病院のイロハ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88336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・医局のキーパーソンを見極める（教授だけでなく准教授・講師・医局長）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・情報収集は複数ルートで（HP・論文・学会＋若手・関連病院・OB）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・採用・処方前に院内運用を必ず確認（薬剤部DI・採用形態・確認書）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938528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「会えない」を「会える」に変える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688336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・一人で突破しない（CV・MS・医局秘書・若手・上位医師を巻き込む）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・Best Time / Best Place を探す（曜日・時間帯・動線・カンファ）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・面談は「次につなげる」— 一度会うことがゴールではない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1938528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やっぱりMRは情報が命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2688336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・ドライ情報×ウェット情報を組み合わせて顧客理解の解像度を上げる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・分からないことは small b として面会に持ち込み、少しずつクリアにする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・面会後は「なぜ」を分解し、仮説を立てて次の面会へ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074920"/>
            <a:ext cx="11109960" cy="11430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4F37"/>
                </a:solidFill>
                <a:latin typeface="Meiryo UI"/>
                <a:ea typeface="Meiryo UI"/>
              </a:rPr>
              <a:t>そして今日、DAY4。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　3回で集めた「情報」を、エリアを動かす「戦略」に変換します。</a:t>
            </a:r>
          </a:p>
          <a:p>
            <a:pPr algn="l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欠席された回がある方へ：VTR＆資料アーカイブがあります。今日の内容だけでも、必ず持ち帰れるよう設計しています。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PROJECT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本プロジェクトで成し遂げたいこと — 今日は「戦略的活動」の回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◆ 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87168" y="1691640"/>
            <a:ext cx="763524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大学・基幹病院特有の採用ルール・プロセスを理解し、担当施設の状況を適切に調査できる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0" y="1691640"/>
            <a:ext cx="1417320" cy="84124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DAY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5176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◆ 面会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87168" y="2651760"/>
            <a:ext cx="763524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大学を中心とした継続的な面会機会を創出できる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651760"/>
            <a:ext cx="1417320" cy="84124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DAY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61188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◆ 情報収集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87168" y="3611880"/>
            <a:ext cx="763524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デスクトップリサーチを効果的に行い、実地にて成果につながる必要な情報を適切に収集できる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0" y="3611880"/>
            <a:ext cx="1417320" cy="84124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DAY 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57200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戦略的活動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87168" y="4572000"/>
            <a:ext cx="7635240" cy="841248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担当施設と周辺エリアに対する成功像・現状・課題・解決法を言語化できる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0" y="4572000"/>
            <a:ext cx="1417320" cy="841248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DAY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623560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C00000"/>
                </a:solidFill>
                <a:latin typeface="Meiryo UI"/>
                <a:ea typeface="Meiryo UI"/>
              </a:rPr>
              <a:t>「言語化できる」がゴール。</a:t>
            </a:r>
            <a:r>
              <a:rPr sz="1450" b="0" i="0">
                <a:solidFill>
                  <a:srgbClr val="262626"/>
                </a:solidFill>
                <a:latin typeface="Meiryo UI"/>
                <a:ea typeface="Meiryo UI"/>
              </a:rPr>
              <a:t>　頭の中にある情報を、誰かに説明できる形にした瞬間、はじめて戦略になります。</a:t>
            </a:r>
          </a:p>
          <a:p>
            <a:pPr algn="l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今日はそのための道具 ——「構造マップ」と「４Sシート」—— を持ち帰っていただきます。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DAY3で見たあの実例には、実は「型」がありました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第3回でご共有いただいた事例（循環器領域・広瀬さん）を、4つの箱に分解してみます。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大学病院を起点に治療指針を可視化 → 教授のInfluenceで医療圏の病院へ展開波及 → </a:t>
            </a:r>
            <a:r>
              <a:rPr sz="1400" b="1" i="0">
                <a:solidFill>
                  <a:srgbClr val="FFC000"/>
                </a:solidFill>
                <a:latin typeface="Meiryo UI"/>
                <a:ea typeface="Meiryo UI"/>
              </a:rPr>
              <a:t>新規症例 1月15例 → 2月17例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743200"/>
            <a:ext cx="2542032" cy="50292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① 成功像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10128"/>
            <a:ext cx="2542032" cy="160020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医療圏の患者さんが、どの病院にかかっても適切な治療にたどり着いている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36392" y="3840480"/>
            <a:ext cx="182880" cy="237744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64992" y="2743200"/>
            <a:ext cx="2542032" cy="50292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② 現状・課題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64992" y="3310128"/>
            <a:ext cx="2542032" cy="1600200"/>
          </a:xfrm>
          <a:prstGeom prst="roundRect">
            <a:avLst>
              <a:gd name="adj" fmla="val 8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治療の考え方が施設ごとにバラバラ。医療圏全体では救えていない患者さんがいる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52744" y="3840480"/>
            <a:ext cx="182880" cy="237744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81344" y="2743200"/>
            <a:ext cx="2542032" cy="50292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③ 原因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3310128"/>
            <a:ext cx="2542032" cy="160020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医療圏の中心となる指針が可視化・共有されておらず、施設をつなぐ「旗」がない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769096" y="3840480"/>
            <a:ext cx="182880" cy="237744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97696" y="2743200"/>
            <a:ext cx="2542032" cy="50292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④ 解決策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97696" y="3310128"/>
            <a:ext cx="2542032" cy="1600200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大学の治療指針を可視化し、教授の影響力で医療圏の病院へ展開する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120640"/>
            <a:ext cx="11109960" cy="109728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4F37"/>
                </a:solidFill>
                <a:latin typeface="Meiryo UI"/>
                <a:ea typeface="Meiryo UI"/>
              </a:rPr>
              <a:t>この4つの箱が、今日つくる「４Sシート」です。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あの事例は特別な才能の産物ではなく、</a:t>
            </a:r>
            <a:r>
              <a:rPr sz="1400" b="1" i="0">
                <a:solidFill>
                  <a:srgbClr val="C00000"/>
                </a:solidFill>
                <a:latin typeface="Meiryo UI"/>
                <a:ea typeface="Meiryo UI"/>
              </a:rPr>
              <a:t>成功像から逆算して原因を掘り、打ち手を決めた</a:t>
            </a: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という「型」の産物。今日は、その型を全員が自分のエリアで再現できるようにします。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本日のゴール — 帰るときに、この状態になっている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109960" cy="9144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900" b="1" i="0">
                <a:solidFill>
                  <a:srgbClr val="FFFFFF"/>
                </a:solidFill>
                <a:latin typeface="Meiryo UI"/>
                <a:ea typeface="Meiryo UI"/>
              </a:rPr>
              <a:t>収集した情報から４Sシートを用いて、エリアの</a:t>
            </a:r>
            <a:r>
              <a:rPr sz="1900" b="1" i="0">
                <a:solidFill>
                  <a:srgbClr val="FFC000"/>
                </a:solidFill>
                <a:latin typeface="Meiryo UI"/>
                <a:ea typeface="Meiryo UI"/>
              </a:rPr>
              <a:t>課題・原因・解決方法を可視化</a:t>
            </a:r>
            <a:r>
              <a:rPr sz="1900" b="1" i="0">
                <a:solidFill>
                  <a:srgbClr val="FFFFFF"/>
                </a:solidFill>
                <a:latin typeface="Meiryo UI"/>
                <a:ea typeface="Meiryo UI"/>
              </a:rPr>
              <a:t>できる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834640"/>
            <a:ext cx="640080" cy="64008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743200"/>
            <a:ext cx="694944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整理する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施設情報を「構造（人・役割・関係性）」で整理し、キーパーソンを特定できる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2743200"/>
            <a:ext cx="3200400" cy="822960"/>
          </a:xfrm>
          <a:prstGeom prst="roundRect">
            <a:avLst>
              <a:gd name="adj" fmla="val 12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レクチャー①＋ミニワーク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794759"/>
            <a:ext cx="640080" cy="64008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703320"/>
            <a:ext cx="694944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言語化する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成功像・現状/課題・原因・解決策を、４Sシート1枚に書き切れる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3703320"/>
            <a:ext cx="3200400" cy="822960"/>
          </a:xfrm>
          <a:prstGeom prst="roundRect">
            <a:avLst>
              <a:gd name="adj" fmla="val 12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レクチャー②＋グループワーク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754879"/>
            <a:ext cx="640080" cy="640080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03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663440"/>
            <a:ext cx="694944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B86A00"/>
                </a:solidFill>
                <a:latin typeface="Meiryo UI"/>
                <a:ea typeface="Meiryo UI"/>
              </a:rPr>
              <a:t>繋げる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大学で分かったことを起点に、エリアアプローチ戦略を自分の言葉で説明できる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4663440"/>
            <a:ext cx="3200400" cy="822960"/>
          </a:xfrm>
          <a:prstGeom prst="roundRect">
            <a:avLst>
              <a:gd name="adj" fmla="val 12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全体共有＋Tips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760720"/>
            <a:ext cx="11109960" cy="621792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シリーズ全体のゴール：</a:t>
            </a: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「この施設とこのエリアのことは、社内の誰よりも私が分かっている」と言える担当者になること。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YOUR VOICE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この60分は、皆さん62名のアンケートから設計しました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皆さんの不安 TOP5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27632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皆さんの期待 TOP5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57984"/>
            <a:ext cx="54864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① 継続面会・アポネタの獲得（最多）</a:t>
            </a:r>
          </a:p>
          <a:p>
            <a:pPr algn="l"/>
            <a:r>
              <a:rPr sz="1000" b="1" i="0">
                <a:solidFill>
                  <a:srgbClr val="C00000"/>
                </a:solidFill>
                <a:latin typeface="Meiryo UI"/>
                <a:ea typeface="Meiryo UI"/>
              </a:rPr>
              <a:t>→ ミニワーク①＋「？はアポネタになる」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34639"/>
            <a:ext cx="54864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② 医局の構造・人間関係・肩書きの意味</a:t>
            </a:r>
          </a:p>
          <a:p>
            <a:pPr algn="l"/>
            <a:r>
              <a:rPr sz="1000" b="1" i="0">
                <a:solidFill>
                  <a:srgbClr val="C00000"/>
                </a:solidFill>
                <a:latin typeface="Meiryo UI"/>
                <a:ea typeface="Meiryo UI"/>
              </a:rPr>
              <a:t>→ レクチャー①＋付録C「肩書き早見表」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11296"/>
            <a:ext cx="54864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③ 教わったことがない・自己流でやってきた</a:t>
            </a:r>
          </a:p>
          <a:p>
            <a:pPr algn="l"/>
            <a:r>
              <a:rPr sz="1000" b="1" i="0">
                <a:solidFill>
                  <a:srgbClr val="C00000"/>
                </a:solidFill>
                <a:latin typeface="Meiryo UI"/>
                <a:ea typeface="Meiryo UI"/>
              </a:rPr>
              <a:t>→ 「型」で目線合わせ：構造マップ × ４S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87952"/>
            <a:ext cx="54864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④ 腎領域の知識・専門的な対話への不安</a:t>
            </a:r>
          </a:p>
          <a:p>
            <a:pPr algn="l"/>
            <a:r>
              <a:rPr sz="1000" b="1" i="0">
                <a:solidFill>
                  <a:srgbClr val="C00000"/>
                </a:solidFill>
                <a:latin typeface="Meiryo UI"/>
                <a:ea typeface="Meiryo UI"/>
              </a:rPr>
              <a:t>→ 「教えてください」の武器化＋気づきリスト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64608"/>
            <a:ext cx="54864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⑤ 寄附金・宣伝許可などのルール</a:t>
            </a:r>
          </a:p>
          <a:p>
            <a:pPr algn="l"/>
            <a:r>
              <a:rPr sz="1000" b="1" i="0">
                <a:solidFill>
                  <a:srgbClr val="C00000"/>
                </a:solidFill>
                <a:latin typeface="Meiryo UI"/>
                <a:ea typeface="Meiryo UI"/>
              </a:rPr>
              <a:t>→ 付録D「コンプライアンスの5原則」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157984"/>
            <a:ext cx="54864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① 他メンバーの事例・考え方（圧倒的最多）</a:t>
            </a:r>
          </a:p>
          <a:p>
            <a:pPr algn="l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→ グループ共有＋全国気づきリストを本日始動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834639"/>
            <a:ext cx="54864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② 明日から使える実践スキル</a:t>
            </a:r>
          </a:p>
          <a:p>
            <a:pPr algn="l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→ 行動宣言＋GIFT「7つの習慣」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511296"/>
            <a:ext cx="54864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③ 大学担当としての型・基本</a:t>
            </a:r>
          </a:p>
          <a:p>
            <a:pPr algn="l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→ 構造マップと４S、2つの型を持ち帰る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187952"/>
            <a:ext cx="54864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④ エリア戦略・優先順位付け</a:t>
            </a:r>
          </a:p>
          <a:p>
            <a:pPr algn="l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→ 本日の本丸：Tips「3つのモノサシ」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864608"/>
            <a:ext cx="54864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⑤ 全国の横のつながり</a:t>
            </a:r>
          </a:p>
          <a:p>
            <a:pPr algn="l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→ 気づきリスト＝続くネットワークの起点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596128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ご回答いただいた62名の皆さん、ありがとうございました。</a:t>
            </a:r>
          </a:p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このアンケートが今日の設計図です。60分で扱いきれないテーマは、巻末のGIFT・付録と「気づきリスト」で必ず持ち帰れるようにしました。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ICE 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155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 i="0">
                <a:solidFill>
                  <a:srgbClr val="0B4F37"/>
                </a:solidFill>
                <a:latin typeface="Meiryo UI"/>
                <a:ea typeface="Meiryo UI"/>
              </a:rPr>
              <a:t>Ice Break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111099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262626"/>
                </a:solidFill>
                <a:latin typeface="Meiryo UI"/>
                <a:ea typeface="Meiryo UI"/>
              </a:rPr>
              <a:t>Q. あなたが今、担当施設について</a:t>
            </a:r>
            <a:r>
              <a:rPr sz="2400" b="1" i="0">
                <a:solidFill>
                  <a:srgbClr val="C00000"/>
                </a:solidFill>
                <a:latin typeface="Meiryo UI"/>
                <a:ea typeface="Meiryo UI"/>
              </a:rPr>
              <a:t>「これが分かっていない」</a:t>
            </a:r>
            <a:r>
              <a:rPr sz="2400" b="1" i="0">
                <a:solidFill>
                  <a:srgbClr val="262626"/>
                </a:solidFill>
                <a:latin typeface="Meiryo UI"/>
                <a:ea typeface="Meiryo UI"/>
              </a:rPr>
              <a:t>と</a:t>
            </a:r>
          </a:p>
          <a:p>
            <a:pPr algn="ctr"/>
            <a:r>
              <a:rPr sz="2400" b="1" i="0">
                <a:solidFill>
                  <a:srgbClr val="262626"/>
                </a:solidFill>
                <a:latin typeface="Meiryo UI"/>
                <a:ea typeface="Meiryo UI"/>
              </a:rPr>
              <a:t>感じていることを、1つだけ教えてください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3749039"/>
            <a:ext cx="5029200" cy="566928"/>
          </a:xfrm>
          <a:prstGeom prst="roundRect">
            <a:avLst>
              <a:gd name="adj" fmla="val 1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チャットにコメント記入をお願いします！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617720"/>
            <a:ext cx="35661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28A54"/>
                </a:solidFill>
                <a:latin typeface="Meiryo UI"/>
                <a:ea typeface="Meiryo UI"/>
              </a:rPr>
              <a:t>30秒でOK</a:t>
            </a:r>
          </a:p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長さは不問。一言で十分です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4617720"/>
            <a:ext cx="35661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28A54"/>
                </a:solidFill>
                <a:latin typeface="Meiryo UI"/>
                <a:ea typeface="Meiryo UI"/>
              </a:rPr>
              <a:t>「分からない」が正解</a:t>
            </a:r>
          </a:p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書けた不明点が、今日のワークの材料になります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1" y="4617720"/>
            <a:ext cx="35661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28A54"/>
                </a:solidFill>
                <a:latin typeface="Meiryo UI"/>
                <a:ea typeface="Meiryo UI"/>
              </a:rPr>
              <a:t>他の人の投稿も見る</a:t>
            </a:r>
          </a:p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同じ悩みを持つ仲間が、全国にいると分かります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0644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i="0">
                <a:solidFill>
                  <a:srgbClr val="595959"/>
                </a:solidFill>
                <a:latin typeface="Meiryo UI"/>
                <a:ea typeface="Meiryo UI"/>
              </a:rPr>
              <a:t>DAY3で学んだ「分からないことは small b として面会に持ち込む」— その small b を、今ここで棚卸ししましょう。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05740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200" b="1" i="0">
                <a:solidFill>
                  <a:srgbClr val="1D7451"/>
                </a:solidFill>
                <a:latin typeface="Meiryo UI"/>
                <a:ea typeface="Meiryo U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1874519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FE8D2"/>
                </a:solidFill>
                <a:latin typeface="Meiryo UI"/>
                <a:ea typeface="Meiryo UI"/>
              </a:rPr>
              <a:t>SECTION 01 ｜ 整理する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63240" y="2331720"/>
            <a:ext cx="85039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00" b="1" i="0">
                <a:solidFill>
                  <a:srgbClr val="FFFFFF"/>
                </a:solidFill>
                <a:latin typeface="Meiryo UI"/>
                <a:ea typeface="Meiryo UI"/>
              </a:rPr>
              <a:t>集めた情報を「構造」にする</a:t>
            </a:r>
          </a:p>
        </p:txBody>
      </p:sp>
      <p:sp>
        <p:nvSpPr>
          <p:cNvPr id="7" name="Oval 6"/>
          <p:cNvSpPr/>
          <p:nvPr/>
        </p:nvSpPr>
        <p:spPr>
          <a:xfrm>
            <a:off x="3108960" y="393192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4005072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情報は、集めただけでは1円にもならない</a:t>
            </a:r>
          </a:p>
        </p:txBody>
      </p:sp>
      <p:sp>
        <p:nvSpPr>
          <p:cNvPr id="9" name="Oval 8"/>
          <p:cNvSpPr/>
          <p:nvPr/>
        </p:nvSpPr>
        <p:spPr>
          <a:xfrm>
            <a:off x="3108960" y="464515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718304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人・役割・関係性の3点セットで整理する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3108960" y="5358383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5431536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キーパーソンは「役職」ではなく「影響力」で見る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615184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①　｜　8分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情報は、集めただけでは1円にもならない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DAY3の到達点：「何を・どこで」つかむか（ドライ情報×ウェット情報）は身についた。では、その先は？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3337560" cy="251460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128A54"/>
                </a:solidFill>
                <a:latin typeface="Meiryo UI"/>
                <a:ea typeface="Meiryo UI"/>
              </a:rPr>
              <a:t>点</a:t>
            </a:r>
          </a:p>
          <a:p>
            <a:pPr algn="ctr">
              <a:spcAft>
                <a:spcPts val="1000"/>
              </a:spcAft>
            </a:pPr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集める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面会メモ、病院HP、Veeva Link、医局の掲示物、廊下の会話……バラバラの事実の山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50208" y="3063240"/>
            <a:ext cx="438912" cy="411480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80559" y="2011680"/>
            <a:ext cx="3337560" cy="251460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B86A00"/>
                </a:solidFill>
                <a:latin typeface="Meiryo UI"/>
                <a:ea typeface="Meiryo UI"/>
              </a:rPr>
              <a:t>線</a:t>
            </a:r>
          </a:p>
          <a:p>
            <a:pPr algn="ctr">
              <a:spcAft>
                <a:spcPts val="1000"/>
              </a:spcAft>
            </a:pPr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整理する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人と人・部署と部署を「関係」で結ぶ＝ レクチャー①＋ミニワーク①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882127" y="3063240"/>
            <a:ext cx="438912" cy="411480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80" y="2011680"/>
            <a:ext cx="3337560" cy="2514600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C00000"/>
                </a:solidFill>
                <a:latin typeface="Meiryo UI"/>
                <a:ea typeface="Meiryo UI"/>
              </a:rPr>
              <a:t>面</a:t>
            </a:r>
          </a:p>
          <a:p>
            <a:pPr algn="ctr">
              <a:spcAft>
                <a:spcPts val="1000"/>
              </a:spcAft>
            </a:pPr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戦略にする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施設全体・エリア全体の構造が見え、打ち手が浮かぶ＝ ４Sシート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00600"/>
            <a:ext cx="11109960" cy="141732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62626"/>
                </a:solidFill>
                <a:latin typeface="Meiryo UI"/>
                <a:ea typeface="Meiryo UI"/>
              </a:rPr>
              <a:t>多くのMRは「点」で止まります。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同じ情報量でも、「線」と「面」にした人だけが次の一手を打てる。DAY3の広瀬さんの事例も、集めた情報を医療圏という「面」で捉えた結果でした。</a:t>
            </a:r>
          </a:p>
          <a:p>
            <a:pPr algn="l"/>
            <a:r>
              <a:rPr sz="1450" b="1" i="0">
                <a:solidFill>
                  <a:srgbClr val="C00000"/>
                </a:solidFill>
                <a:latin typeface="Meiryo UI"/>
                <a:ea typeface="Meiryo UI"/>
              </a:rPr>
              <a:t>今日やるのは、この2段の変換だけです。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615184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①　｜　8分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「構造」で整理する — 人・役割・関係性の3点セット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566160" cy="82296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100"/>
              </a:spcAft>
            </a:pPr>
            <a:r>
              <a:rPr sz="2100" b="1" i="0">
                <a:solidFill>
                  <a:srgbClr val="FFFFFF"/>
                </a:solidFill>
                <a:latin typeface="Meiryo UI"/>
                <a:ea typeface="Meiryo UI"/>
              </a:rPr>
              <a:t>人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誰がいるか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78608"/>
            <a:ext cx="35661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・教授・准教授・講師・助教・医員・専攻医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・外来／病棟／透析室などの担当医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・薬剤部・看護部・地域連携室・医事課・秘書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691640"/>
            <a:ext cx="3566160" cy="82296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100"/>
              </a:spcAft>
            </a:pPr>
            <a:r>
              <a:rPr sz="2100" b="1" i="0">
                <a:solidFill>
                  <a:srgbClr val="FFFFFF"/>
                </a:solidFill>
                <a:latin typeface="Meiryo UI"/>
                <a:ea typeface="Meiryo UI"/>
              </a:rPr>
              <a:t>役割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誰が何を決めるか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578608"/>
            <a:ext cx="35661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・診療方針を決める人（≠ 処方を書く人）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・採用・院内手続きを動かす人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・若手を教える人／勉強会を仕切る人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691640"/>
            <a:ext cx="3566160" cy="82296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100"/>
              </a:spcAft>
            </a:pPr>
            <a:r>
              <a:rPr sz="2100" b="1" i="0">
                <a:solidFill>
                  <a:srgbClr val="FFFFFF"/>
                </a:solidFill>
                <a:latin typeface="Meiryo UI"/>
                <a:ea typeface="Meiryo UI"/>
              </a:rPr>
              <a:t>関係性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誰と誰が繋がるか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578608"/>
            <a:ext cx="35661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・医局人事：関連病院の部長は誰の系列か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・紹介・逆紹介：患者はどこから来てどこへ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・師弟・同門・研究グループの繋がり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37760"/>
            <a:ext cx="11109960" cy="128016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役職表は病院HPに載っています。載っていない「役割」と「関係性」こそが、MRの付加価値。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DAY1で学んだ「この先生、どれだけ偉い？」は肩書きの話。今日はそれを</a:t>
            </a:r>
            <a:r>
              <a:rPr sz="1300" b="1" i="0">
                <a:solidFill>
                  <a:srgbClr val="C00000"/>
                </a:solidFill>
                <a:latin typeface="Meiryo UI"/>
                <a:ea typeface="Meiryo UI"/>
              </a:rPr>
              <a:t>「この先生、何を動かせる？」</a:t>
            </a: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に進化させます。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615184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①　｜　8分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キーパーソンは「役職」ではなく「影響力」で見る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次の5つの問いに固有名詞で答えられれば、その診療科は「分かっている」と言えます。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12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965960"/>
            <a:ext cx="548640" cy="54864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Q1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1965960"/>
            <a:ext cx="749807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治療方針は、誰の一言で決まる？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965960"/>
            <a:ext cx="2743200" cy="54864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◎ 方針決定者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606039"/>
            <a:ext cx="548640" cy="54864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Q2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80160" y="2606039"/>
            <a:ext cx="749807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新しい治療を最初に試すのは、誰？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2606039"/>
            <a:ext cx="2743200" cy="54864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○ アーリーアダプター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Q3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0160" y="3246120"/>
            <a:ext cx="749807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若手が困ったとき、誰に聞きに行く？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5400" y="3246120"/>
            <a:ext cx="2743200" cy="54864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B86A00"/>
                </a:solidFill>
                <a:latin typeface="Meiryo UI"/>
                <a:ea typeface="Meiryo UI"/>
              </a:rPr>
              <a:t>★ 情報ハブ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3886200"/>
            <a:ext cx="548640" cy="54864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Q4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80160" y="3886200"/>
            <a:ext cx="749807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紹介患者の受け入れ・行き先を差配するのは、誰？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3886200"/>
            <a:ext cx="2743200" cy="54864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◇ 連携の要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4526280"/>
            <a:ext cx="548640" cy="54864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Q5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80160" y="4526280"/>
            <a:ext cx="749807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研究会・講演会など「外の顔」は、誰？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15400" y="4526280"/>
            <a:ext cx="2743200" cy="54864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□ 対外の顔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230368"/>
            <a:ext cx="11109960" cy="100584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5つの答えは同一人物とは限りません。</a:t>
            </a: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「教授＝キーパーソン」と決めつけた瞬間、他の4人が見えなくなります。</a:t>
            </a:r>
          </a:p>
          <a:p>
            <a:pPr algn="l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学会の重鎮（KOL）と、その施設で物事を動かす人（キーパーソン）は別モノ。両方をマップに書き分けましょう。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615184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①　｜　8分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構造マップの描き方 — 例：A大学病院 腎臓内科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6903720" cy="4114800"/>
          </a:xfrm>
          <a:prstGeom prst="roundRect">
            <a:avLst>
              <a:gd name="adj" fmla="val 3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783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院内（腎臓内科）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40" y="2121408"/>
            <a:ext cx="2103120" cy="73152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404" bIns="38404" lIns="54864" rIns="54864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教授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◎ 方針決定・医局人事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154680"/>
            <a:ext cx="2011680" cy="731520"/>
          </a:xfrm>
          <a:prstGeom prst="roundRect">
            <a:avLst>
              <a:gd name="adj" fmla="val 15000"/>
            </a:avLst>
          </a:prstGeom>
          <a:solidFill>
            <a:srgbClr val="FFF6DC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404" bIns="38404" lIns="54864" rIns="54864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医局長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★ 情報ハブ・人事実務
講演／面会の窓口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3154680"/>
            <a:ext cx="201168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404" bIns="38404" lIns="54864" rIns="54864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病棟医長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○ 入院治療の実務リーダー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3154680"/>
            <a:ext cx="201168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404" bIns="38404" lIns="54864" rIns="54864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外来医長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◇ 紹介患者の受付・差配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251960"/>
            <a:ext cx="201168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404" bIns="38404" lIns="54864" rIns="54864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助教（臨床研究）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○ 新規治療の導入役
若手の相談相手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0" y="4251960"/>
            <a:ext cx="201168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404" bIns="38404" lIns="54864" rIns="54864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専攻医・医員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実処方の担い手
数年で関連病院へ異動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49240" y="4251960"/>
            <a:ext cx="201168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404" bIns="38404" lIns="54864" rIns="54864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薬剤部・連携室・秘書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※ 情報の宝庫
DAY2「一人で突破しない」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1874519" y="2852928"/>
            <a:ext cx="1783081" cy="301752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657600" y="2852928"/>
            <a:ext cx="457200" cy="301752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657600" y="2852928"/>
            <a:ext cx="2697480" cy="301752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74519" y="3886200"/>
            <a:ext cx="0" cy="36576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114800" y="3886200"/>
            <a:ext cx="0" cy="36576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355080" y="3886200"/>
            <a:ext cx="0" cy="36576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680960" y="1691640"/>
            <a:ext cx="3977639" cy="4114800"/>
          </a:xfrm>
          <a:prstGeom prst="roundRect">
            <a:avLst>
              <a:gd name="adj" fmla="val 3000"/>
            </a:avLst>
          </a:prstGeom>
          <a:solidFill>
            <a:srgbClr val="EAF0F9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45552" y="1783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院外（エリア）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82127" y="2148840"/>
            <a:ext cx="356616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404" bIns="38404" lIns="54864" rIns="54864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基幹病院B 腎臓内科部長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元・同医局。教授の直系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82127" y="3035808"/>
            <a:ext cx="356616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404" bIns="38404" lIns="54864" rIns="54864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連携病院C・クリニック群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紹介元。逆紹介の受け皿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82127" y="3922776"/>
            <a:ext cx="356616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404" bIns="38404" lIns="54864" rIns="54864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県の研究会・地方会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教授が代表世話人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82127" y="4809744"/>
            <a:ext cx="356616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404" bIns="38404" lIns="54864" rIns="54864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医師会・行政（健診）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早期発見の入口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52360" y="2487168"/>
            <a:ext cx="429767" cy="18288"/>
          </a:xfrm>
          <a:prstGeom prst="line">
            <a:avLst/>
          </a:prstGeom>
          <a:ln w="19050">
            <a:solidFill>
              <a:srgbClr val="1F386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7452360" y="3392424"/>
            <a:ext cx="429767" cy="128016"/>
          </a:xfrm>
          <a:prstGeom prst="line">
            <a:avLst/>
          </a:prstGeom>
          <a:ln w="19050">
            <a:solidFill>
              <a:srgbClr val="1F386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709160" y="2331720"/>
            <a:ext cx="3172967" cy="155448"/>
          </a:xfrm>
          <a:prstGeom prst="line">
            <a:avLst/>
          </a:prstGeom>
          <a:ln w="19050">
            <a:solidFill>
              <a:srgbClr val="1F386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48640" y="5897880"/>
            <a:ext cx="81381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262626"/>
                </a:solidFill>
                <a:latin typeface="Meiryo UI"/>
                <a:ea typeface="Meiryo UI"/>
              </a:rPr>
              <a:t>◎方針決定　○実行・導入　★情報ハブ　◇連携の要　</a:t>
            </a:r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点線＝院外との関係（人事・紹介・研究会）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69680" y="5897880"/>
            <a:ext cx="27889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※ 本例はすべて架空です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852928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MINI WORK ①　｜　3分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担当施設で「まだ分かっていないこと」を3つ書く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7315200" cy="86868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担当する大学（または基幹病院）の診療科を1つ思い浮かべ、先ほどの5つの問いに答えてみてください。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743200"/>
            <a:ext cx="566928" cy="566928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1分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98448" y="2743200"/>
            <a:ext cx="6565392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5つの問いに、頭の中で固有名詞を当ててみる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429000"/>
            <a:ext cx="566928" cy="566928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2分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98448" y="3429000"/>
            <a:ext cx="6565392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答えられなかった問い／自信がない箇所を「？」として3つ書き出す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114800"/>
            <a:ext cx="566928" cy="566928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98448" y="4114800"/>
            <a:ext cx="6565392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その3つが、今日の後半と明日の面会で使う「材料」になります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4632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Meiryo UI"/>
                <a:ea typeface="Meiryo UI"/>
              </a:rPr>
              <a:t>このワークの主役は「？」です。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スラスラ書ける部分は、もう財産。書けない場所こそ、次の面会で聞くべきことリスト。「？」が多い人ほど、収穫の多いワークです。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64592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0817" bIns="140817" lIns="201168" rIns="201168"/>
          <a:lstStyle/>
          <a:p>
            <a:pPr algn="ctr">
              <a:spcAft>
                <a:spcPts val="1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ルール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・スマホ・Veeva Linkは見ない（記憶が実力）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・名前が出なければ「メガネの若い先生」でOK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・医師以外（薬剤部・連携室・秘書）も必ず思い出す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・きれいに書かない。手が止まったら、それが「？」</a:t>
            </a:r>
          </a:p>
          <a:p>
            <a:pPr algn="l">
              <a:lnSpc>
                <a:spcPct val="120000"/>
              </a:lnSpc>
              <a:spcBef>
                <a:spcPts val="1400"/>
              </a:spcBef>
            </a:pPr>
            <a:r>
              <a:rPr sz="1100" b="1" i="0">
                <a:solidFill>
                  <a:srgbClr val="BFE8D2"/>
                </a:solidFill>
                <a:latin typeface="Meiryo UI"/>
                <a:ea typeface="Meiryo UI"/>
              </a:rPr>
              <a:t>＋30分延長の回では、ここで構造マップを実際に描きます（付録Aのテンプレート使用）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その「？」が、最大の不安を解く鍵になります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アンケート最多の不安「継続面会・アポネタ」への答え：ネタは、施設の中にあります。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①「？」は最高のアポネタ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96896"/>
            <a:ext cx="3566160" cy="224028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「先生、○○について教えてください」— 教えを乞う面会は断られにくい。マップの？の数だけ面会理由がある。完全アポ制の施設なら、秘書さん・連携室経由で聞くのも立派な一手。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96596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② 仮説をぶつける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596896"/>
            <a:ext cx="3566160" cy="2240280"/>
          </a:xfrm>
          <a:prstGeom prst="roundRect">
            <a:avLst>
              <a:gd name="adj" fmla="val 8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「私はこう理解していますが、合っていますか？」— 仮説の確認は医師の知的関心をくすぐる、一段上のアポネタ。DAY3の small b は、まさにこれ。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196596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③ 情報を先に贈る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2596896"/>
            <a:ext cx="3566160" cy="224028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学会・地域・連携の情報を先にギブする。「あのMRは持ってくる」と認知されれば、次の面会理由は先生の方からくれるようになる。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047488"/>
            <a:ext cx="1110996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Meiryo UI"/>
                <a:ea typeface="Meiryo UI"/>
              </a:rPr>
              <a:t>「アポネタがない」は、「その施設をまだ分かっていない」の別名。</a:t>
            </a:r>
          </a:p>
          <a:p>
            <a:pPr algn="ctr"/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分かるほど、ネタは無限に湧きます。だから今日の学びは、明日のアポに直結します。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05740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200" b="1" i="0">
                <a:solidFill>
                  <a:srgbClr val="1D7451"/>
                </a:solidFill>
                <a:latin typeface="Meiryo UI"/>
                <a:ea typeface="Meiryo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1874519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FE8D2"/>
                </a:solidFill>
                <a:latin typeface="Meiryo UI"/>
                <a:ea typeface="Meiryo UI"/>
              </a:rPr>
              <a:t>SECTION 02 ｜ 言語化する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63240" y="2331720"/>
            <a:ext cx="85039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00" b="1" i="0">
                <a:solidFill>
                  <a:srgbClr val="FFFFFF"/>
                </a:solidFill>
                <a:latin typeface="Meiryo UI"/>
                <a:ea typeface="Meiryo UI"/>
              </a:rPr>
              <a:t>4つの箱で、戦略を言語化する</a:t>
            </a:r>
          </a:p>
        </p:txBody>
      </p:sp>
      <p:sp>
        <p:nvSpPr>
          <p:cNvPr id="7" name="Oval 6"/>
          <p:cNvSpPr/>
          <p:nvPr/>
        </p:nvSpPr>
        <p:spPr>
          <a:xfrm>
            <a:off x="3108960" y="393192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4005072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事実 → 解釈 → 打ち手：「知っている」を「動ける」に変える</a:t>
            </a:r>
          </a:p>
        </p:txBody>
      </p:sp>
      <p:sp>
        <p:nvSpPr>
          <p:cNvPr id="9" name="Oval 8"/>
          <p:cNvSpPr/>
          <p:nvPr/>
        </p:nvSpPr>
        <p:spPr>
          <a:xfrm>
            <a:off x="3108960" y="464515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718304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４Sシート：成功像・現状/課題・原因・解決策</a:t>
            </a:r>
          </a:p>
        </p:txBody>
      </p:sp>
      <p:sp>
        <p:nvSpPr>
          <p:cNvPr id="11" name="Oval 10"/>
          <p:cNvSpPr/>
          <p:nvPr/>
        </p:nvSpPr>
        <p:spPr>
          <a:xfrm>
            <a:off x="3108960" y="5358383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5431536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書いて終わりにしない。2分で語れる状態まで磨く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615184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②　｜　9分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「知っている」と「動ける」の間 — 事実→解釈→打ち手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100"/>
              </a:spcAft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事実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Meiryo UI"/>
                <a:ea typeface="Meiryo UI"/>
              </a:rPr>
              <a:t>Fact：何を知った？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69663" y="1828800"/>
            <a:ext cx="256032" cy="36576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88536" y="164592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100"/>
              </a:spcAft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解釈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Meiryo UI"/>
                <a:ea typeface="Meiryo UI"/>
              </a:rPr>
              <a:t>So What?：だから何が起きる？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909559" y="1828800"/>
            <a:ext cx="256032" cy="36576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28431" y="164592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100"/>
              </a:spcAft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打ち手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Meiryo UI"/>
                <a:ea typeface="Meiryo UI"/>
              </a:rPr>
              <a:t>Now What?：だから私は何をする？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50592"/>
            <a:ext cx="3566160" cy="2514600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「教授が来年3月で退官予定らしい」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医局長との雑談で得た、たった一言のウェットな情報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2450592"/>
            <a:ext cx="3566160" cy="251460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・後任人事で診療方針が変わり得る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・医局員の玉突き異動が起きる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・関連病院の部長ポストも動く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・研究会の世話人体制が変わる</a:t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B86A00"/>
                </a:solidFill>
                <a:latin typeface="Meiryo UI"/>
                <a:ea typeface="Meiryo UI"/>
              </a:rPr>
              <a:t>→ 1つの事実から、未来が4つ見える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2450592"/>
            <a:ext cx="3611880" cy="2514600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・後任候補（准教授・医局長）との関係を今から築く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・異動しそうな中堅の「行き先」を追う準備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・チーム・上司に共有し、エリア計画に反映</a:t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00000"/>
                </a:solidFill>
                <a:latin typeface="Meiryo UI"/>
                <a:ea typeface="Meiryo UI"/>
              </a:rPr>
              <a:t>→ 半年後、「なぜ君はもう知ってるの？」と言われる側になる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102352"/>
            <a:ext cx="11109960" cy="11430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DAY3の「面会後→次回面会」は、1回の面会を分解して解像度を上げる</a:t>
            </a:r>
            <a:r>
              <a:rPr sz="1350" b="1" i="0">
                <a:solidFill>
                  <a:srgbClr val="1F3864"/>
                </a:solidFill>
                <a:latin typeface="Meiryo UI"/>
                <a:ea typeface="Meiryo UI"/>
              </a:rPr>
              <a:t>ミニ・ループ</a:t>
            </a: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。</a:t>
            </a:r>
          </a:p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今日の４Sシートは、それを</a:t>
            </a:r>
            <a:r>
              <a:rPr sz="1350" b="1" i="0">
                <a:solidFill>
                  <a:srgbClr val="C00000"/>
                </a:solidFill>
                <a:latin typeface="Meiryo UI"/>
                <a:ea typeface="Meiryo UI"/>
              </a:rPr>
              <a:t>施設・エリア規模で回す大きなループ</a:t>
            </a: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です。同じ「なぜ」を、もっと大きな単位で掘ります。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615184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②　｜　9分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４Sシート — 成功像・現状/課題・原因・解決策を1枚で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4208"/>
            <a:ext cx="534924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① 成功像</a:t>
            </a:r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　あるべき姿・ゴール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担当施設・エリアが「こうなっていたら最高」という状態を具体的に書く。ここから書き始めるのが鉄則。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64208"/>
            <a:ext cx="534924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② 現状・課題</a:t>
            </a:r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　理想とのGAP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286000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成功像と現実の差分を書く。「〜できていない」「〜が滞っている」。数字や事実で書けると強い。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840480"/>
            <a:ext cx="5349240" cy="56692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③ 原因</a:t>
            </a:r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　なぜそのGAPがあるのか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462272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課題の裏にある真因。「なぜ？」を3回繰り返して、表面的な理由の奥まで掘る。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349240" cy="566928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④ 解決策</a:t>
            </a:r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　自分は何を打つか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462272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原因を解消する打ち手。講演会・面会・資材・連携…会社の武器と自分の行動を組み合わせる。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61888" y="2331720"/>
            <a:ext cx="201168" cy="274320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wn Arrow 14"/>
          <p:cNvSpPr/>
          <p:nvPr/>
        </p:nvSpPr>
        <p:spPr>
          <a:xfrm rot="2700000">
            <a:off x="5971032" y="3429000"/>
            <a:ext cx="201168" cy="292608"/>
          </a:xfrm>
          <a:prstGeom prst="down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5961888" y="4507992"/>
            <a:ext cx="201168" cy="274320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Up Arrow 16"/>
          <p:cNvSpPr/>
          <p:nvPr/>
        </p:nvSpPr>
        <p:spPr>
          <a:xfrm>
            <a:off x="11631168" y="2395728"/>
            <a:ext cx="219456" cy="2651760"/>
          </a:xfrm>
          <a:prstGeom prst="up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5669280"/>
            <a:ext cx="1110996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書く順番：①成功像 → ②現状・課題 → ③原因 → ④解決策。</a:t>
            </a: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　現状から書くと「愚痴のリスト」、理想から書くと「戦略」になります。</a:t>
            </a:r>
          </a:p>
          <a:p>
            <a:pPr algn="l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仕上げの確認：④→①へ戻り「この打ち手で、成功像に本当に近づくか？」をチェック — これで４Sが1周閉じます。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615184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②　｜　9分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記入例：腎臓内科 × エリア連携（架空の例）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① 成功像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5486400" cy="132588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エリアの連携病院・クリニックから、専門治療が必要な患者さんが適切なタイミングで大学に紹介され、安定した患者さんは地域に逆紹介される「双方向の流れ」ができている。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45920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② 現状・課題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194560"/>
            <a:ext cx="5486400" cy="1325880"/>
          </a:xfrm>
          <a:prstGeom prst="roundRect">
            <a:avLst>
              <a:gd name="adj" fmla="val 8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紹介はあるが、かなり進行してからの紹介が中心。逆紹介も滞りがちで大学外来がパンク気味。連携の「入口」も「出口」も詰まっている。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703320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③ 原因（なぜ×3）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251959"/>
            <a:ext cx="5486400" cy="132588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なぜ遅い？→紹介の目安が浸透していない →なぜ？→大学と地域の医師が診療科レベルで顔見知りでない →なぜ？→合同で話す「場」がここ数年ない。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03320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④ 解決策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251959"/>
            <a:ext cx="5486400" cy="1325880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教授（対外の顔）×連携病院の先生方による地域連携の場を企画し、紹介・逆紹介の目安を共有。医局長（情報ハブ）を実務窓口に、連携室と共催で設計する。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577840"/>
            <a:ext cx="11109960" cy="82296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 i="0">
                <a:solidFill>
                  <a:srgbClr val="C00000"/>
                </a:solidFill>
                <a:latin typeface="Meiryo UI"/>
                <a:ea typeface="Meiryo UI"/>
              </a:rPr>
              <a:t>注目：</a:t>
            </a: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「講演会をやろう」が先にあるのではありません。成功像→課題→原因と掘った結果、手段として会が出てくる。この順番が説得力の正体です。</a:t>
            </a:r>
          </a:p>
          <a:p>
            <a:pPr algn="l"/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最後に④→①の確認：「この会で紹介の目安が共有されれば、双方向の流れに近づくか？」→ Yesなら実行。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615184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②　｜　9分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「良い４S」と「惜しい４S」— 3つのチェックポイント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4208"/>
            <a:ext cx="1325880" cy="13716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CHECK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84248" y="1664208"/>
            <a:ext cx="4663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課題は「ギャップ」で書けているか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「〜できていない」単体は感想。成功像とセットで初めて課題になる。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664208"/>
            <a:ext cx="4892040" cy="137160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△ 先生に会えていない</a:t>
            </a:r>
          </a:p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○ 成功像は月2回の情報交換。現状は月0回、面会は挨拶のみ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45536"/>
            <a:ext cx="1325880" cy="13716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CHECK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84248" y="3145536"/>
            <a:ext cx="4663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原因は「なぜ」を3回掘ったか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1回目の「なぜ」は大抵、環境のせい。3回掘ると自分の打ち手が見える。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3145536"/>
            <a:ext cx="4892040" cy="137160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△ 先生が忙しいから</a:t>
            </a:r>
          </a:p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○ 忙しい中でも会う医師はいる → 優先されない → 会う価値を提示できていない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626864"/>
            <a:ext cx="1325880" cy="13716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CHECK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84248" y="4626864"/>
            <a:ext cx="4663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解決策は「自分が動ける」ことか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主語が自分でない解決策は実行されない。明日の自分の行動で書く。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4626864"/>
            <a:ext cx="4892040" cy="137160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△ 本社が資材を作るべき</a:t>
            </a:r>
          </a:p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○ 私が医局長に○○の相談をし、△△を企画する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44768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△＝惜しい例　○＝直した例。グループワークの後、この3つでご自分のシートをセルフチェックしてください。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852928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GROUP WORK　｜　20分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自分の担当施設・エリアで「４Sシート」を書く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7360920" cy="73152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ミニワーク①で書いた「？」と、DAY3までに集めた情報を総動員して、４Sシートを1枚書き切ります。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14600"/>
            <a:ext cx="2377440" cy="6858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個人ワーク　8分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514600"/>
            <a:ext cx="489204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①成功像（2分）→ ②現状・課題（2分）→ ③原因（2分）→ ④解決策（2分）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19272"/>
            <a:ext cx="2377440" cy="685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グループ共有　12分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17520" y="3319272"/>
            <a:ext cx="489204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3〜4人1組。1人3分（発表2分＋フィードバック1分）で全員が話す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60520"/>
            <a:ext cx="7360920" cy="1051560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発表はシートを見ずに、この型で：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「私の施設は本当は◯◯になれるはずです（成功像）。でも今は△△（課題）。原因は□□。だから私は◇◇をやります（解決策）」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49240"/>
            <a:ext cx="7360920" cy="91440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C00000"/>
                </a:solidFill>
                <a:latin typeface="Meiryo UI"/>
                <a:ea typeface="Meiryo UI"/>
              </a:rPr>
              <a:t>合言葉：完璧より仮説。60点で書き切る。</a:t>
            </a:r>
          </a:p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空欄はミニワークの「？」と同じ、次の宿題です。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627632"/>
            <a:ext cx="3520440" cy="4636008"/>
          </a:xfrm>
          <a:prstGeom prst="roundRect">
            <a:avLst>
              <a:gd name="adj" fmla="val 6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ctr">
              <a:spcAft>
                <a:spcPts val="1200"/>
              </a:spcAft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困ったときのヒント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・成功像が出ない → 「上司に自慢したい状態」を想像する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・課題が出ない → 詰まっている流れ（紹介・面会・採用）を探す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・原因が浅い → 「それでも動く人がいるのはなぜ？」と自問する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・解決策が出ない → キーパーソン（◎○★◇）を1人選び、その人と何をするかを考える</a:t>
            </a:r>
          </a:p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BFE8D2"/>
                </a:solidFill>
                <a:latin typeface="Meiryo UI"/>
                <a:ea typeface="Meiryo UI"/>
              </a:rPr>
              <a:t>聞き手の質問はこの2つだけ：
❶その原因、本当に真因ですか？
❷その解決策、あなたにしかできない要素は？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４Sシート（記入用）— 手元の紙に、この4つの箱を書いてください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109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施設・エリア名（　　　　　　　　　　）　　　　作成日（　　／　　）　　　　作成者（　　　　　　　　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① 成功像　—　1年後、こうなっていたら最高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23160"/>
            <a:ext cx="54864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/>
            <a:r>
              <a:rPr sz="1050" b="0" i="0">
                <a:solidFill>
                  <a:srgbClr val="D9D9D9"/>
                </a:solidFill>
                <a:latin typeface="Meiryo UI"/>
                <a:ea typeface="Meiryo UI"/>
              </a:rPr>
              <a:t>（例）エリアの連携病院から、適切なタイミングで紹介が来ている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74519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② 現状・課題　—　成功像とのGAP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423160"/>
            <a:ext cx="54864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/>
            <a:r>
              <a:rPr sz="1050" b="0" i="0">
                <a:solidFill>
                  <a:srgbClr val="D9D9D9"/>
                </a:solidFill>
                <a:latin typeface="Meiryo UI"/>
                <a:ea typeface="Meiryo UI"/>
              </a:rPr>
              <a:t>（例）紹介は月1件。しかもかなり進行してから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77639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③ 原因　—　なぜ？を3回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6279"/>
            <a:ext cx="54864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/>
            <a:r>
              <a:rPr sz="1050" b="0" i="0">
                <a:solidFill>
                  <a:srgbClr val="D9D9D9"/>
                </a:solidFill>
                <a:latin typeface="Meiryo UI"/>
                <a:ea typeface="Meiryo UI"/>
              </a:rPr>
              <a:t>（例）なぜ①→なぜ②→なぜ③（真因）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977639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④ 解決策　—　主語は自分。誰に・何を・いつ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526279"/>
            <a:ext cx="54864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/>
            <a:r>
              <a:rPr sz="1050" b="0" i="0">
                <a:solidFill>
                  <a:srgbClr val="D9D9D9"/>
                </a:solidFill>
                <a:latin typeface="Meiryo UI"/>
                <a:ea typeface="Meiryo UI"/>
              </a:rPr>
              <a:t>（例）私が医局長に相談し、連携室と共催で◯◯を企画する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6035040"/>
            <a:ext cx="11109960" cy="438912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セルフチェック：　□ 課題はギャップで書けている　　□ 原因は「なぜ」を3回　　□ 解決策の主語は自分　　□ ④→①で成功像に近づく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05740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200" b="1" i="0">
                <a:solidFill>
                  <a:srgbClr val="1D7451"/>
                </a:solidFill>
                <a:latin typeface="Meiryo UI"/>
                <a:ea typeface="Meiryo U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1874519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FE8D2"/>
                </a:solidFill>
                <a:latin typeface="Meiryo UI"/>
                <a:ea typeface="Meiryo UI"/>
              </a:rPr>
              <a:t>SECTION 03 ｜ 繋げる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63240" y="2331720"/>
            <a:ext cx="85039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00" b="1" i="0">
                <a:solidFill>
                  <a:srgbClr val="FFFFFF"/>
                </a:solidFill>
                <a:latin typeface="Meiryo UI"/>
                <a:ea typeface="Meiryo UI"/>
              </a:rPr>
              <a:t>大学から、エリアへ</a:t>
            </a:r>
          </a:p>
        </p:txBody>
      </p:sp>
      <p:sp>
        <p:nvSpPr>
          <p:cNvPr id="7" name="Oval 6"/>
          <p:cNvSpPr/>
          <p:nvPr/>
        </p:nvSpPr>
        <p:spPr>
          <a:xfrm>
            <a:off x="3108960" y="393192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4005072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大学は医師・患者・情報という3つの流れの源流</a:t>
            </a:r>
          </a:p>
        </p:txBody>
      </p:sp>
      <p:sp>
        <p:nvSpPr>
          <p:cNvPr id="9" name="Oval 8"/>
          <p:cNvSpPr/>
          <p:nvPr/>
        </p:nvSpPr>
        <p:spPr>
          <a:xfrm>
            <a:off x="3108960" y="464515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718304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全部は回れない — 優先順位は3つのモノサシで決める</a:t>
            </a:r>
          </a:p>
        </p:txBody>
      </p:sp>
      <p:sp>
        <p:nvSpPr>
          <p:cNvPr id="11" name="Oval 10"/>
          <p:cNvSpPr/>
          <p:nvPr/>
        </p:nvSpPr>
        <p:spPr>
          <a:xfrm>
            <a:off x="3108960" y="5358383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5431536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エリアストーリーを、30秒で語れるようにする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TIPS　｜　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大学は「エリアのハブ」— ４Sをエリア戦略へ広げる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大学が分かると、なぜエリア全体が見えるのか。大学には3つの「流れ」の源流があるからです。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医師の流れ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医局人事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07208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関連病院の部長・医長は元医局員。大学の人事が動けば、エリアの処方方針も動く。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96596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患者の流れ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紹介・逆紹介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807208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重症例は大学へ、安定例は地域へ。この動線が分かれば「どの施設に何を届けるか」が決まる。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196596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情報の流れ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研究会・講演会・治療方針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2807208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大学発の治療方針は、時間差でエリアに広がる。源流を知る人は先回りできる。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72000"/>
            <a:ext cx="11109960" cy="1234440"/>
          </a:xfrm>
          <a:prstGeom prst="roundRect">
            <a:avLst>
              <a:gd name="adj" fmla="val 8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エリアストーリーの型（この1文で語れれば合格）</a:t>
            </a:r>
          </a:p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「大学で </a:t>
            </a: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〇〇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 が分かった。だからエリアでは </a:t>
            </a: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△△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 が起きるはず。だから私は </a:t>
            </a: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□□（施設）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 から </a:t>
            </a: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◇◇（行動）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 を始める」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43600"/>
            <a:ext cx="11109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595959"/>
                </a:solidFill>
                <a:latin typeface="Meiryo UI"/>
                <a:ea typeface="Meiryo UI"/>
              </a:rPr>
              <a:t>DAY3の事例は、まさにこの型でした：大学の指針を可視化 → 医療圏に波及するはず → だから教授に呼びかけをお願いする。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TIPS　｜　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全部は回れない — エリアの優先順位「3つのモノサシ」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期待の声「県全体の攻略」「優先順位付け」への答え：施設を3つのモノサシで採点し、攻める順番を決めます。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38528"/>
            <a:ext cx="3566160" cy="53035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モノサシ①　</a:t>
            </a: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医局の繋がりの太さ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32888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9611" bIns="89611" lIns="128016" rIns="128016"/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元医局員がいるか。人事で人が動く先か。大学の方針が波及しやすい施設ほど高得点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938528"/>
            <a:ext cx="3566160" cy="530352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モノサシ②　</a:t>
            </a: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患者の流れの量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532888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9611" bIns="89611" lIns="128016" rIns="128016"/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紹介・逆紹介がどれだけ行き来しているか。流れが太い施設は、変化の影響も大きい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1938528"/>
            <a:ext cx="3566160" cy="530352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モノサシ③　</a:t>
            </a: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動かせる度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2532888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9611" bIns="89611" lIns="128016" rIns="128016"/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会えるか。キーパーソンと関係があるか。どんな好条件も、動かせなければ絵に描いた餅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03320"/>
            <a:ext cx="3383280" cy="475488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施設（例）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59352" y="3703320"/>
            <a:ext cx="1188720" cy="475488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繋がり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75504" y="3703320"/>
            <a:ext cx="1371600" cy="475488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患者の流れ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74536" y="3703320"/>
            <a:ext cx="1371600" cy="475488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動かせる度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568" y="3703320"/>
            <a:ext cx="3566160" cy="475488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打ち方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8"/>
            <a:ext cx="338328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l"/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基幹病院B（部長が元医局員）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59352" y="4224528"/>
            <a:ext cx="118872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◎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75504" y="4224528"/>
            <a:ext cx="137160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74536" y="4224528"/>
            <a:ext cx="137160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4224528"/>
            <a:ext cx="356616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l"/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最優先：足で通う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745736"/>
            <a:ext cx="338328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l"/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連携クリニック群C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59352" y="4745736"/>
            <a:ext cx="118872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75504" y="4745736"/>
            <a:ext cx="137160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◎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4745736"/>
            <a:ext cx="137160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△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73568" y="4745736"/>
            <a:ext cx="356616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l"/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連携室・会で「面」として攻める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266944"/>
            <a:ext cx="338328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l"/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遠方のD病院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59352" y="5266944"/>
            <a:ext cx="118872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△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75504" y="5266944"/>
            <a:ext cx="137160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△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74536" y="5266944"/>
            <a:ext cx="137160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73568" y="5266944"/>
            <a:ext cx="356616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l"/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情報収集のみ（今は攻めない）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852160"/>
            <a:ext cx="11109960" cy="548640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「頑張って会いに行く施設」と「情報だけ取る施設」を分けるのが戦略。</a:t>
            </a:r>
            <a:r>
              <a:rPr sz="1300" b="1" i="0">
                <a:solidFill>
                  <a:srgbClr val="C00000"/>
                </a:solidFill>
                <a:latin typeface="Meiryo UI"/>
                <a:ea typeface="Meiryo UI"/>
              </a:rPr>
              <a:t>　県攻略は、捨てる勇気から始まります。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258568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ACTION　｜　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行動宣言 — 明日からの一手を、1人1行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109960" cy="105156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262626"/>
                </a:solidFill>
                <a:latin typeface="Meiryo UI"/>
                <a:ea typeface="Meiryo UI"/>
              </a:rPr>
              <a:t>今日つくった４Sシートから</a:t>
            </a:r>
            <a:r>
              <a:rPr sz="1700" b="1" i="0">
                <a:solidFill>
                  <a:srgbClr val="C00000"/>
                </a:solidFill>
                <a:latin typeface="Meiryo UI"/>
                <a:ea typeface="Meiryo UI"/>
              </a:rPr>
              <a:t>「明日やること」を1つだけ</a:t>
            </a:r>
            <a:r>
              <a:rPr sz="1700" b="1" i="0">
                <a:solidFill>
                  <a:srgbClr val="262626"/>
                </a:solidFill>
                <a:latin typeface="Meiryo UI"/>
                <a:ea typeface="Meiryo UI"/>
              </a:rPr>
              <a:t>選び、チャットに投稿してください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Meiryo UI"/>
                <a:ea typeface="Meiryo UI"/>
              </a:rPr>
              <a:t>宣言した瞬間、研修は「聞いた話」から「自分の計画」に変わります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971800"/>
            <a:ext cx="2286000" cy="658368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書き方の例①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2971800"/>
            <a:ext cx="873252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「A大学の医局長に、外来体制について教えてくださいとアポを取る」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49039"/>
            <a:ext cx="2286000" cy="658368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書き方の例②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3749039"/>
            <a:ext cx="873252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「B病院部長が元医局員か、来週の面会で確認する」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26279"/>
            <a:ext cx="2286000" cy="658368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書き方の例③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4526279"/>
            <a:ext cx="873252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「４Sシートを上司に見せて、原因が真因かFBをもらう」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94960"/>
            <a:ext cx="11109960" cy="96012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500"/>
              </a:spcAft>
            </a:pPr>
            <a:r>
              <a:rPr sz="1450" b="1" i="0">
                <a:solidFill>
                  <a:srgbClr val="C00000"/>
                </a:solidFill>
                <a:latin typeface="Meiryo UI"/>
                <a:ea typeface="Meiryo UI"/>
              </a:rPr>
              <a:t>コツは「電話1本サイズ」に割ること。</a:t>
            </a: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　最初の一歩が小さいほど、実行されます。</a:t>
            </a:r>
          </a:p>
          <a:p>
            <a:pPr algn="ctr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投稿された宣言は「全国気づきリスト」の第1号コンテンツとして、全員に共有します。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FE8D2"/>
                </a:solidFill>
                <a:latin typeface="Meiryo UI"/>
                <a:ea typeface="Meiryo UI"/>
              </a:rPr>
              <a:t>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Meiryo UI"/>
                <a:ea typeface="Meiryo UI"/>
              </a:rPr>
              <a:t>ちょっと分かるだけで、世界が変わる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57400"/>
            <a:ext cx="1508760" cy="841248"/>
          </a:xfrm>
          <a:prstGeom prst="roundRect">
            <a:avLst>
              <a:gd name="adj" fmla="val 1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0B4F37"/>
                </a:solidFill>
                <a:latin typeface="Meiryo UI"/>
                <a:ea typeface="Meiryo UI"/>
              </a:rPr>
              <a:t>整理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4600" y="2057400"/>
            <a:ext cx="8823960" cy="841248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Meiryo UI"/>
                <a:ea typeface="Meiryo UI"/>
              </a:rPr>
              <a:t>情報は「構造（人・役割・関係性）」で整理した瞬間、武器になる。書けない場所＝次に聞くこと。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044952"/>
            <a:ext cx="1508760" cy="841248"/>
          </a:xfrm>
          <a:prstGeom prst="roundRect">
            <a:avLst>
              <a:gd name="adj" fmla="val 1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0B4F37"/>
                </a:solidFill>
                <a:latin typeface="Meiryo UI"/>
                <a:ea typeface="Meiryo UI"/>
              </a:rPr>
              <a:t>言語化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4600" y="3044952"/>
            <a:ext cx="8823960" cy="841248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Meiryo UI"/>
                <a:ea typeface="Meiryo UI"/>
              </a:rPr>
              <a:t>成功像・現状/課題・原因・解決策。４Sシートに書けば、戦略を1枚で・2分で語れる。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032504"/>
            <a:ext cx="1508760" cy="841248"/>
          </a:xfrm>
          <a:prstGeom prst="roundRect">
            <a:avLst>
              <a:gd name="adj" fmla="val 1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0B4F37"/>
                </a:solidFill>
                <a:latin typeface="Meiryo UI"/>
                <a:ea typeface="Meiryo UI"/>
              </a:rPr>
              <a:t>拡張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14600" y="4032504"/>
            <a:ext cx="8823960" cy="841248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Meiryo UI"/>
                <a:ea typeface="Meiryo UI"/>
              </a:rPr>
              <a:t>大学は医師・患者・情報の流れの源流。大学が分かれば、エリアの打ち手が先回りできる。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120640"/>
            <a:ext cx="10515600" cy="1234440"/>
          </a:xfrm>
          <a:prstGeom prst="roundRect">
            <a:avLst>
              <a:gd name="adj" fmla="val 8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500"/>
              </a:spcAft>
            </a:pPr>
            <a:r>
              <a:rPr sz="1450" b="1" i="0">
                <a:solidFill>
                  <a:srgbClr val="FFC000"/>
                </a:solidFill>
                <a:latin typeface="Meiryo UI"/>
                <a:ea typeface="Meiryo UI"/>
              </a:rPr>
              <a:t>4回シリーズを通じたゴール：担当者としての「自覚」</a:t>
            </a:r>
          </a:p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Meiryo UI"/>
                <a:ea typeface="Meiryo UI"/>
              </a:rPr>
              <a:t>イロハを知り（DAY1）、会えるようになり（DAY2）、情報をつかみ（DAY3）、今日、それを戦略に変えました。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「この施設とこのエリアのことは、社内の誰よりも私が分かっている」— そう言える担当者になりましょう。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56232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NEXT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研修を「成果」に変える3つのステップ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828800" cy="11887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今週中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87168" y="1691640"/>
            <a:ext cx="917143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「？」を1つ埋める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ミニワークで書いた「？」から1つ選び、次の面会・電話で確認する。医師以外（連携室・薬剤部・秘書）に聞くのも立派な一手。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44952"/>
            <a:ext cx="1828800" cy="11887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2週間以内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87168" y="3044952"/>
            <a:ext cx="917143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４Sを上司・チームに見せる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自分の４Sシートを上司または同僚1人に見せ、「原因は真因か？」のフィードバックを1つもらう。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1828800" cy="118872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1ヶ月以内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87168" y="4398264"/>
            <a:ext cx="917143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解決策を1つ実行する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４Sシートの解決策から1つを実行に移す。結果はどうあれ「４Sを回した」経験が財産になる。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760720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情報のメンテナンスを習慣に：</a:t>
            </a: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病院HP・Veeva Link・スマイルPJ等での更新チェックを定例化。構造マップと４Sは「生き物」、四半期に1回は書き直す。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今日の気づきを「全国62名の財産」にする — 気づきリスト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STEP 1｜今日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1783080"/>
            <a:ext cx="63550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8813" bIns="108813" lIns="155448" rIns="155448"/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行動宣言と一緒に、「一番の気づき」を1行チャットへ。小さな気づきほど歓迎</a:t>
            </a:r>
          </a:p>
        </p:txBody>
      </p:sp>
      <p:sp>
        <p:nvSpPr>
          <p:cNvPr id="8" name="Down Arrow 7"/>
          <p:cNvSpPr/>
          <p:nvPr/>
        </p:nvSpPr>
        <p:spPr>
          <a:xfrm>
            <a:off x="1572768" y="2697480"/>
            <a:ext cx="292608" cy="237744"/>
          </a:xfrm>
          <a:prstGeom prst="down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99923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STEP 2｜今週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2999232"/>
            <a:ext cx="63550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8813" bIns="108813" lIns="155448" rIns="155448"/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事務局が「全国気づきリスト」として集約し、VTR・資料とあわせて全員（欠席者含む）へ共有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572768" y="3913632"/>
            <a:ext cx="292608" cy="237744"/>
          </a:xfrm>
          <a:prstGeom prst="down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215384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STEP 3｜明日から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4215384"/>
            <a:ext cx="63550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8813" bIns="108813" lIns="155448" rIns="155448"/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現場でうまくいった工夫・事例を随時追加。使ってみた人は「やってみた結果」も書き戻す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55480" y="1783080"/>
            <a:ext cx="2103120" cy="3300984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FFC000"/>
                </a:solidFill>
                <a:latin typeface="Meiryo UI"/>
                <a:ea typeface="Meiryo UI"/>
              </a:rPr>
              <a:t>62名</a:t>
            </a:r>
          </a:p>
          <a:p>
            <a:pPr algn="ctr">
              <a:lnSpc>
                <a:spcPct val="130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の現場知が
1枚に集まれば、
どんな研修より
強い教材になる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394960"/>
            <a:ext cx="11109960" cy="96012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アンケートで圧倒的1位の期待は「他メンバーの事例・考え方」、5位は「全国の横のつながり」でした。</a:t>
            </a:r>
          </a:p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勉強会は今日が最終回。でも、</a:t>
            </a:r>
            <a:r>
              <a:rPr sz="1300" b="1" i="0">
                <a:solidFill>
                  <a:srgbClr val="C00000"/>
                </a:solidFill>
                <a:latin typeface="Meiryo UI"/>
                <a:ea typeface="Meiryo UI"/>
              </a:rPr>
              <a:t>ネットワークは今日が初回です。</a:t>
            </a: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困ったときに相談できる仲間が、全国に61人います。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GIFT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明日から真似できる「大学担当 7つの習慣」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548640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B86A00"/>
                </a:solidFill>
                <a:latin typeface="Meiryo UI"/>
                <a:ea typeface="Meiryo UI"/>
              </a:rPr>
              <a:t>① 面会後5分メモ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ウェットな情報は3時間で蒸発する。廊下を出たらその場でメモ。誰が・何を・どんな表情で、まで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27632"/>
            <a:ext cx="548640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B86A00"/>
                </a:solidFill>
                <a:latin typeface="Meiryo UI"/>
                <a:ea typeface="Meiryo UI"/>
              </a:rPr>
              <a:t>② 週1回のHP巡回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外来表・医局員一覧・行事案内の更新は、異動や方針転換の予兆。変化に最初に気づく人になる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88336"/>
            <a:ext cx="548640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B86A00"/>
                </a:solidFill>
                <a:latin typeface="Meiryo UI"/>
                <a:ea typeface="Meiryo UI"/>
              </a:rPr>
              <a:t>③ 秘書さん・連携室に名前を覚えてもらう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面会の成否の3割は「取り次ぎ」で決まる。医師の手前にいる人こそ丁寧に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688336"/>
            <a:ext cx="548640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B86A00"/>
                </a:solidFill>
                <a:latin typeface="Meiryo UI"/>
                <a:ea typeface="Meiryo UI"/>
              </a:rPr>
              <a:t>④ 質問を1つ持って行く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用件がない日ほど「教えてください」が効く。教育的な質問は先生との関係を深める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749039"/>
            <a:ext cx="548640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B86A00"/>
                </a:solidFill>
                <a:latin typeface="Meiryo UI"/>
                <a:ea typeface="Meiryo UI"/>
              </a:rPr>
              <a:t>⑤ 4月と10月は種まき月間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人事異動の直後は、新任の先生も情報を欲しがっている。関係構築のゴールデンタイム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749039"/>
            <a:ext cx="548640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B86A00"/>
                </a:solidFill>
                <a:latin typeface="Meiryo UI"/>
                <a:ea typeface="Meiryo UI"/>
              </a:rPr>
              <a:t>⑥ 若手・専攻医こそ丁寧に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3年後、エリアの関連病院で「あの時のMRさん」として再会する。未来への先行投資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09744"/>
            <a:ext cx="548640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B86A00"/>
                </a:solidFill>
                <a:latin typeface="Meiryo UI"/>
                <a:ea typeface="Meiryo UI"/>
              </a:rPr>
              <a:t>⑦ 情報は先に差し出す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学会・地域・連携の情報を先にギブする。情報は、出す人のところに集まってくる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809744"/>
            <a:ext cx="5486400" cy="950976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どれも特別な才能は要りません。</a:t>
            </a:r>
          </a:p>
          <a:p>
            <a:pPr algn="ctr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1つでも習慣になれば、今日の60分の元は取れます。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26480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※ 時間が押した場合は持ち帰り用。次の1週間で「まず1つ」選んで試してみてください。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GIFT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視点が変わる「なるほど」6選 — 活動に取り入れてほしい見方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566160" cy="310896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 UI"/>
                <a:ea typeface="Meiryo UI"/>
              </a:rPr>
              <a:t>なるほど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39112"/>
            <a:ext cx="3566160" cy="16276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「会えない日」は「観察日」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面会ゼロでも収穫はある。外来表・掲示板・待合の混み具合・医局前の空気が施設を語っている。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691640"/>
            <a:ext cx="3566160" cy="310896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 UI"/>
                <a:ea typeface="Meiryo UI"/>
              </a:rPr>
              <a:t>なるほど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039112"/>
            <a:ext cx="3566160" cy="16276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医師の後ろに「流れ」を見る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目の前の1人は、人事・患者・情報という3つの流れの結節点。1人の言葉からエリアが読める。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691640"/>
            <a:ext cx="3566160" cy="310896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 UI"/>
                <a:ea typeface="Meiryo UI"/>
              </a:rPr>
              <a:t>なるほど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039112"/>
            <a:ext cx="3566160" cy="16276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大学1施設＝エリア10施設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大学での30分は、関連病院10軒分の価値になり得る。だから大学担当は「割に合う」仕事。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94760"/>
            <a:ext cx="3566160" cy="310896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 UI"/>
                <a:ea typeface="Meiryo UI"/>
              </a:rPr>
              <a:t>なるほど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42232"/>
            <a:ext cx="3566160" cy="16276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「知らない」と言えるのは強さ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分からないことを「？」として言語化できた人から成長する。曖昧なままが一番怖い。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8536" y="3794760"/>
            <a:ext cx="3566160" cy="310896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 UI"/>
                <a:ea typeface="Meiryo UI"/>
              </a:rPr>
              <a:t>なるほど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8536" y="4142232"/>
            <a:ext cx="3566160" cy="16276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会場では「誰と誰が話すか」を見る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講演会・研究会は構造マップの答え合わせの場。演題より人の繋がりに注目する。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1" y="3794760"/>
            <a:ext cx="3566160" cy="310896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 UI"/>
                <a:ea typeface="Meiryo UI"/>
              </a:rPr>
              <a:t>なるほど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4142232"/>
            <a:ext cx="3566160" cy="16276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記録は「未来の自分」への申し送り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構造マップと４Sは、担当が変わっても戦える資産。引き継ぎ資料としても最強。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97880"/>
            <a:ext cx="11109960" cy="45720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共通点：どれも「追加の時間」はほぼゼロ。</a:t>
            </a: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　変えるのは行動量ではなく、ものの見方です。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GIFT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４Sシートを完璧に仕上げる「8つのコツ」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書くときの4つ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27632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磨くときの4つ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548640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1．成功像は「日付＋固有名詞＋状態」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「1年後、B病院から早期の紹介が月5件ある」— 曖昧な理想は測れず、測れないものは達成できない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63824"/>
            <a:ext cx="548640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2．主役は患者さんと医療の姿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自社都合の成功像は医師に見せられない。医療の姿で書けば、そのまま先生と共有できる４Sになる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133087"/>
            <a:ext cx="548640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3．課題は数字とセット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「少ない」ではなく「月1件」。数字で書けない課題は、現状把握がまだ足りないサイン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102352"/>
            <a:ext cx="548640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4．原因は「人・関係性・場・情報」の4方向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この4分類で探すと漏れがない。大抵の真因は「場がない」「関係が診療科レベルでない」に潜む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194560"/>
            <a:ext cx="548640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5．3回目の「なぜ」は自分に向ける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環境のせいで終わらせず「自分に何が足りない？」まで掘る。そこから先だけが自分で変えられる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163824"/>
            <a:ext cx="548640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6．解決策は「電話1本サイズ」に割る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最初の一歩が小さいほど実行される。「連携室に共催の前例を1本聞く」から始まる戦略もある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133087"/>
            <a:ext cx="548640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7．2分で語れるかテスト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シートを見ずに語れない箇所＝考え切れていない箇所。語る練習が最高の推敲になる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5102352"/>
            <a:ext cx="548640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8．四半期に1回、書き直す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４Sは提出物ではなく「生きた作戦板」。情報が更新されたら書き換えるから武器であり続ける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08192"/>
            <a:ext cx="11109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595959"/>
                </a:solidFill>
                <a:latin typeface="Meiryo UI"/>
                <a:ea typeface="Meiryo UI"/>
              </a:rPr>
              <a:t>グループワークでは1〜4を、宿題（2週間以内の上司共有）では5〜8を意識してみてください。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GIFT 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大学担当がやりがちな3つの失敗と処方箋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どれも「頑張っている人」ほど陥る罠。先に知っておけば、数年分ショートカットできます。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4846320" cy="1207008"/>
          </a:xfrm>
          <a:prstGeom prst="roundRect">
            <a:avLst>
              <a:gd name="adj" fmla="val 10000"/>
            </a:avLst>
          </a:prstGeom>
          <a:solidFill>
            <a:srgbClr val="FBECEC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00000"/>
                </a:solidFill>
                <a:latin typeface="Meiryo UI"/>
                <a:ea typeface="Meiryo UI"/>
              </a:rPr>
              <a:t>失敗①　教授にだけ通う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「教授に会えている＝担当できている」という錯覚。教授は多忙で、現場の情報はむしろ薄い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04688" y="2368296"/>
            <a:ext cx="411480" cy="384048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40" y="1965960"/>
            <a:ext cx="5623560" cy="120700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28A54"/>
                </a:solidFill>
                <a:latin typeface="Meiryo UI"/>
                <a:ea typeface="Meiryo UI"/>
              </a:rPr>
              <a:t>処方箋</a:t>
            </a:r>
          </a:p>
          <a:p>
            <a:pPr algn="l">
              <a:lnSpc>
                <a:spcPct val="122000"/>
              </a:lnSpc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医局長・若手・コメディカルまで「面」で通う。構造マップの◎○★◇を巡回ルートにする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19272"/>
            <a:ext cx="4846320" cy="1207008"/>
          </a:xfrm>
          <a:prstGeom prst="roundRect">
            <a:avLst>
              <a:gd name="adj" fmla="val 10000"/>
            </a:avLst>
          </a:prstGeom>
          <a:solidFill>
            <a:srgbClr val="FBECEC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00000"/>
                </a:solidFill>
                <a:latin typeface="Meiryo UI"/>
                <a:ea typeface="Meiryo UI"/>
              </a:rPr>
              <a:t>失敗②　集めて満足する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手帳は情報でいっぱい、でも行動はゼロ。「情報通のMR」で止まってしまう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504688" y="3721608"/>
            <a:ext cx="411480" cy="384048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35040" y="3319272"/>
            <a:ext cx="5623560" cy="120700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28A54"/>
                </a:solidFill>
                <a:latin typeface="Meiryo UI"/>
                <a:ea typeface="Meiryo UI"/>
              </a:rPr>
              <a:t>処方箋</a:t>
            </a:r>
          </a:p>
          <a:p>
            <a:pPr algn="l">
              <a:lnSpc>
                <a:spcPct val="122000"/>
              </a:lnSpc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情報を得た日は「So What?（だから何）」を1行書き足す。書けない情報は、まだ活かせていない情報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672583"/>
            <a:ext cx="4846320" cy="1207008"/>
          </a:xfrm>
          <a:prstGeom prst="roundRect">
            <a:avLst>
              <a:gd name="adj" fmla="val 10000"/>
            </a:avLst>
          </a:prstGeom>
          <a:solidFill>
            <a:srgbClr val="FBECEC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00000"/>
                </a:solidFill>
                <a:latin typeface="Meiryo UI"/>
                <a:ea typeface="Meiryo UI"/>
              </a:rPr>
              <a:t>失敗③　講演会が目的化する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「開催すること」がゴールになり、成功像が消える。終わった後に何も変わらない会になる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504688" y="5074919"/>
            <a:ext cx="411480" cy="384048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0" y="4672583"/>
            <a:ext cx="5623560" cy="120700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28A54"/>
                </a:solidFill>
                <a:latin typeface="Meiryo UI"/>
                <a:ea typeface="Meiryo UI"/>
              </a:rPr>
              <a:t>処方箋</a:t>
            </a:r>
          </a:p>
          <a:p>
            <a:pPr algn="l">
              <a:lnSpc>
                <a:spcPct val="122000"/>
              </a:lnSpc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４Sの④→①確認を使う：「この会で成功像に近づくか？」にYesと言えない企画は、やり直す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035040"/>
            <a:ext cx="11109960" cy="411480"/>
          </a:xfrm>
          <a:prstGeom prst="roundRect">
            <a:avLst>
              <a:gd name="adj" fmla="val 15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失敗は恥ではなく教材。今日の４Sシートには、この3つの「防止装置」がすでに組み込まれています。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GIFT 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４S習熟度セルフチェック — 自分は今どのレベル？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461772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9611" bIns="89611" lIns="128016" rIns="128016"/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LEVEL 1</a:t>
            </a:r>
          </a:p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埋められる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4つの箱を自分の言葉で書き切れる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95959"/>
                </a:solidFill>
                <a:latin typeface="Meiryo UI"/>
                <a:ea typeface="Meiryo UI"/>
              </a:rPr>
              <a:t>← 今日、全員ここに到達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79" y="3959352"/>
            <a:ext cx="2606040" cy="1892808"/>
          </a:xfrm>
          <a:prstGeom prst="roundRect">
            <a:avLst>
              <a:gd name="adj" fmla="val 8000"/>
            </a:avLst>
          </a:prstGeom>
          <a:solidFill>
            <a:srgbClr val="EAF0F9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9611" bIns="89611" lIns="128016" rIns="128016"/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LEVEL 2</a:t>
            </a:r>
          </a:p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根拠がある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全項目が数字・固有名詞で裏づけられている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95959"/>
                </a:solidFill>
                <a:latin typeface="Meiryo UI"/>
                <a:ea typeface="Meiryo UI"/>
              </a:rPr>
              <a:t>目安：2週間以内（上司共有まで）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300984"/>
            <a:ext cx="2606040" cy="2551176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9611" bIns="89611" lIns="128016" rIns="128016"/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B86A00"/>
                </a:solidFill>
                <a:latin typeface="Meiryo UI"/>
                <a:ea typeface="Meiryo UI"/>
              </a:rPr>
              <a:t>LEVEL 3</a:t>
            </a:r>
          </a:p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B86A00"/>
                </a:solidFill>
                <a:latin typeface="Meiryo UI"/>
                <a:ea typeface="Meiryo UI"/>
              </a:rPr>
              <a:t>2分で語れる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シートを見ずに、質問にも答えながら戦略として話せる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95959"/>
                </a:solidFill>
                <a:latin typeface="Meiryo UI"/>
                <a:ea typeface="Meiryo UI"/>
              </a:rPr>
              <a:t>目安：1ヶ月（実行開始まで）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19" y="2642616"/>
            <a:ext cx="2606040" cy="3209544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9611" bIns="89611" lIns="128016" rIns="128016"/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LEVEL 4</a:t>
            </a:r>
          </a:p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エリアへ展開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大学の４Sを、エリア全施設の打ち手に翻訳できる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95959"/>
                </a:solidFill>
                <a:latin typeface="Meiryo UI"/>
                <a:ea typeface="Meiryo UI"/>
              </a:rPr>
              <a:t>ここまで来たら、大学担当として一人前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5961888"/>
            <a:ext cx="11018520" cy="475488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卒業基準：</a:t>
            </a: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上司の「あなたのエリア戦略は？」に、４Sの型（成功像→課題→原因→解決策）で即答できること。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構造マップ テンプレート（印刷・配布用）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72768"/>
            <a:ext cx="6949440" cy="4297680"/>
          </a:xfrm>
          <a:prstGeom prst="roundRect">
            <a:avLst>
              <a:gd name="adj" fmla="val 3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院内：診療科（　　　　　　科）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1760" y="2029968"/>
            <a:ext cx="21945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1206" bIns="51206" lIns="73152" rIns="73152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教授／診療科長</a:t>
            </a:r>
          </a:p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950" b="0" i="0">
                <a:solidFill>
                  <a:srgbClr val="D9D9D9"/>
                </a:solidFill>
                <a:latin typeface="Meiryo UI"/>
                <a:ea typeface="Meiryo UI"/>
              </a:rPr>
              <a:t>マーク：◎ ○ ★ ◇ 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3172968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1206" bIns="51206" lIns="73152" rIns="73152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医局長</a:t>
            </a:r>
          </a:p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950" b="0" i="0">
                <a:solidFill>
                  <a:srgbClr val="D9D9D9"/>
                </a:solidFill>
                <a:latin typeface="Meiryo UI"/>
                <a:ea typeface="Meiryo UI"/>
              </a:rPr>
              <a:t>マーク：◎ ○ ★ ◇ 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3172968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1206" bIns="51206" lIns="73152" rIns="73152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病棟医長</a:t>
            </a:r>
          </a:p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950" b="0" i="0">
                <a:solidFill>
                  <a:srgbClr val="D9D9D9"/>
                </a:solidFill>
                <a:latin typeface="Meiryo UI"/>
                <a:ea typeface="Meiryo UI"/>
              </a:rPr>
              <a:t>マーク：◎ ○ ★ ◇ 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3172968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1206" bIns="51206" lIns="73152" rIns="73152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外来医長</a:t>
            </a:r>
          </a:p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950" b="0" i="0">
                <a:solidFill>
                  <a:srgbClr val="D9D9D9"/>
                </a:solidFill>
                <a:latin typeface="Meiryo UI"/>
                <a:ea typeface="Meiryo UI"/>
              </a:rPr>
              <a:t>マーク：◎ ○ ★ ◇ 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4361688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1206" bIns="51206" lIns="73152" rIns="73152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若手・専攻医</a:t>
            </a:r>
          </a:p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950" b="0" i="0">
                <a:solidFill>
                  <a:srgbClr val="D9D9D9"/>
                </a:solidFill>
                <a:latin typeface="Meiryo UI"/>
                <a:ea typeface="Meiryo UI"/>
              </a:rPr>
              <a:t>マーク：◎ ○ ★ ◇ 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4361688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1206" bIns="51206" lIns="73152" rIns="73152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臨床研究の担い手</a:t>
            </a:r>
          </a:p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950" b="0" i="0">
                <a:solidFill>
                  <a:srgbClr val="D9D9D9"/>
                </a:solidFill>
                <a:latin typeface="Meiryo UI"/>
                <a:ea typeface="Meiryo UI"/>
              </a:rPr>
              <a:t>マーク：◎ ○ ★ ◇ 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49240" y="4361688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1206" bIns="51206" lIns="73152" rIns="73152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薬剤部・連携室・秘書</a:t>
            </a:r>
          </a:p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950" b="0" i="0">
                <a:solidFill>
                  <a:srgbClr val="D9D9D9"/>
                </a:solidFill>
                <a:latin typeface="Meiryo UI"/>
                <a:ea typeface="Meiryo UI"/>
              </a:rPr>
              <a:t>マーク：◎ ○ ★ ◇ ？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1801368" y="2944368"/>
            <a:ext cx="1947671" cy="22860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749039" y="2944368"/>
            <a:ext cx="365761" cy="22860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749039" y="2944368"/>
            <a:ext cx="2651761" cy="22860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726679" y="1572768"/>
            <a:ext cx="3931920" cy="4297680"/>
          </a:xfrm>
          <a:prstGeom prst="roundRect">
            <a:avLst>
              <a:gd name="adj" fmla="val 3000"/>
            </a:avLst>
          </a:prstGeom>
          <a:solidFill>
            <a:srgbClr val="EAF0F9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91272" y="166420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院外：エリアとの繋がり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9560" y="2057400"/>
            <a:ext cx="356616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1206" bIns="51206" lIns="73152" rIns="73152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関連・基幹病院（元医局員は？）</a:t>
            </a:r>
          </a:p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950" b="0" i="0">
                <a:solidFill>
                  <a:srgbClr val="D9D9D9"/>
                </a:solidFill>
                <a:latin typeface="Meiryo UI"/>
                <a:ea typeface="Meiryo UI"/>
              </a:rPr>
              <a:t>マーク：◎ ○ ★ ◇ 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017520"/>
            <a:ext cx="356616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1206" bIns="51206" lIns="73152" rIns="73152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紹介元・逆紹介先</a:t>
            </a:r>
          </a:p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950" b="0" i="0">
                <a:solidFill>
                  <a:srgbClr val="D9D9D9"/>
                </a:solidFill>
                <a:latin typeface="Meiryo UI"/>
                <a:ea typeface="Meiryo UI"/>
              </a:rPr>
              <a:t>マーク：◎ ○ ★ ◇ 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3977639"/>
            <a:ext cx="356616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1206" bIns="51206" lIns="73152" rIns="73152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研究会・地方会（世話人は？）</a:t>
            </a:r>
          </a:p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950" b="0" i="0">
                <a:solidFill>
                  <a:srgbClr val="D9D9D9"/>
                </a:solidFill>
                <a:latin typeface="Meiryo UI"/>
                <a:ea typeface="Meiryo UI"/>
              </a:rPr>
              <a:t>マーク：◎ ○ ★ ◇ 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09560" y="4937760"/>
            <a:ext cx="356616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1206" bIns="51206" lIns="73152" rIns="73152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医師会・行政・健診</a:t>
            </a:r>
          </a:p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950" b="0" i="0">
                <a:solidFill>
                  <a:srgbClr val="D9D9D9"/>
                </a:solidFill>
                <a:latin typeface="Meiryo UI"/>
                <a:ea typeface="Meiryo UI"/>
              </a:rPr>
              <a:t>マーク：◎ ○ ★ ◇ 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989320"/>
            <a:ext cx="11109960" cy="420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凡例：◎方針決定　○実行・導入　★情報ハブ　◇連携の要　</a:t>
            </a:r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？＝分からない場所（＝次の面会で聞くことリスト）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４Sシート テンプレート（印刷・配布用）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109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施設・エリア名（　　　　　　　　　　）　　作成日（　　／　　）　　作成者（　　　　　　）　　次回見直し（　　／　　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① 成功像　—　1年後、こうなっていたら最高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23160"/>
            <a:ext cx="54864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誰が・何を・どうなっている状態か、具体的に。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74519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② 現状・課題　—　成功像とのGAP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423160"/>
            <a:ext cx="54864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事実・数字で。「〜できていない」は成功像とセットで。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77639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③ 原因　—　なぜ？×3回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6279"/>
            <a:ext cx="54864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なぜ①→なぜ②→なぜ③（真因）　※人・関係性・場・情報の4方向で探す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977639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④ 解決策　—　主語は自分。誰に・何を・いつ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526279"/>
            <a:ext cx="54864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会社の武器（講演会・資材・連携）×自分の行動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6035040"/>
            <a:ext cx="11109960" cy="438912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セルフチェック：　□ 課題はギャップで書けている　　□ 原因は「なぜ」×3　　□ 解決策の主語は自分　　□ ④→①で成功像に近づく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大学の「肩書き」早見表 — 立場の読み方と注意点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72768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院内の本流ライン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572768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読み違えやすい肩書き（要・個別確認）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21408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教授（診療科長）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方針・人事の最終決定者。ただし多忙で、現場の細部は下のポジションが握っていることが多い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0896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准教授・講師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実務の要であり、次期教授候補。3年後のキーパーソンとして関係構築は先行投資になる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96512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助教・医員・専攻医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実処方と臨床研究の担い手。「教えてください」の相手として最適で、将来は関連病院の幹部に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084064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医局長（呼称は大学ごと）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人事実務・外部窓口の情報ハブ。講演依頼・面会調整はまずこの人、という大学が多い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121408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特任教授・特任講師 など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特定プロジェクトや資金で任用。医局ラインの人事権・決定権とは別枠のことが多い → 役割を個別確認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10896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客員・非常勤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本務は他施設。院内の決定権は限定的だが、施設間ネットワークのハブになっていることがある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096512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名誉教授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退官後の称号で現役の決定権はない。ただし人脈・影響力は健在。研究会や講演会の重鎮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5084064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寄附講座（教員）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寄附により設置された講座。本流医局との距離感は大学ごとに全く違う → 最初に立ち位置を確認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08192"/>
            <a:ext cx="11109960" cy="384048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肩書きは「地図の記号」。同じ肩書きでも大学ごとに意味が違います — 実際の力関係は、構造マップで個別に確かめましょう。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大学活動 コンプライアンスの5原則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アンケートの不安「寄附金・広告協賛・宣伝許可・施設ルール」に応えて。攻める活動ほど、守りが土台になります。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3794760" cy="7315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① 施設ルールが最優先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965960"/>
            <a:ext cx="7178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訪問・面会・資材配布のルールは施設ごとに違う。着任時と変更時に必ず確認し、迷ったら守りに倒す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88920"/>
            <a:ext cx="3794760" cy="7315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② 寄附金・広告協賛は「その場で約束しない」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788920"/>
            <a:ext cx="7178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依頼を受けたら即答せず、必ず社内の申請・審査手続きに乗せる。誠実な「持ち帰ります」は信頼を損なわない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11879"/>
            <a:ext cx="3794760" cy="7315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③ 宣伝許可・採用ルールは現行の文書で確認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3611879"/>
            <a:ext cx="7178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「前任者がやっていた」は根拠にならない。DAY1で学んだ院内運用の確認を、毎回やり直す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34840"/>
            <a:ext cx="3794760" cy="7315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④ 迷ったら自己判断しない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4434840"/>
            <a:ext cx="7178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判断基準はプロモーションコードと社内SOP。少しでも迷ったら上司・コンプライアンス部門に相談してから動く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257800"/>
            <a:ext cx="3794760" cy="7315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⑤ 記録を残す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5257800"/>
            <a:ext cx="7178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依頼・回答・手続きの経緯を記録に残す。誠実さの証明であり、先生と自分の両方を守る武器になる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126480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595959"/>
                </a:solidFill>
                <a:latin typeface="Meiryo UI"/>
                <a:ea typeface="Meiryo UI"/>
              </a:rPr>
              <a:t>※ 本スライドは一般的な注意喚起です。個別の案件は、必ず最新の社内規程と担当部門の指示に従ってください。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ファシリテーター用メモ（進行のコツ）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86400" cy="475488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事前準備・時間管理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30552"/>
            <a:ext cx="5486400" cy="1536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・事前案内（Outlook）：A4白紙1枚とペンを持参、担当施設の顔ぶれを思い出してくる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・録画を回し、気づきリストとセットで欠席者へ共有（アンケートで要望多数）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・ワークは「あと2分」を予告してから切る。延長判断は全体共有の前に宣言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00200"/>
            <a:ext cx="5486400" cy="475488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場づくり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130552"/>
            <a:ext cx="5486400" cy="1536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・Ice Breakでは自分（進行役）が最初に投稿し、投稿のハードルを下げる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・ワーク中は沈黙OKと伝える。ブレイクアウトは各室を1周して1声かけ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・共有で出た良い視点は、その場で「今のは◎」と口頭で拾う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840480"/>
            <a:ext cx="5486400" cy="475488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つまずき対応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70832"/>
            <a:ext cx="5486400" cy="1536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・構造が書けない人には「まず外来と病棟の2箱から」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・４Sが止まった人には、スライドの「困ったときのヒント」を指差しで案内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・議論が製品の話に寄ったら「今日は構造と戦略の日」と戻す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486400" cy="475488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最終回としての締め方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370832"/>
            <a:ext cx="5486400" cy="1536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・シリーズ全体の感想を1言ずつ集めてから終える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・作成した４Sシートは各自のエリア計画・上司面談で活用することを宣言してもらう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・構造マップ・４Sのデータ版テンプレと気づきリストの共有方法を必ずアナウンス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26480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本資料の事例・人名はすべて架空です。実施設の情報を扱う際は、社内の情報取り扱いルールに従ってください。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Meiryo UI"/>
                <a:ea typeface="Meiryo UI"/>
              </a:rP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97180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FE8D2"/>
                </a:solidFill>
                <a:latin typeface="Meiryo UI"/>
                <a:ea typeface="Meiryo UI"/>
              </a:rPr>
              <a:t>4回シリーズ、おつかれさまでした。ここからが本番です。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931920"/>
            <a:ext cx="3246120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FFC000"/>
                </a:solidFill>
                <a:latin typeface="Meiryo UI"/>
                <a:ea typeface="Meiryo UI"/>
              </a:rPr>
              <a:t>今日中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行動宣言＋気づきをチャットへ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931920"/>
            <a:ext cx="3246120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FFC000"/>
                </a:solidFill>
                <a:latin typeface="Meiryo UI"/>
                <a:ea typeface="Meiryo UI"/>
              </a:rPr>
              <a:t>今週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気づきリスト・VTR・テンプレートを事務局から共有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3931920"/>
            <a:ext cx="3246120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FFC000"/>
                </a:solidFill>
                <a:latin typeface="Meiryo UI"/>
                <a:ea typeface="Meiryo UI"/>
              </a:rPr>
              <a:t>これから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困ったら、全国61人の仲間に相談を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FE8D2"/>
                </a:solidFill>
                <a:latin typeface="Meiryo UI"/>
                <a:ea typeface="Meiryo UI"/>
              </a:rPr>
              <a:t>「この施設とこのエリアのことは、社内の誰よりも私が分かっている」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大学/基幹病院担当者スキルアッププロジェクト DAY4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