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ある基幹病院の腎臓内科について、集めた情報9件です。①〜⑨を、下の3つのどこに置きますか。</a:t>
            </a:r>
          </a:p>
        </p:txBody>
      </p:sp>
      <p:sp>
        <p:nvSpPr>
          <p:cNvPr id="6" name="Rounded Rectangle 5"/>
          <p:cNvSpPr/>
          <p:nvPr/>
        </p:nvSpPr>
        <p:spPr>
          <a:xfrm>
            <a:off x="548640"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① 腎生検数が、1年で36件から90件に増えた</a:t>
            </a:r>
          </a:p>
        </p:txBody>
      </p:sp>
      <p:sp>
        <p:nvSpPr>
          <p:cNvPr id="7" name="Rounded Rectangle 6"/>
          <p:cNvSpPr/>
          <p:nvPr/>
        </p:nvSpPr>
        <p:spPr>
          <a:xfrm>
            <a:off x="4288536"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② その後も96件、99件で推移している</a:t>
            </a:r>
          </a:p>
        </p:txBody>
      </p:sp>
      <p:sp>
        <p:nvSpPr>
          <p:cNvPr id="8" name="Rounded Rectangle 7"/>
          <p:cNvSpPr/>
          <p:nvPr/>
        </p:nvSpPr>
        <p:spPr>
          <a:xfrm>
            <a:off x="8028431" y="166420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③ 血液浄化センター・臨床研究・学会発表のページがある</a:t>
            </a:r>
          </a:p>
        </p:txBody>
      </p:sp>
      <p:sp>
        <p:nvSpPr>
          <p:cNvPr id="9" name="Rounded Rectangle 8"/>
          <p:cNvSpPr/>
          <p:nvPr/>
        </p:nvSpPr>
        <p:spPr>
          <a:xfrm>
            <a:off x="548640"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④ 部長は前任地で、腎臓内科の立ち上げを経験している</a:t>
            </a:r>
          </a:p>
        </p:txBody>
      </p:sp>
      <p:sp>
        <p:nvSpPr>
          <p:cNvPr id="10" name="Rounded Rectangle 9"/>
          <p:cNvSpPr/>
          <p:nvPr/>
        </p:nvSpPr>
        <p:spPr>
          <a:xfrm>
            <a:off x="4288536"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⑤「腎臓に問題がある患者様がいたら、いつでもご紹介ください」</a:t>
            </a:r>
          </a:p>
        </p:txBody>
      </p:sp>
      <p:sp>
        <p:nvSpPr>
          <p:cNvPr id="11" name="Rounded Rectangle 10"/>
          <p:cNvSpPr/>
          <p:nvPr/>
        </p:nvSpPr>
        <p:spPr>
          <a:xfrm>
            <a:off x="8028431" y="239572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⑥「まず透析の話をせず、透析にならない方法を一緒に考えたい」</a:t>
            </a:r>
          </a:p>
        </p:txBody>
      </p:sp>
      <p:sp>
        <p:nvSpPr>
          <p:cNvPr id="12" name="Rounded Rectangle 11"/>
          <p:cNvSpPr/>
          <p:nvPr/>
        </p:nvSpPr>
        <p:spPr>
          <a:xfrm>
            <a:off x="548640"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⑦「透析を導入する医療ではなく、透析患者さんを一人でも減らしたい」</a:t>
            </a:r>
          </a:p>
        </p:txBody>
      </p:sp>
      <p:sp>
        <p:nvSpPr>
          <p:cNvPr id="13" name="Rounded Rectangle 12"/>
          <p:cNvSpPr/>
          <p:nvPr/>
        </p:nvSpPr>
        <p:spPr>
          <a:xfrm>
            <a:off x="4288536"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⑧「どんな腎疾患の患者様にも、ベストな医療を偏りなく行いたい」</a:t>
            </a:r>
          </a:p>
        </p:txBody>
      </p:sp>
      <p:sp>
        <p:nvSpPr>
          <p:cNvPr id="14" name="Rounded Rectangle 13"/>
          <p:cNvSpPr/>
          <p:nvPr/>
        </p:nvSpPr>
        <p:spPr>
          <a:xfrm>
            <a:off x="8028431" y="3127248"/>
            <a:ext cx="356616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0000"/>
              </a:lnSpc>
            </a:pPr>
            <a:r>
              <a:rPr sz="1150" b="1" i="0">
                <a:solidFill>
                  <a:srgbClr val="262626"/>
                </a:solidFill>
                <a:latin typeface="Meiryo UI"/>
                <a:ea typeface="Meiryo UI"/>
              </a:rPr>
              <a:t>⑨「安心して任せられる医師・医療を目指したい」</a:t>
            </a:r>
          </a:p>
        </p:txBody>
      </p:sp>
      <p:sp>
        <p:nvSpPr>
          <p:cNvPr id="15" name="Rounded Rectangle 14"/>
          <p:cNvSpPr/>
          <p:nvPr/>
        </p:nvSpPr>
        <p:spPr>
          <a:xfrm>
            <a:off x="548640" y="3950208"/>
            <a:ext cx="2377440" cy="65836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95020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81728"/>
            <a:ext cx="237744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8172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13248"/>
            <a:ext cx="237744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13248"/>
            <a:ext cx="8595360" cy="65836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63056"/>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50" b="1" i="0">
                <a:solidFill>
                  <a:srgbClr val="0B4F37"/>
                </a:solidFill>
                <a:latin typeface="Meiryo UI"/>
                <a:ea typeface="Meiryo UI"/>
              </a:rPr>
              <a:t>公開情報から取れるWantsは、わずかでした。Wantsは、面談でしか増えません。</a:t>
            </a:r>
          </a:p>
        </p:txBody>
      </p:sp>
      <p:sp>
        <p:nvSpPr>
          <p:cNvPr id="7" name="Rounded Rectangle 6"/>
          <p:cNvSpPr/>
          <p:nvPr/>
        </p:nvSpPr>
        <p:spPr>
          <a:xfrm>
            <a:off x="548640" y="1810512"/>
            <a:ext cx="11109960" cy="86868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8" name="Oval 7"/>
          <p:cNvSpPr/>
          <p:nvPr/>
        </p:nvSpPr>
        <p:spPr>
          <a:xfrm>
            <a:off x="548640" y="309067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9" name="Rounded Rectangle 8"/>
          <p:cNvSpPr/>
          <p:nvPr/>
        </p:nvSpPr>
        <p:spPr>
          <a:xfrm>
            <a:off x="1426464" y="309067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面談で、先生のどんな言葉から始まりましたか？</a:t>
            </a:r>
          </a:p>
        </p:txBody>
      </p:sp>
      <p:sp>
        <p:nvSpPr>
          <p:cNvPr id="10" name="Oval 9"/>
          <p:cNvSpPr/>
          <p:nvPr/>
        </p:nvSpPr>
        <p:spPr>
          <a:xfrm>
            <a:off x="548640" y="389534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1" name="Rounded Rectangle 10"/>
          <p:cNvSpPr/>
          <p:nvPr/>
        </p:nvSpPr>
        <p:spPr>
          <a:xfrm>
            <a:off x="1426464" y="389534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2" name="Oval 11"/>
          <p:cNvSpPr/>
          <p:nvPr/>
        </p:nvSpPr>
        <p:spPr>
          <a:xfrm>
            <a:off x="548640" y="4700016"/>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3" name="Rounded Rectangle 12"/>
          <p:cNvSpPr/>
          <p:nvPr/>
        </p:nvSpPr>
        <p:spPr>
          <a:xfrm>
            <a:off x="1426464" y="4700016"/>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4" name="Rounded Rectangle 13"/>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TextBox 4"/>
          <p:cNvSpPr txBox="1"/>
          <p:nvPr/>
        </p:nvSpPr>
        <p:spPr>
          <a:xfrm>
            <a:off x="548640" y="1298448"/>
            <a:ext cx="11155680" cy="274320"/>
          </a:xfrm>
          <a:prstGeom prst="rect">
            <a:avLst/>
          </a:prstGeom>
          <a:noFill/>
        </p:spPr>
        <p:txBody>
          <a:bodyPr wrap="square" lIns="0" rIns="0" tIns="0" bIns="0" anchor="t">
            <a:spAutoFit/>
          </a:bodyPr>
          <a:lstStyle/>
          <a:p>
            <a:pPr algn="l"/>
            <a:r>
              <a:rPr sz="1200" b="0" i="0">
                <a:solidFill>
                  <a:srgbClr val="595959"/>
                </a:solidFill>
                <a:latin typeface="Meiryo UI"/>
                <a:ea typeface="Meiryo UI"/>
              </a:rPr>
              <a:t>書記の方へ ─ 先生の言葉はそのまま、Needsは「状態」の形で書いてください。</a:t>
            </a:r>
          </a:p>
        </p:txBody>
      </p:sp>
      <p:sp>
        <p:nvSpPr>
          <p:cNvPr id="6" name="Rounded Rectangle 5"/>
          <p:cNvSpPr/>
          <p:nvPr/>
        </p:nvSpPr>
        <p:spPr>
          <a:xfrm>
            <a:off x="548640" y="1600200"/>
            <a:ext cx="3566160" cy="54864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出てきた Wants</a:t>
            </a:r>
          </a:p>
          <a:p>
            <a:pPr algn="ctr"/>
            <a:r>
              <a:rPr sz="1000" b="0" i="0">
                <a:solidFill>
                  <a:srgbClr val="FFFFFF"/>
                </a:solidFill>
                <a:latin typeface="Meiryo UI"/>
                <a:ea typeface="Meiryo UI"/>
              </a:rPr>
              <a:t>先生が言った言葉のまま</a:t>
            </a:r>
          </a:p>
        </p:txBody>
      </p:sp>
      <p:sp>
        <p:nvSpPr>
          <p:cNvPr id="7" name="Rounded Rectangle 6"/>
          <p:cNvSpPr/>
          <p:nvPr/>
        </p:nvSpPr>
        <p:spPr>
          <a:xfrm>
            <a:off x="4160520" y="1600200"/>
            <a:ext cx="3657600" cy="54864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汲み取った Needs</a:t>
            </a:r>
          </a:p>
          <a:p>
            <a:pPr algn="ctr"/>
            <a:r>
              <a:rPr sz="1000" b="0" i="0">
                <a:solidFill>
                  <a:srgbClr val="FFFFFF"/>
                </a:solidFill>
                <a:latin typeface="Meiryo UI"/>
                <a:ea typeface="Meiryo UI"/>
              </a:rPr>
              <a:t>なぜ、そう言ったのか（＝そのときの仮説）</a:t>
            </a:r>
          </a:p>
        </p:txBody>
      </p:sp>
      <p:sp>
        <p:nvSpPr>
          <p:cNvPr id="8" name="Rounded Rectangle 7"/>
          <p:cNvSpPr/>
          <p:nvPr/>
        </p:nvSpPr>
        <p:spPr>
          <a:xfrm>
            <a:off x="7863840" y="1600200"/>
            <a:ext cx="3794760" cy="5486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活動・提案がどう変わったか</a:t>
            </a:r>
          </a:p>
          <a:p>
            <a:pPr algn="ctr"/>
            <a:r>
              <a:rPr sz="1000" b="0" i="0">
                <a:solidFill>
                  <a:srgbClr val="FFFFFF"/>
                </a:solidFill>
                <a:latin typeface="Meiryo UI"/>
                <a:ea typeface="Meiryo UI"/>
              </a:rPr>
              <a:t>その後、何を変えたか</a:t>
            </a:r>
          </a:p>
        </p:txBody>
      </p:sp>
      <p:sp>
        <p:nvSpPr>
          <p:cNvPr id="9" name="Rounded Rectangle 8"/>
          <p:cNvSpPr/>
          <p:nvPr/>
        </p:nvSpPr>
        <p:spPr>
          <a:xfrm>
            <a:off x="548640" y="2212848"/>
            <a:ext cx="11109960" cy="237744"/>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l"/>
            <a:r>
              <a:rPr sz="1050" b="1" i="0">
                <a:solidFill>
                  <a:srgbClr val="0B4F37"/>
                </a:solidFill>
                <a:latin typeface="Meiryo UI"/>
                <a:ea typeface="Meiryo UI"/>
              </a:rPr>
              <a:t>記入例 ─ 基幹病院 腎臓内科部長との面談から</a:t>
            </a:r>
          </a:p>
        </p:txBody>
      </p:sp>
      <p:sp>
        <p:nvSpPr>
          <p:cNvPr id="10" name="Rounded Rectangle 9"/>
          <p:cNvSpPr/>
          <p:nvPr/>
        </p:nvSpPr>
        <p:spPr>
          <a:xfrm>
            <a:off x="548640" y="2487168"/>
            <a:ext cx="35661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「もっと早い段階で腎生検をして、診断をつけて治療に入りたいんだよね」</a:t>
            </a:r>
          </a:p>
        </p:txBody>
      </p:sp>
      <p:sp>
        <p:nvSpPr>
          <p:cNvPr id="11" name="Rounded Rectangle 10"/>
          <p:cNvSpPr/>
          <p:nvPr/>
        </p:nvSpPr>
        <p:spPr>
          <a:xfrm>
            <a:off x="4160520" y="2487168"/>
            <a:ext cx="365760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早期に生検・診断まで持っていける患者が、限られている</a:t>
            </a:r>
          </a:p>
        </p:txBody>
      </p:sp>
      <p:sp>
        <p:nvSpPr>
          <p:cNvPr id="12" name="Rounded Rectangle 11"/>
          <p:cNvSpPr/>
          <p:nvPr/>
        </p:nvSpPr>
        <p:spPr>
          <a:xfrm>
            <a:off x="7863840" y="2487168"/>
            <a:ext cx="37947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資料を渡すのをやめ、「腎生検のタイミング」の症例検討会を企画</a:t>
            </a:r>
          </a:p>
        </p:txBody>
      </p:sp>
      <p:sp>
        <p:nvSpPr>
          <p:cNvPr id="13" name="Rounded Rectangle 12"/>
          <p:cNvSpPr/>
          <p:nvPr/>
        </p:nvSpPr>
        <p:spPr>
          <a:xfrm>
            <a:off x="548640" y="3236976"/>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4" name="Rounded Rectangle 13"/>
          <p:cNvSpPr/>
          <p:nvPr/>
        </p:nvSpPr>
        <p:spPr>
          <a:xfrm>
            <a:off x="4160520" y="3236976"/>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5" name="Rounded Rectangle 14"/>
          <p:cNvSpPr/>
          <p:nvPr/>
        </p:nvSpPr>
        <p:spPr>
          <a:xfrm>
            <a:off x="7863840" y="3236976"/>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6" name="Rounded Rectangle 15"/>
          <p:cNvSpPr/>
          <p:nvPr/>
        </p:nvSpPr>
        <p:spPr>
          <a:xfrm>
            <a:off x="548640" y="4133087"/>
            <a:ext cx="35661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7" name="Rounded Rectangle 16"/>
          <p:cNvSpPr/>
          <p:nvPr/>
        </p:nvSpPr>
        <p:spPr>
          <a:xfrm>
            <a:off x="4160520" y="4133087"/>
            <a:ext cx="365760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8" name="Rounded Rectangle 17"/>
          <p:cNvSpPr/>
          <p:nvPr/>
        </p:nvSpPr>
        <p:spPr>
          <a:xfrm>
            <a:off x="7863840" y="4133087"/>
            <a:ext cx="37947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9" name="Rounded Rectangle 18"/>
          <p:cNvSpPr/>
          <p:nvPr/>
        </p:nvSpPr>
        <p:spPr>
          <a:xfrm>
            <a:off x="548640" y="5029200"/>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0" name="Rounded Rectangle 19"/>
          <p:cNvSpPr/>
          <p:nvPr/>
        </p:nvSpPr>
        <p:spPr>
          <a:xfrm>
            <a:off x="4160520" y="5029200"/>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1" name="Rounded Rectangle 20"/>
          <p:cNvSpPr/>
          <p:nvPr/>
        </p:nvSpPr>
        <p:spPr>
          <a:xfrm>
            <a:off x="7863840" y="5029200"/>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2" name="Rounded Rectangle 21"/>
          <p:cNvSpPr/>
          <p:nvPr/>
        </p:nvSpPr>
        <p:spPr>
          <a:xfrm>
            <a:off x="548640" y="5989320"/>
            <a:ext cx="11109960" cy="36576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Needsは仮説です。ここで書いた読み方が、唯一の正解とは限りません。</a:t>
            </a:r>
          </a:p>
        </p:txBody>
      </p:sp>
      <p:sp>
        <p:nvSpPr>
          <p:cNvPr id="23" name="TextBox 22"/>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4" name="TextBox 23"/>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先ほどの9件は、すべてこの2つから取れます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仕分けたFactとWantsを、並べて見る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早期に生検・診断まで持っていきたい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早期に生検・診断まで持っていける患者が、限られている</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「どの段階でご紹介いただけると、生検まで持っていけますか？」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「腎生検のタイミング」をテーマに、先生を演者にした症例検討会</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・A：もっと早期に生検・診断まで持っていきたいのではないか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・A：「腎生検のタイミング」をテーマにした会を、先生と企画する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早期に生検・診断がつき、治療介入で透析に至る患者さんが減っている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院内の生検体制は整ったが、早期に紹介される患者がまだ限られている</a:t>
            </a:r>
          </a:p>
          <a:p>
            <a:pPr algn="l">
              <a:lnSpc>
                <a:spcPct val="120000"/>
              </a:lnSpc>
              <a:spcAft>
                <a:spcPts val="500"/>
              </a:spcAft>
            </a:pPr>
            <a:r>
              <a:rPr sz="1100" b="0" i="0">
                <a:solidFill>
                  <a:srgbClr val="262626"/>
                </a:solidFill>
                <a:latin typeface="Meiryo UI"/>
                <a:ea typeface="Meiryo UI"/>
              </a:rPr>
              <a:t>（＝仮説A）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・「腎生検のタイミング」をテーマに、先生を演者にした症例検討会</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・「早期診断・早期介入」をテーマにした会の企画と運営支援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・生検で確定診断がついた症例を、共有する場をつくる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早期に確定診断がつき、治療介入で透析に至らない選択肢が残る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早期の紹介が増え、生検・診療の実績が積み上がる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唯一の正解ではありません。なぜそう置いたかを説明できることが目的です。⑥⑧は割れやすい項目です。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　4件</a:t>
            </a:r>
          </a:p>
        </p:txBody>
      </p:sp>
      <p:sp>
        <p:nvSpPr>
          <p:cNvPr id="8" name="Rounded Rectangle 7"/>
          <p:cNvSpPr/>
          <p:nvPr/>
        </p:nvSpPr>
        <p:spPr>
          <a:xfrm>
            <a:off x="548640"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① 腎生検数が、1年で36→90件に増えた</a:t>
            </a:r>
          </a:p>
          <a:p>
            <a:pPr algn="l">
              <a:lnSpc>
                <a:spcPct val="125000"/>
              </a:lnSpc>
              <a:spcAft>
                <a:spcPts val="900"/>
              </a:spcAft>
            </a:pPr>
            <a:r>
              <a:rPr sz="1150" b="0" i="0">
                <a:solidFill>
                  <a:srgbClr val="262626"/>
                </a:solidFill>
                <a:latin typeface="Meiryo UI"/>
                <a:ea typeface="Meiryo UI"/>
              </a:rPr>
              <a:t>② その後も96件、99件で推移している</a:t>
            </a:r>
          </a:p>
          <a:p>
            <a:pPr algn="l">
              <a:lnSpc>
                <a:spcPct val="125000"/>
              </a:lnSpc>
              <a:spcAft>
                <a:spcPts val="900"/>
              </a:spcAft>
            </a:pPr>
            <a:r>
              <a:rPr sz="1150" b="0" i="0">
                <a:solidFill>
                  <a:srgbClr val="262626"/>
                </a:solidFill>
                <a:latin typeface="Meiryo UI"/>
                <a:ea typeface="Meiryo UI"/>
              </a:rPr>
              <a:t>③ 血液浄化センター・臨床研究・学会発表のページ</a:t>
            </a:r>
          </a:p>
          <a:p>
            <a:pPr algn="l">
              <a:lnSpc>
                <a:spcPct val="125000"/>
              </a:lnSpc>
              <a:spcAft>
                <a:spcPts val="900"/>
              </a:spcAft>
            </a:pPr>
            <a:r>
              <a:rPr sz="1150" b="0" i="0">
                <a:solidFill>
                  <a:srgbClr val="262626"/>
                </a:solidFill>
                <a:latin typeface="Meiryo UI"/>
                <a:ea typeface="Meiryo UI"/>
              </a:rPr>
              <a:t>④ 部長は前任地で、立ち上げを経験している</a:t>
            </a:r>
          </a:p>
        </p:txBody>
      </p:sp>
      <p:sp>
        <p:nvSpPr>
          <p:cNvPr id="9" name="Rounded Rectangle 8"/>
          <p:cNvSpPr/>
          <p:nvPr/>
        </p:nvSpPr>
        <p:spPr>
          <a:xfrm>
            <a:off x="548640"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　2件</a:t>
            </a:r>
          </a:p>
        </p:txBody>
      </p:sp>
      <p:sp>
        <p:nvSpPr>
          <p:cNvPr id="11" name="Rounded Rectangle 10"/>
          <p:cNvSpPr/>
          <p:nvPr/>
        </p:nvSpPr>
        <p:spPr>
          <a:xfrm>
            <a:off x="4288536"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⑤ いつでもご紹介ください</a:t>
            </a:r>
          </a:p>
          <a:p>
            <a:pPr algn="l">
              <a:lnSpc>
                <a:spcPct val="125000"/>
              </a:lnSpc>
              <a:spcAft>
                <a:spcPts val="900"/>
              </a:spcAft>
            </a:pPr>
            <a:r>
              <a:rPr sz="1150" b="0" i="0">
                <a:solidFill>
                  <a:srgbClr val="262626"/>
                </a:solidFill>
                <a:latin typeface="Meiryo UI"/>
                <a:ea typeface="Meiryo UI"/>
              </a:rPr>
              <a:t>⑥ まず透析の話をせず、透析にならない方法を一緒に考えたい</a:t>
            </a:r>
          </a:p>
        </p:txBody>
      </p:sp>
      <p:sp>
        <p:nvSpPr>
          <p:cNvPr id="12" name="Rounded Rectangle 11"/>
          <p:cNvSpPr/>
          <p:nvPr/>
        </p:nvSpPr>
        <p:spPr>
          <a:xfrm>
            <a:off x="4288536"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　3件</a:t>
            </a:r>
          </a:p>
        </p:txBody>
      </p:sp>
      <p:sp>
        <p:nvSpPr>
          <p:cNvPr id="14" name="Rounded Rectangle 13"/>
          <p:cNvSpPr/>
          <p:nvPr/>
        </p:nvSpPr>
        <p:spPr>
          <a:xfrm>
            <a:off x="8028431" y="2450592"/>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⑦ 透析患者さんを一人でも減らしたい</a:t>
            </a:r>
          </a:p>
          <a:p>
            <a:pPr algn="l">
              <a:lnSpc>
                <a:spcPct val="125000"/>
              </a:lnSpc>
              <a:spcAft>
                <a:spcPts val="900"/>
              </a:spcAft>
            </a:pPr>
            <a:r>
              <a:rPr sz="1150" b="0" i="0">
                <a:solidFill>
                  <a:srgbClr val="262626"/>
                </a:solidFill>
                <a:latin typeface="Meiryo UI"/>
                <a:ea typeface="Meiryo UI"/>
              </a:rPr>
              <a:t>⑧ どんな腎疾患の患者様にも、ベストな医療を</a:t>
            </a:r>
          </a:p>
          <a:p>
            <a:pPr algn="l">
              <a:lnSpc>
                <a:spcPct val="125000"/>
              </a:lnSpc>
              <a:spcAft>
                <a:spcPts val="900"/>
              </a:spcAft>
            </a:pPr>
            <a:r>
              <a:rPr sz="1150" b="0" i="0">
                <a:solidFill>
                  <a:srgbClr val="262626"/>
                </a:solidFill>
                <a:latin typeface="Meiryo UI"/>
                <a:ea typeface="Meiryo UI"/>
              </a:rPr>
              <a:t>⑨ 安心して任せられる医師・医療を目指したい</a:t>
            </a:r>
          </a:p>
        </p:txBody>
      </p:sp>
      <p:sp>
        <p:nvSpPr>
          <p:cNvPr id="15" name="Rounded Rectangle 14"/>
          <p:cNvSpPr/>
          <p:nvPr/>
        </p:nvSpPr>
        <p:spPr>
          <a:xfrm>
            <a:off x="8028431" y="4690872"/>
            <a:ext cx="3566160" cy="56692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94960"/>
            <a:ext cx="11109960" cy="8229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公開情報から取れたWantsは、わずか2件。Wantsは、面談でしか増えません。</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