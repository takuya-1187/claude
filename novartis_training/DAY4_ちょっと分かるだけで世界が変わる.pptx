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  <p:sldId id="526" r:id="rId42"/>
    <p:sldId id="527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■振り返り／Triple Win Beyond　10分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■ワーク①「Wants／Needs」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■ワーク②「仮説立て」と4S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■インタビュー／まとめ・総括　20分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振り返り ／ Triple Win Beyond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10分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82880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3回の振り返り｜Winをエリアまで広げる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ワーク①「WantsとNeedsの仕分け」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92608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9260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得た情報を3つに分ける｜仕分けの意義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ワーク②「仮説立て」とエリアプラン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023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023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WantsをNeedsへ｜4Sにつなげる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12064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インタビュー ／ まとめ・総括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512064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20分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51206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エリア＋大学攻略事例｜女子医大の活動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情報を「仕分ける」と、仮説が立つ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595959"/>
                </a:solidFill>
                <a:latin typeface="Meiryo UI"/>
                <a:ea typeface="Meiryo UI"/>
              </a:rPr>
              <a:t>― 得た情報をFact・Wants・Needsに分け、エリアの打ち手につなげる 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07424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収集した情報から、エリアの課題・原因・解決方法を可視化できる</a:t>
            </a:r>
          </a:p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本日の到達点：得た情報を仕分け、そこから仮説を立てられる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集めた事実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91256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01568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仕分け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3つに分ける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44184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54496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なぜかを立てる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97112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07424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4S・エリアプラン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7424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打ち手にする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情報の量では差がつかない。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同じ情報から、どんな仮説を立てられるかで差がつく。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振り返り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3回で手に入れた力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・大学・基幹病院の構造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・誰がどこまで決められるか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・一人で突破しない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・Dry情報とWet情報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DAY3の最後の問い　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「営業として、その情報をどう活かすか」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1109960" cy="12801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情報は、もう集まっている。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今日は、その情報を仕分けて、仮説を立てて、エリアで動かす。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TRIPLE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解決策とは、3者が同時にWinになっているもの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1965960" y="173736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患者さん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・適切な診断・治療に、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・適切なタイミングで届く</a:t>
            </a:r>
          </a:p>
        </p:txBody>
      </p:sp>
      <p:sp>
        <p:nvSpPr>
          <p:cNvPr id="9" name="Oval 8"/>
          <p:cNvSpPr/>
          <p:nvPr/>
        </p:nvSpPr>
        <p:spPr>
          <a:xfrm>
            <a:off x="5705855" y="173736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顧客（医局・施設）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・果たしたい役割が果たせる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・施設・医師の価値が上がる</a:t>
            </a:r>
          </a:p>
        </p:txBody>
      </p:sp>
      <p:sp>
        <p:nvSpPr>
          <p:cNvPr id="12" name="Oval 11"/>
          <p:cNvSpPr/>
          <p:nvPr/>
        </p:nvSpPr>
        <p:spPr>
          <a:xfrm>
            <a:off x="9445752" y="173736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ノバルティス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・必要な患者さんに届く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・エリアで信頼される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72000"/>
            <a:ext cx="11109960" cy="6400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ノバルティスの目標・顧客の目標・患者さんの3者がWinになっているか（SAM）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4068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どれか1つが欠けた打ち手は、続かない。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Winを、エリアまで広げる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大学を「個」で見ると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67712"/>
            <a:ext cx="534924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・その施設の中でWinが完結する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・1人の先生の要望に応える形になる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・隣の施設には何も起きない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80760" y="2651760"/>
            <a:ext cx="548640" cy="50292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645920"/>
            <a:ext cx="480060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エリアの1施設として見ると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267712"/>
            <a:ext cx="4800600" cy="16002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・関連病院・近隣大学にWinが広がる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・医師同士の関係が動く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・患者さんの流れが変わる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11109960" cy="621792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Triple Win（患者・顧客・自社）　＋　Beyond（関連病院・近隣大学・地域の先生）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8348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大学は、エリアの中の1施設。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影響の輪まで設計すると、同じ打ち手でもWinが大きくなる。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NEEDS &amp; WANTS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Needsは「状態」、Wantsは「手段」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20040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理想の状態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Gap ＝ Needs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82112"/>
            <a:ext cx="320040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現状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＝ 満たされていない状態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31920" y="2487168"/>
            <a:ext cx="548640" cy="457200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1600200"/>
            <a:ext cx="6995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Gapを埋める具体的なもの ＝ Wants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286000"/>
            <a:ext cx="69951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・顧客が口にするのは、ほとんどがWants（やり方の指定）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・Wantsに応えるだけでは、その手段が正しいか分からない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・Needsが分かれば、手段は他にも選べる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840480"/>
            <a:ext cx="3429000" cy="56692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顕在Needs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4480560"/>
            <a:ext cx="342900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顧客自身が気づいている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840480"/>
            <a:ext cx="342900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潜在Needs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480560"/>
            <a:ext cx="342900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顧客自身が気づいていない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顕在化することは珍しい。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気づかれていないNeedsを、競合より早く見つけられるかで差がつく。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仕分けの目安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得た情報を、3つのどれかに置く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観察できること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・数字・出来事・体制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・願望が入っていない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・例：腎生検が半減している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Wants（手段）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やり方の指定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・「〜が欲しい」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・「〜してほしい」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・例：勉強会をやってほしい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Needs（状態）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満たされていないGap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・「〜したい」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・「〜が足りない・困っている」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・例：若手を育てたい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628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迷ったら　</a:t>
            </a: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「これは状態か、手段か」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　願望が入っていなければ 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9496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Factは、仮説の材料。Wantsは、入口。Needsは、目指す状態。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①-1　｜　4分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例題を、Fact／Wants／Needsに仕分ける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16736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腎臓内科の医局・先生から得た情報です。①〜⑨を、下の3つのどこに置くか決めてください。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① 関連病院の先生向けに、CKDの勉強会をやってほしい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② 腎生検の件数が、3年前の半分になっている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③ 若手に、腎病理を読める医師を育てたい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④ 〇〇大学の△△先生を、次の研究会に呼んでほしい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⑤ eGFRが20を切ってから紹介されることが多い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⑥ うちの医局を、もっと全国に知ってもらいたい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⑦ 先月の学会のスライドが欲しい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⑧ 教授が来年、学会の会長を務める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⑨ 透析導入を、できるだけ遅らせたい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58768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858768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645152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Wants（手段）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4645152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5431536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Needs（状態）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63240" y="5431536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619963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※ 番号を入れて、なぜそこに置いたかを一言で言えるようにしてください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①-2　｜　6分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これまでの経験を共有する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これまでの活動で、先生のWantsから</a:t>
            </a:r>
            <a:r>
              <a:rPr sz="1800" b="1" i="0">
                <a:solidFill>
                  <a:srgbClr val="C00000"/>
                </a:solidFill>
                <a:latin typeface="Meiryo UI"/>
                <a:ea typeface="Meiryo UI"/>
              </a:rPr>
              <a:t>Needsを汲み取れた経験</a:t>
            </a:r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はありますか？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8892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話を深めるヒント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64992"/>
            <a:ext cx="621792" cy="62179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9888" y="3364992"/>
            <a:ext cx="10268712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50" b="1" i="0">
                <a:solidFill>
                  <a:srgbClr val="262626"/>
                </a:solidFill>
                <a:latin typeface="Meiryo UI"/>
                <a:ea typeface="Meiryo UI"/>
              </a:rPr>
              <a:t>先生の、どんな言葉（Wants）から始まりましたか？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96512"/>
            <a:ext cx="621792" cy="62179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89888" y="4096512"/>
            <a:ext cx="10268712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50" b="1" i="0">
                <a:solidFill>
                  <a:srgbClr val="262626"/>
                </a:solidFill>
                <a:latin typeface="Meiryo UI"/>
                <a:ea typeface="Meiryo UI"/>
              </a:rPr>
              <a:t>その裏にあるNeedsは、何だと考えましたか？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828032"/>
            <a:ext cx="621792" cy="62179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89888" y="4828032"/>
            <a:ext cx="10268712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50" b="1" i="0">
                <a:solidFill>
                  <a:srgbClr val="262626"/>
                </a:solidFill>
                <a:latin typeface="Meiryo UI"/>
                <a:ea typeface="Meiryo UI"/>
              </a:rPr>
              <a:t>気づいたあと、活動や提案はどう変わりましたか？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623560"/>
            <a:ext cx="11109960" cy="603504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3〜4人で。うまくいかなかった経験、まだ分からない経験でも構いません。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642616" cy="384048"/>
          </a:xfrm>
          <a:prstGeom prst="roundRect">
            <a:avLst>
              <a:gd name="adj" fmla="val 5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ワーク①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0B4F37"/>
                </a:solidFill>
                <a:latin typeface="Meiryo UI"/>
                <a:ea typeface="Meiryo UI"/>
              </a:rPr>
              <a:t>Wantsから、Needsを汲み取った経験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書記の方は、出てきた発言をこの表に記録してください。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749039" cy="502920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出てきたWants（言われた言葉）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399" y="1691640"/>
            <a:ext cx="3749039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汲み取ったNeeds（状態）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9" y="1691640"/>
            <a:ext cx="3611880" cy="50292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活動・提案がどう変わったか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399" y="2267712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38159" y="2267712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255264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399" y="3255264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59" y="3255264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242816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399" y="4242816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59" y="4242816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230368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43399" y="5230368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38159" y="5230368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542032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なぜ仕分けるのか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仕分けが終われば、仮説はほとんど出来ている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Factだけでは動けない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7830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情報は「量」ではなく「意味」。並べただけでは打ち手にならない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Wantsに応えるだけでは足りない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26974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その手段が最善か分からない。次の一手も出てこない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118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Needsが分かれば手段を選べる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36118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同じNeedsに対して、より効く手段を提案できる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17720"/>
            <a:ext cx="11109960" cy="5486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御用聞きと提案の違いは、Needsまで降りているかどうか。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2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参考：付録B〜Dに、考えられるFact／Wants／Needsを掲載（ワーク②の題材にも使えます）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97880"/>
            <a:ext cx="11109960" cy="3474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/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仕分けは、仮説を立てるための下ごしらえ。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仮説立て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Wantsに「なぜ？」を重ねて、Needsへ降りる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Wants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73736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関連病院の先生向けに、勉強会をやってほしい</a:t>
            </a:r>
          </a:p>
        </p:txBody>
      </p:sp>
      <p:sp>
        <p:nvSpPr>
          <p:cNvPr id="8" name="Down Arrow 7"/>
          <p:cNvSpPr/>
          <p:nvPr/>
        </p:nvSpPr>
        <p:spPr>
          <a:xfrm>
            <a:off x="1581912" y="2423160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706624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なぜ？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706624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関連病院から、進行してから紹介されることが多い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581912" y="3392424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675887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なぜ困る？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3675887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早く紹介されれば、まだ治療の選択肢が残る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581912" y="4361688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645152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71800" y="4645152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地域で早く見つけ、適切なタイミングで紹介される状態にしたい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仮説は1つとは限らない。</a:t>
            </a:r>
            <a:r>
              <a:rPr sz="1900" b="1" i="0">
                <a:solidFill>
                  <a:srgbClr val="FFC000"/>
                </a:solidFill>
                <a:latin typeface="Meiryo UI"/>
                <a:ea typeface="Meiryo UI"/>
              </a:rPr>
              <a:t>　複数立てて、次の面談の質問で確かめる。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自分の担当施設で、仮説と解決策を考える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1　Fact・Wants・Needsを置く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82696" y="1783080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1568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2　仮説を1文にする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135624" y="1783080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3　4Sに当てはめる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88552" y="1783080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4　解決策を出す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7744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仮説の例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44368"/>
            <a:ext cx="5486400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・この医局は「地域の腎臓診療の入口」を担いたいのではないか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・教授が学会長を務める年だから、医局の実績を外に出したいのではないか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・若手が育っていないことが、腎生検の減少につながっているのではないか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・紹介が遅いのは、地域の先生に紹介基準が伝わっていないからではないか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・全国発信の場を求めていて、近隣大学とも組める余地があるのではないか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37744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解決策の例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44368"/>
            <a:ext cx="5486400" cy="23774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・関連病院＋近隣大学を巻き込んだ合同勉強会を、医局と共同で企画する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・紹介基準を、地域の先生と共有できる形（研究会・連携パス）に落とす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・若手向けの症例検討会をつくり、医局の教育実績として残す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・医局の症例を、エリア・全国の講演会で発信する機会を設計する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・医師から医師へ案内してもらう形にして、参加の角度を上げる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86400"/>
            <a:ext cx="11109960" cy="74980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FFFFFF"/>
                </a:solidFill>
                <a:latin typeface="Meiryo UI"/>
                <a:ea typeface="Meiryo UI"/>
              </a:rPr>
              <a:t>例はあくまで参考。自分のエリアの言葉に置き換えてください。</a:t>
            </a:r>
          </a:p>
          <a:p>
            <a:pPr algn="ctr"/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解決策は「顧客・患者さん・自社」の3者がWinになっているかで検証する。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642616" cy="365760"/>
          </a:xfrm>
          <a:prstGeom prst="roundRect">
            <a:avLst>
              <a:gd name="adj" fmla="val 5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ワーク②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7863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4S：エリア・施設の課題解決シート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786384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施設（　　　　　　　　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11109960" cy="384048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【成功像】　← Needs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36776"/>
            <a:ext cx="11109960" cy="6583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2834640" y="2350008"/>
            <a:ext cx="274320" cy="365760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40487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理想とのGAPを洗い出す</a:t>
            </a:r>
          </a:p>
        </p:txBody>
      </p:sp>
      <p:sp>
        <p:nvSpPr>
          <p:cNvPr id="10" name="Up Arrow 9"/>
          <p:cNvSpPr/>
          <p:nvPr/>
        </p:nvSpPr>
        <p:spPr>
          <a:xfrm>
            <a:off x="8869680" y="2350008"/>
            <a:ext cx="274320" cy="365760"/>
          </a:xfrm>
          <a:prstGeom prst="up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24048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理想に近づくか検証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【現状・課題】　← 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91256"/>
            <a:ext cx="5486400" cy="1234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2834640" y="4480560"/>
            <a:ext cx="274320" cy="310896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5079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その理由を深掘る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64608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【原因】　← 仮説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66944"/>
            <a:ext cx="548640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2788920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【解決策】　← 打ち手（Wantsを手がかりに）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91256"/>
            <a:ext cx="5486400" cy="303580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742432" y="5394960"/>
            <a:ext cx="365760" cy="27432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⑥ 記入例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仕分けと仮説が、そのまま4Sに入る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109960" cy="36576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【成功像】　← Needs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56816"/>
            <a:ext cx="11109960" cy="548640"/>
          </a:xfrm>
          <a:prstGeom prst="roundRect">
            <a:avLst>
              <a:gd name="adj" fmla="val 2000"/>
            </a:avLst>
          </a:prstGeom>
          <a:solidFill>
            <a:srgbClr val="E9F5EE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地域で早く見つかり、適切なタイミングで紹介される状態になっている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【現状・課題】　← Fact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81528"/>
            <a:ext cx="5486400" cy="114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・腎生検が3年前の半減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・進行してから紹介されることが多い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・教授が来年、学会の会長を務める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15968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【原因】　← 仮説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00016"/>
            <a:ext cx="5486400" cy="960120"/>
          </a:xfrm>
          <a:prstGeom prst="roundRect">
            <a:avLst>
              <a:gd name="adj" fmla="val 2000"/>
            </a:avLst>
          </a:prstGeom>
          <a:solidFill>
            <a:srgbClr val="EAF0F9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地域の腎臓診療の入口を担いたいが、関連病院との接点が薄く、紹介基準が共有されていない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97480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【解決策】　← 打ち手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081528"/>
            <a:ext cx="5486400" cy="2578608"/>
          </a:xfrm>
          <a:prstGeom prst="roundRect">
            <a:avLst>
              <a:gd name="adj" fmla="val 2000"/>
            </a:avLst>
          </a:prstGeom>
          <a:solidFill>
            <a:srgbClr val="E9F5EE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・関連病院＋近隣大学の合同勉強会を、医局と共同で企画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・テーマは「紹介基準の共通認識づくり」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・近隣大学のファカルティも登壇に入れる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・案内は医師から医師へ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・学会長の年に合わせ、医局の症例発信の場も設計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06440"/>
            <a:ext cx="11109960" cy="438912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Wants（勉強会をやってほしい）は解決策の入口。Needsまで降りたから、エリアの形になった。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インタビュー　｜　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エリア＋大学攻略事例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どの情報から、その仮説にたどり着いたのか？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大学1施設で終わらせず、エリアにどう広げたか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Wantsのまま動いた時と、Needsまで降りた時で、何が違ったか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最初に確かめるのは、どの情報か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3182112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インタビュー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0B4F37"/>
                </a:solidFill>
                <a:latin typeface="Meiryo UI"/>
                <a:ea typeface="Meiryo UI"/>
              </a:rPr>
              <a:t>聞きながら、自分のエリアに置き換える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決め手になったFact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41732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先生のWantsとNeeds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260604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エリアの誰を、どの順番で巻き込んだか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379476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自分のエリアで確かめたいこと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498348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女子医大の活動 — 一言のWantsから始まった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初回面談の一言　</a:t>
            </a:r>
            <a:r>
              <a:rPr sz="2000" b="1" i="0">
                <a:solidFill>
                  <a:srgbClr val="C00000"/>
                </a:solidFill>
                <a:latin typeface="Meiryo UI"/>
                <a:ea typeface="Meiryo UI"/>
              </a:rPr>
              <a:t>「女子医大腎臓内科を全国に売り出したい」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集まっていたFact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90672"/>
            <a:ext cx="534924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・女子医大では新機序薬の使用経験が複数例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・条件の近い近隣2大学では未使用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・希少疾患のため「誰に使うべきか」の情報が全国的に不足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・院内の小児腎・移植でも適正使用の共有Needs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・近隣大学の先生は共同研究者・女子医大出身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0760" y="3566160"/>
            <a:ext cx="548640" cy="50292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0" y="2468880"/>
            <a:ext cx="4800600" cy="53035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降りた先のNeeds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090672"/>
            <a:ext cx="4800600" cy="86868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実臨床の経験を、全国と地域に届ける場がない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4069080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立てた仮説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599432"/>
            <a:ext cx="4800600" cy="3657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女子医大をHUBにすれば、横展開が起こる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12080"/>
            <a:ext cx="11109960" cy="10058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「売り出したい」はWants。その裏の</a:t>
            </a:r>
            <a:r>
              <a:rPr sz="1700" b="1" i="0">
                <a:solidFill>
                  <a:srgbClr val="FFC000"/>
                </a:solidFill>
                <a:latin typeface="Meiryo UI"/>
                <a:ea typeface="Meiryo UI"/>
              </a:rPr>
              <a:t>「発信する場がない」というNeeds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まで降りたことが起点。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3つの大学をつないで、影響の輪を設計した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設計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21992"/>
            <a:ext cx="534924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・女子医大をHUBに、近隣2大学を企画段階から巻き込む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・「エリア横展開・院内横展開・成人×小児」を、ファカルティ間で共通認識に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・MRからではなく、医師から医師へ参加案内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・現地開催＋海外演者で、会のPriorityを上げる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0020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成果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21992"/>
            <a:ext cx="534924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・参加医師35名（想定以上）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・処方確約1例／患者発掘1例／IC向上2施設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・大学間・診療科間の医師同士の関係性を複数確認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・次の疾患の活動の土台になった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26280"/>
            <a:ext cx="11109960" cy="6400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1つの大学のWinで終わらせず、近隣大学・院内の他科・患者さんの流れまでWinを広げた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大学を「個」で見ず、エリアの1施設として影響の輪を設計した。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本日の3つ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92024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83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情報は、仕分けた瞬間に意味を持つ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Fact・Wants・Needs。どれかに置くだけで、次に何を聞くかが決まる。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06324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926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Needsまで降りれば、手段は選べる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Wantsに応えるのが仕事ではない。仮説を立てて、4Sで解決策を選ぶ。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0624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069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大学は、エリアの1施設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Triple Winをエリアまで広げると、同じ打ち手でも残るものが変わる。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75504"/>
            <a:ext cx="11109960" cy="102412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各自のFactを仕分けて、仮説を立てて、エリア攻略に。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大学PJで共有した活動を、明日からの担当エリアで活かしてください。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22199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⑨ 総括　｜　5分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総括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200" b="1" i="0">
                <a:solidFill>
                  <a:srgbClr val="262626"/>
                </a:solidFill>
                <a:latin typeface="Meiryo UI"/>
                <a:ea typeface="Meiryo UI"/>
              </a:rPr>
              <a:t>4回を通して、大学・基幹病院の担当として何が変わったか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27832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1568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0760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33688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仮説を立てる力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1110996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605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所長よりご総括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0515600" cy="141732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第3回では「どんな情報を、どこから取るか」を考えました。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第4回では、その情報を仕分け、仮説を立て、エリアの打ち手に変えました。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20440"/>
            <a:ext cx="10515600" cy="15544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大学担当者に求められるのは、大学の中だけを詳しく知ることではありません。</a:t>
            </a:r>
          </a:p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得た情報から仮説を立て、</a:t>
            </a:r>
            <a:r>
              <a:rPr sz="2100" b="1" i="0">
                <a:solidFill>
                  <a:srgbClr val="0B4F37"/>
                </a:solidFill>
                <a:latin typeface="Meiryo UI"/>
                <a:ea typeface="Meiryo UI"/>
              </a:rPr>
              <a:t>エリアの中でWinを広げられること。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明日から、担当施設のFactを1つ仕分けてみてください。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参考：ワーク① 仕分けの一例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唯一の正解ではありません。なぜそう置いたかを説明できることが目的です。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② 腎生検の件数が、3年前の半分になっている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⑤ eGFRが20を切ってから紹介されることが多い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⑧ 教授が来年、学会の会長を務める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仮説の材料。単独では打ち手にならない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Wants（手段）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① 関連病院向けにCKDの勉強会をやってほしい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④ 〇〇大学の△△先生を研究会に呼んでほしい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⑦ 先月の学会のスライドが欲しい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「なぜ？」を重ねてNeedsへ降りる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Needs（状態）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③ 若手に、腎病理を読める医師を育てたい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⑥ うちの医局を、もっと全国に知ってもらいたい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⑨ 透析導入を、できるだけ遅らせたい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成功像になる。手段はここから選ぶ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一つの発言にも、複数の解釈があり得ます。仕分けが割れること自体が、確認すべき情報の在りかです。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参考：考えられるFact（事実）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評価や推測を混ぜず、確認できた事実として書く。大学・基幹病院で取得し得るFactの例です。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施設・診療体制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・腎生検件数が3年前より減少している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・腎病理を専門とする医師が院内にいない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・腎生検結果の確認まで平均3週間かかる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・専門外来が週1回のみである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・他院からの症例相談は医局長が一括対応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患者・診療実態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・腎機能が高度に低下してから紹介される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・大学と関連病院で治療方針が異なる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・治療導入の判断が特定の医師に集中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・若手医師によって検査・治療の進め方に差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・紹介後のフィードバックが紹介元へ返らない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人事・組織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・来年度に教授交代が予定されている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・医局長が関連病院人事の調整を担当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・複数の基幹病院部長が同じ医局の出身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・若手医師が減少している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・新たな寄附講座が設置された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教育・研究・学術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・教授が次年度の学会長を務める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・医局が特定疾患の研究班へ参加している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・若手向け勉強会が定期開催されていない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・研究会の演者が毎回同じ医師に偏る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・複数大学による共同研究実績がある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関係性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・基幹病院部長が大学教授へ定期的に症例相談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・若手の相談相手は教授ではなく講師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・近隣大学間に共同研究・同年卒のつながり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・過去の人事を背景に施設間の関係が良好でない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・研究会の実務を医局長ではなく若手が担う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地域・外部環境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・地域の腎臓専門医数が減少している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・専門医療機関への患者流出が増えている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・地域連携パスが十分に活用されていない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・行政がCKD連携事業を開始している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・紹介基準が地域内で統一されていない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263640"/>
            <a:ext cx="9098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Factは単独では打ち手にならない。いくつかを線でつなぎ、仮説の材料にする。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参考：Wants → 複数のNeeds仮説 → 確認したい質問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一つのWantsに、Needs仮説は複数あり得ます。決めつけず、質問で確かめる。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「勉強会をやってほしい」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若手の診療力向上／接点の維持／紹介を早める／方針の浸透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特に誰に、何を持ち帰ってほしいですか？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28315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「A大学のB先生を呼んでほしい」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外部の知見／A大学との関係強化／医局を変える刺激／若手への視点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B先生の、どの経験を聞きたいのでしょうか？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73552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「学会のスライド・文献が欲しい」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院内で共有したい／理解を深めたい／症例判断・教育に使いたい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どの内容を、どの場面で活用したいですか？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18787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「若手に腎病理を学ばせたい」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診断の質の安定／特定医師への依存減／将来の体制維持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どのレベルまで判断できる状態を目指しますか？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64024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「連携パスを整えたい」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役割分担の明確化／逆紹介の円滑化／患者の流れの安定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今、連携のどこで最も困っていますか？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09259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「もっと早く紹介してほしい」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適切な時期につなぐ／治療の選択肢を残す／地域の基準を揃える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紹介の、どの段階が最も課題ですか？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「症例をまとめたい・論文にしたい」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業績が必要／専門医・学位／医局の評価を上げたい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いつまでに、どの形で発表したいですか？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28315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「医局の活動を全国へ発信したい」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存在価値を高める／入局者を増やす／共同研究へつなげる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全国に最も伝えたい強みは何ですか？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273552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「関連病院に若手を出したい」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経験を積ませたい／派遣先との関係維持／ポストの確保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派遣で、若手に何を得てほしいですか？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018787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「市民公開講座をやりたい」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地域での認知向上／早期受診につなげる／患者・家族の支援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参加者に、何を持ち帰ってほしいですか？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764024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「〇〇大学と共同で会をやりたい」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研究の幅を広げる／人材交流／エリアでの存在感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その大学と、何を一緒に実現したいですか？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509259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Wants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「小児科・移植科と話す場が欲しい」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Needs仮説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移行期診療の円滑化／院内での症例共有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どの患者さんの場面を想定していますか？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263640"/>
            <a:ext cx="9098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同じWantsでも、裏のNeedsは施設によって違う。仮説が変われば、解決策も変わる。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参考：考えられるNeedsと、解決策の広がり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86400" cy="45720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大学・基幹病院に考えられるNeeds（状態）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84831"/>
            <a:ext cx="5486400" cy="374903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・診療の質を均一化したい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・適切なタイミングで専門医へつなぎたい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・診断に必要な専門性を維持したい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・若手を育成し、将来の体制を維持したい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・関連病院との役割分担を明確にしたい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・大学の知見を地域へ広げたい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・実臨床経験を学術的に発信したい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・施設・医局の存在価値を高めたい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・複数施設で共通する課題を解決したい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・大学間・診療科間の連携を強化したい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・研究と実臨床をつなげたい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・患者紹介後の連携を改善したい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54864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B4F37"/>
                </a:solidFill>
                <a:latin typeface="Meiryo UI"/>
                <a:ea typeface="Meiryo UI"/>
              </a:rPr>
              <a:t>「勉強会をしたい」のような手段ではなく、実現したい状態で書く。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4924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考える型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121408"/>
            <a:ext cx="534924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Wants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851392" y="2514600"/>
            <a:ext cx="219456" cy="128016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2670048"/>
            <a:ext cx="5349240" cy="38404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複数のNeeds仮説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851392" y="3063240"/>
            <a:ext cx="219456" cy="128016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3218688"/>
            <a:ext cx="534924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確かめる質問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851392" y="3611880"/>
            <a:ext cx="219456" cy="128016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60" y="3767328"/>
            <a:ext cx="5349240" cy="38404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複数の解決策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343400"/>
            <a:ext cx="5349240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解決策は、影響の範囲で選べる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873752"/>
            <a:ext cx="5349240" cy="13716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① 一つの施設の中で解決する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② 大学と関連病院をつないで解決する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 i="0">
                <a:solidFill>
                  <a:srgbClr val="262626"/>
                </a:solidFill>
                <a:latin typeface="Meiryo UI"/>
                <a:ea typeface="Meiryo UI"/>
              </a:rPr>
              <a:t>③ 複数の大学・基幹病院をつないで解決する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 i="0">
                <a:solidFill>
                  <a:srgbClr val="262626"/>
                </a:solidFill>
                <a:latin typeface="Meiryo UI"/>
                <a:ea typeface="Meiryo UI"/>
              </a:rPr>
              <a:t>④ エリア全体へ広げて解決する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参考：4Sへつなげる思考プロセスの例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0B4F37"/>
                </a:solidFill>
                <a:latin typeface="Meiryo UI"/>
                <a:ea typeface="Meiryo UI"/>
              </a:rPr>
              <a:t>以下は参考例です。同じ情報から異なる仮説・解決策も考えられます。どのFactからどの仮説を立てたかを見てください。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例1：関連病院向け勉強会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6048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例2：全国発信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7616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例3：腎病理教育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932688" cy="603504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起点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Fact：進行後の紹介が多く、施設で時期に差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Wants：関連病院向けに勉強会を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6048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Fact：症例・研究実績はあるが発表は一部に限定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Wants：医局の活動を全国へ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7616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Fact：病理評価が少数医師に集中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Wants：若手に腎病理を学ばせたい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56915"/>
            <a:ext cx="932688" cy="475488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2756915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紹介判断の考え方を共有し、適切な時期につなぎたい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6048" y="2756915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存在価値を高め、若手の成長機会と人脈を広げたい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57616" y="2756915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診断の質と、将来の診療・教育体制を維持したい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82696"/>
            <a:ext cx="932688" cy="475488"/>
          </a:xfrm>
          <a:prstGeom prst="roundRect">
            <a:avLst>
              <a:gd name="adj" fmla="val 6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質問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328269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勉強会の後、関連病院の何が変わってほしいですか？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56048" y="328269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全国に最も伝えたい医局の強みは何ですか？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6" y="328269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どのレベルまで判断できる状態を目指しますか？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08476"/>
            <a:ext cx="932688" cy="475488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Success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54480" y="380847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相談・紹介の考え方が、大学と関連病院で共有されている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6048" y="380847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強みが認知され、若手も含め継続的に発信している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57616" y="380847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複数の医師が病理所見を臨床と統合して検討できる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34256"/>
            <a:ext cx="932688" cy="475488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Situation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54480" y="433425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進行後の紹介が多く、施設ごとに紹介時期が異なる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433425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実績はあるが、発信する医師と機会が限られている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57616" y="433425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評価が少数に集中し、若手の教育機会が少ない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60036"/>
            <a:ext cx="932688" cy="47548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Source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54480" y="486003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紹介の目安が共有されず、相談の時期を判断しにくい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6048" y="486003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テーマ整理・若手育成・外部との接点が不足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57616" y="486003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継続的に振り返る場と、臨床と病理をつなぐ機会が不足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85816"/>
            <a:ext cx="932688" cy="566928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Solution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554480" y="5385816"/>
            <a:ext cx="331012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一方向の講演ではなく、症例で相談時期を議論する場を設計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56048" y="5385816"/>
            <a:ext cx="331012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若手・中堅も含め、近隣大学・基幹病院と共同で発信機会を設計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57616" y="5385816"/>
            <a:ext cx="331012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病理医・臨床医・関連病院の若手による継続的な症例検討を設計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当日の進行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・0-10 振り返り＋Triple Win Beyond／10-25 ワーク①＋意義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・25-40 ワーク②＋4S／40-50 インタビュー／50-60 まとめ・総括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・レクチャーは合計20分。ワークと共有に30分を残す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ワーク①・ワーク②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・ワーク①前半4分：例題9件を仕分け（15枚目の欄に番号）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・ワーク①後半6分：WantsからNeedsを汲み取った経験を共有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・ワーク②：20枚目の例を残したまま、21枚目の4Sに書き切る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付録の使い方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・付録A〜Dは、ワーク①の後に投影してよい（考える材料）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・付録E（4S参考例）はワーク前に投影しない — なぞってしまうため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・使うのは、ワーク②後の解説／議論が止まった時／研修後の自己学習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・「例が正しいのではなく、どのFactからどの仮説を立てたかを見る」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記録・書記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・17・21・24枚目が記録用スライド（そのまま入力可）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・ワーク①はWants／Needs／変化の3列で拾う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・終了後、記録用スライドをTeamsへ格納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ワーク①の題材・付録の事例はすべて架空です。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