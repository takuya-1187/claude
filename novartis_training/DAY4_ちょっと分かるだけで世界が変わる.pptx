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■振り返り／Triple Win Beyond　10分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■ワーク①「ウォンツとニーズの仕分け」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■ワーク②「仮説立て」とエリアプラン・4S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■インタビュー／まとめ・総括　20分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振り返り ／ Triple Win Beyond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10分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3回の振り返り｜Winをエリアまで広げる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ワーク①「ウォンツとニーズの仕分け」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92608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得た情報を3つに分ける｜仕分けの意義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ワーク②「仮説立て」とエリアプラン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023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023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ウォンツをニーズへ｜4Sにつなげる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12064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インタビュー ／ まとめ・総括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12064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20分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51206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エリア＋大学攻略事例｜女子医大の活動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情報を「仕分ける」と、仮説が立つ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595959"/>
                </a:solidFill>
                <a:latin typeface="Meiryo UI"/>
                <a:ea typeface="Meiryo UI"/>
              </a:rPr>
              <a:t>― 得た情報をFact・ウォンツ・ニーズに分け、エリアの打ち手につなげる 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7424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本日の到達点：得た情報を仕分け、そこから仮説を立てられる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集めた事実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1256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01568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仕分け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3つに分ける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44184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4496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なぜかを立てる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97112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07424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4S・エリアプラン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7424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打ち手にする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情報の量では差がつかない。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同じ情報から、どんな仮説を立てられるかで差がつく。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振り返り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・大学・基幹病院の構造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・誰がどこまで決められるか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・一人で突破しない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・Dry情報とWet情報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DAY3の最後の問い　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「営業として、その情報をどう活かすか」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情報は、もう集まっている。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今日は、その情報を仕分けて、仮説を立てて、エリアで動かす。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TRIPLE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解決策とは、3者が同時にWinになっているもの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1965960" y="173736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患者さん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・適切な診断・治療に、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・適切なタイミングで届く</a:t>
            </a:r>
          </a:p>
        </p:txBody>
      </p:sp>
      <p:sp>
        <p:nvSpPr>
          <p:cNvPr id="9" name="Oval 8"/>
          <p:cNvSpPr/>
          <p:nvPr/>
        </p:nvSpPr>
        <p:spPr>
          <a:xfrm>
            <a:off x="5705855" y="173736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顧客（医局・施設）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・果たしたい役割が果たせる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・施設・医師の価値が上がる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9445752" y="173736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ノバルティス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・必要な患者さんに届く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・エリアで信頼される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7200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ノバルティスの目標・顧客の目標・患者さんの3者がWinになっているか（SAM）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068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どれか1つが欠けた打ち手は、続かない。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Winを、エリアまで広げる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大学を「個」で見ると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67712"/>
            <a:ext cx="534924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・その施設の中でWinが完結する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・1人の先生の要望に応える形になる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・隣の施設には何も起きない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80760" y="265176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645920"/>
            <a:ext cx="480060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エリアの1施設として見ると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267712"/>
            <a:ext cx="4800600" cy="16002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・関連病院・近隣大学にWinが広がる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・医師同士の関係が動く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・患者さんの流れが変わる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1109960" cy="62179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Triple Win（患者・顧客・自社）　＋　Beyond（関連病院・近隣大学・地域の先生）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83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大学は、エリアの中の1施設。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影響の輪まで設計すると、同じ打ち手でもWinが大きくなる。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NEEDS &amp; WANTS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ニーズは「状態」、ウォンツは「手段」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20040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理想の状態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Gap ＝ ニーズ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82112"/>
            <a:ext cx="320040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現状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＝ 満たされていない状態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31920" y="2487168"/>
            <a:ext cx="548640" cy="457200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1600200"/>
            <a:ext cx="6995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Gapを埋める具体的なもの ＝ ウォンツ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286000"/>
            <a:ext cx="6995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・顧客が口にするのは、ほとんどがウォンツ（やり方の指定）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・ウォンツに応えるだけでは、その手段が正しいか分からない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・ニーズが分かれば、手段は他にも選べる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840480"/>
            <a:ext cx="3429000" cy="56692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顕在ニーズ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4480560"/>
            <a:ext cx="342900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顧客自身が気づいている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840480"/>
            <a:ext cx="342900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潜在ニーズ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480560"/>
            <a:ext cx="342900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顧客自身が気づいていない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顕在化することは珍しい。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気づかれていないニーズを、競合より早く見つけられるかで差がつく。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仕分けの目安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得た情報を、3つのどれかに置く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観察できること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・数字・出来事・体制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・願望が入っていない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・例：腎生検が半減している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ウォンツ（手段）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やり方の指定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・「〜が欲しい」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・「〜してほしい」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・例：勉強会をやってほしい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ニーズ（状態）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満たされていないGap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・「〜したい」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・「〜が足りない・困っている」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・例：若手を育てたい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628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迷ったら　</a:t>
            </a: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「これは状態か、手段か」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　願望が入っていなければ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9496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Factは、仮説の材料。ウォンツは、入口。ニーズは、目指す状態。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　｜　10分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この情報は、Fact／ウォンツ／ニーズ のどれですか？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腎臓内科の医局・先生から得た情報です。3〜4人で仕分けてください。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74519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5568" y="1874519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関連病院の先生向けに、CKDの勉強会をやってほしい</a:t>
            </a:r>
          </a:p>
        </p:txBody>
      </p:sp>
      <p:sp>
        <p:nvSpPr>
          <p:cNvPr id="8" name="Oval 7"/>
          <p:cNvSpPr/>
          <p:nvPr/>
        </p:nvSpPr>
        <p:spPr>
          <a:xfrm>
            <a:off x="4288536" y="1874519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55464" y="1874519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腎生検の件数が、3年前の半分になっている</a:t>
            </a:r>
          </a:p>
        </p:txBody>
      </p:sp>
      <p:sp>
        <p:nvSpPr>
          <p:cNvPr id="10" name="Oval 9"/>
          <p:cNvSpPr/>
          <p:nvPr/>
        </p:nvSpPr>
        <p:spPr>
          <a:xfrm>
            <a:off x="8028431" y="1874519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59" y="1874519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若手に、腎病理を読める医師を育てたい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81528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3081528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〇〇大学の△△先生を、次の研究会に呼んでほしい</a:t>
            </a:r>
          </a:p>
        </p:txBody>
      </p:sp>
      <p:sp>
        <p:nvSpPr>
          <p:cNvPr id="14" name="Oval 13"/>
          <p:cNvSpPr/>
          <p:nvPr/>
        </p:nvSpPr>
        <p:spPr>
          <a:xfrm>
            <a:off x="4288536" y="3081528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5464" y="3081528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地域の先生から、eGFRが20を切ってから紹介されることが多い</a:t>
            </a:r>
          </a:p>
        </p:txBody>
      </p:sp>
      <p:sp>
        <p:nvSpPr>
          <p:cNvPr id="16" name="Oval 15"/>
          <p:cNvSpPr/>
          <p:nvPr/>
        </p:nvSpPr>
        <p:spPr>
          <a:xfrm>
            <a:off x="8028431" y="3081528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59" y="3081528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うちの医局を、もっと全国に知ってもらいたい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288536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4288536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先月の学会のスライドが欲しい</a:t>
            </a:r>
          </a:p>
        </p:txBody>
      </p:sp>
      <p:sp>
        <p:nvSpPr>
          <p:cNvPr id="20" name="Oval 19"/>
          <p:cNvSpPr/>
          <p:nvPr/>
        </p:nvSpPr>
        <p:spPr>
          <a:xfrm>
            <a:off x="4288536" y="4288536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5464" y="4288536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教授が来年、学会の会長を務める</a:t>
            </a:r>
          </a:p>
        </p:txBody>
      </p:sp>
      <p:sp>
        <p:nvSpPr>
          <p:cNvPr id="22" name="Oval 21"/>
          <p:cNvSpPr/>
          <p:nvPr/>
        </p:nvSpPr>
        <p:spPr>
          <a:xfrm>
            <a:off x="8028431" y="4288536"/>
            <a:ext cx="457200" cy="457200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59" y="4288536"/>
            <a:ext cx="2999232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透析導入を、できるだけ遅らせたい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11109960" cy="621792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仕分けが割れた項目を中心に、なぜそう置いたかを話してください。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なぜ仕分けるのか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仕分けが終われば、仮説はほとんど出来ている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Factだけでは動けない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7830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情報は「量」ではなく「意味」。並べただけでは打ち手にならない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ウォンツに応えるだけでは足りない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26974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その手段が最善か分からない。次の一手も出てこない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ニーズが分かれば手段を選べる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36118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同じニーズに対して、より効く手段を提案できる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1772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御用聞きと提案の違いは、ニーズまで降りているかどうか。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44068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仕分けは、仮説を立てるための下ごしらえ。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仮説立て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ウォンツに「なぜ？」を重ねて、ニーズへ降りる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ウォンツ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73736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関連病院の先生向けに、勉強会をやってほしい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90472" y="2423160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70662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なぜ？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706624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関連病院から、進行してから紹介されることが多い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90472" y="3392424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675887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なぜ困る？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3675887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早く紹介されれば、まだ治療の選択肢が残る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90472" y="4361688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64515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ニーズ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1800" y="4645152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地域で早く見つけ、適切なタイミングで紹介される状態にしたい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手段は1つではない。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　ニーズが分かれば、より効く手段を選べる。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自分の担当施設で、仮説を立てる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155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実際に持っている情報を使ってください。手元にある範囲で構いません。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74519"/>
            <a:ext cx="566928" cy="566928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98448" y="1874519"/>
            <a:ext cx="420624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Factを書き出す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1874519"/>
            <a:ext cx="60350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数字・出来事・体制。3つ程度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569463"/>
            <a:ext cx="566928" cy="56692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2569463"/>
            <a:ext cx="42062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ウォンツを1つ選ぶ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2569463"/>
            <a:ext cx="60350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先生から言われた具体的な要望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64407"/>
            <a:ext cx="566928" cy="56692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98448" y="3264407"/>
            <a:ext cx="4206240" cy="56692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「なぜ？」を重ねてニーズへ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3264407"/>
            <a:ext cx="60350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その要望の裏にある、満たされていない状態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959351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98448" y="3959351"/>
            <a:ext cx="4206240" cy="56692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仮説を1文にする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3959351"/>
            <a:ext cx="60350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ニーズとFactをつなげて言い切る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仮説の型　</a:t>
            </a: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「〇〇（Fact）から、この医局は〇〇（ニーズ）を満たしたいのではないか」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66928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仮説なので、外れて構いません。次の面談で確かめられる形になっていれば十分です。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⑤ 記入例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同じ情報でも、ニーズまで降りると打ち手が変わる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71323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Fact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737360"/>
            <a:ext cx="896112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腎生検が3年前の半減／進行してからの紹介が多い／教授が来年学会長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2011680" cy="71323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ウォンツ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2560320"/>
            <a:ext cx="896112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関連病院の先生向けに、勉強会をやってほしい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79"/>
            <a:ext cx="2011680" cy="71323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ニーズ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3383279"/>
            <a:ext cx="896112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地域で早く見つけ、適切なタイミングで紹介される状態にしたい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06240"/>
            <a:ext cx="2011680" cy="71323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4206240"/>
            <a:ext cx="8961120" cy="713232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この医局は「地域の腎臓診療の入口」を担いたいのではないか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74920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ウォンツのまま動くと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69280"/>
            <a:ext cx="5440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1施設で勉強会を1回開く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074920"/>
            <a:ext cx="544068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仮説から動くと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669280"/>
            <a:ext cx="5440680" cy="56692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関連病院＋近隣大学を巻き込む形にする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0195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⑥ 4Sとの対応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仕分けと仮説の結果が、そのまま4Sに入る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ニーズ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34640" y="2002536"/>
            <a:ext cx="457200" cy="292608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783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顧客が満たされた状態＝どこを目指すか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517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2871215"/>
            <a:ext cx="457200" cy="292608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29000" y="26517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現状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今、何がどうなっているか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0439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34640" y="3739896"/>
            <a:ext cx="457200" cy="292608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29000" y="3520439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課題・原因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520439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なぜそうなっているのか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89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ウォンツ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834640" y="4608576"/>
            <a:ext cx="457200" cy="292608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29000" y="43891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解決策の入口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3891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何をやるか。手段は複数から選ぶ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4Sは埋める表ではない。仕分けと仮説ができていれば、自然に埋まる。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⑥ エリアプラン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見る単位を変えると、打てる手が変わる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同じ仮説でも、「1施設の話」と考えるか、「エリアの話」と考えるかで、打ち手は変わる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1施設で考える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539496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・その大学の中で完結する企画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・参加者はその施設の先生だけ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・終わったら、また次を探す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37744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エリアで考える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017520"/>
            <a:ext cx="5394960" cy="16002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・関連病院・近隣大学を巻き込む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・医師同士の関係が動く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・次の企画の土台が残る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46320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大学を「個」で見ず、エリアの1施設として、影響の輪で考える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7784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800" b="1" i="0">
                <a:solidFill>
                  <a:srgbClr val="FFC000"/>
                </a:solidFill>
                <a:latin typeface="Meiryo UI"/>
                <a:ea typeface="Meiryo UI"/>
              </a:rPr>
              <a:t>エリアプランは、施設ごとのプランを並べたものではない。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インタビュー　｜　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エリア＋大学攻略事例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どの情報から、その仮説にたどり着いたのか？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大学1施設で終わらせず、エリアにどう広げたか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ウォンツのまま動いた時と、ニーズまで降りた時で、何が違ったか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最初に確かめるのは、どの情報か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⑦ インタビュー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聞きながら、自分のエリアに置き換える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・どのFactが、仮説の決め手になりましたか？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・その先生のウォンツは何で、ニーズは何でしたか？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・エリアの誰を、どの順番で巻き込みましたか？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11109960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778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9D9D9"/>
                </a:solidFill>
                <a:latin typeface="Meiryo UI"/>
                <a:ea typeface="Meiryo UI"/>
              </a:rPr>
              <a:t>※ 自分のエリアで確かめたいことをメモ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女子医大の活動 — 一言のウォンツから始まった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初回面談の一言　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「女子医大腎臓内科を全国に売り出したい」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集まっていたFact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90672"/>
            <a:ext cx="53492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・女子医大では新機序薬の使用経験が複数例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・条件の近い近隣2大学では未使用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・希少疾患のため「誰に使うべきか」の情報が全国的に不足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・院内の小児腎・移植でも適正使用の共有ニーズ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・近隣大学の先生は共同研究者・女子医大出身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56616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2468880"/>
            <a:ext cx="4800600" cy="53035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降りた先のニーズ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090672"/>
            <a:ext cx="4800600" cy="8686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実臨床の経験を、全国と地域に届ける場がない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069080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立てた仮説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599432"/>
            <a:ext cx="4800600" cy="365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女子医大をHUBにすれば、横展開が起こる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12080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「売り出したい」はウォンツ。その裏の</a:t>
            </a:r>
            <a:r>
              <a:rPr sz="1700" b="1" i="0">
                <a:solidFill>
                  <a:srgbClr val="FFC000"/>
                </a:solidFill>
                <a:latin typeface="Meiryo UI"/>
                <a:ea typeface="Meiryo UI"/>
              </a:rPr>
              <a:t>「発信する場がない」というニーズ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まで降りたことが起点。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3つの大学をつないで、影響の輪を設計した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設計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534924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・女子医大をHUBに、近隣2大学を企画段階から巻き込む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・「エリア横展開・院内横展開・成人×小児」を、ファカルティ間で共通認識に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・MRからではなく、医師から医師へ参加案内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・現地開催＋海外演者で、会のPriorityを上げる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21992"/>
            <a:ext cx="534924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・参加医師35名（想定以上）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・処方確約1例／患者発掘1例／IC向上2施設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・大学間・診療科間の医師同士の関係性を複数確認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・次の疾患の活動の土台になった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2628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1つの大学のWinで終わらせず、近隣大学・院内の他科・患者さんの流れまでWinを広げた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大学を「個」で見ず、エリアの1施設として影響の輪を設計した。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情報は、仕分けた瞬間に意味を持つ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Fact・ウォンツ・ニーズ。どれかに置くだけで、次に何を聞くかが決まる。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ニーズまで降りれば、手段は選べる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ウォンツに応えるのが仕事ではない。仮説を立てて、より効く手段を選ぶ。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大学は、エリアの1施設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Triple Winをエリアまで広げると、同じ打ち手でも残るものが変わる。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各自のFactを仕分けて、仮説を立てて、エリア攻略に。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大学PJで共有した活動を、明日からの担当エリアで活かしてください。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22199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⑨ 総括　｜　5分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総括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200" b="1" i="0">
                <a:solidFill>
                  <a:srgbClr val="262626"/>
                </a:solidFill>
                <a:latin typeface="Meiryo UI"/>
                <a:ea typeface="Meiryo UI"/>
              </a:rPr>
              <a:t>4回を通して、大学・基幹病院の担当として何が変わったか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27832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33688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仮説を立てる力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1110996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所長よりご総括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0515600" cy="141732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第3回では「どんな情報を、どこから取るか」を考えました。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第4回では、その情報を仕分け、仮説を立て、エリアの打ち手に変えました。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20440"/>
            <a:ext cx="10515600" cy="15544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大学担当者に求められるのは、大学の中だけを詳しく知ることではありません。</a:t>
            </a:r>
          </a:p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得た情報から仮説を立て、</a:t>
            </a:r>
            <a:r>
              <a:rPr sz="2100" b="1" i="0">
                <a:solidFill>
                  <a:srgbClr val="0B4F37"/>
                </a:solidFill>
                <a:latin typeface="Meiryo UI"/>
                <a:ea typeface="Meiryo UI"/>
              </a:rPr>
              <a:t>エリアの中でWinを広げられること。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明日から、担当施設のFactを1つ仕分けてみてください。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参考：ワーク① 仕分けの一例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唯一の正解ではありません。なぜそう置いたかを説明できることが目的です。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仮説の材料。単独では打ち手にならない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ウォンツ（手段）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① 関連病院向けにCKDの勉強会をやってほしい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〇〇大学の△△先生を研究会に呼んでほしい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「なぜ？」を重ねてニーズへ降りる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ニーズ（状態）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成功像になる。手段はここから選ぶ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⑥「全国に知ってもらいたい」は状態＝ニーズ。④「先生を呼んでほしい」は手段＝ウォンツ。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ワークシート：仕分け → 仮説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担当施設（　　　　　　　　　　）　作成日（　　／　　）　作成者（　　　　　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444752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空欄が残ったところが、次に取る情報です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10512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Fact（事実）　3つ程度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1810512"/>
            <a:ext cx="7955279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843784"/>
            <a:ext cx="3017520" cy="566928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ウォンツ（言われたこと）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843784"/>
            <a:ext cx="7955279" cy="566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483864"/>
            <a:ext cx="3017520" cy="566928"/>
          </a:xfrm>
          <a:prstGeom prst="roundRect">
            <a:avLst>
              <a:gd name="adj" fmla="val 8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なぜ？　なぜ困る？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483864"/>
            <a:ext cx="7955279" cy="566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23944"/>
            <a:ext cx="3017520" cy="566928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ニーズ（満たされていない状態）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4123944"/>
            <a:ext cx="7955279" cy="566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764024"/>
            <a:ext cx="3017520" cy="566928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仮説（1文で）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4764024"/>
            <a:ext cx="7955279" cy="5669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404104"/>
            <a:ext cx="3017520" cy="548640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次の面談で確かめること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5404104"/>
            <a:ext cx="7955279" cy="548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参考：4S／エリアプランの型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349240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成功像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04872"/>
            <a:ext cx="53492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どこを目指すか（定性／定量）</a:t>
            </a:r>
          </a:p>
          <a:p>
            <a:pPr algn="l"/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← ニーズ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349240" cy="5486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現状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404872"/>
            <a:ext cx="53492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今どうなっているか（数字・体制・関係）</a:t>
            </a:r>
          </a:p>
          <a:p>
            <a:pPr algn="l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← Fact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31920"/>
            <a:ext cx="534924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課題・原因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53712"/>
            <a:ext cx="53492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なぜそうなっているか</a:t>
            </a:r>
          </a:p>
          <a:p>
            <a:pPr algn="l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← 仮説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931920"/>
            <a:ext cx="534924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解決策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553712"/>
            <a:ext cx="534924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何を、誰と、いつやるか</a:t>
            </a:r>
          </a:p>
          <a:p>
            <a:pPr algn="l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← ウォンツ／打ち手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解決策は「顧客・患者さん・自社」の3者がWinになっているかで検証する（SAM）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参考：ニーズを引き出す質問（DAY3の続き）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94960" cy="5029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事実を聞く質問（現状確認）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76272"/>
            <a:ext cx="53949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・治療方針／患者数／業務量／体制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・クローズドで確認できる状態にしてから聞く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考えを聞く質問（気づかせる）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394960" cy="11430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・その方針に至った価値観／医師の思い</a:t>
            </a:r>
          </a:p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・自分がしなくてよいと思っていること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4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拡大質問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3520440"/>
            <a:ext cx="8961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「このクラスの薬剤に、何を期待されますか？」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6052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未来質問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4160520"/>
            <a:ext cx="8961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「目標値を達成すると、患者さんの生活はどう変わりますか？」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0060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肯定質問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4800600"/>
            <a:ext cx="8961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「早期に治療を始めることで、良好な経過が期待できるのでは？」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06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仮定質問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5440680"/>
            <a:ext cx="8961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「仮に病状が進行したら、どのような懸念がありますか？」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080760"/>
            <a:ext cx="11109960" cy="18288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800" b="0" i="0">
                <a:solidFill>
                  <a:srgbClr val="FFFFFF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「仮に」の話であれば、相手も安心して本音で語ってくれることが多い（ROTF3）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当日の進行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・0-10 振り返り＋Triple Win Beyond／10-25 ワーク①＋仕分けの意義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・25-40 ワーク②＋4S／40-50 インタビュー／50-60 まとめ・総括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・レクチャーは合計20分。ワークと共有に30分を残す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ワーク①（10分）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・3分で個人、7分でグループ。仕分けが割れた項目だけ扱う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・答え合わせは付録Aを使う。正解探しにしない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・Fact／ウォンツ／ニーズが3つずつになる設計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ワーク②（10分）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・自分の担当施設の情報で行う。手元にある範囲でよい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・「なぜ？」は2回で十分。3回目は深追いしない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・仮説が1文になったグループから共有を拾う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インタビュー・まとめ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・インタビューは「どのFactが決め手だったか」を必ず聞く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・女子医大の事例は、ウォンツ→ニーズの降り方に焦点を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・総括まで必ず5分残す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ワーク①の題材はすべて架空です。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