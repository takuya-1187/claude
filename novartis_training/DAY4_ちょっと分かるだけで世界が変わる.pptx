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1.svg" ContentType="image/svg+xml"/>
  <Override PartName="/ppt/media/image4.svg" ContentType="image/svg+xml"/>
  <Override PartName="/ppt/media/image7.svg" ContentType="image/svg+xml"/>
  <Override PartName="/ppt/media/image8.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sldIdLst>
    <p:sldId id="402" r:id="rId3"/>
    <p:sldId id="499" r:id="rId4"/>
    <p:sldId id="400" r:id="rId5"/>
    <p:sldId id="393" r:id="rId6"/>
    <p:sldId id="394" r:id="rId7"/>
    <p:sldId id="399" r:id="rId8"/>
    <p:sldId id="396" r:id="rId9"/>
    <p:sldId id="500" r:id="rId16"/>
    <p:sldId id="501" r:id="rId17"/>
    <p:sldId id="502" r:id="rId18"/>
    <p:sldId id="503" r:id="rId19"/>
    <p:sldId id="504" r:id="rId20"/>
    <p:sldId id="505" r:id="rId21"/>
    <p:sldId id="506" r:id="rId22"/>
    <p:sldId id="507" r:id="rId23"/>
    <p:sldId id="508" r:id="rId24"/>
    <p:sldId id="509" r:id="rId25"/>
    <p:sldId id="510" r:id="rId26"/>
    <p:sldId id="511" r:id="rId27"/>
    <p:sldId id="512" r:id="rId28"/>
    <p:sldId id="513" r:id="rId29"/>
    <p:sldId id="514" r:id="rId30"/>
    <p:sldId id="515" r:id="rId31"/>
    <p:sldId id="516" r:id="rId32"/>
    <p:sldId id="517" r:id="rId33"/>
    <p:sldId id="518" r:id="rId34"/>
    <p:sldId id="519" r:id="rId35"/>
    <p:sldId id="520" r:id="rId36"/>
    <p:sldId id="521" r:id="rId37"/>
    <p:sldId id="522" r:id="rId38"/>
    <p:sldId id="523"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D533AA-C579-1C45-BEA3-440ECA50460C}" v="3" dt="2026-07-27T11:46:49.4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microsoft.com/office/2016/11/relationships/changesInfo" Target="changesInfos/changesInfo1.xml"/><Relationship Id="rId5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拓也 井上" userId="36cefa26ecca6a8b" providerId="LiveId" clId="{654E1465-D65A-515B-9566-95ABAE39F78F}"/>
    <pc:docChg chg="undo custSel addSld delSld modSld">
      <pc:chgData name="拓也 井上" userId="36cefa26ecca6a8b" providerId="LiveId" clId="{654E1465-D65A-515B-9566-95ABAE39F78F}" dt="2026-07-27T11:49:06.077" v="36" actId="1038"/>
      <pc:docMkLst>
        <pc:docMk/>
      </pc:docMkLst>
      <pc:sldChg chg="addSp delSp modSp add del mod">
        <pc:chgData name="拓也 井上" userId="36cefa26ecca6a8b" providerId="LiveId" clId="{654E1465-D65A-515B-9566-95ABAE39F78F}" dt="2026-07-27T11:49:06.077" v="36" actId="1038"/>
        <pc:sldMkLst>
          <pc:docMk/>
          <pc:sldMk cId="2656205384" sldId="393"/>
        </pc:sldMkLst>
        <pc:spChg chg="del">
          <ac:chgData name="拓也 井上" userId="36cefa26ecca6a8b" providerId="LiveId" clId="{654E1465-D65A-515B-9566-95ABAE39F78F}" dt="2026-07-27T11:48:17.748" v="13" actId="478"/>
          <ac:spMkLst>
            <pc:docMk/>
            <pc:sldMk cId="2656205384" sldId="393"/>
            <ac:spMk id="7" creationId="{68A3AD31-DDFC-BA89-25E8-B71709CCAB51}"/>
          </ac:spMkLst>
        </pc:spChg>
        <pc:spChg chg="add mod">
          <ac:chgData name="拓也 井上" userId="36cefa26ecca6a8b" providerId="LiveId" clId="{654E1465-D65A-515B-9566-95ABAE39F78F}" dt="2026-07-27T11:49:06.077" v="36" actId="1038"/>
          <ac:spMkLst>
            <pc:docMk/>
            <pc:sldMk cId="2656205384" sldId="393"/>
            <ac:spMk id="12" creationId="{14366105-51EE-2A58-66B0-3AD72D6C0221}"/>
          </ac:spMkLst>
        </pc:spChg>
      </pc:sldChg>
      <pc:sldChg chg="add del">
        <pc:chgData name="拓也 井上" userId="36cefa26ecca6a8b" providerId="LiveId" clId="{654E1465-D65A-515B-9566-95ABAE39F78F}" dt="2026-07-27T11:46:49.443" v="4"/>
        <pc:sldMkLst>
          <pc:docMk/>
          <pc:sldMk cId="378351639" sldId="394"/>
        </pc:sldMkLst>
      </pc:sldChg>
      <pc:sldChg chg="add del">
        <pc:chgData name="拓也 井上" userId="36cefa26ecca6a8b" providerId="LiveId" clId="{654E1465-D65A-515B-9566-95ABAE39F78F}" dt="2026-07-27T11:46:49.443" v="4"/>
        <pc:sldMkLst>
          <pc:docMk/>
          <pc:sldMk cId="641085143" sldId="396"/>
        </pc:sldMkLst>
      </pc:sldChg>
      <pc:sldChg chg="add del">
        <pc:chgData name="拓也 井上" userId="36cefa26ecca6a8b" providerId="LiveId" clId="{654E1465-D65A-515B-9566-95ABAE39F78F}" dt="2026-07-27T11:46:49.443" v="4"/>
        <pc:sldMkLst>
          <pc:docMk/>
          <pc:sldMk cId="3007888129" sldId="399"/>
        </pc:sldMkLst>
      </pc:sldChg>
      <pc:sldChg chg="modSp add del mod">
        <pc:chgData name="拓也 井上" userId="36cefa26ecca6a8b" providerId="LiveId" clId="{654E1465-D65A-515B-9566-95ABAE39F78F}" dt="2026-07-27T11:46:49.443" v="4"/>
        <pc:sldMkLst>
          <pc:docMk/>
          <pc:sldMk cId="2697407459" sldId="400"/>
        </pc:sldMkLst>
        <pc:spChg chg="mod">
          <ac:chgData name="拓也 井上" userId="36cefa26ecca6a8b" providerId="LiveId" clId="{654E1465-D65A-515B-9566-95ABAE39F78F}" dt="2026-07-27T11:46:49.402" v="3"/>
          <ac:spMkLst>
            <pc:docMk/>
            <pc:sldMk cId="2697407459" sldId="400"/>
            <ac:spMk id="17" creationId="{C23B6A35-B6F0-D784-4F8B-1364DB108CD7}"/>
          </ac:spMkLst>
        </pc:spChg>
      </pc:sldChg>
      <pc:sldChg chg="add del">
        <pc:chgData name="拓也 井上" userId="36cefa26ecca6a8b" providerId="LiveId" clId="{654E1465-D65A-515B-9566-95ABAE39F78F}" dt="2026-07-27T11:46:49.443" v="4"/>
        <pc:sldMkLst>
          <pc:docMk/>
          <pc:sldMk cId="248841499" sldId="402"/>
        </pc:sldMkLst>
      </pc:sldChg>
      <pc:sldChg chg="modSp add del mod">
        <pc:chgData name="拓也 井上" userId="36cefa26ecca6a8b" providerId="LiveId" clId="{654E1465-D65A-515B-9566-95ABAE39F78F}" dt="2026-07-27T11:47:08.564" v="12" actId="20577"/>
        <pc:sldMkLst>
          <pc:docMk/>
          <pc:sldMk cId="2501997366" sldId="499"/>
        </pc:sldMkLst>
        <pc:spChg chg="mod">
          <ac:chgData name="拓也 井上" userId="36cefa26ecca6a8b" providerId="LiveId" clId="{654E1465-D65A-515B-9566-95ABAE39F78F}" dt="2026-07-27T11:47:08.564" v="12" actId="20577"/>
          <ac:spMkLst>
            <pc:docMk/>
            <pc:sldMk cId="2501997366" sldId="499"/>
            <ac:spMk id="17" creationId="{FADAD954-F788-17B4-4954-5A19C0C37BD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3B85529-F70A-4750-9FED-7F46D522D6CB}" type="doc">
      <dgm:prSet loTypeId="urn:microsoft.com/office/officeart/2024/layout/NumberedTitleCardList#1" loCatId="list" qsTypeId="urn:microsoft.com/office/officeart/2005/8/quickstyle/3d3" qsCatId="3D" csTypeId="urn:microsoft.com/office/officeart/2005/8/colors/accent1_2" csCatId="accent1" phldr="1"/>
      <dgm:spPr/>
      <dgm:t>
        <a:bodyPr/>
        <a:lstStyle/>
        <a:p>
          <a:endParaRPr kumimoji="1" lang="ja-JP" altLang="en-US"/>
        </a:p>
      </dgm:t>
    </dgm:pt>
    <dgm:pt modelId="{BB8186F1-4D8D-4F1C-8A3F-E9750182C3BC}">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F6A3CC97-B1D0-4568-B79D-73B7C3DB2F4E}" type="parTrans" cxnId="{0FC7696E-A495-41B7-8A91-10453AA05F10}">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6642FE9-9D8B-4BF9-9AE6-A4B052F3EA2B}" type="sibTrans" cxnId="{0FC7696E-A495-41B7-8A91-10453AA05F10}">
      <dgm:prSet phldrT="01" phldr="0"/>
      <dgm:spPr/>
      <dgm:t>
        <a:bodyPr/>
        <a:lstStyle/>
        <a:p>
          <a:r>
            <a:rPr>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gm:t>
    </dgm:pt>
    <dgm:pt modelId="{9D4579C2-549C-4E36-ADCD-807A30AC87BF}">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03E57B4E-B8DB-4AD7-8B18-C53DDE978EFE}" type="parTrans" cxnId="{A5DC40A2-DD3E-4991-96C9-326DF2FCB6D5}">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27929EAD-6052-41FF-8B67-AF7D936E0390}" type="sibTrans" cxnId="{A5DC40A2-DD3E-4991-96C9-326DF2FCB6D5}">
      <dgm:prSet phldrT="02"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gm:t>
    </dgm:pt>
    <dgm:pt modelId="{32783916-157E-4466-ADD3-4068200EA9E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a:effectLst>
              <a:outerShdw blurRad="38100" dist="38100" dir="2700000" algn="tl">
                <a:srgbClr val="000000">
                  <a:alpha val="43137"/>
                </a:srgbClr>
              </a:outerShdw>
            </a:effectLst>
            <a:latin typeface="Meiryo UI"/>
            <a:ea typeface="Meiryo UI"/>
          </a:endParaRPr>
        </a:p>
        <a:p>
          <a:r>
            <a:rPr kumimoji="1" lang="ja-JP" altLang="en-US">
              <a:effectLst>
                <a:outerShdw blurRad="38100" dist="38100" dir="2700000" algn="tl">
                  <a:srgbClr val="000000">
                    <a:alpha val="43137"/>
                  </a:srgbClr>
                </a:outerShdw>
              </a:effectLst>
              <a:latin typeface="Meiryo UI"/>
              <a:ea typeface="Meiryo UI"/>
            </a:rPr>
            <a:t>関東・新潟営業所</a:t>
          </a:r>
        </a:p>
      </dgm:t>
    </dgm:pt>
    <dgm:pt modelId="{4F7CFC40-7992-40F5-B54F-DA5CD7B59DA4}" type="parTrans" cxnId="{138E49BB-DDA7-475D-A4DA-F829546D1563}">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681992B0-7757-4550-BF07-EC8C3E6B5591}" type="sibTrans" cxnId="{138E49BB-DDA7-475D-A4DA-F829546D1563}">
      <dgm:prSet phldrT="03"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gm:t>
    </dgm:pt>
    <dgm:pt modelId="{2958E64B-E2FC-4C7C-B297-C0822142C871}">
      <dgm:prSet phldrT="[テキスト]"/>
      <dgm:spPr/>
      <dgm:t>
        <a:bodyPr/>
        <a:lstStyle/>
        <a:p>
          <a:pPr rtl="0"/>
          <a:r>
            <a:rPr kumimoji="1" lang="ja-JP" altLang="en-US">
              <a:effectLst>
                <a:outerShdw blurRad="38100" dist="38100" dir="2700000" algn="tl">
                  <a:srgbClr val="000000">
                    <a:alpha val="43137"/>
                  </a:srgbClr>
                </a:outerShdw>
              </a:effectLst>
              <a:latin typeface="Meiryo UI"/>
              <a:ea typeface="Meiryo UI"/>
            </a:rPr>
            <a:t>森田由梨香さん</a:t>
          </a:r>
        </a:p>
        <a:p>
          <a:pPr rtl="0"/>
          <a:r>
            <a:rPr kumimoji="1" lang="ja-JP" altLang="en-US">
              <a:effectLst>
                <a:outerShdw blurRad="38100" dist="38100" dir="2700000" algn="tl">
                  <a:srgbClr val="000000">
                    <a:alpha val="43137"/>
                  </a:srgbClr>
                </a:outerShdw>
              </a:effectLst>
              <a:latin typeface="Meiryo UI"/>
              <a:ea typeface="Meiryo UI"/>
            </a:rPr>
            <a:t>首都圏第一営業所</a:t>
          </a:r>
          <a:endParaRPr kumimoji="1" lang="ja-JP">
            <a:effectLst>
              <a:outerShdw blurRad="38100" dist="38100" dir="2700000" algn="tl">
                <a:srgbClr val="000000">
                  <a:alpha val="43137"/>
                </a:srgbClr>
              </a:outerShdw>
            </a:effectLst>
          </a:endParaRPr>
        </a:p>
      </dgm:t>
    </dgm:pt>
    <dgm:pt modelId="{0206639D-6D46-480A-8AFF-4CEC78AF0F4C}" type="parTrans" cxnId="{E55A6F15-C820-428A-9A9D-CF867ED99AB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FE0B7CE-5D13-4E42-813E-15AF889D9106}" type="sibTrans" cxnId="{E55A6F15-C820-428A-9A9D-CF867ED99ABD}">
      <dgm:prSet phldrT="04"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gm:t>
    </dgm:pt>
    <dgm:pt modelId="{7B6B7B79-4675-40F5-887D-ECCA77238154}">
      <dgm:prSet phldrT="[テキスト]"/>
      <dgm:spPr/>
      <dgm:t>
        <a:bodyPr/>
        <a:lstStyle/>
        <a:p>
          <a:r>
            <a:rPr kumimoji="1" lang="ja-JP" altLang="en-US">
              <a:effectLst>
                <a:outerShdw blurRad="38100" dist="38100" dir="2700000" algn="tl">
                  <a:srgbClr val="000000">
                    <a:alpha val="43137"/>
                  </a:srgbClr>
                </a:outerShdw>
              </a:effectLst>
              <a:latin typeface="Meiryo UI"/>
              <a:ea typeface="Meiryo UI"/>
            </a:rPr>
            <a:t>井上拓也さん</a:t>
          </a:r>
        </a:p>
        <a:p>
          <a:r>
            <a:rPr kumimoji="1" lang="ja-JP" altLang="en-US">
              <a:effectLst>
                <a:outerShdw blurRad="38100" dist="38100" dir="2700000" algn="tl">
                  <a:srgbClr val="000000">
                    <a:alpha val="43137"/>
                  </a:srgbClr>
                </a:outerShdw>
              </a:effectLst>
              <a:latin typeface="Meiryo UI"/>
              <a:ea typeface="Meiryo UI"/>
            </a:rPr>
            <a:t>関東甲信北陸営業所</a:t>
          </a:r>
        </a:p>
      </dgm:t>
    </dgm:pt>
    <dgm:pt modelId="{797B3C42-55B6-416C-B23F-C20DD9AEC73F}" type="parTrans" cxnId="{4A205C94-32E3-4FB5-904B-45B85854154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DEEDE36-5E15-4EB3-9060-FB728839363A}" type="sibTrans" cxnId="{4A205C94-32E3-4FB5-904B-45B85854154D}">
      <dgm:prSet phldrT="05"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gm:t>
    </dgm:pt>
    <dgm:pt modelId="{48F22D86-A0F2-47FB-A49B-EA81CC2DED9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83A5E9FE-F64E-4640-AFEF-B94FEEE5333B}" type="parTrans" cxnId="{8CA5681B-E089-4EF1-A39F-A2C04042A906}">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92B2BAFB-2ECA-4E40-9F20-0A1C56B0A416}" type="sibTrans" cxnId="{8CA5681B-E089-4EF1-A39F-A2C04042A906}">
      <dgm:prSet phldrT="06"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gm:t>
    </dgm:pt>
    <dgm:pt modelId="{3CAD313A-0762-434E-855A-3186959C14E0}">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gm:t>
    </dgm:pt>
    <dgm:pt modelId="{CD6B353A-A339-41E3-8D60-670A3EE8CF9F}" type="parTrans" cxnId="{FB14B0D2-36DA-4ECC-90EC-8A6B1896F341}">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1C86B84-C6B4-4FAA-A4E0-62E8EE799ED5}" type="sibTrans" cxnId="{FB14B0D2-36DA-4ECC-90EC-8A6B1896F341}">
      <dgm:prSet phldrT="07"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gm:t>
    </dgm:pt>
    <dgm:pt modelId="{AADE4A29-391E-4656-A93A-5061E8E0368F}" type="pres">
      <dgm:prSet presAssocID="{03B85529-F70A-4750-9FED-7F46D522D6CB}" presName="Name0" presStyleCnt="0">
        <dgm:presLayoutVars>
          <dgm:dir/>
          <dgm:animLvl val="lvl"/>
          <dgm:resizeHandles val="exact"/>
        </dgm:presLayoutVars>
      </dgm:prSet>
      <dgm:spPr/>
    </dgm:pt>
    <dgm:pt modelId="{B38823E7-9137-4844-AA39-54F585FDB7E4}" type="pres">
      <dgm:prSet presAssocID="{BB8186F1-4D8D-4F1C-8A3F-E9750182C3BC}" presName="compositeNode" presStyleCnt="0">
        <dgm:presLayoutVars>
          <dgm:bulletEnabled val="1"/>
        </dgm:presLayoutVars>
      </dgm:prSet>
      <dgm:spPr/>
    </dgm:pt>
    <dgm:pt modelId="{A080688E-08E3-435C-85E6-43689A127273}" type="pres">
      <dgm:prSet presAssocID="{BB8186F1-4D8D-4F1C-8A3F-E9750182C3BC}" presName="bgRect" presStyleLbl="fgAcc1" presStyleIdx="0" presStyleCnt="7"/>
      <dgm:spPr/>
    </dgm:pt>
    <dgm:pt modelId="{0E8EE4A5-58D7-41AC-B6B1-D0B65540F95D}" type="pres">
      <dgm:prSet presAssocID="{B6642FE9-9D8B-4BF9-9AE6-A4B052F3EA2B}" presName="sibTransNodeRect" presStyleLbl="bgShp" presStyleIdx="0" presStyleCnt="0">
        <dgm:presLayoutVars>
          <dgm:chMax val="0"/>
          <dgm:bulletEnabled/>
        </dgm:presLayoutVars>
      </dgm:prSet>
      <dgm:spPr/>
    </dgm:pt>
    <dgm:pt modelId="{87C6D550-2CD4-498A-A034-951E2B3FDB38}" type="pres">
      <dgm:prSet presAssocID="{BB8186F1-4D8D-4F1C-8A3F-E9750182C3BC}" presName="nodeRect" presStyleLbl="parChTrans1D1" presStyleIdx="0" presStyleCnt="0">
        <dgm:presLayoutVars>
          <dgm:bulletEnabled val="1"/>
        </dgm:presLayoutVars>
      </dgm:prSet>
      <dgm:spPr/>
    </dgm:pt>
    <dgm:pt modelId="{BCDA101A-9E87-4180-AC8A-9FAE60C973E4}" type="pres">
      <dgm:prSet presAssocID="{B6642FE9-9D8B-4BF9-9AE6-A4B052F3EA2B}" presName="sibTrans" presStyleCnt="0"/>
      <dgm:spPr/>
    </dgm:pt>
    <dgm:pt modelId="{2B4FB054-DD74-446B-ABAE-BE513872EDB7}" type="pres">
      <dgm:prSet presAssocID="{9D4579C2-549C-4E36-ADCD-807A30AC87BF}" presName="compositeNode" presStyleCnt="0">
        <dgm:presLayoutVars>
          <dgm:bulletEnabled val="1"/>
        </dgm:presLayoutVars>
      </dgm:prSet>
      <dgm:spPr/>
    </dgm:pt>
    <dgm:pt modelId="{4C6D55FC-7AFE-450D-A3F6-B289CC98E468}" type="pres">
      <dgm:prSet presAssocID="{9D4579C2-549C-4E36-ADCD-807A30AC87BF}" presName="bgRect" presStyleLbl="fgAcc1" presStyleIdx="1" presStyleCnt="7"/>
      <dgm:spPr/>
    </dgm:pt>
    <dgm:pt modelId="{7FF21B61-C7E6-4652-A878-8116A44B181B}" type="pres">
      <dgm:prSet presAssocID="{27929EAD-6052-41FF-8B67-AF7D936E0390}" presName="sibTransNodeRect" presStyleLbl="bgShp" presStyleIdx="0" presStyleCnt="0">
        <dgm:presLayoutVars>
          <dgm:chMax val="0"/>
          <dgm:bulletEnabled/>
        </dgm:presLayoutVars>
      </dgm:prSet>
      <dgm:spPr/>
    </dgm:pt>
    <dgm:pt modelId="{0790A5DC-F788-4527-BBA6-914092D8CA6D}" type="pres">
      <dgm:prSet presAssocID="{9D4579C2-549C-4E36-ADCD-807A30AC87BF}" presName="nodeRect" presStyleLbl="parChTrans1D1" presStyleIdx="0" presStyleCnt="0">
        <dgm:presLayoutVars>
          <dgm:bulletEnabled val="1"/>
        </dgm:presLayoutVars>
      </dgm:prSet>
      <dgm:spPr/>
    </dgm:pt>
    <dgm:pt modelId="{021298B4-4532-40C2-AC2D-FFA843FEFEDE}" type="pres">
      <dgm:prSet presAssocID="{27929EAD-6052-41FF-8B67-AF7D936E0390}" presName="sibTrans" presStyleCnt="0"/>
      <dgm:spPr/>
    </dgm:pt>
    <dgm:pt modelId="{C48E5267-E899-4805-8855-EBF8129FB628}" type="pres">
      <dgm:prSet presAssocID="{32783916-157E-4466-ADD3-4068200EA9E7}" presName="compositeNode" presStyleCnt="0">
        <dgm:presLayoutVars>
          <dgm:bulletEnabled val="1"/>
        </dgm:presLayoutVars>
      </dgm:prSet>
      <dgm:spPr/>
    </dgm:pt>
    <dgm:pt modelId="{B2551D55-18D2-464C-89E7-029111DAA796}" type="pres">
      <dgm:prSet presAssocID="{32783916-157E-4466-ADD3-4068200EA9E7}" presName="bgRect" presStyleLbl="fgAcc1" presStyleIdx="2" presStyleCnt="7"/>
      <dgm:spPr/>
    </dgm:pt>
    <dgm:pt modelId="{31D3F57C-87CF-476C-938B-28015F23DEB9}" type="pres">
      <dgm:prSet presAssocID="{681992B0-7757-4550-BF07-EC8C3E6B5591}" presName="sibTransNodeRect" presStyleLbl="bgShp" presStyleIdx="0" presStyleCnt="0">
        <dgm:presLayoutVars>
          <dgm:chMax val="0"/>
          <dgm:bulletEnabled/>
        </dgm:presLayoutVars>
      </dgm:prSet>
      <dgm:spPr/>
    </dgm:pt>
    <dgm:pt modelId="{300EDA17-CD19-4B1B-AC1C-4FB3552FD21D}" type="pres">
      <dgm:prSet presAssocID="{32783916-157E-4466-ADD3-4068200EA9E7}" presName="nodeRect" presStyleLbl="parChTrans1D1" presStyleIdx="0" presStyleCnt="0">
        <dgm:presLayoutVars>
          <dgm:bulletEnabled val="1"/>
        </dgm:presLayoutVars>
      </dgm:prSet>
      <dgm:spPr/>
    </dgm:pt>
    <dgm:pt modelId="{0E31BCB4-A0D0-4BD9-B929-10F05905872C}" type="pres">
      <dgm:prSet presAssocID="{681992B0-7757-4550-BF07-EC8C3E6B5591}" presName="sibTrans" presStyleCnt="0"/>
      <dgm:spPr/>
    </dgm:pt>
    <dgm:pt modelId="{63C68671-1A05-4F50-A485-48293A6929C4}" type="pres">
      <dgm:prSet presAssocID="{2958E64B-E2FC-4C7C-B297-C0822142C871}" presName="compositeNode" presStyleCnt="0">
        <dgm:presLayoutVars>
          <dgm:bulletEnabled val="1"/>
        </dgm:presLayoutVars>
      </dgm:prSet>
      <dgm:spPr/>
    </dgm:pt>
    <dgm:pt modelId="{B64A6869-3771-41CE-BD3A-30479DBC0A06}" type="pres">
      <dgm:prSet presAssocID="{2958E64B-E2FC-4C7C-B297-C0822142C871}" presName="bgRect" presStyleLbl="fgAcc1" presStyleIdx="3" presStyleCnt="7"/>
      <dgm:spPr/>
    </dgm:pt>
    <dgm:pt modelId="{8D4D5760-C982-4AC0-AD41-50FEA18DA049}" type="pres">
      <dgm:prSet presAssocID="{AFE0B7CE-5D13-4E42-813E-15AF889D9106}" presName="sibTransNodeRect" presStyleLbl="bgShp" presStyleIdx="0" presStyleCnt="0">
        <dgm:presLayoutVars>
          <dgm:chMax val="0"/>
          <dgm:bulletEnabled/>
        </dgm:presLayoutVars>
      </dgm:prSet>
      <dgm:spPr/>
    </dgm:pt>
    <dgm:pt modelId="{7043F631-B4D5-481E-BCE4-7A82C4D084BF}" type="pres">
      <dgm:prSet presAssocID="{2958E64B-E2FC-4C7C-B297-C0822142C871}" presName="nodeRect" presStyleLbl="parChTrans1D1" presStyleIdx="0" presStyleCnt="0">
        <dgm:presLayoutVars>
          <dgm:bulletEnabled val="1"/>
        </dgm:presLayoutVars>
      </dgm:prSet>
      <dgm:spPr/>
    </dgm:pt>
    <dgm:pt modelId="{48AF6C25-0289-4699-9CDE-2F1C0AFE0A4E}" type="pres">
      <dgm:prSet presAssocID="{AFE0B7CE-5D13-4E42-813E-15AF889D9106}" presName="sibTrans" presStyleCnt="0"/>
      <dgm:spPr/>
    </dgm:pt>
    <dgm:pt modelId="{4E3888B3-0FA1-4FA9-95A5-4DF05C7DA07C}" type="pres">
      <dgm:prSet presAssocID="{7B6B7B79-4675-40F5-887D-ECCA77238154}" presName="compositeNode" presStyleCnt="0">
        <dgm:presLayoutVars>
          <dgm:bulletEnabled val="1"/>
        </dgm:presLayoutVars>
      </dgm:prSet>
      <dgm:spPr/>
    </dgm:pt>
    <dgm:pt modelId="{8093F356-20E1-4280-BC99-9887605E6BCF}" type="pres">
      <dgm:prSet presAssocID="{7B6B7B79-4675-40F5-887D-ECCA77238154}" presName="bgRect" presStyleLbl="fgAcc1" presStyleIdx="4" presStyleCnt="7"/>
      <dgm:spPr/>
    </dgm:pt>
    <dgm:pt modelId="{9B4DE1DC-8E0E-4FF0-8126-A90761FF94F0}" type="pres">
      <dgm:prSet presAssocID="{ADEEDE36-5E15-4EB3-9060-FB728839363A}" presName="sibTransNodeRect" presStyleLbl="bgShp" presStyleIdx="0" presStyleCnt="0">
        <dgm:presLayoutVars>
          <dgm:chMax val="0"/>
          <dgm:bulletEnabled/>
        </dgm:presLayoutVars>
      </dgm:prSet>
      <dgm:spPr/>
    </dgm:pt>
    <dgm:pt modelId="{2DA0C161-3273-4843-B4CE-3364F74BA688}" type="pres">
      <dgm:prSet presAssocID="{7B6B7B79-4675-40F5-887D-ECCA77238154}" presName="nodeRect" presStyleLbl="parChTrans1D1" presStyleIdx="0" presStyleCnt="0">
        <dgm:presLayoutVars>
          <dgm:bulletEnabled val="1"/>
        </dgm:presLayoutVars>
      </dgm:prSet>
      <dgm:spPr/>
    </dgm:pt>
    <dgm:pt modelId="{7D385B09-08CE-49DE-B671-9895980686E6}" type="pres">
      <dgm:prSet presAssocID="{ADEEDE36-5E15-4EB3-9060-FB728839363A}" presName="sibTrans" presStyleCnt="0"/>
      <dgm:spPr/>
    </dgm:pt>
    <dgm:pt modelId="{D60B1E5F-DCB4-452E-B977-1E00122E3505}" type="pres">
      <dgm:prSet presAssocID="{48F22D86-A0F2-47FB-A49B-EA81CC2DED97}" presName="compositeNode" presStyleCnt="0">
        <dgm:presLayoutVars>
          <dgm:bulletEnabled val="1"/>
        </dgm:presLayoutVars>
      </dgm:prSet>
      <dgm:spPr/>
    </dgm:pt>
    <dgm:pt modelId="{5EA9B79B-7FD2-40C6-8CD8-187B6D8BFABA}" type="pres">
      <dgm:prSet presAssocID="{48F22D86-A0F2-47FB-A49B-EA81CC2DED97}" presName="bgRect" presStyleLbl="fgAcc1" presStyleIdx="5" presStyleCnt="7"/>
      <dgm:spPr/>
    </dgm:pt>
    <dgm:pt modelId="{18C7778A-3502-4516-A4B2-37F2693F96FB}" type="pres">
      <dgm:prSet presAssocID="{92B2BAFB-2ECA-4E40-9F20-0A1C56B0A416}" presName="sibTransNodeRect" presStyleLbl="bgShp" presStyleIdx="0" presStyleCnt="0">
        <dgm:presLayoutVars>
          <dgm:chMax val="0"/>
          <dgm:bulletEnabled/>
        </dgm:presLayoutVars>
      </dgm:prSet>
      <dgm:spPr/>
    </dgm:pt>
    <dgm:pt modelId="{CEA0F690-C043-4D0A-920D-D240FD4E560C}" type="pres">
      <dgm:prSet presAssocID="{48F22D86-A0F2-47FB-A49B-EA81CC2DED97}" presName="nodeRect" presStyleLbl="parChTrans1D1" presStyleIdx="0" presStyleCnt="0">
        <dgm:presLayoutVars>
          <dgm:bulletEnabled val="1"/>
        </dgm:presLayoutVars>
      </dgm:prSet>
      <dgm:spPr/>
    </dgm:pt>
    <dgm:pt modelId="{47334656-510F-4C4A-A861-0EB2C7CF394B}" type="pres">
      <dgm:prSet presAssocID="{92B2BAFB-2ECA-4E40-9F20-0A1C56B0A416}" presName="sibTrans" presStyleCnt="0"/>
      <dgm:spPr/>
    </dgm:pt>
    <dgm:pt modelId="{46BCA9A9-37C0-490E-8ECA-920B9802916A}" type="pres">
      <dgm:prSet presAssocID="{3CAD313A-0762-434E-855A-3186959C14E0}" presName="compositeNode" presStyleCnt="0">
        <dgm:presLayoutVars>
          <dgm:bulletEnabled val="1"/>
        </dgm:presLayoutVars>
      </dgm:prSet>
      <dgm:spPr/>
    </dgm:pt>
    <dgm:pt modelId="{CA888CED-7953-4585-B4D7-05B747E4FE8C}" type="pres">
      <dgm:prSet presAssocID="{3CAD313A-0762-434E-855A-3186959C14E0}" presName="bgRect" presStyleLbl="fgAcc1" presStyleIdx="6" presStyleCnt="7"/>
      <dgm:spPr/>
    </dgm:pt>
    <dgm:pt modelId="{C2F5A284-C492-4399-A874-2766E85D6E32}" type="pres">
      <dgm:prSet presAssocID="{B1C86B84-C6B4-4FAA-A4E0-62E8EE799ED5}" presName="sibTransNodeRect" presStyleLbl="bgShp" presStyleIdx="0" presStyleCnt="0">
        <dgm:presLayoutVars>
          <dgm:chMax val="0"/>
          <dgm:bulletEnabled/>
        </dgm:presLayoutVars>
      </dgm:prSet>
      <dgm:spPr/>
    </dgm:pt>
    <dgm:pt modelId="{729D5C8E-5096-4FDE-9C30-25E7639153F0}" type="pres">
      <dgm:prSet presAssocID="{3CAD313A-0762-434E-855A-3186959C14E0}" presName="nodeRect" presStyleLbl="parChTrans1D1" presStyleIdx="0" presStyleCnt="0">
        <dgm:presLayoutVars>
          <dgm:bulletEnabled val="1"/>
        </dgm:presLayoutVars>
      </dgm:prSet>
      <dgm:spPr/>
    </dgm:pt>
  </dgm:ptLst>
  <dgm:cxnLst>
    <dgm:cxn modelId="{B5F03114-6906-44CE-ABDD-C6FAFBA09AD4}" type="presOf" srcId="{32783916-157E-4466-ADD3-4068200EA9E7}" destId="{300EDA17-CD19-4B1B-AC1C-4FB3552FD21D}" srcOrd="1" destOrd="0" presId="urn:microsoft.com/office/officeart/2024/layout/NumberedTitleCardList#1"/>
    <dgm:cxn modelId="{E55A6F15-C820-428A-9A9D-CF867ED99ABD}" srcId="{03B85529-F70A-4750-9FED-7F46D522D6CB}" destId="{2958E64B-E2FC-4C7C-B297-C0822142C871}" srcOrd="3" destOrd="0" parTransId="{0206639D-6D46-480A-8AFF-4CEC78AF0F4C}" sibTransId="{AFE0B7CE-5D13-4E42-813E-15AF889D9106}"/>
    <dgm:cxn modelId="{8CA5681B-E089-4EF1-A39F-A2C04042A906}" srcId="{03B85529-F70A-4750-9FED-7F46D522D6CB}" destId="{48F22D86-A0F2-47FB-A49B-EA81CC2DED97}" srcOrd="5" destOrd="0" parTransId="{83A5E9FE-F64E-4640-AFEF-B94FEEE5333B}" sibTransId="{92B2BAFB-2ECA-4E40-9F20-0A1C56B0A416}"/>
    <dgm:cxn modelId="{3B1BD61C-D74A-4F8A-99FF-612AB3B5999F}" type="presOf" srcId="{2958E64B-E2FC-4C7C-B297-C0822142C871}" destId="{7043F631-B4D5-481E-BCE4-7A82C4D084BF}" srcOrd="1" destOrd="0" presId="urn:microsoft.com/office/officeart/2024/layout/NumberedTitleCardList#1"/>
    <dgm:cxn modelId="{ED1FDB2D-61D5-44A2-972F-5353DA8D0020}" type="presOf" srcId="{48F22D86-A0F2-47FB-A49B-EA81CC2DED97}" destId="{5EA9B79B-7FD2-40C6-8CD8-187B6D8BFABA}" srcOrd="0" destOrd="0" presId="urn:microsoft.com/office/officeart/2024/layout/NumberedTitleCardList#1"/>
    <dgm:cxn modelId="{2161CA39-8CAC-4EE4-BA72-ECE8D4184165}" type="presOf" srcId="{BB8186F1-4D8D-4F1C-8A3F-E9750182C3BC}" destId="{87C6D550-2CD4-498A-A034-951E2B3FDB38}" srcOrd="1" destOrd="0" presId="urn:microsoft.com/office/officeart/2024/layout/NumberedTitleCardList#1"/>
    <dgm:cxn modelId="{67F4FD39-4F68-467D-9B97-49DCF89B4E82}" type="presOf" srcId="{9D4579C2-549C-4E36-ADCD-807A30AC87BF}" destId="{0790A5DC-F788-4527-BBA6-914092D8CA6D}" srcOrd="1" destOrd="0" presId="urn:microsoft.com/office/officeart/2024/layout/NumberedTitleCardList#1"/>
    <dgm:cxn modelId="{C414144A-8394-465D-A1B9-F7257D10E5AE}" type="presOf" srcId="{32783916-157E-4466-ADD3-4068200EA9E7}" destId="{B2551D55-18D2-464C-89E7-029111DAA796}" srcOrd="0" destOrd="0" presId="urn:microsoft.com/office/officeart/2024/layout/NumberedTitleCardList#1"/>
    <dgm:cxn modelId="{6CCFB252-1A65-40C2-B25A-7DE6311C5E68}" type="presOf" srcId="{ADEEDE36-5E15-4EB3-9060-FB728839363A}" destId="{9B4DE1DC-8E0E-4FF0-8126-A90761FF94F0}" srcOrd="0" destOrd="0" presId="urn:microsoft.com/office/officeart/2024/layout/NumberedTitleCardList#1"/>
    <dgm:cxn modelId="{F46F2356-35EE-472A-A9A2-834443A7B303}" type="presOf" srcId="{AFE0B7CE-5D13-4E42-813E-15AF889D9106}" destId="{8D4D5760-C982-4AC0-AD41-50FEA18DA049}" srcOrd="0" destOrd="0" presId="urn:microsoft.com/office/officeart/2024/layout/NumberedTitleCardList#1"/>
    <dgm:cxn modelId="{D1ABE361-A9A1-49DF-A275-7927F77C29FE}" type="presOf" srcId="{2958E64B-E2FC-4C7C-B297-C0822142C871}" destId="{B64A6869-3771-41CE-BD3A-30479DBC0A06}" srcOrd="0" destOrd="0" presId="urn:microsoft.com/office/officeart/2024/layout/NumberedTitleCardList#1"/>
    <dgm:cxn modelId="{0FC7696E-A495-41B7-8A91-10453AA05F10}" srcId="{03B85529-F70A-4750-9FED-7F46D522D6CB}" destId="{BB8186F1-4D8D-4F1C-8A3F-E9750182C3BC}" srcOrd="0" destOrd="0" parTransId="{F6A3CC97-B1D0-4568-B79D-73B7C3DB2F4E}" sibTransId="{B6642FE9-9D8B-4BF9-9AE6-A4B052F3EA2B}"/>
    <dgm:cxn modelId="{15DE5C77-F847-4D1C-A337-DC38FE7E71C5}" type="presOf" srcId="{92B2BAFB-2ECA-4E40-9F20-0A1C56B0A416}" destId="{18C7778A-3502-4516-A4B2-37F2693F96FB}" srcOrd="0" destOrd="0" presId="urn:microsoft.com/office/officeart/2024/layout/NumberedTitleCardList#1"/>
    <dgm:cxn modelId="{0ED3F680-3595-4824-AEF4-95A663B0A7BD}" type="presOf" srcId="{3CAD313A-0762-434E-855A-3186959C14E0}" destId="{729D5C8E-5096-4FDE-9C30-25E7639153F0}" srcOrd="1" destOrd="0" presId="urn:microsoft.com/office/officeart/2024/layout/NumberedTitleCardList#1"/>
    <dgm:cxn modelId="{E7FA7682-FECD-48AA-833D-A2E257C42B71}" type="presOf" srcId="{7B6B7B79-4675-40F5-887D-ECCA77238154}" destId="{8093F356-20E1-4280-BC99-9887605E6BCF}" srcOrd="0" destOrd="0" presId="urn:microsoft.com/office/officeart/2024/layout/NumberedTitleCardList#1"/>
    <dgm:cxn modelId="{5FE23586-851F-4A48-93C0-F1E24C891715}" type="presOf" srcId="{681992B0-7757-4550-BF07-EC8C3E6B5591}" destId="{31D3F57C-87CF-476C-938B-28015F23DEB9}" srcOrd="0" destOrd="0" presId="urn:microsoft.com/office/officeart/2024/layout/NumberedTitleCardList#1"/>
    <dgm:cxn modelId="{4A205C94-32E3-4FB5-904B-45B85854154D}" srcId="{03B85529-F70A-4750-9FED-7F46D522D6CB}" destId="{7B6B7B79-4675-40F5-887D-ECCA77238154}" srcOrd="4" destOrd="0" parTransId="{797B3C42-55B6-416C-B23F-C20DD9AEC73F}" sibTransId="{ADEEDE36-5E15-4EB3-9060-FB728839363A}"/>
    <dgm:cxn modelId="{A5DC40A2-DD3E-4991-96C9-326DF2FCB6D5}" srcId="{03B85529-F70A-4750-9FED-7F46D522D6CB}" destId="{9D4579C2-549C-4E36-ADCD-807A30AC87BF}" srcOrd="1" destOrd="0" parTransId="{03E57B4E-B8DB-4AD7-8B18-C53DDE978EFE}" sibTransId="{27929EAD-6052-41FF-8B67-AF7D936E0390}"/>
    <dgm:cxn modelId="{138E49BB-DDA7-475D-A4DA-F829546D1563}" srcId="{03B85529-F70A-4750-9FED-7F46D522D6CB}" destId="{32783916-157E-4466-ADD3-4068200EA9E7}" srcOrd="2" destOrd="0" parTransId="{4F7CFC40-7992-40F5-B54F-DA5CD7B59DA4}" sibTransId="{681992B0-7757-4550-BF07-EC8C3E6B5591}"/>
    <dgm:cxn modelId="{692BFFC8-BF40-4048-852D-B61969B400D0}" type="presOf" srcId="{48F22D86-A0F2-47FB-A49B-EA81CC2DED97}" destId="{CEA0F690-C043-4D0A-920D-D240FD4E560C}" srcOrd="1" destOrd="0" presId="urn:microsoft.com/office/officeart/2024/layout/NumberedTitleCardList#1"/>
    <dgm:cxn modelId="{D027AECA-C5B9-4040-8D63-639188DF1FFA}" type="presOf" srcId="{03B85529-F70A-4750-9FED-7F46D522D6CB}" destId="{AADE4A29-391E-4656-A93A-5061E8E0368F}" srcOrd="0" destOrd="0" presId="urn:microsoft.com/office/officeart/2024/layout/NumberedTitleCardList#1"/>
    <dgm:cxn modelId="{FB14B0D2-36DA-4ECC-90EC-8A6B1896F341}" srcId="{03B85529-F70A-4750-9FED-7F46D522D6CB}" destId="{3CAD313A-0762-434E-855A-3186959C14E0}" srcOrd="6" destOrd="0" parTransId="{CD6B353A-A339-41E3-8D60-670A3EE8CF9F}" sibTransId="{B1C86B84-C6B4-4FAA-A4E0-62E8EE799ED5}"/>
    <dgm:cxn modelId="{238497D4-5BA8-462D-B151-D11D923CD1CF}" type="presOf" srcId="{3CAD313A-0762-434E-855A-3186959C14E0}" destId="{CA888CED-7953-4585-B4D7-05B747E4FE8C}" srcOrd="0" destOrd="0" presId="urn:microsoft.com/office/officeart/2024/layout/NumberedTitleCardList#1"/>
    <dgm:cxn modelId="{3B80A1D8-9071-4AFC-8C71-5D8A8B1E082F}" type="presOf" srcId="{27929EAD-6052-41FF-8B67-AF7D936E0390}" destId="{7FF21B61-C7E6-4652-A878-8116A44B181B}" srcOrd="0" destOrd="0" presId="urn:microsoft.com/office/officeart/2024/layout/NumberedTitleCardList#1"/>
    <dgm:cxn modelId="{7896DFDA-8EDE-4B0D-BD20-CA1E53F15D6D}" type="presOf" srcId="{B1C86B84-C6B4-4FAA-A4E0-62E8EE799ED5}" destId="{C2F5A284-C492-4399-A874-2766E85D6E32}" srcOrd="0" destOrd="0" presId="urn:microsoft.com/office/officeart/2024/layout/NumberedTitleCardList#1"/>
    <dgm:cxn modelId="{E10615DE-B173-4258-B52F-70DBE0B7AEDD}" type="presOf" srcId="{9D4579C2-549C-4E36-ADCD-807A30AC87BF}" destId="{4C6D55FC-7AFE-450D-A3F6-B289CC98E468}" srcOrd="0" destOrd="0" presId="urn:microsoft.com/office/officeart/2024/layout/NumberedTitleCardList#1"/>
    <dgm:cxn modelId="{FF575BE4-AF07-4E27-A325-E7E3CA3BF70A}" type="presOf" srcId="{7B6B7B79-4675-40F5-887D-ECCA77238154}" destId="{2DA0C161-3273-4843-B4CE-3364F74BA688}" srcOrd="1" destOrd="0" presId="urn:microsoft.com/office/officeart/2024/layout/NumberedTitleCardList#1"/>
    <dgm:cxn modelId="{78A1FEE5-C5F5-43AD-8D5B-1070EC698489}" type="presOf" srcId="{B6642FE9-9D8B-4BF9-9AE6-A4B052F3EA2B}" destId="{0E8EE4A5-58D7-41AC-B6B1-D0B65540F95D}" srcOrd="0" destOrd="0" presId="urn:microsoft.com/office/officeart/2024/layout/NumberedTitleCardList#1"/>
    <dgm:cxn modelId="{86AE48EC-E411-4C44-B62A-47653866E70A}" type="presOf" srcId="{BB8186F1-4D8D-4F1C-8A3F-E9750182C3BC}" destId="{A080688E-08E3-435C-85E6-43689A127273}" srcOrd="0" destOrd="0" presId="urn:microsoft.com/office/officeart/2024/layout/NumberedTitleCardList#1"/>
    <dgm:cxn modelId="{24D42230-A82C-45B3-9ED4-35FA0A7DE135}" type="presParOf" srcId="{AADE4A29-391E-4656-A93A-5061E8E0368F}" destId="{B38823E7-9137-4844-AA39-54F585FDB7E4}" srcOrd="0" destOrd="0" presId="urn:microsoft.com/office/officeart/2024/layout/NumberedTitleCardList#1"/>
    <dgm:cxn modelId="{DDAC9509-4BB9-4DC1-98E2-58C8DD926FCB}" type="presParOf" srcId="{B38823E7-9137-4844-AA39-54F585FDB7E4}" destId="{A080688E-08E3-435C-85E6-43689A127273}" srcOrd="0" destOrd="0" presId="urn:microsoft.com/office/officeart/2024/layout/NumberedTitleCardList#1"/>
    <dgm:cxn modelId="{8D8EA4FB-72E6-466D-8BF6-1342986E6045}" type="presParOf" srcId="{B38823E7-9137-4844-AA39-54F585FDB7E4}" destId="{0E8EE4A5-58D7-41AC-B6B1-D0B65540F95D}" srcOrd="1" destOrd="0" presId="urn:microsoft.com/office/officeart/2024/layout/NumberedTitleCardList#1"/>
    <dgm:cxn modelId="{C88A516D-337D-42FC-B813-2E0469434AE4}" type="presParOf" srcId="{B38823E7-9137-4844-AA39-54F585FDB7E4}" destId="{87C6D550-2CD4-498A-A034-951E2B3FDB38}" srcOrd="2" destOrd="0" presId="urn:microsoft.com/office/officeart/2024/layout/NumberedTitleCardList#1"/>
    <dgm:cxn modelId="{BACD3B3D-4E35-4D23-BBF7-AF0CD8CF5BD2}" type="presParOf" srcId="{AADE4A29-391E-4656-A93A-5061E8E0368F}" destId="{BCDA101A-9E87-4180-AC8A-9FAE60C973E4}" srcOrd="1" destOrd="0" presId="urn:microsoft.com/office/officeart/2024/layout/NumberedTitleCardList#1"/>
    <dgm:cxn modelId="{D6F449D0-329F-4761-8A1C-48C2FBC6BC9C}" type="presParOf" srcId="{AADE4A29-391E-4656-A93A-5061E8E0368F}" destId="{2B4FB054-DD74-446B-ABAE-BE513872EDB7}" srcOrd="2" destOrd="0" presId="urn:microsoft.com/office/officeart/2024/layout/NumberedTitleCardList#1"/>
    <dgm:cxn modelId="{F7CB3DCA-3BCA-4122-B290-7241458B7BFF}" type="presParOf" srcId="{2B4FB054-DD74-446B-ABAE-BE513872EDB7}" destId="{4C6D55FC-7AFE-450D-A3F6-B289CC98E468}" srcOrd="0" destOrd="0" presId="urn:microsoft.com/office/officeart/2024/layout/NumberedTitleCardList#1"/>
    <dgm:cxn modelId="{A36475E9-5983-4513-977E-8CFBD00C5D18}" type="presParOf" srcId="{2B4FB054-DD74-446B-ABAE-BE513872EDB7}" destId="{7FF21B61-C7E6-4652-A878-8116A44B181B}" srcOrd="1" destOrd="0" presId="urn:microsoft.com/office/officeart/2024/layout/NumberedTitleCardList#1"/>
    <dgm:cxn modelId="{82DA02AC-CE69-4FC1-8BDF-FE8EBB662E08}" type="presParOf" srcId="{2B4FB054-DD74-446B-ABAE-BE513872EDB7}" destId="{0790A5DC-F788-4527-BBA6-914092D8CA6D}" srcOrd="2" destOrd="0" presId="urn:microsoft.com/office/officeart/2024/layout/NumberedTitleCardList#1"/>
    <dgm:cxn modelId="{E7666053-9E47-434F-805C-2288F87650A8}" type="presParOf" srcId="{AADE4A29-391E-4656-A93A-5061E8E0368F}" destId="{021298B4-4532-40C2-AC2D-FFA843FEFEDE}" srcOrd="3" destOrd="0" presId="urn:microsoft.com/office/officeart/2024/layout/NumberedTitleCardList#1"/>
    <dgm:cxn modelId="{E3E06BFD-6D20-46FB-A381-33361E653239}" type="presParOf" srcId="{AADE4A29-391E-4656-A93A-5061E8E0368F}" destId="{C48E5267-E899-4805-8855-EBF8129FB628}" srcOrd="4" destOrd="0" presId="urn:microsoft.com/office/officeart/2024/layout/NumberedTitleCardList#1"/>
    <dgm:cxn modelId="{48935F18-8897-4D7C-B5FC-D2B15FF83F5A}" type="presParOf" srcId="{C48E5267-E899-4805-8855-EBF8129FB628}" destId="{B2551D55-18D2-464C-89E7-029111DAA796}" srcOrd="0" destOrd="0" presId="urn:microsoft.com/office/officeart/2024/layout/NumberedTitleCardList#1"/>
    <dgm:cxn modelId="{E1ACCF95-0756-499B-9D9C-78F19641B17B}" type="presParOf" srcId="{C48E5267-E899-4805-8855-EBF8129FB628}" destId="{31D3F57C-87CF-476C-938B-28015F23DEB9}" srcOrd="1" destOrd="0" presId="urn:microsoft.com/office/officeart/2024/layout/NumberedTitleCardList#1"/>
    <dgm:cxn modelId="{FEFEAE85-A1A7-4AE1-B592-B929479260E8}" type="presParOf" srcId="{C48E5267-E899-4805-8855-EBF8129FB628}" destId="{300EDA17-CD19-4B1B-AC1C-4FB3552FD21D}" srcOrd="2" destOrd="0" presId="urn:microsoft.com/office/officeart/2024/layout/NumberedTitleCardList#1"/>
    <dgm:cxn modelId="{4BF4C83A-8993-4829-9448-EE43CA7EDADB}" type="presParOf" srcId="{AADE4A29-391E-4656-A93A-5061E8E0368F}" destId="{0E31BCB4-A0D0-4BD9-B929-10F05905872C}" srcOrd="5" destOrd="0" presId="urn:microsoft.com/office/officeart/2024/layout/NumberedTitleCardList#1"/>
    <dgm:cxn modelId="{9598DC4F-A3B0-4B4F-B469-8B3625D94339}" type="presParOf" srcId="{AADE4A29-391E-4656-A93A-5061E8E0368F}" destId="{63C68671-1A05-4F50-A485-48293A6929C4}" srcOrd="6" destOrd="0" presId="urn:microsoft.com/office/officeart/2024/layout/NumberedTitleCardList#1"/>
    <dgm:cxn modelId="{43BD6248-BA10-4072-814D-DD631079279E}" type="presParOf" srcId="{63C68671-1A05-4F50-A485-48293A6929C4}" destId="{B64A6869-3771-41CE-BD3A-30479DBC0A06}" srcOrd="0" destOrd="0" presId="urn:microsoft.com/office/officeart/2024/layout/NumberedTitleCardList#1"/>
    <dgm:cxn modelId="{292CE510-F060-4E86-9F80-5B0C05D06598}" type="presParOf" srcId="{63C68671-1A05-4F50-A485-48293A6929C4}" destId="{8D4D5760-C982-4AC0-AD41-50FEA18DA049}" srcOrd="1" destOrd="0" presId="urn:microsoft.com/office/officeart/2024/layout/NumberedTitleCardList#1"/>
    <dgm:cxn modelId="{B8C0A15B-971C-4E19-8080-4CB738FC304A}" type="presParOf" srcId="{63C68671-1A05-4F50-A485-48293A6929C4}" destId="{7043F631-B4D5-481E-BCE4-7A82C4D084BF}" srcOrd="2" destOrd="0" presId="urn:microsoft.com/office/officeart/2024/layout/NumberedTitleCardList#1"/>
    <dgm:cxn modelId="{2B1E60E0-3F33-4F35-A374-2CC9AEADFDB2}" type="presParOf" srcId="{AADE4A29-391E-4656-A93A-5061E8E0368F}" destId="{48AF6C25-0289-4699-9CDE-2F1C0AFE0A4E}" srcOrd="7" destOrd="0" presId="urn:microsoft.com/office/officeart/2024/layout/NumberedTitleCardList#1"/>
    <dgm:cxn modelId="{339D8686-1E9A-466A-945C-9DD819371D56}" type="presParOf" srcId="{AADE4A29-391E-4656-A93A-5061E8E0368F}" destId="{4E3888B3-0FA1-4FA9-95A5-4DF05C7DA07C}" srcOrd="8" destOrd="0" presId="urn:microsoft.com/office/officeart/2024/layout/NumberedTitleCardList#1"/>
    <dgm:cxn modelId="{56032845-6C01-4F85-BDA4-9A696DC02BE1}" type="presParOf" srcId="{4E3888B3-0FA1-4FA9-95A5-4DF05C7DA07C}" destId="{8093F356-20E1-4280-BC99-9887605E6BCF}" srcOrd="0" destOrd="0" presId="urn:microsoft.com/office/officeart/2024/layout/NumberedTitleCardList#1"/>
    <dgm:cxn modelId="{80FD2F69-7C15-4090-94B9-EA64A462FF1F}" type="presParOf" srcId="{4E3888B3-0FA1-4FA9-95A5-4DF05C7DA07C}" destId="{9B4DE1DC-8E0E-4FF0-8126-A90761FF94F0}" srcOrd="1" destOrd="0" presId="urn:microsoft.com/office/officeart/2024/layout/NumberedTitleCardList#1"/>
    <dgm:cxn modelId="{9D2AF02F-110B-4DBD-B510-A05A5EEC5A73}" type="presParOf" srcId="{4E3888B3-0FA1-4FA9-95A5-4DF05C7DA07C}" destId="{2DA0C161-3273-4843-B4CE-3364F74BA688}" srcOrd="2" destOrd="0" presId="urn:microsoft.com/office/officeart/2024/layout/NumberedTitleCardList#1"/>
    <dgm:cxn modelId="{FA99D3C3-94D8-48DB-BF6B-0637E1B0AEE0}" type="presParOf" srcId="{AADE4A29-391E-4656-A93A-5061E8E0368F}" destId="{7D385B09-08CE-49DE-B671-9895980686E6}" srcOrd="9" destOrd="0" presId="urn:microsoft.com/office/officeart/2024/layout/NumberedTitleCardList#1"/>
    <dgm:cxn modelId="{5C5ACB08-CAF2-45A7-B4E8-66247441823D}" type="presParOf" srcId="{AADE4A29-391E-4656-A93A-5061E8E0368F}" destId="{D60B1E5F-DCB4-452E-B977-1E00122E3505}" srcOrd="10" destOrd="0" presId="urn:microsoft.com/office/officeart/2024/layout/NumberedTitleCardList#1"/>
    <dgm:cxn modelId="{D1567079-B6E2-45FC-BBEA-AD5371D9EE0A}" type="presParOf" srcId="{D60B1E5F-DCB4-452E-B977-1E00122E3505}" destId="{5EA9B79B-7FD2-40C6-8CD8-187B6D8BFABA}" srcOrd="0" destOrd="0" presId="urn:microsoft.com/office/officeart/2024/layout/NumberedTitleCardList#1"/>
    <dgm:cxn modelId="{34B98DCC-5DFD-4B07-A694-4605AE6F71EE}" type="presParOf" srcId="{D60B1E5F-DCB4-452E-B977-1E00122E3505}" destId="{18C7778A-3502-4516-A4B2-37F2693F96FB}" srcOrd="1" destOrd="0" presId="urn:microsoft.com/office/officeart/2024/layout/NumberedTitleCardList#1"/>
    <dgm:cxn modelId="{E12F7E1F-94F1-47EA-9606-9A98E717E2A6}" type="presParOf" srcId="{D60B1E5F-DCB4-452E-B977-1E00122E3505}" destId="{CEA0F690-C043-4D0A-920D-D240FD4E560C}" srcOrd="2" destOrd="0" presId="urn:microsoft.com/office/officeart/2024/layout/NumberedTitleCardList#1"/>
    <dgm:cxn modelId="{0395AB8E-DE44-4F83-A28D-00121C842E91}" type="presParOf" srcId="{AADE4A29-391E-4656-A93A-5061E8E0368F}" destId="{47334656-510F-4C4A-A861-0EB2C7CF394B}" srcOrd="11" destOrd="0" presId="urn:microsoft.com/office/officeart/2024/layout/NumberedTitleCardList#1"/>
    <dgm:cxn modelId="{D9E016CD-B6FE-4F5C-9AD7-C83DAE3CE633}" type="presParOf" srcId="{AADE4A29-391E-4656-A93A-5061E8E0368F}" destId="{46BCA9A9-37C0-490E-8ECA-920B9802916A}" srcOrd="12" destOrd="0" presId="urn:microsoft.com/office/officeart/2024/layout/NumberedTitleCardList#1"/>
    <dgm:cxn modelId="{4C88D6CA-95FA-4595-996F-849F8F6E1525}" type="presParOf" srcId="{46BCA9A9-37C0-490E-8ECA-920B9802916A}" destId="{CA888CED-7953-4585-B4D7-05B747E4FE8C}" srcOrd="0" destOrd="0" presId="urn:microsoft.com/office/officeart/2024/layout/NumberedTitleCardList#1"/>
    <dgm:cxn modelId="{110988EC-66F1-4BE5-8B49-1EE167084CC1}" type="presParOf" srcId="{46BCA9A9-37C0-490E-8ECA-920B9802916A}" destId="{C2F5A284-C492-4399-A874-2766E85D6E32}" srcOrd="1" destOrd="0" presId="urn:microsoft.com/office/officeart/2024/layout/NumberedTitleCardList#1"/>
    <dgm:cxn modelId="{29BA53A6-6E18-4640-A891-096DB4BC026B}" type="presParOf" srcId="{46BCA9A9-37C0-490E-8ECA-920B9802916A}" destId="{729D5C8E-5096-4FDE-9C30-25E7639153F0}" srcOrd="2" destOrd="0" presId="urn:microsoft.com/office/officeart/2024/layout/NumberedTitleCardList#1"/>
  </dgm:cxnLst>
  <dgm:bg>
    <a:noFill/>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80688E-08E3-435C-85E6-43689A127273}">
      <dsp:nvSpPr>
        <dsp:cNvPr id="0" name=""/>
        <dsp:cNvSpPr/>
      </dsp:nvSpPr>
      <dsp:spPr>
        <a:xfrm>
          <a:off x="6337"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6337" y="2527723"/>
        <a:ext cx="1561526" cy="1124298"/>
      </dsp:txXfrm>
    </dsp:sp>
    <dsp:sp modelId="{0E8EE4A5-58D7-41AC-B6B1-D0B65540F95D}">
      <dsp:nvSpPr>
        <dsp:cNvPr id="0" name=""/>
        <dsp:cNvSpPr/>
      </dsp:nvSpPr>
      <dsp:spPr>
        <a:xfrm>
          <a:off x="6337"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sp:txBody>
      <dsp:txXfrm>
        <a:off x="6337" y="1778190"/>
        <a:ext cx="1561526" cy="749532"/>
      </dsp:txXfrm>
    </dsp:sp>
    <dsp:sp modelId="{4C6D55FC-7AFE-450D-A3F6-B289CC98E468}">
      <dsp:nvSpPr>
        <dsp:cNvPr id="0" name=""/>
        <dsp:cNvSpPr/>
      </dsp:nvSpPr>
      <dsp:spPr>
        <a:xfrm>
          <a:off x="1692785"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1692785" y="2527723"/>
        <a:ext cx="1561526" cy="1124298"/>
      </dsp:txXfrm>
    </dsp:sp>
    <dsp:sp modelId="{7FF21B61-C7E6-4652-A878-8116A44B181B}">
      <dsp:nvSpPr>
        <dsp:cNvPr id="0" name=""/>
        <dsp:cNvSpPr/>
      </dsp:nvSpPr>
      <dsp:spPr>
        <a:xfrm>
          <a:off x="1692785"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sp:txBody>
      <dsp:txXfrm>
        <a:off x="1692785" y="1778190"/>
        <a:ext cx="1561526" cy="749532"/>
      </dsp:txXfrm>
    </dsp:sp>
    <dsp:sp modelId="{B2551D55-18D2-464C-89E7-029111DAA796}">
      <dsp:nvSpPr>
        <dsp:cNvPr id="0" name=""/>
        <dsp:cNvSpPr/>
      </dsp:nvSpPr>
      <dsp:spPr>
        <a:xfrm>
          <a:off x="3379233"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sz="1200" kern="1200">
            <a:effectLst>
              <a:outerShdw blurRad="38100" dist="38100" dir="2700000" algn="tl">
                <a:srgbClr val="000000">
                  <a:alpha val="43137"/>
                </a:srgbClr>
              </a:outerShdw>
            </a:effectLst>
            <a:latin typeface="Meiryo UI"/>
            <a:ea typeface="Meiryo UI"/>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関東・新潟営業所</a:t>
          </a:r>
        </a:p>
      </dsp:txBody>
      <dsp:txXfrm>
        <a:off x="3379233" y="2527723"/>
        <a:ext cx="1561526" cy="1124298"/>
      </dsp:txXfrm>
    </dsp:sp>
    <dsp:sp modelId="{31D3F57C-87CF-476C-938B-28015F23DEB9}">
      <dsp:nvSpPr>
        <dsp:cNvPr id="0" name=""/>
        <dsp:cNvSpPr/>
      </dsp:nvSpPr>
      <dsp:spPr>
        <a:xfrm>
          <a:off x="3379233"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sp:txBody>
      <dsp:txXfrm>
        <a:off x="3379233" y="1778190"/>
        <a:ext cx="1561526" cy="749532"/>
      </dsp:txXfrm>
    </dsp:sp>
    <dsp:sp modelId="{B64A6869-3771-41CE-BD3A-30479DBC0A06}">
      <dsp:nvSpPr>
        <dsp:cNvPr id="0" name=""/>
        <dsp:cNvSpPr/>
      </dsp:nvSpPr>
      <dsp:spPr>
        <a:xfrm>
          <a:off x="5065681"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森田由梨香さん</a:t>
          </a:r>
        </a:p>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首都圏第一営業所</a:t>
          </a:r>
          <a:endParaRPr kumimoji="1" lang="ja-JP" altLang="en-US" sz="1200" kern="1200">
            <a:effectLst>
              <a:outerShdw blurRad="38100" dist="38100" dir="2700000" algn="tl">
                <a:srgbClr val="000000">
                  <a:alpha val="43137"/>
                </a:srgbClr>
              </a:outerShdw>
            </a:effectLst>
          </a:endParaRPr>
        </a:p>
      </dsp:txBody>
      <dsp:txXfrm>
        <a:off x="5065681" y="2527723"/>
        <a:ext cx="1561526" cy="1124298"/>
      </dsp:txXfrm>
    </dsp:sp>
    <dsp:sp modelId="{8D4D5760-C982-4AC0-AD41-50FEA18DA049}">
      <dsp:nvSpPr>
        <dsp:cNvPr id="0" name=""/>
        <dsp:cNvSpPr/>
      </dsp:nvSpPr>
      <dsp:spPr>
        <a:xfrm>
          <a:off x="5065681"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sp:txBody>
      <dsp:txXfrm>
        <a:off x="5065681" y="1778190"/>
        <a:ext cx="1561526" cy="749532"/>
      </dsp:txXfrm>
    </dsp:sp>
    <dsp:sp modelId="{8093F356-20E1-4280-BC99-9887605E6BCF}">
      <dsp:nvSpPr>
        <dsp:cNvPr id="0" name=""/>
        <dsp:cNvSpPr/>
      </dsp:nvSpPr>
      <dsp:spPr>
        <a:xfrm>
          <a:off x="6752130"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井上拓也さん</a:t>
          </a: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関東甲信北陸営業所</a:t>
          </a:r>
        </a:p>
      </dsp:txBody>
      <dsp:txXfrm>
        <a:off x="6752130" y="2527723"/>
        <a:ext cx="1561526" cy="1124298"/>
      </dsp:txXfrm>
    </dsp:sp>
    <dsp:sp modelId="{9B4DE1DC-8E0E-4FF0-8126-A90761FF94F0}">
      <dsp:nvSpPr>
        <dsp:cNvPr id="0" name=""/>
        <dsp:cNvSpPr/>
      </dsp:nvSpPr>
      <dsp:spPr>
        <a:xfrm>
          <a:off x="6752130"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sp:txBody>
      <dsp:txXfrm>
        <a:off x="6752130" y="1778190"/>
        <a:ext cx="1561526" cy="749532"/>
      </dsp:txXfrm>
    </dsp:sp>
    <dsp:sp modelId="{5EA9B79B-7FD2-40C6-8CD8-187B6D8BFABA}">
      <dsp:nvSpPr>
        <dsp:cNvPr id="0" name=""/>
        <dsp:cNvSpPr/>
      </dsp:nvSpPr>
      <dsp:spPr>
        <a:xfrm>
          <a:off x="8438578"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8438578" y="2527723"/>
        <a:ext cx="1561526" cy="1124298"/>
      </dsp:txXfrm>
    </dsp:sp>
    <dsp:sp modelId="{18C7778A-3502-4516-A4B2-37F2693F96FB}">
      <dsp:nvSpPr>
        <dsp:cNvPr id="0" name=""/>
        <dsp:cNvSpPr/>
      </dsp:nvSpPr>
      <dsp:spPr>
        <a:xfrm>
          <a:off x="8438578"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sp:txBody>
      <dsp:txXfrm>
        <a:off x="8438578" y="1778190"/>
        <a:ext cx="1561526" cy="749532"/>
      </dsp:txXfrm>
    </dsp:sp>
    <dsp:sp modelId="{CA888CED-7953-4585-B4D7-05B747E4FE8C}">
      <dsp:nvSpPr>
        <dsp:cNvPr id="0" name=""/>
        <dsp:cNvSpPr/>
      </dsp:nvSpPr>
      <dsp:spPr>
        <a:xfrm>
          <a:off x="10125026"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sp:txBody>
      <dsp:txXfrm>
        <a:off x="10125026" y="2527723"/>
        <a:ext cx="1561526" cy="1124298"/>
      </dsp:txXfrm>
    </dsp:sp>
    <dsp:sp modelId="{C2F5A284-C492-4399-A874-2766E85D6E32}">
      <dsp:nvSpPr>
        <dsp:cNvPr id="0" name=""/>
        <dsp:cNvSpPr/>
      </dsp:nvSpPr>
      <dsp:spPr>
        <a:xfrm>
          <a:off x="10125026"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sp:txBody>
      <dsp:txXfrm>
        <a:off x="10125026" y="1778190"/>
        <a:ext cx="1561526" cy="749532"/>
      </dsp:txXfrm>
    </dsp:sp>
  </dsp:spTree>
</dsp:drawing>
</file>

<file path=ppt/diagrams/layout1.xml><?xml version="1.0" encoding="utf-8"?>
<dgm:layoutDef xmlns:dgm="http://schemas.openxmlformats.org/drawingml/2006/diagram" xmlns:a="http://schemas.openxmlformats.org/drawingml/2006/main" uniqueId="urn:microsoft.com/office/officeart/2024/layout/NumberedTitleCardList#1">
  <dgm:title val=""/>
  <dgm:desc val=""/>
  <dgm:catLst>
    <dgm:cat type="list" pri="8100"/>
  </dgm:catLst>
  <dgm:sampData>
    <dgm:dataModel>
      <dgm:ptLst>
        <dgm:pt modelId="0" type="doc"/>
        <dgm:pt modelId="1">
          <dgm:prSet phldr="1"/>
        </dgm:pt>
        <dgm:pt modelId="2">
          <dgm:prSet phldr="1"/>
        </dgm:pt>
        <dgm:pt modelId="3">
          <dgm:prSet phldr="1"/>
        </dgm:pt>
        <dgm:pt modelId="101" type="sibTrans" cxnId="{65E86F0A-D270-4099-B08B-A2DC00CCA9A8}">
          <dgm:prSet phldrT="01"/>
          <dgm:t>
            <a:bodyPr/>
            <a:lstStyle/>
            <a:p>
              <a:r>
                <a:t>01</a:t>
              </a:r>
            </a:p>
          </dgm:t>
        </dgm:pt>
        <dgm:pt modelId="201" type="sibTrans" cxnId="{996DB9E2-43E4-4C32-913C-1B4D21716AFE}">
          <dgm:prSet phldrT="02"/>
          <dgm:t>
            <a:bodyPr/>
            <a:lstStyle/>
            <a:p>
              <a:r>
                <a:t>02</a:t>
              </a:r>
            </a:p>
          </dgm:t>
        </dgm:pt>
        <dgm:pt modelId="301" type="sibTrans" cxnId="{C4ED3F72-69EB-4E67-8F0D-A1A861DC08ED}">
          <dgm:prSet phldrT="03"/>
          <dgm:t>
            <a:bodyPr/>
            <a:lstStyle/>
            <a:p>
              <a:r>
                <a:t>03</a:t>
              </a:r>
            </a:p>
          </dgm:t>
        </dgm:pt>
      </dgm:ptLst>
      <dgm:cxnLst>
        <dgm:cxn modelId="4" srcId="0" destId="1" srcOrd="0" destOrd="0" sibTransId="101"/>
        <dgm:cxn modelId="5" srcId="0" destId="2" srcOrd="1" destOrd="0" sibTransId="201"/>
        <dgm:cxn modelId="6" srcId="0" destId="3" srcOrd="2" destOrd="0" sibTransId="301"/>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Name0">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fgAcc1">
          <dgm:alg type="sp"/>
          <dgm:shape xmlns:r="http://schemas.openxmlformats.org/officeDocument/2006/relationships" type="roundRect" r:blip="">
            <dgm:adjLst>
              <dgm:adj idx="1" val="0.1"/>
            </dgm:adjLst>
          </dgm:shape>
          <dgm:presOf axis="self"/>
          <dgm:constrLst/>
          <dgm:ruleLst/>
        </dgm:layoutNode>
        <dgm:forEach name="Name19" axis="followSib" ptType="sibTrans" hideLastTrans="0" cnt="1">
          <dgm:layoutNode name="sibTransNodeRect" styleLbl="bgShp">
            <dgm:varLst>
              <dgm:chMax val="0"/>
              <dgm:bulletEnabled/>
            </dgm:varLst>
            <dgm:presOf axis="self" ptType="sibTrans"/>
            <dgm:choose name="numAlignDir">
              <dgm:if name="numAlignNorm" func="var" arg="dir" op="equ" val="norm">
                <dgm:alg type="tx">
                  <dgm:param type="parTxLTRAlign" val="l"/>
                  <dgm:param type="parTxRTLAlign" val="l"/>
                </dgm:alg>
              </dgm:if>
              <dgm:else name="numAlignRev">
                <dgm:alg type="tx">
                  <dgm:param type="parTxLTRAlign" val="r"/>
                  <dgm:param type="parTxRTLAlign" val="r"/>
                </dgm:alg>
              </dgm:else>
            </dgm:choose>
            <dgm:shape xmlns:r="http://schemas.openxmlformats.org/officeDocument/2006/relationships" type="rect" r:blip="" hideGeom="1">
              <dgm:adjLst/>
            </dgm:shape>
            <dgm:constrLst>
              <dgm:constr type="primFontSz" val="66"/>
              <dgm:constr type="tMarg" val="13"/>
              <dgm:constr type="lMarg" refType="w" fact="0.1"/>
              <dgm:constr type="rMarg" refType="w" fact="0.05"/>
              <dgm:constr type="bMarg" val="13"/>
            </dgm:constrLst>
            <dgm:ruleLst>
              <dgm:rule type="primFontSz" val="14" fact="NaN" max="NaN"/>
              <dgm:rule type="tMarg" val="13" fact="NaN" max="NaN"/>
            </dgm:ruleLst>
          </dgm:layoutNode>
        </dgm:forEach>
        <dgm:layoutNode name="nodeRect" styleLbl="parChTrans1D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OrSelf" ptType="node"/>
          <dgm:constrLst>
            <dgm:constr type="primFontSz" val="26"/>
            <dgm:constr type="tMarg"/>
            <dgm:constr type="lMarg" refType="w" fact="0.1"/>
            <dgm:constr type="rMarg" refType="w" fact="0.05"/>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jpeg"/><Relationship Id="rId4"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 Id="rId3" Type="http://schemas.openxmlformats.org/officeDocument/2006/relationships/image" Target="../media/image1.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7.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pic>
        <p:nvPicPr>
          <p:cNvPr id="42" name="Logo">
            <a:extLst>
              <a:ext uri="{FF2B5EF4-FFF2-40B4-BE49-F238E27FC236}">
                <a16:creationId xmlns:a16="http://schemas.microsoft.com/office/drawing/2014/main" id="{572B6447-BD74-E19F-F82F-B6AB6B813F3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632463954"/>
      </p:ext>
    </p:extLst>
  </p:cSld>
  <p:clrMapOvr>
    <a:masterClrMapping/>
  </p:clrMapOvr>
  <p:extLst>
    <p:ext uri="{DCECCB84-F9BA-43D5-87BE-67443E8EF086}">
      <p15:sldGuideLst xmlns:p15="http://schemas.microsoft.com/office/powerpoint/2012/main">
        <p15:guide id="3" pos="2615">
          <p15:clr>
            <a:srgbClr val="9FCC3B"/>
          </p15:clr>
        </p15:guide>
        <p15:guide id="4" pos="2706">
          <p15:clr>
            <a:srgbClr val="9FCC3B"/>
          </p15:clr>
        </p15:guide>
        <p15:guide id="5" pos="4974">
          <p15:clr>
            <a:srgbClr val="9FCC3B"/>
          </p15:clr>
        </p15:guide>
        <p15:guide id="6" pos="5065">
          <p15:clr>
            <a:srgbClr val="9FCC3B"/>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 Title slide 1">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6" name="Gradient background">
            <a:extLst>
              <a:ext uri="{FF2B5EF4-FFF2-40B4-BE49-F238E27FC236}">
                <a16:creationId xmlns:a16="http://schemas.microsoft.com/office/drawing/2014/main" id="{92928F57-07A1-1A1B-92F7-6684E21D98A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6057900"/>
            <a:ext cx="12192000" cy="800100"/>
          </a:xfrm>
          <a:prstGeom prst="rect">
            <a:avLst/>
          </a:prstGeom>
        </p:spPr>
      </p:pic>
      <p:sp>
        <p:nvSpPr>
          <p:cNvPr id="7" name="Title 1">
            <a:extLst>
              <a:ext uri="{FF2B5EF4-FFF2-40B4-BE49-F238E27FC236}">
                <a16:creationId xmlns:a16="http://schemas.microsoft.com/office/drawing/2014/main" id="{DE11E6EF-7DEE-709C-8F7C-C05A9D414CD0}"/>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8" name="Subtitle 2">
            <a:extLst>
              <a:ext uri="{FF2B5EF4-FFF2-40B4-BE49-F238E27FC236}">
                <a16:creationId xmlns:a16="http://schemas.microsoft.com/office/drawing/2014/main" id="{156DCA5C-54BE-B570-7771-24B6F32B8654}"/>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9" name="Text Placeholder 1">
            <a:extLst>
              <a:ext uri="{FF2B5EF4-FFF2-40B4-BE49-F238E27FC236}">
                <a16:creationId xmlns:a16="http://schemas.microsoft.com/office/drawing/2014/main" id="{9CEC8C55-6D9F-A0BC-1D15-F83CA5ED26DA}"/>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0" name="Text Placeholder 2">
            <a:extLst>
              <a:ext uri="{FF2B5EF4-FFF2-40B4-BE49-F238E27FC236}">
                <a16:creationId xmlns:a16="http://schemas.microsoft.com/office/drawing/2014/main" id="{F5B90D9E-31F6-9A74-2145-A6288C92CE4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bwMode="gray">
          <a:xfrm>
            <a:off x="551394" y="6301888"/>
            <a:ext cx="1691980" cy="252837"/>
          </a:xfrm>
          <a:prstGeom prst="rect">
            <a:avLst/>
          </a:prstGeom>
        </p:spPr>
      </p:pic>
      <p:sp>
        <p:nvSpPr>
          <p:cNvPr id="3" name="Footer Placeholder 2">
            <a:extLst>
              <a:ext uri="{FF2B5EF4-FFF2-40B4-BE49-F238E27FC236}">
                <a16:creationId xmlns:a16="http://schemas.microsoft.com/office/drawing/2014/main" id="{C2AEE872-17BA-5687-6409-5D696FD2CCF8}"/>
              </a:ext>
            </a:extLst>
          </p:cNvPr>
          <p:cNvSpPr>
            <a:spLocks noGrp="1"/>
          </p:cNvSpPr>
          <p:nvPr>
            <p:ph type="ftr" sz="quarter" idx="15"/>
          </p:nvPr>
        </p:nvSpPr>
        <p:spPr/>
        <p:txBody>
          <a:bodyPr/>
          <a:lstStyle/>
          <a:p>
            <a:pPr algn="l"/>
            <a:endParaRPr lang="en-US" noProof="0"/>
          </a:p>
        </p:txBody>
      </p:sp>
      <p:sp>
        <p:nvSpPr>
          <p:cNvPr id="4" name="Slide Number Placeholder 3">
            <a:extLst>
              <a:ext uri="{FF2B5EF4-FFF2-40B4-BE49-F238E27FC236}">
                <a16:creationId xmlns:a16="http://schemas.microsoft.com/office/drawing/2014/main" id="{E100544A-606F-A954-EFCC-B2A52625FFC6}"/>
              </a:ext>
            </a:extLst>
          </p:cNvPr>
          <p:cNvSpPr>
            <a:spLocks noGrp="1"/>
          </p:cNvSpPr>
          <p:nvPr>
            <p:ph type="sldNum" sz="quarter" idx="16"/>
          </p:nvPr>
        </p:nvSpPr>
        <p:spPr/>
        <p:txBody>
          <a:body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23134022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 Title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5" name="Text Placeholder 1">
            <a:extLst>
              <a:ext uri="{FF2B5EF4-FFF2-40B4-BE49-F238E27FC236}">
                <a16:creationId xmlns:a16="http://schemas.microsoft.com/office/drawing/2014/main" id="{9652521A-CD45-F485-9C10-82CE67ACE2F5}"/>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8724D9F6-3E07-EAAB-9C0A-FB3B644A654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499434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Title slide 3">
    <p:spTree>
      <p:nvGrpSpPr>
        <p:cNvPr id="1" name=""/>
        <p:cNvGrpSpPr/>
        <p:nvPr/>
      </p:nvGrpSpPr>
      <p:grpSpPr>
        <a:xfrm>
          <a:off x="0" y="0"/>
          <a:ext cx="0" cy="0"/>
          <a:chOff x="0" y="0"/>
          <a:chExt cx="0" cy="0"/>
        </a:xfrm>
      </p:grpSpPr>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4" name="Title 1">
            <a:extLst>
              <a:ext uri="{FF2B5EF4-FFF2-40B4-BE49-F238E27FC236}">
                <a16:creationId xmlns:a16="http://schemas.microsoft.com/office/drawing/2014/main" id="{751C14DD-9794-E6F9-AF00-3571E64B8936}"/>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7" name="Subtitle 2">
            <a:extLst>
              <a:ext uri="{FF2B5EF4-FFF2-40B4-BE49-F238E27FC236}">
                <a16:creationId xmlns:a16="http://schemas.microsoft.com/office/drawing/2014/main" id="{1DBE46BF-4100-2DC3-ABDE-7C925CA29CCA}"/>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8" name="Text Placeholder 1">
            <a:extLst>
              <a:ext uri="{FF2B5EF4-FFF2-40B4-BE49-F238E27FC236}">
                <a16:creationId xmlns:a16="http://schemas.microsoft.com/office/drawing/2014/main" id="{88B367B8-A7CD-7CB8-9517-8197F72C4C2B}"/>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9" name="Text Placeholder 2">
            <a:extLst>
              <a:ext uri="{FF2B5EF4-FFF2-40B4-BE49-F238E27FC236}">
                <a16:creationId xmlns:a16="http://schemas.microsoft.com/office/drawing/2014/main" id="{E5AA0FEE-BD89-5565-F585-CC60A499B78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Tree>
    <p:extLst>
      <p:ext uri="{BB962C8B-B14F-4D97-AF65-F5344CB8AC3E}">
        <p14:creationId xmlns:p14="http://schemas.microsoft.com/office/powerpoint/2010/main" val="1353846325"/>
      </p:ext>
    </p:extLst>
  </p:cSld>
  <p:clrMapOvr>
    <a:masterClrMapping/>
  </p:clrMapOvr>
  <p:extLst>
    <p:ext uri="{DCECCB84-F9BA-43D5-87BE-67443E8EF086}">
      <p15:sldGuideLst xmlns:p15="http://schemas.microsoft.com/office/powerpoint/2012/main">
        <p15:guide id="1" pos="669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 Title slide with image 4">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1" y="2420888"/>
            <a:ext cx="4281056" cy="4437112"/>
          </a:xfrm>
          <a:prstGeom prst="rect">
            <a:avLst/>
          </a:prstGeom>
          <a:blipFill>
            <a:blip>
              <a:extLst>
                <a:ext uri="{96DAC541-7B7A-43D3-8B79-37D633B846F1}">
                  <asvg:svgBlip xmlns:asvg="http://schemas.microsoft.com/office/drawing/2016/SVG/main" r:embed="rId2"/>
                </a:ext>
              </a:extLst>
            </a:blip>
            <a:stretch>
              <a:fillRect l="-811" t="-811" r="-811" b="-811"/>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32729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slide with image 5">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a:off x="0" y="2420888"/>
            <a:ext cx="4281056"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6" y="2420888"/>
            <a:ext cx="7766944"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6"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2" name="Title 1">
            <a:extLst>
              <a:ext uri="{FF2B5EF4-FFF2-40B4-BE49-F238E27FC236}">
                <a16:creationId xmlns:a16="http://schemas.microsoft.com/office/drawing/2014/main" id="{7C4A620D-E72D-0599-539C-16ECD62CD3D9}"/>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5052080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slide with image 6">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615" y="2420888"/>
            <a:ext cx="4280440"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9" name="Title 1">
            <a:extLst>
              <a:ext uri="{FF2B5EF4-FFF2-40B4-BE49-F238E27FC236}">
                <a16:creationId xmlns:a16="http://schemas.microsoft.com/office/drawing/2014/main" id="{FEDBD3AB-8D5C-9430-21B5-DB44408225B2}"/>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7086219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Table of contents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27" name="Logo">
            <a:extLst>
              <a:ext uri="{FF2B5EF4-FFF2-40B4-BE49-F238E27FC236}">
                <a16:creationId xmlns:a16="http://schemas.microsoft.com/office/drawing/2014/main" id="{6CB62FDA-7C32-F694-6DE6-E1D01DA97A1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24732996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Table of content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0" name="Picture Placeholder 5">
            <a:extLst>
              <a:ext uri="{FF2B5EF4-FFF2-40B4-BE49-F238E27FC236}">
                <a16:creationId xmlns:a16="http://schemas.microsoft.com/office/drawing/2014/main" id="{87E83465-E936-9562-7382-58B2C6BC3AC5}"/>
              </a:ext>
            </a:extLst>
          </p:cNvPr>
          <p:cNvSpPr>
            <a:spLocks noGrp="1"/>
          </p:cNvSpPr>
          <p:nvPr>
            <p:ph type="pic" sz="quarter" idx="27"/>
          </p:nvPr>
        </p:nvSpPr>
        <p:spPr bwMode="gray">
          <a:xfrm>
            <a:off x="551384"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8" name="Text Placeholder 9">
            <a:extLst>
              <a:ext uri="{FF2B5EF4-FFF2-40B4-BE49-F238E27FC236}">
                <a16:creationId xmlns:a16="http://schemas.microsoft.com/office/drawing/2014/main" id="{CEE294DF-F384-A74E-EE39-69C112F65FC7}"/>
              </a:ext>
            </a:extLst>
          </p:cNvPr>
          <p:cNvSpPr>
            <a:spLocks noGrp="1"/>
          </p:cNvSpPr>
          <p:nvPr>
            <p:ph type="body" sz="quarter" idx="25" hasCustomPrompt="1"/>
          </p:nvPr>
        </p:nvSpPr>
        <p:spPr bwMode="gray">
          <a:xfrm>
            <a:off x="551384"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9" name="Text Placeholder 10">
            <a:extLst>
              <a:ext uri="{FF2B5EF4-FFF2-40B4-BE49-F238E27FC236}">
                <a16:creationId xmlns:a16="http://schemas.microsoft.com/office/drawing/2014/main" id="{E3654B84-E40B-FCB1-3724-1DABC8B1737D}"/>
              </a:ext>
            </a:extLst>
          </p:cNvPr>
          <p:cNvSpPr>
            <a:spLocks noGrp="1"/>
          </p:cNvSpPr>
          <p:nvPr>
            <p:ph type="body" sz="quarter" idx="26" hasCustomPrompt="1"/>
          </p:nvPr>
        </p:nvSpPr>
        <p:spPr bwMode="gray">
          <a:xfrm>
            <a:off x="80338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7" name="Picture Placeholder 6">
            <a:extLst>
              <a:ext uri="{FF2B5EF4-FFF2-40B4-BE49-F238E27FC236}">
                <a16:creationId xmlns:a16="http://schemas.microsoft.com/office/drawing/2014/main" id="{26F7F342-6CB9-4537-438D-BA9E5446D5C5}"/>
              </a:ext>
            </a:extLst>
          </p:cNvPr>
          <p:cNvSpPr>
            <a:spLocks noGrp="1"/>
          </p:cNvSpPr>
          <p:nvPr>
            <p:ph type="pic" sz="quarter" idx="30"/>
          </p:nvPr>
        </p:nvSpPr>
        <p:spPr bwMode="gray">
          <a:xfrm>
            <a:off x="3359696"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11">
            <a:extLst>
              <a:ext uri="{FF2B5EF4-FFF2-40B4-BE49-F238E27FC236}">
                <a16:creationId xmlns:a16="http://schemas.microsoft.com/office/drawing/2014/main" id="{78586DED-D6C9-416B-DE95-E998EB52076F}"/>
              </a:ext>
            </a:extLst>
          </p:cNvPr>
          <p:cNvSpPr>
            <a:spLocks noGrp="1"/>
          </p:cNvSpPr>
          <p:nvPr>
            <p:ph type="body" sz="quarter" idx="28" hasCustomPrompt="1"/>
          </p:nvPr>
        </p:nvSpPr>
        <p:spPr bwMode="gray">
          <a:xfrm>
            <a:off x="3359696"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6" name="Text Placeholder 12">
            <a:extLst>
              <a:ext uri="{FF2B5EF4-FFF2-40B4-BE49-F238E27FC236}">
                <a16:creationId xmlns:a16="http://schemas.microsoft.com/office/drawing/2014/main" id="{CB2BFA5B-027E-0A7B-FD2A-AAC3CBC9749C}"/>
              </a:ext>
            </a:extLst>
          </p:cNvPr>
          <p:cNvSpPr>
            <a:spLocks noGrp="1"/>
          </p:cNvSpPr>
          <p:nvPr>
            <p:ph type="body" sz="quarter" idx="29" hasCustomPrompt="1"/>
          </p:nvPr>
        </p:nvSpPr>
        <p:spPr bwMode="gray">
          <a:xfrm>
            <a:off x="361172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9" name="Picture Placeholder 7">
            <a:extLst>
              <a:ext uri="{FF2B5EF4-FFF2-40B4-BE49-F238E27FC236}">
                <a16:creationId xmlns:a16="http://schemas.microsoft.com/office/drawing/2014/main" id="{0F726FBF-CB4A-AF8D-5B1E-DCD4213344B7}"/>
              </a:ext>
            </a:extLst>
          </p:cNvPr>
          <p:cNvSpPr>
            <a:spLocks noGrp="1"/>
          </p:cNvSpPr>
          <p:nvPr>
            <p:ph type="pic" sz="quarter" idx="33"/>
          </p:nvPr>
        </p:nvSpPr>
        <p:spPr bwMode="gray">
          <a:xfrm>
            <a:off x="6168008"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7" name="Text Placeholder 13">
            <a:extLst>
              <a:ext uri="{FF2B5EF4-FFF2-40B4-BE49-F238E27FC236}">
                <a16:creationId xmlns:a16="http://schemas.microsoft.com/office/drawing/2014/main" id="{D0D834FA-1583-AE1B-9B41-FD20F66F2287}"/>
              </a:ext>
            </a:extLst>
          </p:cNvPr>
          <p:cNvSpPr>
            <a:spLocks noGrp="1"/>
          </p:cNvSpPr>
          <p:nvPr>
            <p:ph type="body" sz="quarter" idx="31" hasCustomPrompt="1"/>
          </p:nvPr>
        </p:nvSpPr>
        <p:spPr bwMode="gray">
          <a:xfrm>
            <a:off x="6168008"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8" name="Text Placeholder 14">
            <a:extLst>
              <a:ext uri="{FF2B5EF4-FFF2-40B4-BE49-F238E27FC236}">
                <a16:creationId xmlns:a16="http://schemas.microsoft.com/office/drawing/2014/main" id="{D640CFF1-EE63-44B9-98DB-23D254A8FD24}"/>
              </a:ext>
            </a:extLst>
          </p:cNvPr>
          <p:cNvSpPr>
            <a:spLocks noGrp="1"/>
          </p:cNvSpPr>
          <p:nvPr>
            <p:ph type="body" sz="quarter" idx="32" hasCustomPrompt="1"/>
          </p:nvPr>
        </p:nvSpPr>
        <p:spPr bwMode="gray">
          <a:xfrm>
            <a:off x="6420036"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32" name="Picture Placeholder 8">
            <a:extLst>
              <a:ext uri="{FF2B5EF4-FFF2-40B4-BE49-F238E27FC236}">
                <a16:creationId xmlns:a16="http://schemas.microsoft.com/office/drawing/2014/main" id="{EAC21E38-8163-B540-E913-991D485220F7}"/>
              </a:ext>
            </a:extLst>
          </p:cNvPr>
          <p:cNvSpPr>
            <a:spLocks noGrp="1"/>
          </p:cNvSpPr>
          <p:nvPr>
            <p:ph type="pic" sz="quarter" idx="36"/>
          </p:nvPr>
        </p:nvSpPr>
        <p:spPr bwMode="gray">
          <a:xfrm>
            <a:off x="8976320"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30" name="Text Placeholder 15">
            <a:extLst>
              <a:ext uri="{FF2B5EF4-FFF2-40B4-BE49-F238E27FC236}">
                <a16:creationId xmlns:a16="http://schemas.microsoft.com/office/drawing/2014/main" id="{1F29D8D5-6E5E-8B9E-0128-955D7E46C229}"/>
              </a:ext>
            </a:extLst>
          </p:cNvPr>
          <p:cNvSpPr>
            <a:spLocks noGrp="1"/>
          </p:cNvSpPr>
          <p:nvPr>
            <p:ph type="body" sz="quarter" idx="34" hasCustomPrompt="1"/>
          </p:nvPr>
        </p:nvSpPr>
        <p:spPr bwMode="gray">
          <a:xfrm>
            <a:off x="8976320"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31" name="Text Placeholder 16">
            <a:extLst>
              <a:ext uri="{FF2B5EF4-FFF2-40B4-BE49-F238E27FC236}">
                <a16:creationId xmlns:a16="http://schemas.microsoft.com/office/drawing/2014/main" id="{841AE9E9-C6DA-13DA-947A-F29639F25832}"/>
              </a:ext>
            </a:extLst>
          </p:cNvPr>
          <p:cNvSpPr>
            <a:spLocks noGrp="1"/>
          </p:cNvSpPr>
          <p:nvPr>
            <p:ph type="body" sz="quarter" idx="35" hasCustomPrompt="1"/>
          </p:nvPr>
        </p:nvSpPr>
        <p:spPr bwMode="gray">
          <a:xfrm>
            <a:off x="9228348"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33" name="Logo">
            <a:extLst>
              <a:ext uri="{FF2B5EF4-FFF2-40B4-BE49-F238E27FC236}">
                <a16:creationId xmlns:a16="http://schemas.microsoft.com/office/drawing/2014/main" id="{7D38B19B-8E1F-2476-5E13-10CCDB1136E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873303921"/>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Agenda</a:t>
            </a:r>
          </a:p>
        </p:txBody>
      </p:sp>
      <p:pic>
        <p:nvPicPr>
          <p:cNvPr id="3" name="Logo">
            <a:extLst>
              <a:ext uri="{FF2B5EF4-FFF2-40B4-BE49-F238E27FC236}">
                <a16:creationId xmlns:a16="http://schemas.microsoft.com/office/drawing/2014/main" id="{80A9B968-2C0B-3E87-C3F8-5A609C6918B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91117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reserve="1">
  <p:cSld name=" Section Divider 1">
    <p:bg>
      <p:bgPr>
        <a:solidFill>
          <a:srgbClr val="FFFFFF"/>
        </a:solidFill>
        <a:effectLst/>
      </p:bgPr>
    </p:bg>
    <p:spTree>
      <p:nvGrpSpPr>
        <p:cNvPr id="1" name=""/>
        <p:cNvGrpSpPr/>
        <p:nvPr/>
      </p:nvGrpSpPr>
      <p:grpSpPr>
        <a:xfrm>
          <a:off x="0" y="0"/>
          <a:ext cx="0" cy="0"/>
          <a:chOff x="0" y="0"/>
          <a:chExt cx="0" cy="0"/>
        </a:xfrm>
      </p:grpSpPr>
      <p:pic>
        <p:nvPicPr>
          <p:cNvPr id="4" name="Gradient background">
            <a:extLst>
              <a:ext uri="{FF2B5EF4-FFF2-40B4-BE49-F238E27FC236}">
                <a16:creationId xmlns:a16="http://schemas.microsoft.com/office/drawing/2014/main" id="{95B531DC-EDFA-F406-F1A3-7CCD05D79506}"/>
              </a:ext>
            </a:extLst>
          </p:cNvPr>
          <p:cNvPicPr>
            <a:picLocks/>
          </p:cNvPicPr>
          <p:nvPr userDrawn="1"/>
        </p:nvPicPr>
        <p:blipFill>
          <a:blip>
            <a:extLst>
              <a:ext uri="{96DAC541-7B7A-43D3-8B79-37D633B846F1}">
                <asvg:svgBlip xmlns:asvg="http://schemas.microsoft.com/office/drawing/2016/SVG/main" r:embed="rId2"/>
              </a:ext>
            </a:extLst>
          </a:blip>
          <a:srcRect l="83735" t="784" r="487" b="784"/>
          <a:stretch>
            <a:fillRect/>
          </a:stretch>
        </p:blipFill>
        <p:spPr bwMode="hidden">
          <a:xfrm>
            <a:off x="11641138" y="1"/>
            <a:ext cx="555184" cy="6858000"/>
          </a:xfrm>
          <a:prstGeom prst="rect">
            <a:avLst/>
          </a:prstGeom>
        </p:spPr>
      </p:pic>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89400166"/>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 Section Divi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7" name="Graphic 6">
            <a:extLst>
              <a:ext uri="{FF2B5EF4-FFF2-40B4-BE49-F238E27FC236}">
                <a16:creationId xmlns:a16="http://schemas.microsoft.com/office/drawing/2014/main" id="{C319D055-168E-C9A6-4B8C-59B80F8FA40D}"/>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915054142"/>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Section Divider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4926549" cy="2528962"/>
          </a:xfrm>
        </p:spPr>
        <p:txBody>
          <a:bodyPr anchor="t"/>
          <a:lstStyle>
            <a:lvl1pPr>
              <a:lnSpc>
                <a:spcPct val="83000"/>
              </a:lnSpc>
              <a:defRPr sz="6600"/>
            </a:lvl1pPr>
          </a:lstStyle>
          <a:p>
            <a:r>
              <a:rPr lang="en-US" noProof="0"/>
              <a:t>X. Section name (max.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593291"/>
            <a:ext cx="5072628" cy="369332"/>
          </a:xfrm>
          <a:prstGeom prst="rect">
            <a:avLst/>
          </a:prstGeom>
        </p:spPr>
        <p:txBody>
          <a:bodyPr wrap="square">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sp>
        <p:nvSpPr>
          <p:cNvPr id="4" name="Picture Placeholder 1">
            <a:extLst>
              <a:ext uri="{FF2B5EF4-FFF2-40B4-BE49-F238E27FC236}">
                <a16:creationId xmlns:a16="http://schemas.microsoft.com/office/drawing/2014/main" id="{4CA65FF8-CA33-78E1-DB61-531BB02E1EBD}"/>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9715118"/>
      </p:ext>
    </p:extLst>
  </p:cSld>
  <p:clrMapOvr>
    <a:masterClrMapping/>
  </p:clrMapOvr>
  <p:extLst>
    <p:ext uri="{DCECCB84-F9BA-43D5-87BE-67443E8EF086}">
      <p15:sldGuideLst xmlns:p15="http://schemas.microsoft.com/office/powerpoint/2012/main">
        <p15:guide id="2" pos="3795">
          <p15:clr>
            <a:srgbClr val="FBAE40"/>
          </p15:clr>
        </p15:guide>
        <p15:guide id="3" pos="388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 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78369314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11088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12657389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ext (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3179"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3179"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625629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and text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6168008"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7" name="Logo">
            <a:extLst>
              <a:ext uri="{FF2B5EF4-FFF2-40B4-BE49-F238E27FC236}">
                <a16:creationId xmlns:a16="http://schemas.microsoft.com/office/drawing/2014/main" id="{3044E95F-CA3F-13A8-2786-33924D4D7A0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777272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and text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3"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4295800"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3">
            <a:extLst>
              <a:ext uri="{FF2B5EF4-FFF2-40B4-BE49-F238E27FC236}">
                <a16:creationId xmlns:a16="http://schemas.microsoft.com/office/drawing/2014/main" id="{41804F57-3A4A-9DF7-253D-B1D02A1E5C58}"/>
              </a:ext>
            </a:extLst>
          </p:cNvPr>
          <p:cNvSpPr>
            <a:spLocks noGrp="1"/>
          </p:cNvSpPr>
          <p:nvPr>
            <p:ph type="body" sz="quarter" idx="15" hasCustomPrompt="1"/>
          </p:nvPr>
        </p:nvSpPr>
        <p:spPr bwMode="gray">
          <a:xfrm>
            <a:off x="8040216"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8" name="Logo">
            <a:extLst>
              <a:ext uri="{FF2B5EF4-FFF2-40B4-BE49-F238E27FC236}">
                <a16:creationId xmlns:a16="http://schemas.microsoft.com/office/drawing/2014/main" id="{E285D2F7-CECB-F944-A2C5-B4FE6727F64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98215389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527">
          <p15:clr>
            <a:srgbClr val="9FCC3B"/>
          </p15:clr>
        </p15:guide>
        <p15:guide id="12" pos="1436">
          <p15:clr>
            <a:srgbClr val="9FCC3B"/>
          </p15:clr>
        </p15:guide>
        <p15:guide id="13" pos="6244">
          <p15:clr>
            <a:srgbClr val="9FCC3B"/>
          </p15:clr>
        </p15:guide>
        <p15:guide id="14" pos="6153">
          <p15:clr>
            <a:srgbClr val="9FCC3B"/>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Title, text and imag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Tree>
    <p:extLst>
      <p:ext uri="{BB962C8B-B14F-4D97-AF65-F5344CB8AC3E}">
        <p14:creationId xmlns:p14="http://schemas.microsoft.com/office/powerpoint/2010/main" val="12113343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 Title, text and image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55808818"/>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 Title, text and two images (Lef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0"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5" name="Logo">
            <a:extLst>
              <a:ext uri="{FF2B5EF4-FFF2-40B4-BE49-F238E27FC236}">
                <a16:creationId xmlns:a16="http://schemas.microsoft.com/office/drawing/2014/main" id="{BF778B60-B2B6-2C1B-6489-97359DB6250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
        <p:nvSpPr>
          <p:cNvPr id="7" name="Title 1">
            <a:extLst>
              <a:ext uri="{FF2B5EF4-FFF2-40B4-BE49-F238E27FC236}">
                <a16:creationId xmlns:a16="http://schemas.microsoft.com/office/drawing/2014/main" id="{E2DDFF32-ABCB-33C4-9D6C-A673B4B538DF}"/>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9" name="Text Placeholder 1">
            <a:extLst>
              <a:ext uri="{FF2B5EF4-FFF2-40B4-BE49-F238E27FC236}">
                <a16:creationId xmlns:a16="http://schemas.microsoft.com/office/drawing/2014/main" id="{E09FD615-2E6A-9A47-5949-05F77046EE40}"/>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167460637"/>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 Title, text and two images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2BC9066-B5D9-AF6D-6531-C5B70B0F4BE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79781040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wo images, title and tex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371703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168008" y="3717032"/>
            <a:ext cx="5472000" cy="2340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a:extLst>
              <a:ext uri="{FF2B5EF4-FFF2-40B4-BE49-F238E27FC236}">
                <a16:creationId xmlns:a16="http://schemas.microsoft.com/office/drawing/2014/main" id="{F1CE46F8-E5F0-79EC-BCFD-07B38471E427}"/>
              </a:ext>
            </a:extLst>
          </p:cNvPr>
          <p:cNvSpPr>
            <a:spLocks noGrp="1"/>
          </p:cNvSpPr>
          <p:nvPr>
            <p:ph type="ftr" sz="quarter" idx="16"/>
          </p:nvPr>
        </p:nvSpPr>
        <p:spPr bwMode="gray"/>
        <p:txBody>
          <a:bodyPr/>
          <a:lstStyle/>
          <a:p>
            <a:pPr algn="l"/>
            <a:endParaRPr lang="en-US" noProof="0"/>
          </a:p>
        </p:txBody>
      </p:sp>
      <p:sp>
        <p:nvSpPr>
          <p:cNvPr id="7" name="Slide Number Placeholder">
            <a:extLst>
              <a:ext uri="{FF2B5EF4-FFF2-40B4-BE49-F238E27FC236}">
                <a16:creationId xmlns:a16="http://schemas.microsoft.com/office/drawing/2014/main" id="{D132686C-3404-59C2-A915-D1BF3E01084B}"/>
              </a:ext>
            </a:extLst>
          </p:cNvPr>
          <p:cNvSpPr>
            <a:spLocks noGrp="1"/>
          </p:cNvSpPr>
          <p:nvPr>
            <p:ph type="sldNum" sz="quarter" idx="17"/>
          </p:nvPr>
        </p:nvSpPr>
        <p:spPr bwMode="gray"/>
        <p:txBody>
          <a:bodyPr/>
          <a:lstStyle/>
          <a:p>
            <a:fld id="{1EDD9F3E-8BFD-4E3C-98D1-767322780FDD}" type="slidenum">
              <a:rPr lang="en-US" noProof="0" smtClean="0"/>
              <a:pPr/>
              <a:t>‹#›</a:t>
            </a:fld>
            <a:endParaRPr lang="en-US" noProof="0"/>
          </a:p>
        </p:txBody>
      </p:sp>
      <p:pic>
        <p:nvPicPr>
          <p:cNvPr id="3" name="Logo">
            <a:extLst>
              <a:ext uri="{FF2B5EF4-FFF2-40B4-BE49-F238E27FC236}">
                <a16:creationId xmlns:a16="http://schemas.microsoft.com/office/drawing/2014/main" id="{3C98B57A-3555-40BA-AB17-E55AA71BD4C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626283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guide id="15" orient="horz" pos="234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 Title and three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Text Placeholder 1">
            <a:extLst>
              <a:ext uri="{FF2B5EF4-FFF2-40B4-BE49-F238E27FC236}">
                <a16:creationId xmlns:a16="http://schemas.microsoft.com/office/drawing/2014/main" id="{261E2592-C1EF-3D9B-8998-9CBE468D2E23}"/>
              </a:ext>
            </a:extLst>
          </p:cNvPr>
          <p:cNvSpPr>
            <a:spLocks noGrp="1"/>
          </p:cNvSpPr>
          <p:nvPr>
            <p:ph type="body" sz="quarter" idx="13" hasCustomPrompt="1"/>
          </p:nvPr>
        </p:nvSpPr>
        <p:spPr bwMode="gray">
          <a:xfrm>
            <a:off x="551384"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1" name="Picture Placeholder 1">
            <a:extLst>
              <a:ext uri="{FF2B5EF4-FFF2-40B4-BE49-F238E27FC236}">
                <a16:creationId xmlns:a16="http://schemas.microsoft.com/office/drawing/2014/main" id="{214862B1-1BEA-07E1-834B-64536F34BB66}"/>
              </a:ext>
            </a:extLst>
          </p:cNvPr>
          <p:cNvSpPr>
            <a:spLocks noGrp="1"/>
          </p:cNvSpPr>
          <p:nvPr>
            <p:ph type="pic" sz="quarter" idx="16"/>
          </p:nvPr>
        </p:nvSpPr>
        <p:spPr bwMode="gray">
          <a:xfrm>
            <a:off x="551384"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2">
            <a:extLst>
              <a:ext uri="{FF2B5EF4-FFF2-40B4-BE49-F238E27FC236}">
                <a16:creationId xmlns:a16="http://schemas.microsoft.com/office/drawing/2014/main" id="{8FDE0631-BFE0-D7CB-B38E-9800DAD94A74}"/>
              </a:ext>
            </a:extLst>
          </p:cNvPr>
          <p:cNvSpPr>
            <a:spLocks noGrp="1"/>
          </p:cNvSpPr>
          <p:nvPr>
            <p:ph type="body" sz="quarter" idx="17" hasCustomPrompt="1"/>
          </p:nvPr>
        </p:nvSpPr>
        <p:spPr bwMode="gray">
          <a:xfrm>
            <a:off x="551384"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9" name="Text Placeholder 3">
            <a:extLst>
              <a:ext uri="{FF2B5EF4-FFF2-40B4-BE49-F238E27FC236}">
                <a16:creationId xmlns:a16="http://schemas.microsoft.com/office/drawing/2014/main" id="{0625D5CD-EB13-7B23-8CE8-72C1140C3D1F}"/>
              </a:ext>
            </a:extLst>
          </p:cNvPr>
          <p:cNvSpPr>
            <a:spLocks noGrp="1"/>
          </p:cNvSpPr>
          <p:nvPr>
            <p:ph type="body" sz="quarter" idx="14" hasCustomPrompt="1"/>
          </p:nvPr>
        </p:nvSpPr>
        <p:spPr bwMode="gray">
          <a:xfrm>
            <a:off x="4295800"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3" name="Picture Placeholder 2">
            <a:extLst>
              <a:ext uri="{FF2B5EF4-FFF2-40B4-BE49-F238E27FC236}">
                <a16:creationId xmlns:a16="http://schemas.microsoft.com/office/drawing/2014/main" id="{79D56707-D9C5-867A-9B10-EEE16F55F40B}"/>
              </a:ext>
            </a:extLst>
          </p:cNvPr>
          <p:cNvSpPr>
            <a:spLocks noGrp="1"/>
          </p:cNvSpPr>
          <p:nvPr>
            <p:ph type="pic" sz="quarter" idx="18"/>
          </p:nvPr>
        </p:nvSpPr>
        <p:spPr bwMode="gray">
          <a:xfrm>
            <a:off x="4295800"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618DCF02-18F0-F413-650A-1BBBB77FE2FC}"/>
              </a:ext>
            </a:extLst>
          </p:cNvPr>
          <p:cNvSpPr>
            <a:spLocks noGrp="1"/>
          </p:cNvSpPr>
          <p:nvPr>
            <p:ph type="body" sz="quarter" idx="19" hasCustomPrompt="1"/>
          </p:nvPr>
        </p:nvSpPr>
        <p:spPr bwMode="gray">
          <a:xfrm>
            <a:off x="4295800"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10" name="Text Placeholder 5">
            <a:extLst>
              <a:ext uri="{FF2B5EF4-FFF2-40B4-BE49-F238E27FC236}">
                <a16:creationId xmlns:a16="http://schemas.microsoft.com/office/drawing/2014/main" id="{70B06B7A-FFCC-5BC2-0870-633DD5EE8002}"/>
              </a:ext>
            </a:extLst>
          </p:cNvPr>
          <p:cNvSpPr>
            <a:spLocks noGrp="1"/>
          </p:cNvSpPr>
          <p:nvPr>
            <p:ph type="body" sz="quarter" idx="15" hasCustomPrompt="1"/>
          </p:nvPr>
        </p:nvSpPr>
        <p:spPr bwMode="gray">
          <a:xfrm>
            <a:off x="8040216"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5" name="Picture Placeholder 3">
            <a:extLst>
              <a:ext uri="{FF2B5EF4-FFF2-40B4-BE49-F238E27FC236}">
                <a16:creationId xmlns:a16="http://schemas.microsoft.com/office/drawing/2014/main" id="{08F0C17C-68B4-7D82-079D-FE5525B2C862}"/>
              </a:ext>
            </a:extLst>
          </p:cNvPr>
          <p:cNvSpPr>
            <a:spLocks noGrp="1"/>
          </p:cNvSpPr>
          <p:nvPr>
            <p:ph type="pic" sz="quarter" idx="20"/>
          </p:nvPr>
        </p:nvSpPr>
        <p:spPr bwMode="gray">
          <a:xfrm>
            <a:off x="8040216"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6" name="Text Placeholder 6">
            <a:extLst>
              <a:ext uri="{FF2B5EF4-FFF2-40B4-BE49-F238E27FC236}">
                <a16:creationId xmlns:a16="http://schemas.microsoft.com/office/drawing/2014/main" id="{4C875757-40AA-FFE0-19F9-4B08BD4DB8EB}"/>
              </a:ext>
            </a:extLst>
          </p:cNvPr>
          <p:cNvSpPr>
            <a:spLocks noGrp="1"/>
          </p:cNvSpPr>
          <p:nvPr>
            <p:ph type="body" sz="quarter" idx="21" hasCustomPrompt="1"/>
          </p:nvPr>
        </p:nvSpPr>
        <p:spPr bwMode="gray">
          <a:xfrm>
            <a:off x="8040216"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688232716"/>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 Full image  (name and position)">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5" name="Text Placeholder 5">
            <a:extLst>
              <a:ext uri="{FF2B5EF4-FFF2-40B4-BE49-F238E27FC236}">
                <a16:creationId xmlns:a16="http://schemas.microsoft.com/office/drawing/2014/main" id="{8CE8921B-3DA6-94DA-A776-DD044CCFAE46}"/>
              </a:ext>
            </a:extLst>
          </p:cNvPr>
          <p:cNvSpPr>
            <a:spLocks noGrp="1"/>
          </p:cNvSpPr>
          <p:nvPr>
            <p:ph type="body" sz="quarter" idx="12" hasCustomPrompt="1"/>
          </p:nvPr>
        </p:nvSpPr>
        <p:spPr bwMode="gray">
          <a:xfrm>
            <a:off x="551384" y="5264626"/>
            <a:ext cx="2398193" cy="792666"/>
          </a:xfrm>
          <a:solidFill>
            <a:schemeClr val="bg1"/>
          </a:solidFill>
        </p:spPr>
        <p:txBody>
          <a:bodyPr wrap="none" lIns="108000" tIns="133200" rIns="108000" bIns="169200" anchor="b">
            <a:spAutoFit/>
          </a:bodyPr>
          <a:lstStyle>
            <a:lvl1pPr marL="0" indent="0">
              <a:spcBef>
                <a:spcPts val="0"/>
              </a:spcBef>
              <a:buFont typeface="Arial" panose="020B0604020202020204" pitchFamily="34" charset="0"/>
              <a:buNone/>
              <a:defRPr b="1">
                <a:solidFill>
                  <a:schemeClr val="tx1"/>
                </a:solidFill>
              </a:defRPr>
            </a:lvl1pPr>
            <a:lvl2pPr marL="0" indent="0">
              <a:spcBef>
                <a:spcPts val="200"/>
              </a:spcBef>
              <a:buFont typeface="Arial" panose="020B0604020202020204" pitchFamily="34" charset="0"/>
              <a:buNone/>
              <a:defRPr sz="1200" b="0">
                <a:solidFill>
                  <a:schemeClr val="tx1"/>
                </a:solidFill>
              </a:defRPr>
            </a:lvl2pPr>
            <a:lvl3pPr marL="0" indent="0">
              <a:spcBef>
                <a:spcPts val="200"/>
              </a:spcBef>
              <a:buNone/>
              <a:defRPr sz="1200" b="0">
                <a:solidFill>
                  <a:schemeClr val="tx1"/>
                </a:solidFill>
              </a:defRPr>
            </a:lvl3pPr>
            <a:lvl4pPr marL="0" indent="0">
              <a:spcBef>
                <a:spcPts val="200"/>
              </a:spcBef>
              <a:buNone/>
              <a:defRPr sz="1200" b="0">
                <a:solidFill>
                  <a:schemeClr val="tx1"/>
                </a:solidFill>
              </a:defRPr>
            </a:lvl4pPr>
            <a:lvl5pPr marL="0" indent="0">
              <a:spcBef>
                <a:spcPts val="200"/>
              </a:spcBef>
              <a:buNone/>
              <a:defRPr sz="1200" b="0">
                <a:solidFill>
                  <a:schemeClr val="tx1"/>
                </a:solidFill>
              </a:defRPr>
            </a:lvl5pPr>
            <a:lvl6pPr marL="0" indent="0">
              <a:spcBef>
                <a:spcPts val="200"/>
              </a:spcBef>
              <a:buNone/>
              <a:defRPr sz="1200" b="0">
                <a:solidFill>
                  <a:schemeClr val="tx1"/>
                </a:solidFill>
              </a:defRPr>
            </a:lvl6pPr>
            <a:lvl7pPr marL="0" indent="0">
              <a:spcBef>
                <a:spcPts val="200"/>
              </a:spcBef>
              <a:buNone/>
              <a:defRPr sz="1200" b="0">
                <a:solidFill>
                  <a:schemeClr val="tx1"/>
                </a:solidFill>
              </a:defRPr>
            </a:lvl7pPr>
            <a:lvl8pPr marL="0" indent="0">
              <a:spcBef>
                <a:spcPts val="200"/>
              </a:spcBef>
              <a:buNone/>
              <a:defRPr sz="1200" b="0">
                <a:solidFill>
                  <a:schemeClr val="tx1"/>
                </a:solidFill>
              </a:defRPr>
            </a:lvl8pPr>
            <a:lvl9pPr marL="0" indent="0">
              <a:spcBef>
                <a:spcPts val="200"/>
              </a:spcBef>
              <a:buNone/>
              <a:defRPr sz="1200" b="0">
                <a:solidFill>
                  <a:schemeClr val="tx1"/>
                </a:solidFill>
              </a:defRPr>
            </a:lvl9pPr>
          </a:lstStyle>
          <a:p>
            <a:pPr lvl="0"/>
            <a:r>
              <a:rPr lang="en-US" noProof="0"/>
              <a:t>Edit Name Surname</a:t>
            </a:r>
          </a:p>
          <a:p>
            <a:pPr lvl="1"/>
            <a:r>
              <a:rPr lang="en-US" noProof="0"/>
              <a:t>Second level</a:t>
            </a:r>
          </a:p>
        </p:txBody>
      </p:sp>
    </p:spTree>
    <p:extLst>
      <p:ext uri="{BB962C8B-B14F-4D97-AF65-F5344CB8AC3E}">
        <p14:creationId xmlns:p14="http://schemas.microsoft.com/office/powerpoint/2010/main" val="19937465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Media (fullscreen)">
    <p:spTree>
      <p:nvGrpSpPr>
        <p:cNvPr id="1" name=""/>
        <p:cNvGrpSpPr/>
        <p:nvPr/>
      </p:nvGrpSpPr>
      <p:grpSpPr>
        <a:xfrm>
          <a:off x="0" y="0"/>
          <a:ext cx="0" cy="0"/>
          <a:chOff x="0" y="0"/>
          <a:chExt cx="0" cy="0"/>
        </a:xfrm>
      </p:grpSpPr>
      <p:sp>
        <p:nvSpPr>
          <p:cNvPr id="3" name="Media Placeholder 1">
            <a:extLst>
              <a:ext uri="{FF2B5EF4-FFF2-40B4-BE49-F238E27FC236}">
                <a16:creationId xmlns:a16="http://schemas.microsoft.com/office/drawing/2014/main" id="{CBB6E684-2097-3EE4-C891-8AFA7D49DEA4}"/>
              </a:ext>
            </a:extLst>
          </p:cNvPr>
          <p:cNvSpPr>
            <a:spLocks noGrp="1"/>
          </p:cNvSpPr>
          <p:nvPr>
            <p:ph type="media" sz="quarter" idx="10"/>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メディアを追加</a:t>
            </a:r>
            <a:endParaRPr lang="en-US" noProof="0"/>
          </a:p>
        </p:txBody>
      </p:sp>
    </p:spTree>
    <p:extLst>
      <p:ext uri="{BB962C8B-B14F-4D97-AF65-F5344CB8AC3E}">
        <p14:creationId xmlns:p14="http://schemas.microsoft.com/office/powerpoint/2010/main" val="412026702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 Key message 1 (gradient)">
    <p:spTree>
      <p:nvGrpSpPr>
        <p:cNvPr id="1" name=""/>
        <p:cNvGrpSpPr/>
        <p:nvPr/>
      </p:nvGrpSpPr>
      <p:grpSpPr>
        <a:xfrm>
          <a:off x="0" y="0"/>
          <a:ext cx="0" cy="0"/>
          <a:chOff x="0" y="0"/>
          <a:chExt cx="0" cy="0"/>
        </a:xfrm>
      </p:grpSpPr>
      <p:pic>
        <p:nvPicPr>
          <p:cNvPr id="7" name="Gradient background">
            <a:extLst>
              <a:ext uri="{FF2B5EF4-FFF2-40B4-BE49-F238E27FC236}">
                <a16:creationId xmlns:a16="http://schemas.microsoft.com/office/drawing/2014/main" id="{8D74D201-83D3-6FD9-8655-C4045985B17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8559"/>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8105179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 Key message 2 (gradient)">
    <p:spTree>
      <p:nvGrpSpPr>
        <p:cNvPr id="1" name=""/>
        <p:cNvGrpSpPr/>
        <p:nvPr/>
      </p:nvGrpSpPr>
      <p:grpSpPr>
        <a:xfrm>
          <a:off x="0" y="0"/>
          <a:ext cx="0" cy="0"/>
          <a:chOff x="0" y="0"/>
          <a:chExt cx="0" cy="0"/>
        </a:xfrm>
      </p:grpSpPr>
      <p:sp>
        <p:nvSpPr>
          <p:cNvPr id="7" name="Picture Placeholder 1">
            <a:extLst>
              <a:ext uri="{FF2B5EF4-FFF2-40B4-BE49-F238E27FC236}">
                <a16:creationId xmlns:a16="http://schemas.microsoft.com/office/drawing/2014/main" id="{9266D735-8620-C437-0FB3-0FE9AE77E09E}"/>
              </a:ext>
            </a:extLst>
          </p:cNvPr>
          <p:cNvSpPr>
            <a:spLocks noGrp="1"/>
          </p:cNvSpPr>
          <p:nvPr>
            <p:ph type="pic" sz="quarter" idx="14"/>
          </p:nvPr>
        </p:nvSpPr>
        <p:spPr bwMode="gray">
          <a:xfrm>
            <a:off x="0" y="0"/>
            <a:ext cx="121920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816364646"/>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Key message 1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A803874-3F49-6B30-F1BA-029CAB9E94C7}"/>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21362"/>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42454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Key message 2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C1CC37E-F977-0808-8FE2-EBFB981F74D1}"/>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502354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 Title, text and chart">
    <p:spTree>
      <p:nvGrpSpPr>
        <p:cNvPr id="1" name=""/>
        <p:cNvGrpSpPr/>
        <p:nvPr/>
      </p:nvGrpSpPr>
      <p:grpSpPr>
        <a:xfrm>
          <a:off x="0" y="0"/>
          <a:ext cx="0" cy="0"/>
          <a:chOff x="0" y="0"/>
          <a:chExt cx="0" cy="0"/>
        </a:xfrm>
      </p:grpSpPr>
      <p:sp>
        <p:nvSpPr>
          <p:cNvPr id="3" name="Background (Background Grey)">
            <a:extLst>
              <a:ext uri="{FF2B5EF4-FFF2-40B4-BE49-F238E27FC236}">
                <a16:creationId xmlns:a16="http://schemas.microsoft.com/office/drawing/2014/main" id="{F56792E5-C6B9-EC9B-17EE-7D7E78258F0A}"/>
              </a:ext>
            </a:extLst>
          </p:cNvPr>
          <p:cNvSpPr/>
          <p:nvPr userDrawn="1"/>
        </p:nvSpPr>
        <p:spPr bwMode="gray">
          <a:xfrm>
            <a:off x="6168008" y="512676"/>
            <a:ext cx="5472000" cy="5544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2">
            <a:extLst>
              <a:ext uri="{FF2B5EF4-FFF2-40B4-BE49-F238E27FC236}">
                <a16:creationId xmlns:a16="http://schemas.microsoft.com/office/drawing/2014/main" id="{9E0B544B-42EB-16A3-0EBF-8006B62CA02D}"/>
              </a:ext>
            </a:extLst>
          </p:cNvPr>
          <p:cNvSpPr>
            <a:spLocks noGrp="1"/>
          </p:cNvSpPr>
          <p:nvPr>
            <p:ph type="body" sz="quarter" idx="12" hasCustomPrompt="1"/>
          </p:nvPr>
        </p:nvSpPr>
        <p:spPr bwMode="gray">
          <a:xfrm>
            <a:off x="6528008" y="836712"/>
            <a:ext cx="4752000" cy="184666"/>
          </a:xfrm>
        </p:spPr>
        <p:txBody>
          <a:bodyPr>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Click to edit chart title</a:t>
            </a:r>
          </a:p>
        </p:txBody>
      </p:sp>
      <p:sp>
        <p:nvSpPr>
          <p:cNvPr id="7" name="Text Placeholder 3">
            <a:extLst>
              <a:ext uri="{FF2B5EF4-FFF2-40B4-BE49-F238E27FC236}">
                <a16:creationId xmlns:a16="http://schemas.microsoft.com/office/drawing/2014/main" id="{5A94ADB8-8BB9-7BA9-B6D8-7500FFA904E3}"/>
              </a:ext>
            </a:extLst>
          </p:cNvPr>
          <p:cNvSpPr>
            <a:spLocks noGrp="1"/>
          </p:cNvSpPr>
          <p:nvPr>
            <p:ph type="body" sz="quarter" idx="14" hasCustomPrompt="1"/>
          </p:nvPr>
        </p:nvSpPr>
        <p:spPr bwMode="gray">
          <a:xfrm>
            <a:off x="6528008" y="1052736"/>
            <a:ext cx="4752000" cy="184666"/>
          </a:xfrm>
        </p:spPr>
        <p:txBody>
          <a:bodyPr>
            <a:sp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unit of value</a:t>
            </a:r>
          </a:p>
        </p:txBody>
      </p:sp>
      <p:sp>
        <p:nvSpPr>
          <p:cNvPr id="12" name="Chart Placeholder 1">
            <a:extLst>
              <a:ext uri="{FF2B5EF4-FFF2-40B4-BE49-F238E27FC236}">
                <a16:creationId xmlns:a16="http://schemas.microsoft.com/office/drawing/2014/main" id="{6F45CE3C-CE03-F84F-458B-8EB30D44E2C2}"/>
              </a:ext>
            </a:extLst>
          </p:cNvPr>
          <p:cNvSpPr>
            <a:spLocks noGrp="1"/>
          </p:cNvSpPr>
          <p:nvPr>
            <p:ph type="chart" sz="quarter" idx="16"/>
          </p:nvPr>
        </p:nvSpPr>
        <p:spPr bwMode="gray">
          <a:xfrm>
            <a:off x="6527521" y="1340768"/>
            <a:ext cx="4752975" cy="4140000"/>
          </a:xfrm>
        </p:spPr>
        <p:txBody>
          <a:bodyPr bIns="720000" anchor="ctr"/>
          <a:lstStyle>
            <a:lvl1pPr algn="ctr">
              <a:spcBef>
                <a:spcPts val="0"/>
              </a:spcBef>
              <a:defRPr sz="1200" b="0">
                <a:solidFill>
                  <a:schemeClr val="tx1"/>
                </a:solidFill>
              </a:defRPr>
            </a:lvl1pPr>
          </a:lstStyle>
          <a:p>
            <a:r>
              <a:rPr lang="ja-JP" altLang="en-US" noProof="0"/>
              <a:t>グラフを追加</a:t>
            </a:r>
            <a:endParaRPr lang="en-US" noProof="0"/>
          </a:p>
        </p:txBody>
      </p:sp>
      <p:sp>
        <p:nvSpPr>
          <p:cNvPr id="9" name="Text Placeholder 4">
            <a:extLst>
              <a:ext uri="{FF2B5EF4-FFF2-40B4-BE49-F238E27FC236}">
                <a16:creationId xmlns:a16="http://schemas.microsoft.com/office/drawing/2014/main" id="{F1429D25-4756-CAC6-F902-90E7E3E788FA}"/>
              </a:ext>
            </a:extLst>
          </p:cNvPr>
          <p:cNvSpPr>
            <a:spLocks noGrp="1"/>
          </p:cNvSpPr>
          <p:nvPr>
            <p:ph type="body" sz="quarter" idx="15" hasCustomPrompt="1"/>
          </p:nvPr>
        </p:nvSpPr>
        <p:spPr bwMode="gray">
          <a:xfrm>
            <a:off x="6528008" y="5589530"/>
            <a:ext cx="4752000" cy="107722"/>
          </a:xfrm>
        </p:spPr>
        <p:txBody>
          <a:bodyPr anchor="b">
            <a:spAutoFit/>
          </a:bodyPr>
          <a:lstStyle>
            <a:lvl1pPr marL="0" indent="0">
              <a:spcBef>
                <a:spcPts val="0"/>
              </a:spcBef>
              <a:buFont typeface="Arial" panose="020B0604020202020204" pitchFamily="34" charset="0"/>
              <a:buNone/>
              <a:defRPr sz="700" b="0">
                <a:solidFill>
                  <a:schemeClr val="tx1"/>
                </a:solidFill>
                <a:latin typeface="+mn-lt"/>
              </a:defRPr>
            </a:lvl1pPr>
            <a:lvl2pPr marL="0" indent="0">
              <a:spcBef>
                <a:spcPts val="0"/>
              </a:spcBef>
              <a:buFont typeface="Arial" panose="020B0604020202020204" pitchFamily="34" charset="0"/>
              <a:buNone/>
              <a:defRPr sz="700" b="0">
                <a:solidFill>
                  <a:schemeClr val="tx1"/>
                </a:solidFill>
                <a:latin typeface="+mn-lt"/>
              </a:defRPr>
            </a:lvl2pPr>
            <a:lvl3pPr marL="0" indent="0">
              <a:spcBef>
                <a:spcPts val="0"/>
              </a:spcBef>
              <a:buNone/>
              <a:defRPr sz="700" b="0">
                <a:solidFill>
                  <a:schemeClr val="tx1"/>
                </a:solidFill>
                <a:latin typeface="+mn-lt"/>
              </a:defRPr>
            </a:lvl3pPr>
            <a:lvl4pPr marL="0" indent="0">
              <a:spcBef>
                <a:spcPts val="0"/>
              </a:spcBef>
              <a:buNone/>
              <a:defRPr sz="700" b="0">
                <a:solidFill>
                  <a:schemeClr val="tx1"/>
                </a:solidFill>
                <a:latin typeface="+mn-lt"/>
              </a:defRPr>
            </a:lvl4pPr>
            <a:lvl5pPr marL="0" indent="0">
              <a:spcBef>
                <a:spcPts val="0"/>
              </a:spcBef>
              <a:buNone/>
              <a:defRPr sz="700" b="0">
                <a:solidFill>
                  <a:schemeClr val="tx1"/>
                </a:solidFill>
                <a:latin typeface="+mn-lt"/>
              </a:defRPr>
            </a:lvl5pPr>
            <a:lvl6pPr marL="0" indent="0">
              <a:spcBef>
                <a:spcPts val="0"/>
              </a:spcBef>
              <a:buNone/>
              <a:defRPr sz="700" b="0">
                <a:solidFill>
                  <a:schemeClr val="tx1"/>
                </a:solidFill>
                <a:latin typeface="+mn-lt"/>
              </a:defRPr>
            </a:lvl6pPr>
            <a:lvl7pPr marL="0" indent="0">
              <a:spcBef>
                <a:spcPts val="0"/>
              </a:spcBef>
              <a:buNone/>
              <a:defRPr sz="700" b="0">
                <a:solidFill>
                  <a:schemeClr val="tx1"/>
                </a:solidFill>
                <a:latin typeface="+mn-lt"/>
              </a:defRPr>
            </a:lvl7pPr>
            <a:lvl8pPr marL="0" indent="0">
              <a:spcBef>
                <a:spcPts val="0"/>
              </a:spcBef>
              <a:buNone/>
              <a:defRPr sz="700" b="0">
                <a:solidFill>
                  <a:schemeClr val="tx1"/>
                </a:solidFill>
                <a:latin typeface="+mn-lt"/>
              </a:defRPr>
            </a:lvl8pPr>
            <a:lvl9pPr marL="0" indent="0">
              <a:spcBef>
                <a:spcPts val="0"/>
              </a:spcBef>
              <a:buNone/>
              <a:defRPr sz="700" b="0">
                <a:solidFill>
                  <a:schemeClr val="tx1"/>
                </a:solidFill>
                <a:latin typeface="+mn-lt"/>
              </a:defRPr>
            </a:lvl9pPr>
          </a:lstStyle>
          <a:p>
            <a:pPr lvl="0"/>
            <a:r>
              <a:rPr lang="en-US" noProof="0"/>
              <a:t>Click to edit footnote/source</a:t>
            </a:r>
          </a:p>
        </p:txBody>
      </p:sp>
      <p:sp>
        <p:nvSpPr>
          <p:cNvPr id="8" name="Footer Placeholder">
            <a:extLst>
              <a:ext uri="{FF2B5EF4-FFF2-40B4-BE49-F238E27FC236}">
                <a16:creationId xmlns:a16="http://schemas.microsoft.com/office/drawing/2014/main" id="{78DAF8DC-04B4-6F33-FDF5-0EC9726FA829}"/>
              </a:ext>
            </a:extLst>
          </p:cNvPr>
          <p:cNvSpPr>
            <a:spLocks noGrp="1"/>
          </p:cNvSpPr>
          <p:nvPr>
            <p:ph type="ftr" sz="quarter" idx="17"/>
          </p:nvPr>
        </p:nvSpPr>
        <p:spPr bwMode="gray"/>
        <p:txBody>
          <a:bodyPr/>
          <a:lstStyle/>
          <a:p>
            <a:pPr algn="l"/>
            <a:endParaRPr lang="en-US" noProof="0"/>
          </a:p>
        </p:txBody>
      </p:sp>
      <p:sp>
        <p:nvSpPr>
          <p:cNvPr id="10" name="Slide Number Placeholder">
            <a:extLst>
              <a:ext uri="{FF2B5EF4-FFF2-40B4-BE49-F238E27FC236}">
                <a16:creationId xmlns:a16="http://schemas.microsoft.com/office/drawing/2014/main" id="{8CC90698-5AC9-14B7-D67A-08FAA7A9C015}"/>
              </a:ext>
            </a:extLst>
          </p:cNvPr>
          <p:cNvSpPr>
            <a:spLocks noGrp="1"/>
          </p:cNvSpPr>
          <p:nvPr>
            <p:ph type="sldNum" sz="quarter" idx="18"/>
          </p:nvPr>
        </p:nvSpPr>
        <p:spPr bwMode="gray"/>
        <p:txBody>
          <a:bodyPr/>
          <a:lstStyle/>
          <a:p>
            <a:fld id="{1EDD9F3E-8BFD-4E3C-98D1-767322780FDD}" type="slidenum">
              <a:rPr lang="en-US" noProof="0" smtClean="0"/>
              <a:pPr/>
              <a:t>‹#›</a:t>
            </a:fld>
            <a:endParaRPr lang="en-US" noProof="0"/>
          </a:p>
        </p:txBody>
      </p:sp>
      <p:pic>
        <p:nvPicPr>
          <p:cNvPr id="4" name="Logo">
            <a:extLst>
              <a:ext uri="{FF2B5EF4-FFF2-40B4-BE49-F238E27FC236}">
                <a16:creationId xmlns:a16="http://schemas.microsoft.com/office/drawing/2014/main" id="{0268BFFB-23FF-B2EF-20B1-9397D5C51E0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7549503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Picture Placeholder 1">
            <a:extLst>
              <a:ext uri="{FF2B5EF4-FFF2-40B4-BE49-F238E27FC236}">
                <a16:creationId xmlns:a16="http://schemas.microsoft.com/office/drawing/2014/main" id="{9DD3A440-1CA9-B6A2-DB83-4AED31D07687}"/>
              </a:ext>
            </a:extLst>
          </p:cNvPr>
          <p:cNvSpPr>
            <a:spLocks noGrp="1"/>
          </p:cNvSpPr>
          <p:nvPr>
            <p:ph type="pic" sz="quarter" idx="15"/>
          </p:nvPr>
        </p:nvSpPr>
        <p:spPr bwMode="gray">
          <a:xfrm>
            <a:off x="551384" y="1844824"/>
            <a:ext cx="2687116"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9" name="Text Placeholder 1">
            <a:extLst>
              <a:ext uri="{FF2B5EF4-FFF2-40B4-BE49-F238E27FC236}">
                <a16:creationId xmlns:a16="http://schemas.microsoft.com/office/drawing/2014/main" id="{021D8988-0F40-25F1-D7E7-AD2B2BD5BED6}"/>
              </a:ext>
            </a:extLst>
          </p:cNvPr>
          <p:cNvSpPr>
            <a:spLocks noGrp="1"/>
          </p:cNvSpPr>
          <p:nvPr>
            <p:ph type="body" sz="quarter" idx="14" hasCustomPrompt="1"/>
          </p:nvPr>
        </p:nvSpPr>
        <p:spPr bwMode="gray">
          <a:xfrm>
            <a:off x="550863"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1" name="Picture Placeholder 2">
            <a:extLst>
              <a:ext uri="{FF2B5EF4-FFF2-40B4-BE49-F238E27FC236}">
                <a16:creationId xmlns:a16="http://schemas.microsoft.com/office/drawing/2014/main" id="{3BF10AE8-C121-8442-377B-88627C9560A0}"/>
              </a:ext>
            </a:extLst>
          </p:cNvPr>
          <p:cNvSpPr>
            <a:spLocks noGrp="1"/>
          </p:cNvSpPr>
          <p:nvPr>
            <p:ph type="pic" sz="quarter" idx="17"/>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0" name="Text Placeholder 2">
            <a:extLst>
              <a:ext uri="{FF2B5EF4-FFF2-40B4-BE49-F238E27FC236}">
                <a16:creationId xmlns:a16="http://schemas.microsoft.com/office/drawing/2014/main" id="{05885C9B-BDFD-3544-8568-29E1331A42CD}"/>
              </a:ext>
            </a:extLst>
          </p:cNvPr>
          <p:cNvSpPr>
            <a:spLocks noGrp="1"/>
          </p:cNvSpPr>
          <p:nvPr>
            <p:ph type="body" sz="quarter" idx="16" hasCustomPrompt="1"/>
          </p:nvPr>
        </p:nvSpPr>
        <p:spPr bwMode="gray">
          <a:xfrm>
            <a:off x="3359696"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3" name="Picture Placeholder 3">
            <a:extLst>
              <a:ext uri="{FF2B5EF4-FFF2-40B4-BE49-F238E27FC236}">
                <a16:creationId xmlns:a16="http://schemas.microsoft.com/office/drawing/2014/main" id="{8415ECF1-9C67-32ED-D4D3-DDFE8EE0FA8B}"/>
              </a:ext>
            </a:extLst>
          </p:cNvPr>
          <p:cNvSpPr>
            <a:spLocks noGrp="1"/>
          </p:cNvSpPr>
          <p:nvPr>
            <p:ph type="pic" sz="quarter" idx="19"/>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3">
            <a:extLst>
              <a:ext uri="{FF2B5EF4-FFF2-40B4-BE49-F238E27FC236}">
                <a16:creationId xmlns:a16="http://schemas.microsoft.com/office/drawing/2014/main" id="{39C6BBFC-28AE-9E58-2344-AD9D8C100E16}"/>
              </a:ext>
            </a:extLst>
          </p:cNvPr>
          <p:cNvSpPr>
            <a:spLocks noGrp="1"/>
          </p:cNvSpPr>
          <p:nvPr>
            <p:ph type="body" sz="quarter" idx="18" hasCustomPrompt="1"/>
          </p:nvPr>
        </p:nvSpPr>
        <p:spPr bwMode="gray">
          <a:xfrm>
            <a:off x="6168008"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5" name="Picture Placeholder 4">
            <a:extLst>
              <a:ext uri="{FF2B5EF4-FFF2-40B4-BE49-F238E27FC236}">
                <a16:creationId xmlns:a16="http://schemas.microsoft.com/office/drawing/2014/main" id="{FE697D5E-1E96-8C69-B935-640772D99716}"/>
              </a:ext>
            </a:extLst>
          </p:cNvPr>
          <p:cNvSpPr>
            <a:spLocks noGrp="1"/>
          </p:cNvSpPr>
          <p:nvPr>
            <p:ph type="pic" sz="quarter" idx="21"/>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FE99907E-A59A-265E-C3BE-FF36FAD57DBC}"/>
              </a:ext>
            </a:extLst>
          </p:cNvPr>
          <p:cNvSpPr>
            <a:spLocks noGrp="1"/>
          </p:cNvSpPr>
          <p:nvPr>
            <p:ph type="body" sz="quarter" idx="20" hasCustomPrompt="1"/>
          </p:nvPr>
        </p:nvSpPr>
        <p:spPr bwMode="gray">
          <a:xfrm>
            <a:off x="8976320"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72301151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40">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End slide 1">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079F1196-D343-C4C6-E6C1-04811483641A}"/>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C7C11606-5708-5AF1-A745-7C48C9431855}"/>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8" name="Gradient background">
            <a:extLst>
              <a:ext uri="{FF2B5EF4-FFF2-40B4-BE49-F238E27FC236}">
                <a16:creationId xmlns:a16="http://schemas.microsoft.com/office/drawing/2014/main" id="{C5FA1B03-9A8B-0B3A-DF97-DDA924BDB59D}"/>
              </a:ext>
            </a:extLst>
          </p:cNvPr>
          <p:cNvPicPr>
            <a:picLocks/>
          </p:cNvPicPr>
          <p:nvPr userDrawn="1"/>
        </p:nvPicPr>
        <p:blipFill>
          <a:blip>
            <a:extLst>
              <a:ext uri="{96DAC541-7B7A-43D3-8B79-37D633B846F1}">
                <asvg:svgBlip xmlns:asvg="http://schemas.microsoft.com/office/drawing/2016/SVG/main" r:embed="rId3"/>
              </a:ext>
            </a:extLst>
          </a:blip>
          <a:srcRect l="83735" t="784" r="487" b="784"/>
          <a:stretch>
            <a:fillRect/>
          </a:stretch>
        </p:blipFill>
        <p:spPr bwMode="hidden">
          <a:xfrm>
            <a:off x="11641138" y="1"/>
            <a:ext cx="555184" cy="6858000"/>
          </a:xfrm>
          <a:prstGeom prst="rect">
            <a:avLst/>
          </a:prstGeom>
        </p:spPr>
      </p:pic>
    </p:spTree>
    <p:extLst>
      <p:ext uri="{BB962C8B-B14F-4D97-AF65-F5344CB8AC3E}">
        <p14:creationId xmlns:p14="http://schemas.microsoft.com/office/powerpoint/2010/main" val="2083572051"/>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nd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phic 3">
            <a:extLst>
              <a:ext uri="{FF2B5EF4-FFF2-40B4-BE49-F238E27FC236}">
                <a16:creationId xmlns:a16="http://schemas.microsoft.com/office/drawing/2014/main" id="{B592B1CA-9888-E4D0-38AA-72644C82C180}"/>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528761967"/>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End slide 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AEE5160-7157-FD00-72DD-B0C1659617EE}"/>
              </a:ext>
            </a:extLst>
          </p:cNvPr>
          <p:cNvSpPr>
            <a:spLocks noGrp="1"/>
          </p:cNvSpPr>
          <p:nvPr>
            <p:ph type="pic" sz="quarter" idx="14"/>
          </p:nvPr>
        </p:nvSpPr>
        <p:spPr>
          <a:xfrm>
            <a:off x="0" y="0"/>
            <a:ext cx="12192000" cy="6858000"/>
          </a:xfrm>
        </p:spPr>
        <p:txBody>
          <a:bodyPr/>
          <a:lstStyle/>
          <a:p>
            <a:r>
              <a:rPr lang="ja-JP" altLang="en-US"/>
              <a:t>アイコンをクリックして図を追加</a:t>
            </a:r>
            <a:endParaRPr lang="en-US"/>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77ABF2EA-E0E1-5E97-F9DF-0A25325C64AD}"/>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A238B284-6E1F-DB98-291C-B688B697E41D}"/>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2" name="Gradient background">
            <a:extLst>
              <a:ext uri="{FF2B5EF4-FFF2-40B4-BE49-F238E27FC236}">
                <a16:creationId xmlns:a16="http://schemas.microsoft.com/office/drawing/2014/main" id="{71B56941-9CB9-1B31-EE5C-90530DC6804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Tree>
    <p:extLst>
      <p:ext uri="{BB962C8B-B14F-4D97-AF65-F5344CB8AC3E}">
        <p14:creationId xmlns:p14="http://schemas.microsoft.com/office/powerpoint/2010/main" val="44997657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3C5D2-2DA0-43FA-4736-78C3F7AAAC1F}"/>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915" y="745103"/>
            <a:ext cx="10440000" cy="1226170"/>
          </a:xfrm>
        </p:spPr>
        <p:txBody>
          <a:bodyPr/>
          <a:lstStyle>
            <a:lvl1pPr>
              <a:lnSpc>
                <a:spcPct val="83000"/>
              </a:lnSpc>
              <a:defRPr sz="9600" spc="-60" baseline="0">
                <a:solidFill>
                  <a:schemeClr val="tx1"/>
                </a:solidFill>
              </a:defRPr>
            </a:lvl1pPr>
          </a:lstStyle>
          <a:p>
            <a:r>
              <a:rPr lang="en-US" noProof="0"/>
              <a:t>Q&amp;A</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551394" y="2872882"/>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B71C6042-1A08-DE22-F443-2471CE7EBCC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3538153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293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cSld name="1_Agend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cs typeface="Meiryo UI" panose="020B0604030504040204" pitchFamily="50" charset="-128"/>
              </a:defRPr>
            </a:lvl1pPr>
          </a:lstStyle>
          <a:p>
            <a:r>
              <a:rPr lang="en-US"/>
              <a:t>Click to edit Master title style</a:t>
            </a:r>
          </a:p>
        </p:txBody>
      </p:sp>
      <p:sp>
        <p:nvSpPr>
          <p:cNvPr id="3" name="Content Placeholder 2"/>
          <p:cNvSpPr>
            <a:spLocks noGrp="1"/>
          </p:cNvSpPr>
          <p:nvPr>
            <p:ph idx="1"/>
          </p:nvPr>
        </p:nvSpPr>
        <p:spPr/>
        <p:txBody>
          <a:bodyPr/>
          <a:lstStyle>
            <a:lvl1pPr marL="452438" indent="-452438">
              <a:buSzPct val="100000"/>
              <a:buFont typeface="+mj-lt"/>
              <a:buAutoNum type="arabicPeriod"/>
              <a:defRPr>
                <a:latin typeface="Meiryo UI" panose="020B0604030504040204" pitchFamily="50" charset="-128"/>
                <a:ea typeface="Meiryo UI" panose="020B0604030504040204" pitchFamily="50" charset="-128"/>
                <a:cs typeface="Meiryo UI" panose="020B0604030504040204" pitchFamily="50" charset="-128"/>
              </a:defRPr>
            </a:lvl1pPr>
            <a:lvl2pPr marL="684213" indent="-231775">
              <a:defRPr>
                <a:latin typeface="Meiryo UI" panose="020B0604030504040204" pitchFamily="50" charset="-128"/>
                <a:ea typeface="Meiryo UI" panose="020B0604030504040204" pitchFamily="50" charset="-128"/>
                <a:cs typeface="Meiryo UI" panose="020B0604030504040204" pitchFamily="50" charset="-128"/>
              </a:defRPr>
            </a:lvl2pPr>
            <a:lvl3pPr marL="914400" indent="-230188">
              <a:defRPr>
                <a:latin typeface="Meiryo UI" panose="020B0604030504040204" pitchFamily="50" charset="-128"/>
                <a:ea typeface="Meiryo UI" panose="020B0604030504040204" pitchFamily="50" charset="-128"/>
                <a:cs typeface="Meiryo UI" panose="020B0604030504040204" pitchFamily="50" charset="-128"/>
              </a:defRPr>
            </a:lvl3pPr>
            <a:lvl4pPr marL="1146175" indent="-231775">
              <a:defRPr>
                <a:latin typeface="Meiryo UI" panose="020B0604030504040204" pitchFamily="50" charset="-128"/>
                <a:ea typeface="Meiryo UI" panose="020B0604030504040204" pitchFamily="50" charset="-128"/>
                <a:cs typeface="Meiryo UI" panose="020B0604030504040204" pitchFamily="50" charset="-128"/>
              </a:defRPr>
            </a:lvl4pPr>
            <a:lvl5pPr marL="1368425" indent="-222250">
              <a:defRPr>
                <a:latin typeface="Meiryo UI" panose="020B0604030504040204" pitchFamily="50" charset="-128"/>
                <a:ea typeface="Meiryo UI" panose="020B0604030504040204" pitchFamily="50" charset="-128"/>
                <a:cs typeface="Meiryo UI" panose="020B0604030504040204" pitchFamily="50" charset="-128"/>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6547005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65641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ackground (Soft White)">
            <a:extLst>
              <a:ext uri="{FF2B5EF4-FFF2-40B4-BE49-F238E27FC236}">
                <a16:creationId xmlns:a16="http://schemas.microsoft.com/office/drawing/2014/main" id="{AA716554-F91F-95C6-1065-438A52A6D658}"/>
              </a:ext>
            </a:extLst>
          </p:cNvPr>
          <p:cNvSpPr/>
          <p:nvPr userDrawn="1"/>
        </p:nvSpPr>
        <p:spPr bwMode="hidden">
          <a:xfrm>
            <a:off x="-600" y="0"/>
            <a:ext cx="12193200" cy="6858000"/>
          </a:xfrm>
          <a:prstGeom prst="rect">
            <a:avLst/>
          </a:prstGeom>
          <a:solidFill>
            <a:schemeClr val="bg1"/>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Placeholder 1">
            <a:extLst>
              <a:ext uri="{FF2B5EF4-FFF2-40B4-BE49-F238E27FC236}">
                <a16:creationId xmlns:a16="http://schemas.microsoft.com/office/drawing/2014/main" id="{E1BCD9D9-86A4-E818-1FE4-D228D5CDB0BC}"/>
              </a:ext>
            </a:extLst>
          </p:cNvPr>
          <p:cNvSpPr>
            <a:spLocks noGrp="1"/>
          </p:cNvSpPr>
          <p:nvPr>
            <p:ph type="title"/>
          </p:nvPr>
        </p:nvSpPr>
        <p:spPr bwMode="gray">
          <a:xfrm>
            <a:off x="551384" y="476672"/>
            <a:ext cx="11088000" cy="415498"/>
          </a:xfrm>
          <a:prstGeom prst="rect">
            <a:avLst/>
          </a:prstGeom>
        </p:spPr>
        <p:txBody>
          <a:bodyPr vert="horz" lIns="0" tIns="0" rIns="0" bIns="0" rtlCol="0" anchor="t">
            <a:spAutoFit/>
          </a:bodyPr>
          <a:lstStyle/>
          <a:p>
            <a:r>
              <a:rPr lang="en-US" noProof="0"/>
              <a:t>Click to edit slide title (maximum two lines)</a:t>
            </a:r>
          </a:p>
        </p:txBody>
      </p:sp>
      <p:sp>
        <p:nvSpPr>
          <p:cNvPr id="3" name="Text Placeholder 1">
            <a:extLst>
              <a:ext uri="{FF2B5EF4-FFF2-40B4-BE49-F238E27FC236}">
                <a16:creationId xmlns:a16="http://schemas.microsoft.com/office/drawing/2014/main" id="{35B76263-23BE-7BB5-2901-CB7111507685}"/>
              </a:ext>
            </a:extLst>
          </p:cNvPr>
          <p:cNvSpPr>
            <a:spLocks noGrp="1"/>
          </p:cNvSpPr>
          <p:nvPr>
            <p:ph type="body" idx="1"/>
          </p:nvPr>
        </p:nvSpPr>
        <p:spPr bwMode="gray">
          <a:xfrm>
            <a:off x="551384" y="1844824"/>
            <a:ext cx="11088000" cy="4212000"/>
          </a:xfrm>
          <a:prstGeom prst="rect">
            <a:avLst/>
          </a:prstGeom>
        </p:spPr>
        <p:txBody>
          <a:bodyPr vert="horz" lIns="0" tIns="0" rIns="0" bIns="0" rtlCol="0">
            <a:noAutofit/>
          </a:body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6</a:t>
            </a:r>
          </a:p>
          <a:p>
            <a:pPr lvl="6"/>
            <a:r>
              <a:rPr lang="en-US" noProof="0"/>
              <a:t>7</a:t>
            </a:r>
          </a:p>
          <a:p>
            <a:pPr lvl="7"/>
            <a:r>
              <a:rPr lang="en-US" noProof="0"/>
              <a:t>8</a:t>
            </a:r>
          </a:p>
          <a:p>
            <a:pPr lvl="8"/>
            <a:r>
              <a:rPr lang="en-US" noProof="0"/>
              <a:t>9</a:t>
            </a:r>
          </a:p>
        </p:txBody>
      </p:sp>
      <p:sp>
        <p:nvSpPr>
          <p:cNvPr id="5" name="Footer Placeholder">
            <a:extLst>
              <a:ext uri="{FF2B5EF4-FFF2-40B4-BE49-F238E27FC236}">
                <a16:creationId xmlns:a16="http://schemas.microsoft.com/office/drawing/2014/main" id="{8D872605-B8A3-4560-D1E5-773A17639EA6}"/>
              </a:ext>
            </a:extLst>
          </p:cNvPr>
          <p:cNvSpPr>
            <a:spLocks noGrp="1"/>
          </p:cNvSpPr>
          <p:nvPr>
            <p:ph type="ftr" sz="quarter" idx="3"/>
          </p:nvPr>
        </p:nvSpPr>
        <p:spPr bwMode="gray">
          <a:xfrm>
            <a:off x="6168008" y="6433635"/>
            <a:ext cx="4824000" cy="138499"/>
          </a:xfrm>
          <a:prstGeom prst="rect">
            <a:avLst/>
          </a:prstGeom>
        </p:spPr>
        <p:txBody>
          <a:bodyPr vert="horz" wrap="square" lIns="0" tIns="0" rIns="0" bIns="0" rtlCol="0" anchor="ctr">
            <a:spAutoFit/>
          </a:bodyPr>
          <a:lstStyle>
            <a:lvl1pPr algn="l">
              <a:defRPr sz="900">
                <a:solidFill>
                  <a:schemeClr val="tx1"/>
                </a:solidFill>
              </a:defRPr>
            </a:lvl1pPr>
          </a:lstStyle>
          <a:p>
            <a:pPr algn="l"/>
            <a:endParaRPr lang="en-US" noProof="0"/>
          </a:p>
        </p:txBody>
      </p:sp>
      <p:sp>
        <p:nvSpPr>
          <p:cNvPr id="6" name="Slide Number Placeholder">
            <a:extLst>
              <a:ext uri="{FF2B5EF4-FFF2-40B4-BE49-F238E27FC236}">
                <a16:creationId xmlns:a16="http://schemas.microsoft.com/office/drawing/2014/main" id="{8CE6BD9B-B3F1-1D85-5718-E7D48314B450}"/>
              </a:ext>
            </a:extLst>
          </p:cNvPr>
          <p:cNvSpPr>
            <a:spLocks noGrp="1"/>
          </p:cNvSpPr>
          <p:nvPr>
            <p:ph type="sldNum" sz="quarter" idx="4"/>
          </p:nvPr>
        </p:nvSpPr>
        <p:spPr bwMode="gray">
          <a:xfrm>
            <a:off x="11352584" y="6433635"/>
            <a:ext cx="288032" cy="138499"/>
          </a:xfrm>
          <a:prstGeom prst="rect">
            <a:avLst/>
          </a:prstGeom>
        </p:spPr>
        <p:txBody>
          <a:bodyPr vert="horz" wrap="square" lIns="0" tIns="0" rIns="0" bIns="0" rtlCol="0" anchor="ctr">
            <a:spAutoFit/>
          </a:bodyPr>
          <a:lstStyle>
            <a:lvl1pPr algn="r">
              <a:defRPr sz="900">
                <a:solidFill>
                  <a:schemeClr val="tx1"/>
                </a:solidFill>
              </a:defRPr>
            </a:lvl1p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31944458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Lst>
  <p:hf hdr="0" dt="0"/>
  <p:txStyles>
    <p:titleStyle>
      <a:lvl1pPr algn="l" defTabSz="914400" rtl="0" eaLnBrk="1" latinLnBrk="0" hangingPunct="1">
        <a:lnSpc>
          <a:spcPct val="90000"/>
        </a:lnSpc>
        <a:spcBef>
          <a:spcPct val="0"/>
        </a:spcBef>
        <a:buNone/>
        <a:defRPr kumimoji="1" sz="300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2400"/>
        </a:spcBef>
        <a:buFont typeface="Arial" panose="020B0604020202020204" pitchFamily="34" charset="0"/>
        <a:buNone/>
        <a:defRPr kumimoji="1" sz="1800" b="1" kern="1200">
          <a:solidFill>
            <a:schemeClr val="tx1"/>
          </a:solidFill>
          <a:latin typeface="+mj-lt"/>
          <a:ea typeface="+mn-ea"/>
          <a:cs typeface="+mn-cs"/>
        </a:defRPr>
      </a:lvl1pPr>
      <a:lvl2pPr marL="0" indent="0" algn="l" defTabSz="914400" rtl="0" eaLnBrk="1" latinLnBrk="0" hangingPunct="1">
        <a:lnSpc>
          <a:spcPct val="100000"/>
        </a:lnSpc>
        <a:spcBef>
          <a:spcPts val="800"/>
        </a:spcBef>
        <a:buFont typeface="Arial" panose="020B0604020202020204" pitchFamily="34" charset="0"/>
        <a:buNone/>
        <a:defRPr kumimoji="1" sz="1800" kern="1200">
          <a:solidFill>
            <a:schemeClr val="tx1"/>
          </a:solidFill>
          <a:latin typeface="+mn-lt"/>
          <a:ea typeface="+mn-ea"/>
          <a:cs typeface="+mn-cs"/>
        </a:defRPr>
      </a:lvl2pPr>
      <a:lvl3pPr marL="180000" indent="-180000" algn="l" defTabSz="914400" rtl="0" eaLnBrk="1" latinLnBrk="0" hangingPunct="1">
        <a:lnSpc>
          <a:spcPct val="100000"/>
        </a:lnSpc>
        <a:spcBef>
          <a:spcPts val="800"/>
        </a:spcBef>
        <a:buFont typeface="Arial" panose="020B0604020202020204" pitchFamily="34" charset="0"/>
        <a:buChar char="•"/>
        <a:defRPr kumimoji="1" sz="1800" kern="1200">
          <a:solidFill>
            <a:schemeClr val="tx1"/>
          </a:solidFill>
          <a:latin typeface="+mn-lt"/>
          <a:ea typeface="+mn-ea"/>
          <a:cs typeface="+mn-cs"/>
        </a:defRPr>
      </a:lvl3pPr>
      <a:lvl4pPr marL="36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1.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 Id="rId3"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5.pn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2AC39-1CFD-3465-8C0F-C42600EEAC39}"/>
            </a:ext>
          </a:extLst>
        </p:cNvPr>
        <p:cNvGrpSpPr/>
        <p:nvPr/>
      </p:nvGrpSpPr>
      <p:grpSpPr>
        <a:xfrm>
          <a:off x="0" y="0"/>
          <a:ext cx="0" cy="0"/>
          <a:chOff x="0" y="0"/>
          <a:chExt cx="0" cy="0"/>
        </a:xfrm>
      </p:grpSpPr>
      <p:pic>
        <p:nvPicPr>
          <p:cNvPr id="8" name="emerald Q&amp;A background" descr="emerald-minimalist-abstract-background-for-corpora_2026-06-30T03-11-31_image_DAS_0.jpg">
            <a:extLst>
              <a:ext uri="{FF2B5EF4-FFF2-40B4-BE49-F238E27FC236}">
                <a16:creationId xmlns:a16="http://schemas.microsoft.com/office/drawing/2014/main" id="{CF1B9F71-D57B-600E-BD78-3FF6B3BE280F}"/>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6" name="フッター プレースホルダー 5">
            <a:extLst>
              <a:ext uri="{FF2B5EF4-FFF2-40B4-BE49-F238E27FC236}">
                <a16:creationId xmlns:a16="http://schemas.microsoft.com/office/drawing/2014/main" id="{A0B1BE8B-26B9-3D0E-D827-51CEEAFE7342}"/>
              </a:ext>
            </a:extLst>
          </p:cNvPr>
          <p:cNvSpPr>
            <a:spLocks noGrp="1"/>
          </p:cNvSpPr>
          <p:nvPr>
            <p:ph type="ftr" sz="quarter" idx="15"/>
          </p:nvPr>
        </p:nvSpPr>
        <p:spPr/>
        <p:txBody>
          <a:bodyPr wrap="squar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7" name="スライド番号プレースホルダー 6">
            <a:extLst>
              <a:ext uri="{FF2B5EF4-FFF2-40B4-BE49-F238E27FC236}">
                <a16:creationId xmlns:a16="http://schemas.microsoft.com/office/drawing/2014/main" id="{6987DB73-A292-27DE-217E-9280D21A13D3}"/>
              </a:ext>
            </a:extLst>
          </p:cNvPr>
          <p:cNvSpPr>
            <a:spLocks noGrp="1"/>
          </p:cNvSpPr>
          <p:nvPr>
            <p:ph type="sldNum" sz="quarter" idx="16"/>
          </p:nvPr>
        </p:nvSpPr>
        <p:spPr/>
        <p:txBody>
          <a:bodyPr wrap="square"/>
          <a:lstStyle/>
          <a:p>
            <a:pPr marL="0" marR="0" lvl="0" indent="0" algn="r" defTabSz="914400" rtl="0" eaLnBrk="1" fontAlgn="auto" latinLnBrk="0" hangingPunct="1">
              <a:lnSpc>
                <a:spcPct val="100000"/>
              </a:lnSpc>
              <a:spcBef>
                <a:spcPts val="0"/>
              </a:spcBef>
              <a:spcAft>
                <a:spcPts val="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pic>
        <p:nvPicPr>
          <p:cNvPr id="4" name="図 3">
            <a:extLst>
              <a:ext uri="{FF2B5EF4-FFF2-40B4-BE49-F238E27FC236}">
                <a16:creationId xmlns:a16="http://schemas.microsoft.com/office/drawing/2014/main" id="{895FF174-0484-BD41-1C9F-1DD56D411A08}"/>
              </a:ext>
            </a:extLst>
          </p:cNvPr>
          <p:cNvPicPr>
            <a:picLocks noChangeAspect="1"/>
          </p:cNvPicPr>
          <p:nvPr/>
        </p:nvPicPr>
        <p:blipFill>
          <a:blip r:embed="rId3"/>
          <a:stretch>
            <a:fillRect/>
          </a:stretch>
        </p:blipFill>
        <p:spPr>
          <a:xfrm>
            <a:off x="0" y="2380428"/>
            <a:ext cx="12192000" cy="4451724"/>
          </a:xfrm>
          <a:prstGeom prst="rect">
            <a:avLst/>
          </a:prstGeom>
        </p:spPr>
      </p:pic>
      <p:sp>
        <p:nvSpPr>
          <p:cNvPr id="2" name="タイトル 1">
            <a:extLst>
              <a:ext uri="{FF2B5EF4-FFF2-40B4-BE49-F238E27FC236}">
                <a16:creationId xmlns:a16="http://schemas.microsoft.com/office/drawing/2014/main" id="{D76757A0-119C-A88A-987C-38E2D06A0283}"/>
              </a:ext>
            </a:extLst>
          </p:cNvPr>
          <p:cNvSpPr>
            <a:spLocks noGrp="1"/>
          </p:cNvSpPr>
          <p:nvPr>
            <p:ph type="ctrTitle"/>
          </p:nvPr>
        </p:nvSpPr>
        <p:spPr>
          <a:xfrm>
            <a:off x="831144" y="515837"/>
            <a:ext cx="10673728" cy="1226233"/>
          </a:xfrm>
        </p:spPr>
        <p:txBody>
          <a:bodyPr wrap="square"/>
          <a:lstStyle/>
          <a:p>
            <a:pPr algn="ctr"/>
            <a:r>
              <a:rPr lang="en-US" altLang="ja-JP" sz="4800" dirty="0">
                <a:solidFill>
                  <a:schemeClr val="bg1"/>
                </a:solidFill>
                <a:latin typeface="Meiryo UI"/>
                <a:ea typeface="Meiryo UI"/>
                <a:cs typeface="Arial"/>
              </a:rPr>
              <a:t>Renal</a:t>
            </a:r>
            <a:r>
              <a:rPr lang="ja-JP" altLang="en-US" sz="4800" dirty="0">
                <a:solidFill>
                  <a:schemeClr val="bg1"/>
                </a:solidFill>
                <a:latin typeface="Meiryo UI"/>
                <a:ea typeface="Meiryo UI"/>
                <a:cs typeface="Arial"/>
              </a:rPr>
              <a:t>　</a:t>
            </a:r>
            <a:r>
              <a:rPr lang="en-US" altLang="ja-JP" sz="4800" dirty="0">
                <a:solidFill>
                  <a:schemeClr val="bg1"/>
                </a:solidFill>
                <a:latin typeface="Meiryo UI"/>
                <a:ea typeface="Meiryo UI"/>
                <a:cs typeface="Arial"/>
              </a:rPr>
              <a:t>MR</a:t>
            </a:r>
            <a:r>
              <a:rPr lang="ja-JP" altLang="en-US" sz="4800" dirty="0">
                <a:solidFill>
                  <a:schemeClr val="bg1"/>
                </a:solidFill>
                <a:latin typeface="Meiryo UI"/>
                <a:ea typeface="Meiryo UI"/>
                <a:cs typeface="Arial"/>
              </a:rPr>
              <a:t>　スキルアッププロジェクト</a:t>
            </a:r>
            <a:r>
              <a:rPr lang="en-US" altLang="ja-JP" sz="4800" dirty="0">
                <a:solidFill>
                  <a:schemeClr val="bg1"/>
                </a:solidFill>
                <a:latin typeface="Meiryo UI"/>
                <a:ea typeface="Meiryo UI"/>
                <a:cs typeface="Arial"/>
              </a:rPr>
              <a:t>DAY</a:t>
            </a:r>
            <a:r>
              <a:rPr lang="ja-JP" altLang="en-US" sz="4800" dirty="0">
                <a:solidFill>
                  <a:schemeClr val="bg1"/>
                </a:solidFill>
                <a:latin typeface="Meiryo UI"/>
                <a:ea typeface="Meiryo UI"/>
                <a:cs typeface="Arial"/>
              </a:rPr>
              <a:t>４　</a:t>
            </a:r>
            <a:endParaRPr lang="en-US" altLang="ja-JP" sz="4800" dirty="0">
              <a:solidFill>
                <a:schemeClr val="bg1"/>
              </a:solidFill>
              <a:latin typeface="Meiryo UI"/>
              <a:ea typeface="Meiryo UI"/>
              <a:cs typeface="Arial"/>
            </a:endParaRPr>
          </a:p>
        </p:txBody>
      </p:sp>
      <p:sp>
        <p:nvSpPr>
          <p:cNvPr id="5" name="TextBox 4">
            <a:extLst>
              <a:ext uri="{FF2B5EF4-FFF2-40B4-BE49-F238E27FC236}">
                <a16:creationId xmlns:a16="http://schemas.microsoft.com/office/drawing/2014/main" id="{B28C8CCA-F3FD-B67F-15C9-26BBD4EA7D22}"/>
              </a:ext>
            </a:extLst>
          </p:cNvPr>
          <p:cNvSpPr txBox="1"/>
          <p:nvPr/>
        </p:nvSpPr>
        <p:spPr>
          <a:xfrm>
            <a:off x="5644134" y="1799639"/>
            <a:ext cx="6185916" cy="523220"/>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ja-JP" altLang="en-US" sz="2800" b="0" i="0" u="none" strike="noStrike" kern="1200" cap="none" spc="0" normalizeH="0" baseline="0" noProof="0" dirty="0">
                <a:ln>
                  <a:noFill/>
                </a:ln>
                <a:solidFill>
                  <a:srgbClr val="F7FBF8"/>
                </a:solidFill>
                <a:effectLst/>
                <a:uLnTx/>
                <a:uFillTx/>
                <a:latin typeface="Meiryo UI"/>
                <a:ea typeface="Meiryo UI"/>
                <a:cs typeface="Arial"/>
              </a:rPr>
              <a:t>担当：藤・井上</a:t>
            </a:r>
            <a:endParaRPr kumimoji="0" lang="ja-JP" altLang="en-US" sz="2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248841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C696-18A0-CC86-8111-72FDDD6B21E6}"/>
            </a:ext>
          </a:extLst>
        </p:cNvPr>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AFD2267D-3C48-5FBA-5823-5297B0445E7B}"/>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a:extLst>
              <a:ext uri="{FF2B5EF4-FFF2-40B4-BE49-F238E27FC236}">
                <a16:creationId xmlns:a16="http://schemas.microsoft.com/office/drawing/2014/main" id="{B81A50B6-5E3C-6747-4532-C5F270299636}"/>
              </a:ext>
            </a:extLst>
          </p:cNvPr>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FADAD954-F788-17B4-4954-5A19C0C37BDB}"/>
              </a:ext>
            </a:extLst>
          </p:cNvPr>
          <p:cNvSpPr>
            <a:spLocks noGrp="1"/>
          </p:cNvSpPr>
          <p:nvPr>
            <p:ph type="title"/>
          </p:nvPr>
        </p:nvSpPr>
        <p:spPr>
          <a:xfrm>
            <a:off x="551384" y="1784531"/>
            <a:ext cx="9217455" cy="1727139"/>
          </a:xfrm>
        </p:spPr>
        <p:txBody>
          <a:bodyPr wrap="square" lIns="91440" tIns="45720" rIns="91440" bIns="45720" anchor="t"/>
          <a:lstStyle/>
          <a:p>
            <a:r>
              <a:rPr lang="ja-JP" altLang="en-US" sz="3200" dirty="0">
                <a:solidFill>
                  <a:schemeClr val="bg1"/>
                </a:solidFill>
                <a:latin typeface="Meiryo UI"/>
                <a:ea typeface="Meiryo UI"/>
              </a:rPr>
              <a:t>■振り返り／Triple Win Beyond　10分</a:t>
            </a:r>
          </a:p>
          <a:p>
            <a:r>
              <a:rPr lang="ja-JP" altLang="en-US" sz="3200" dirty="0">
                <a:solidFill>
                  <a:schemeClr val="bg1"/>
                </a:solidFill>
                <a:latin typeface="Meiryo UI"/>
                <a:ea typeface="Meiryo UI"/>
              </a:rPr>
              <a:t>■ワーク①「ウォンツとニーズの仕分け」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■ワーク②「仮説立て」とエリアプラン・4S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■インタビュー／まとめ・総括　20分</a:t>
            </a:r>
          </a:p>
        </p:txBody>
      </p:sp>
      <p:sp>
        <p:nvSpPr>
          <p:cNvPr id="21" name="Slide Number Placeholder 4">
            <a:extLst>
              <a:ext uri="{FF2B5EF4-FFF2-40B4-BE49-F238E27FC236}">
                <a16:creationId xmlns:a16="http://schemas.microsoft.com/office/drawing/2014/main" id="{5E049360-E5C5-D85E-E9E6-5AABC40C747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2</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4" name="Title 2">
            <a:extLst>
              <a:ext uri="{FF2B5EF4-FFF2-40B4-BE49-F238E27FC236}">
                <a16:creationId xmlns:a16="http://schemas.microsoft.com/office/drawing/2014/main" id="{AC9FD2A0-37FB-8455-88BF-06BDBB0A4B4A}"/>
              </a:ext>
            </a:extLst>
          </p:cNvPr>
          <p:cNvSpPr txBox="1">
            <a:spLocks/>
          </p:cNvSpPr>
          <p:nvPr/>
        </p:nvSpPr>
        <p:spPr bwMode="gray">
          <a:xfrm>
            <a:off x="594927" y="687915"/>
            <a:ext cx="6590370" cy="613117"/>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4800" b="1" i="0" u="none" strike="noStrike" kern="1200" cap="none" spc="-60" normalizeH="0" baseline="0" noProof="0">
                <a:ln>
                  <a:noFill/>
                </a:ln>
                <a:solidFill>
                  <a:srgbClr val="F7FBF8"/>
                </a:solidFill>
                <a:effectLst/>
                <a:uLnTx/>
                <a:uFillTx/>
                <a:latin typeface="Meiryo UI"/>
                <a:ea typeface="Meiryo UI"/>
                <a:cs typeface="+mj-cs"/>
              </a:rPr>
              <a:t>Agenda</a:t>
            </a:r>
            <a:endParaRPr kumimoji="1" lang="ja-JP" altLang="en-US" sz="4800" b="1" i="0" u="none" strike="noStrike" kern="1200" cap="none" spc="-60" normalizeH="0" baseline="0" noProof="0" dirty="0">
              <a:ln>
                <a:noFill/>
              </a:ln>
              <a:solidFill>
                <a:srgbClr val="F7FBF8"/>
              </a:solidFill>
              <a:effectLst/>
              <a:uLnTx/>
              <a:uFillTx/>
              <a:latin typeface="Meiryo UI"/>
              <a:ea typeface="Meiryo UI"/>
              <a:cs typeface="+mj-cs"/>
            </a:endParaRPr>
          </a:p>
        </p:txBody>
      </p:sp>
    </p:spTree>
    <p:extLst>
      <p:ext uri="{BB962C8B-B14F-4D97-AF65-F5344CB8AC3E}">
        <p14:creationId xmlns:p14="http://schemas.microsoft.com/office/powerpoint/2010/main" val="2501997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7A5E2B9B-30B1-5640-9240-A723519D2862}"/>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C23B6A35-B6F0-D784-4F8B-1364DB108CD7}"/>
              </a:ext>
            </a:extLst>
          </p:cNvPr>
          <p:cNvSpPr>
            <a:spLocks noGrp="1"/>
          </p:cNvSpPr>
          <p:nvPr>
            <p:ph type="title"/>
          </p:nvPr>
        </p:nvSpPr>
        <p:spPr>
          <a:xfrm>
            <a:off x="551384" y="2539274"/>
            <a:ext cx="6590370" cy="408702"/>
          </a:xfrm>
        </p:spPr>
        <p:txBody>
          <a:bodyPr wrap="square"/>
          <a:lstStyle/>
          <a:p>
            <a:r>
              <a:rPr lang="ja-JP" altLang="en-US" sz="3200" dirty="0">
                <a:solidFill>
                  <a:schemeClr val="bg1"/>
                </a:solidFill>
                <a:latin typeface="Meiryo UI" panose="020B0604030504040204" pitchFamily="50" charset="-128"/>
                <a:ea typeface="Meiryo UI" panose="020B0604030504040204" pitchFamily="50" charset="-128"/>
              </a:rPr>
              <a:t>集めた情報、次の一手は？、、、</a:t>
            </a:r>
            <a:endParaRPr lang="en-US" sz="3200" dirty="0">
              <a:solidFill>
                <a:schemeClr val="bg1"/>
              </a:solidFill>
              <a:latin typeface="Meiryo UI" panose="020B0604030504040204" pitchFamily="50" charset="-128"/>
              <a:ea typeface="Meiryo UI" panose="020B0604030504040204" pitchFamily="50" charset="-128"/>
            </a:endParaRPr>
          </a:p>
        </p:txBody>
      </p:sp>
      <p:sp>
        <p:nvSpPr>
          <p:cNvPr id="21" name="Slide Number Placeholder 4">
            <a:extLst>
              <a:ext uri="{FF2B5EF4-FFF2-40B4-BE49-F238E27FC236}">
                <a16:creationId xmlns:a16="http://schemas.microsoft.com/office/drawing/2014/main" id="{F8083B8D-3664-6E79-A2BB-CEF7CEE57A3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3</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13" name="Title 2">
            <a:extLst>
              <a:ext uri="{FF2B5EF4-FFF2-40B4-BE49-F238E27FC236}">
                <a16:creationId xmlns:a16="http://schemas.microsoft.com/office/drawing/2014/main" id="{6589FF1D-C39C-D5BF-3830-442EA1F6E63F}"/>
              </a:ext>
            </a:extLst>
          </p:cNvPr>
          <p:cNvSpPr txBox="1">
            <a:spLocks/>
          </p:cNvSpPr>
          <p:nvPr/>
        </p:nvSpPr>
        <p:spPr bwMode="gray">
          <a:xfrm>
            <a:off x="551384" y="4126230"/>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エリア戦略って、、、</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2" name="Title 2">
            <a:extLst>
              <a:ext uri="{FF2B5EF4-FFF2-40B4-BE49-F238E27FC236}">
                <a16:creationId xmlns:a16="http://schemas.microsoft.com/office/drawing/2014/main" id="{BB9E12BD-BFD0-66C0-89E3-C57B308AB563}"/>
              </a:ext>
            </a:extLst>
          </p:cNvPr>
          <p:cNvSpPr txBox="1">
            <a:spLocks/>
          </p:cNvSpPr>
          <p:nvPr/>
        </p:nvSpPr>
        <p:spPr bwMode="gray">
          <a:xfrm>
            <a:off x="555194" y="3332752"/>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いよいよ最終回、、、</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4" name="Title 2">
            <a:extLst>
              <a:ext uri="{FF2B5EF4-FFF2-40B4-BE49-F238E27FC236}">
                <a16:creationId xmlns:a16="http://schemas.microsoft.com/office/drawing/2014/main" id="{0A88ABD1-1BBB-28E5-8343-E78C68DD1C25}"/>
              </a:ext>
            </a:extLst>
          </p:cNvPr>
          <p:cNvSpPr txBox="1">
            <a:spLocks/>
          </p:cNvSpPr>
          <p:nvPr/>
        </p:nvSpPr>
        <p:spPr bwMode="gray">
          <a:xfrm>
            <a:off x="551384" y="1065286"/>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rPr>
              <a:t>皆様のお気持ちは？</a:t>
            </a:r>
            <a:endParaRPr kumimoji="1" 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Tree>
    <p:extLst>
      <p:ext uri="{BB962C8B-B14F-4D97-AF65-F5344CB8AC3E}">
        <p14:creationId xmlns:p14="http://schemas.microsoft.com/office/powerpoint/2010/main" val="2697407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929841C-57BA-89BA-7F4F-DB543459026A}"/>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16"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5" name="四角形: 角を丸くする 14">
            <a:extLst>
              <a:ext uri="{FF2B5EF4-FFF2-40B4-BE49-F238E27FC236}">
                <a16:creationId xmlns:a16="http://schemas.microsoft.com/office/drawing/2014/main" id="{84DE1810-19F1-5CF2-085F-A1970AE7A0FD}"/>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概要・イメージ</a:t>
            </a:r>
          </a:p>
        </p:txBody>
      </p:sp>
      <p:pic>
        <p:nvPicPr>
          <p:cNvPr id="9" name="図 8">
            <a:extLst>
              <a:ext uri="{FF2B5EF4-FFF2-40B4-BE49-F238E27FC236}">
                <a16:creationId xmlns:a16="http://schemas.microsoft.com/office/drawing/2014/main" id="{CA8B4306-536C-C523-53C2-61A4A67558F7}"/>
              </a:ext>
            </a:extLst>
          </p:cNvPr>
          <p:cNvPicPr>
            <a:picLocks noChangeAspect="1"/>
          </p:cNvPicPr>
          <p:nvPr/>
        </p:nvPicPr>
        <p:blipFill>
          <a:blip r:embed="rId3"/>
          <a:stretch>
            <a:fillRect/>
          </a:stretch>
        </p:blipFill>
        <p:spPr>
          <a:xfrm>
            <a:off x="5965245" y="1315978"/>
            <a:ext cx="6096528" cy="3429297"/>
          </a:xfrm>
          <a:prstGeom prst="rect">
            <a:avLst/>
          </a:prstGeom>
        </p:spPr>
      </p:pic>
      <p:sp>
        <p:nvSpPr>
          <p:cNvPr id="2" name="矢印: 下 1">
            <a:extLst>
              <a:ext uri="{FF2B5EF4-FFF2-40B4-BE49-F238E27FC236}">
                <a16:creationId xmlns:a16="http://schemas.microsoft.com/office/drawing/2014/main" id="{7ABE689D-35AB-8B1F-D092-F57A12EB7D20}"/>
              </a:ext>
            </a:extLst>
          </p:cNvPr>
          <p:cNvSpPr/>
          <p:nvPr/>
        </p:nvSpPr>
        <p:spPr>
          <a:xfrm>
            <a:off x="11357902" y="1694297"/>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3" name="矢印: 下 2">
            <a:extLst>
              <a:ext uri="{FF2B5EF4-FFF2-40B4-BE49-F238E27FC236}">
                <a16:creationId xmlns:a16="http://schemas.microsoft.com/office/drawing/2014/main" id="{E1596E16-1B7D-618E-F9B9-DFC22D1F4D13}"/>
              </a:ext>
            </a:extLst>
          </p:cNvPr>
          <p:cNvSpPr/>
          <p:nvPr/>
        </p:nvSpPr>
        <p:spPr>
          <a:xfrm>
            <a:off x="11376171" y="3101293"/>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4" name="四角形: 角を丸くする 3">
            <a:extLst>
              <a:ext uri="{FF2B5EF4-FFF2-40B4-BE49-F238E27FC236}">
                <a16:creationId xmlns:a16="http://schemas.microsoft.com/office/drawing/2014/main" id="{84D548AD-7AD8-DE61-6175-DA788B61CD6A}"/>
              </a:ext>
            </a:extLst>
          </p:cNvPr>
          <p:cNvSpPr/>
          <p:nvPr/>
        </p:nvSpPr>
        <p:spPr>
          <a:xfrm>
            <a:off x="5996940" y="1699747"/>
            <a:ext cx="428847" cy="1392865"/>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早期完成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5" name="四角形: 角を丸くする 4">
            <a:extLst>
              <a:ext uri="{FF2B5EF4-FFF2-40B4-BE49-F238E27FC236}">
                <a16:creationId xmlns:a16="http://schemas.microsoft.com/office/drawing/2014/main" id="{28C403BE-4263-6D6B-C79B-7C952D2E932E}"/>
              </a:ext>
            </a:extLst>
          </p:cNvPr>
          <p:cNvSpPr/>
          <p:nvPr/>
        </p:nvSpPr>
        <p:spPr>
          <a:xfrm>
            <a:off x="6002655" y="3161989"/>
            <a:ext cx="428847" cy="1392864"/>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順次完成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6" name="四角形: 角を丸くする 5">
            <a:extLst>
              <a:ext uri="{FF2B5EF4-FFF2-40B4-BE49-F238E27FC236}">
                <a16:creationId xmlns:a16="http://schemas.microsoft.com/office/drawing/2014/main" id="{AA64EBC1-A89F-5909-3BF3-F045DF12FD06}"/>
              </a:ext>
            </a:extLst>
          </p:cNvPr>
          <p:cNvSpPr/>
          <p:nvPr/>
        </p:nvSpPr>
        <p:spPr>
          <a:xfrm>
            <a:off x="1771650" y="5269526"/>
            <a:ext cx="8812530" cy="888882"/>
          </a:xfrm>
          <a:prstGeom prst="roundRect">
            <a:avLst/>
          </a:prstGeom>
          <a:gradFill flip="none" rotWithShape="1">
            <a:gsLst>
              <a:gs pos="0">
                <a:srgbClr val="14543F"/>
              </a:gs>
              <a:gs pos="50000">
                <a:srgbClr val="0D8B5F"/>
              </a:gs>
              <a:gs pos="100000">
                <a:srgbClr val="6BC79B"/>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ct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不安を払拭し、その日からアクションできる</a:t>
            </a:r>
          </a:p>
        </p:txBody>
      </p:sp>
      <p:pic>
        <p:nvPicPr>
          <p:cNvPr id="11" name="図 10">
            <a:extLst>
              <a:ext uri="{FF2B5EF4-FFF2-40B4-BE49-F238E27FC236}">
                <a16:creationId xmlns:a16="http://schemas.microsoft.com/office/drawing/2014/main" id="{15E71789-B1D2-E7FF-6039-12113C3E912F}"/>
              </a:ext>
            </a:extLst>
          </p:cNvPr>
          <p:cNvPicPr>
            <a:picLocks noChangeAspect="1"/>
          </p:cNvPicPr>
          <p:nvPr/>
        </p:nvPicPr>
        <p:blipFill>
          <a:blip r:embed="rId4"/>
          <a:srcRect r="5875"/>
          <a:stretch>
            <a:fillRect/>
          </a:stretch>
        </p:blipFill>
        <p:spPr>
          <a:xfrm>
            <a:off x="125203" y="1315978"/>
            <a:ext cx="5738388" cy="3429297"/>
          </a:xfrm>
          <a:prstGeom prst="rect">
            <a:avLst/>
          </a:prstGeom>
        </p:spPr>
      </p:pic>
      <p:sp>
        <p:nvSpPr>
          <p:cNvPr id="10" name="タイトル 1">
            <a:extLst>
              <a:ext uri="{FF2B5EF4-FFF2-40B4-BE49-F238E27FC236}">
                <a16:creationId xmlns:a16="http://schemas.microsoft.com/office/drawing/2014/main" id="{AF93FE1E-7B8D-24BF-8C8D-E1359ED25436}"/>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12" name="正方形/長方形 11">
            <a:extLst>
              <a:ext uri="{FF2B5EF4-FFF2-40B4-BE49-F238E27FC236}">
                <a16:creationId xmlns:a16="http://schemas.microsoft.com/office/drawing/2014/main" id="{14366105-51EE-2A58-66B0-3AD72D6C0221}"/>
              </a:ext>
            </a:extLst>
          </p:cNvPr>
          <p:cNvSpPr/>
          <p:nvPr/>
        </p:nvSpPr>
        <p:spPr>
          <a:xfrm>
            <a:off x="6464601" y="4093537"/>
            <a:ext cx="5178055" cy="606055"/>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kumimoji="1" lang="ja-JP" altLang="en-US" dirty="0" err="1"/>
          </a:p>
        </p:txBody>
      </p:sp>
    </p:spTree>
    <p:extLst>
      <p:ext uri="{BB962C8B-B14F-4D97-AF65-F5344CB8AC3E}">
        <p14:creationId xmlns:p14="http://schemas.microsoft.com/office/powerpoint/2010/main" val="2656205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89B34-1110-A4B3-6213-181DD852D98E}"/>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E547B61F-8C0E-1529-D029-CB03A1EECE10}"/>
              </a:ext>
            </a:extLst>
          </p:cNvPr>
          <p:cNvPicPr>
            <a:picLocks noChangeAspect="1"/>
          </p:cNvPicPr>
          <p:nvPr/>
        </p:nvPicPr>
        <p:blipFill>
          <a:blip r:embed="rId2"/>
          <a:stretch>
            <a:fillRect/>
          </a:stretch>
        </p:blipFill>
        <p:spPr>
          <a:xfrm>
            <a:off x="32340" y="0"/>
            <a:ext cx="12127320" cy="6858000"/>
          </a:xfrm>
          <a:prstGeom prst="rect">
            <a:avLst/>
          </a:prstGeom>
        </p:spPr>
      </p:pic>
      <p:sp>
        <p:nvSpPr>
          <p:cNvPr id="4" name="四角形: 角を丸くする 3">
            <a:extLst>
              <a:ext uri="{FF2B5EF4-FFF2-40B4-BE49-F238E27FC236}">
                <a16:creationId xmlns:a16="http://schemas.microsoft.com/office/drawing/2014/main" id="{687C0AEB-F3DA-ED72-B649-4B73767F7C39}"/>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ゴール</a:t>
            </a:r>
          </a:p>
        </p:txBody>
      </p:sp>
      <p:pic>
        <p:nvPicPr>
          <p:cNvPr id="5" name="図 4">
            <a:extLst>
              <a:ext uri="{FF2B5EF4-FFF2-40B4-BE49-F238E27FC236}">
                <a16:creationId xmlns:a16="http://schemas.microsoft.com/office/drawing/2014/main" id="{7D11EB31-F6B4-EF3A-3542-19CC6507CAE2}"/>
              </a:ext>
            </a:extLst>
          </p:cNvPr>
          <p:cNvPicPr>
            <a:picLocks noChangeAspect="1"/>
          </p:cNvPicPr>
          <p:nvPr/>
        </p:nvPicPr>
        <p:blipFill>
          <a:blip r:embed="rId3"/>
          <a:stretch>
            <a:fillRect/>
          </a:stretch>
        </p:blipFill>
        <p:spPr>
          <a:xfrm>
            <a:off x="1291590" y="1200150"/>
            <a:ext cx="9635489" cy="497848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タイトル 1">
            <a:extLst>
              <a:ext uri="{FF2B5EF4-FFF2-40B4-BE49-F238E27FC236}">
                <a16:creationId xmlns:a16="http://schemas.microsoft.com/office/drawing/2014/main" id="{352E46A4-BE7B-2C87-BD61-B36C125E2BBF}"/>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6" name="TextBox 5">
            <a:extLst>
              <a:ext uri="{FF2B5EF4-FFF2-40B4-BE49-F238E27FC236}">
                <a16:creationId xmlns:a16="http://schemas.microsoft.com/office/drawing/2014/main" id="{B027706F-0669-7DBA-8ED9-B7E78EA60F06}"/>
              </a:ext>
            </a:extLst>
          </p:cNvPr>
          <p:cNvSpPr txBox="1"/>
          <p:nvPr/>
        </p:nvSpPr>
        <p:spPr>
          <a:xfrm>
            <a:off x="1522093" y="4302132"/>
            <a:ext cx="7817849" cy="584330"/>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78351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BD2C5-0EB7-C594-BDA2-251203D6DCDD}"/>
            </a:ext>
          </a:extLst>
        </p:cNvPr>
        <p:cNvGrpSpPr/>
        <p:nvPr/>
      </p:nvGrpSpPr>
      <p:grpSpPr>
        <a:xfrm>
          <a:off x="0" y="0"/>
          <a:ext cx="0" cy="0"/>
          <a:chOff x="0" y="0"/>
          <a:chExt cx="0" cy="0"/>
        </a:xfrm>
      </p:grpSpPr>
      <p:sp>
        <p:nvSpPr>
          <p:cNvPr id="10"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pic>
        <p:nvPicPr>
          <p:cNvPr id="9" name="図 8">
            <a:extLst>
              <a:ext uri="{FF2B5EF4-FFF2-40B4-BE49-F238E27FC236}">
                <a16:creationId xmlns:a16="http://schemas.microsoft.com/office/drawing/2014/main" id="{BA5C4EFE-E5B9-8467-5497-61815DDE313C}"/>
              </a:ext>
            </a:extLst>
          </p:cNvPr>
          <p:cNvPicPr>
            <a:picLocks noChangeAspect="1"/>
          </p:cNvPicPr>
          <p:nvPr/>
        </p:nvPicPr>
        <p:blipFill>
          <a:blip r:embed="rId2"/>
          <a:srcRect t="9111" b="9111"/>
          <a:stretch>
            <a:fill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5748EB0D-A802-1E0E-6EC1-B0AC3A6345D9}"/>
              </a:ext>
            </a:extLst>
          </p:cNvPr>
          <p:cNvPicPr>
            <a:picLocks noChangeAspect="1"/>
          </p:cNvPicPr>
          <p:nvPr/>
        </p:nvPicPr>
        <p:blipFill>
          <a:blip r:embed="rId3"/>
          <a:stretch>
            <a:fillRect/>
          </a:stretch>
        </p:blipFill>
        <p:spPr>
          <a:xfrm>
            <a:off x="0" y="0"/>
            <a:ext cx="12192000" cy="6897498"/>
          </a:xfrm>
          <a:prstGeom prst="rect">
            <a:avLst/>
          </a:prstGeom>
        </p:spPr>
      </p:pic>
      <p:graphicFrame>
        <p:nvGraphicFramePr>
          <p:cNvPr id="3" name="図表 2">
            <a:extLst>
              <a:ext uri="{FF2B5EF4-FFF2-40B4-BE49-F238E27FC236}">
                <a16:creationId xmlns:a16="http://schemas.microsoft.com/office/drawing/2014/main" id="{B90D169A-CAAD-A716-A031-7239C2838D06}"/>
              </a:ext>
            </a:extLst>
          </p:cNvPr>
          <p:cNvGraphicFramePr/>
          <p:nvPr/>
        </p:nvGraphicFramePr>
        <p:xfrm>
          <a:off x="217170" y="365760"/>
          <a:ext cx="11692890" cy="54302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8" name="四角形: 角を丸くする 7">
            <a:extLst>
              <a:ext uri="{FF2B5EF4-FFF2-40B4-BE49-F238E27FC236}">
                <a16:creationId xmlns:a16="http://schemas.microsoft.com/office/drawing/2014/main" id="{7F84BD35-B2A0-CEF0-2BA5-680A95BEDDD8}"/>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プロジェクトメンバー</a:t>
            </a:r>
          </a:p>
        </p:txBody>
      </p:sp>
      <p:sp>
        <p:nvSpPr>
          <p:cNvPr id="2" name="タイトル 1">
            <a:extLst>
              <a:ext uri="{FF2B5EF4-FFF2-40B4-BE49-F238E27FC236}">
                <a16:creationId xmlns:a16="http://schemas.microsoft.com/office/drawing/2014/main" id="{2FE97FF1-906A-DBE1-D182-0FD5C8A5F8CB}"/>
              </a:ext>
            </a:extLst>
          </p:cNvPr>
          <p:cNvSpPr>
            <a:spLocks noGrp="1"/>
          </p:cNvSpPr>
          <p:nvPr>
            <p:ph type="ctrTitle"/>
          </p:nvPr>
        </p:nvSpPr>
        <p:spPr>
          <a:xfrm>
            <a:off x="1085850" y="5297401"/>
            <a:ext cx="10266734" cy="817403"/>
          </a:xfrm>
        </p:spPr>
        <p:txBody>
          <a:bodyPr wrap="square"/>
          <a:lstStyle/>
          <a:p>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Renal </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大学</a:t>
            </a:r>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基幹病院担当者スキルアッププロジェクト</a:t>
            </a:r>
          </a:p>
        </p:txBody>
      </p:sp>
      <p:sp>
        <p:nvSpPr>
          <p:cNvPr id="5" name="TextBox 4">
            <a:extLst>
              <a:ext uri="{FF2B5EF4-FFF2-40B4-BE49-F238E27FC236}">
                <a16:creationId xmlns:a16="http://schemas.microsoft.com/office/drawing/2014/main" id="{AE559E61-A38A-77ED-C1DC-2B7D93032893}"/>
              </a:ext>
            </a:extLst>
          </p:cNvPr>
          <p:cNvSpPr txBox="1"/>
          <p:nvPr/>
        </p:nvSpPr>
        <p:spPr>
          <a:xfrm>
            <a:off x="1832064" y="2028741"/>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
        <p:nvSpPr>
          <p:cNvPr id="7" name="TextBox 6">
            <a:extLst>
              <a:ext uri="{FF2B5EF4-FFF2-40B4-BE49-F238E27FC236}">
                <a16:creationId xmlns:a16="http://schemas.microsoft.com/office/drawing/2014/main" id="{A484D68D-8EED-203E-6047-C01DBFD925C1}"/>
              </a:ext>
            </a:extLst>
          </p:cNvPr>
          <p:cNvSpPr txBox="1"/>
          <p:nvPr/>
        </p:nvSpPr>
        <p:spPr>
          <a:xfrm>
            <a:off x="6903972" y="1994044"/>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007888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D012-DDA1-D41D-65DA-57E0BA1FBE5D}"/>
            </a:ext>
          </a:extLst>
        </p:cNvPr>
        <p:cNvGrpSpPr/>
        <p:nvPr/>
      </p:nvGrpSpPr>
      <p:grpSpPr>
        <a:xfrm>
          <a:off x="0" y="0"/>
          <a:ext cx="0" cy="0"/>
          <a:chOff x="0" y="0"/>
          <a:chExt cx="0" cy="0"/>
        </a:xfrm>
      </p:grpSpPr>
      <p:pic>
        <p:nvPicPr>
          <p:cNvPr id="18" name="図 17">
            <a:extLst>
              <a:ext uri="{FF2B5EF4-FFF2-40B4-BE49-F238E27FC236}">
                <a16:creationId xmlns:a16="http://schemas.microsoft.com/office/drawing/2014/main" id="{F7488F29-00B5-FA7E-D7C1-E9FDF07352E8}"/>
              </a:ext>
            </a:extLst>
          </p:cNvPr>
          <p:cNvPicPr>
            <a:picLocks noChangeAspect="1"/>
          </p:cNvPicPr>
          <p:nvPr/>
        </p:nvPicPr>
        <p:blipFill>
          <a:blip r:embed="rId2"/>
          <a:stretch>
            <a:fillRect/>
          </a:stretch>
        </p:blipFill>
        <p:spPr>
          <a:xfrm>
            <a:off x="0" y="0"/>
            <a:ext cx="12192000" cy="6897498"/>
          </a:xfrm>
          <a:prstGeom prst="rect">
            <a:avLst/>
          </a:prstGeom>
        </p:spPr>
      </p:pic>
      <p:sp>
        <p:nvSpPr>
          <p:cNvPr id="3" name="四角形: 角を丸くする 2">
            <a:extLst>
              <a:ext uri="{FF2B5EF4-FFF2-40B4-BE49-F238E27FC236}">
                <a16:creationId xmlns:a16="http://schemas.microsoft.com/office/drawing/2014/main" id="{AD09851C-9131-A14A-9A7A-CF6D2A4F251E}"/>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今後の流れ</a:t>
            </a:r>
          </a:p>
        </p:txBody>
      </p:sp>
      <p:sp>
        <p:nvSpPr>
          <p:cNvPr id="9" name="テキスト ボックス 8">
            <a:extLst>
              <a:ext uri="{FF2B5EF4-FFF2-40B4-BE49-F238E27FC236}">
                <a16:creationId xmlns:a16="http://schemas.microsoft.com/office/drawing/2014/main" id="{9EF64936-655E-A5FE-2C24-7CD708F7AAFD}"/>
              </a:ext>
            </a:extLst>
          </p:cNvPr>
          <p:cNvSpPr txBox="1"/>
          <p:nvPr/>
        </p:nvSpPr>
        <p:spPr>
          <a:xfrm>
            <a:off x="3503045" y="456129"/>
            <a:ext cx="7222761" cy="369332"/>
          </a:xfrm>
          <a:prstGeom prst="rect">
            <a:avLst/>
          </a:prstGeom>
          <a:noFill/>
        </p:spPr>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a:t>
            </a:r>
            <a:r>
              <a:rPr kumimoji="0" lang="en-US" altLang="ja-JP" sz="1800" b="0" i="0" u="none" strike="noStrike" kern="1200" cap="none" spc="0" normalizeH="0" baseline="0" noProof="0" err="1">
                <a:ln>
                  <a:noFill/>
                </a:ln>
                <a:solidFill>
                  <a:srgbClr val="FFFFFF"/>
                </a:solidFill>
                <a:effectLst/>
                <a:uLnTx/>
                <a:uFillTx/>
                <a:latin typeface="Meiryo UI"/>
                <a:ea typeface="Meiryo UI"/>
                <a:cs typeface="+mn-cs"/>
              </a:rPr>
              <a:t>全員が</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主体的に参加・</a:t>
            </a: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10</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分程度レクチャー・ワーク・共有のイメージ</a:t>
            </a:r>
          </a:p>
        </p:txBody>
      </p:sp>
      <p:sp>
        <p:nvSpPr>
          <p:cNvPr id="2" name="四角形: 角を丸くする 1">
            <a:extLst>
              <a:ext uri="{FF2B5EF4-FFF2-40B4-BE49-F238E27FC236}">
                <a16:creationId xmlns:a16="http://schemas.microsoft.com/office/drawing/2014/main" id="{474363B5-F17F-B5BE-25ED-B80B09710E83}"/>
              </a:ext>
            </a:extLst>
          </p:cNvPr>
          <p:cNvSpPr/>
          <p:nvPr/>
        </p:nvSpPr>
        <p:spPr>
          <a:xfrm>
            <a:off x="205740" y="3542124"/>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大学・基幹病院のイロハ</a:t>
            </a:r>
          </a:p>
          <a:p>
            <a:pPr marL="0" marR="0" lvl="0" indent="0" algn="ctr" defTabSz="457200" rtl="0" eaLnBrk="1" fontAlgn="auto" latinLnBrk="0" hangingPunct="1">
              <a:lnSpc>
                <a:spcPct val="100000"/>
              </a:lnSpc>
              <a:spcBef>
                <a:spcPts val="800"/>
              </a:spcBef>
              <a:spcAft>
                <a:spcPts val="0"/>
              </a:spcAft>
              <a:buClrTx/>
              <a:buSzTx/>
              <a:buFontTx/>
              <a:buNone/>
              <a:tabLst/>
              <a:defRPr/>
            </a:pPr>
            <a:endPar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大学病院ってなぜあるの？</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この先生、どれだけ偉い？</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「採用」活動の心得</a:t>
            </a:r>
            <a:r>
              <a:rPr kumimoji="1" lang="en-US" altLang="ja-JP"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…etc</a:t>
            </a: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この会に参加すると→</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病院に訪問する怖さがちょっとだけ減っているかも🤏</a:t>
            </a:r>
          </a:p>
        </p:txBody>
      </p:sp>
      <p:sp>
        <p:nvSpPr>
          <p:cNvPr id="4" name="四角形: 角を丸くする 3">
            <a:extLst>
              <a:ext uri="{FF2B5EF4-FFF2-40B4-BE49-F238E27FC236}">
                <a16:creationId xmlns:a16="http://schemas.microsoft.com/office/drawing/2014/main" id="{72A49435-E163-4B58-59D7-E082C531BB8C}"/>
              </a:ext>
            </a:extLst>
          </p:cNvPr>
          <p:cNvSpPr/>
          <p:nvPr/>
        </p:nvSpPr>
        <p:spPr>
          <a:xfrm>
            <a:off x="325374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endParaRPr kumimoji="0" lang="ja-JP" altLang="en-US" sz="18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p:txBody>
      </p:sp>
      <p:sp>
        <p:nvSpPr>
          <p:cNvPr id="6" name="四角形: 角を丸くする 5">
            <a:extLst>
              <a:ext uri="{FF2B5EF4-FFF2-40B4-BE49-F238E27FC236}">
                <a16:creationId xmlns:a16="http://schemas.microsoft.com/office/drawing/2014/main" id="{248F0575-2B38-80BF-40CC-32B88F6554CD}"/>
              </a:ext>
            </a:extLst>
          </p:cNvPr>
          <p:cNvSpPr/>
          <p:nvPr/>
        </p:nvSpPr>
        <p:spPr>
          <a:xfrm>
            <a:off x="624459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やっぱり</a:t>
            </a:r>
            <a:r>
              <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MR</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は</a:t>
            </a:r>
            <a:r>
              <a:rPr kumimoji="1" lang="ja-JP" altLang="en-US" sz="1800" b="1"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情報</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が命</a:t>
            </a:r>
            <a:endPar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１：「何を、どこでつかむか」</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1-1</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：デスクトップリサーチ</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→社内外のツールを使いこなす</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Wet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な情報</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をつかむ</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→何を、どこでつかむか</a:t>
            </a:r>
            <a:b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得た情報をどう活かすか</a:t>
            </a:r>
            <a:endPar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この会に参加すると→</a:t>
            </a:r>
            <a:br>
              <a:rPr kumimoji="1" lang="en-US" altLang="ja-JP"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「分かって</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MR</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として信頼がえられるかも🤏</a:t>
            </a:r>
          </a:p>
        </p:txBody>
      </p:sp>
      <p:sp>
        <p:nvSpPr>
          <p:cNvPr id="10" name="テキスト ボックス 9">
            <a:extLst>
              <a:ext uri="{FF2B5EF4-FFF2-40B4-BE49-F238E27FC236}">
                <a16:creationId xmlns:a16="http://schemas.microsoft.com/office/drawing/2014/main" id="{EB612F91-5DA9-E5C5-6010-BE98F96CB455}"/>
              </a:ext>
            </a:extLst>
          </p:cNvPr>
          <p:cNvSpPr txBox="1"/>
          <p:nvPr/>
        </p:nvSpPr>
        <p:spPr>
          <a:xfrm>
            <a:off x="745490" y="3029458"/>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第一回</a:t>
            </a:r>
          </a:p>
        </p:txBody>
      </p:sp>
      <p:sp>
        <p:nvSpPr>
          <p:cNvPr id="12" name="テキスト ボックス 11">
            <a:extLst>
              <a:ext uri="{FF2B5EF4-FFF2-40B4-BE49-F238E27FC236}">
                <a16:creationId xmlns:a16="http://schemas.microsoft.com/office/drawing/2014/main" id="{74BB7DBC-DE48-B39E-822A-20B93FB1EC28}"/>
              </a:ext>
            </a:extLst>
          </p:cNvPr>
          <p:cNvSpPr txBox="1"/>
          <p:nvPr/>
        </p:nvSpPr>
        <p:spPr>
          <a:xfrm>
            <a:off x="9767570" y="3029457"/>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第四回</a:t>
            </a:r>
          </a:p>
        </p:txBody>
      </p:sp>
      <p:sp>
        <p:nvSpPr>
          <p:cNvPr id="13" name="テキスト ボックス 12">
            <a:extLst>
              <a:ext uri="{FF2B5EF4-FFF2-40B4-BE49-F238E27FC236}">
                <a16:creationId xmlns:a16="http://schemas.microsoft.com/office/drawing/2014/main" id="{8313F23A-BB66-8173-3A30-5545CF8F7E7D}"/>
              </a:ext>
            </a:extLst>
          </p:cNvPr>
          <p:cNvSpPr txBox="1"/>
          <p:nvPr/>
        </p:nvSpPr>
        <p:spPr>
          <a:xfrm>
            <a:off x="679577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第三回</a:t>
            </a:r>
          </a:p>
        </p:txBody>
      </p:sp>
      <p:sp>
        <p:nvSpPr>
          <p:cNvPr id="14" name="テキスト ボックス 13">
            <a:extLst>
              <a:ext uri="{FF2B5EF4-FFF2-40B4-BE49-F238E27FC236}">
                <a16:creationId xmlns:a16="http://schemas.microsoft.com/office/drawing/2014/main" id="{C46C49A9-2C2F-C94C-475D-BCB26B7B576A}"/>
              </a:ext>
            </a:extLst>
          </p:cNvPr>
          <p:cNvSpPr txBox="1"/>
          <p:nvPr/>
        </p:nvSpPr>
        <p:spPr>
          <a:xfrm>
            <a:off x="388874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第二回</a:t>
            </a:r>
          </a:p>
        </p:txBody>
      </p:sp>
      <p:pic>
        <p:nvPicPr>
          <p:cNvPr id="11" name="図 10">
            <a:extLst>
              <a:ext uri="{FF2B5EF4-FFF2-40B4-BE49-F238E27FC236}">
                <a16:creationId xmlns:a16="http://schemas.microsoft.com/office/drawing/2014/main" id="{3D2C33E4-045B-0B64-7331-8AC18EA4B7F9}"/>
              </a:ext>
            </a:extLst>
          </p:cNvPr>
          <p:cNvPicPr>
            <a:picLocks noChangeAspect="1"/>
          </p:cNvPicPr>
          <p:nvPr/>
        </p:nvPicPr>
        <p:blipFill>
          <a:blip r:embed="rId3"/>
          <a:stretch>
            <a:fillRect/>
          </a:stretch>
        </p:blipFill>
        <p:spPr>
          <a:xfrm>
            <a:off x="7827645" y="1035293"/>
            <a:ext cx="3178623" cy="1840087"/>
          </a:xfrm>
          <a:prstGeom prst="rect">
            <a:avLst/>
          </a:prstGeom>
          <a:ln w="12700">
            <a:solidFill>
              <a:srgbClr val="DDEAE1"/>
            </a:solidFill>
          </a:ln>
        </p:spPr>
      </p:pic>
      <p:sp>
        <p:nvSpPr>
          <p:cNvPr id="7" name="テキスト ボックス 6">
            <a:extLst>
              <a:ext uri="{FF2B5EF4-FFF2-40B4-BE49-F238E27FC236}">
                <a16:creationId xmlns:a16="http://schemas.microsoft.com/office/drawing/2014/main" id="{6ECCEFBF-7944-BB5B-CDDA-DBD497F486C0}"/>
              </a:ext>
            </a:extLst>
          </p:cNvPr>
          <p:cNvSpPr txBox="1"/>
          <p:nvPr/>
        </p:nvSpPr>
        <p:spPr>
          <a:xfrm>
            <a:off x="282892" y="1060132"/>
            <a:ext cx="6716078" cy="1754326"/>
          </a:xfrm>
          <a:prstGeom prst="rect">
            <a:avLst/>
          </a:prstGeom>
          <a:ln w="12700">
            <a:solidFill>
              <a:srgbClr val="A7D7BF"/>
            </a:solidFill>
          </a:ln>
        </p:spPr>
        <p:style>
          <a:lnRef idx="2">
            <a:schemeClr val="dk1"/>
          </a:lnRef>
          <a:fillRef idx="1">
            <a:schemeClr val="lt1"/>
          </a:fillRef>
          <a:effectRef idx="0">
            <a:schemeClr val="dk1"/>
          </a:effectRef>
          <a:fontRef idx="minor">
            <a:schemeClr val="dk1"/>
          </a:fontRef>
        </p:style>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開催日程等</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出欠管理は“</a:t>
            </a:r>
            <a:r>
              <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Outlook</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”にてチェック✅</a:t>
            </a:r>
            <a:endPar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4</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回シリーズ　</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➀</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16</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②</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23</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a:t>
            </a:r>
            <a:endParaRPr kumimoji="0" lang="en-US" altLang="ja-JP" sz="1800" b="1" i="0" u="none" strike="noStrike" kern="1200" cap="none" spc="0" normalizeH="0" baseline="0" noProof="0">
              <a:ln>
                <a:noFill/>
              </a:ln>
              <a:solidFill>
                <a:srgbClr val="FF0000"/>
              </a:solidFill>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③</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7</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29</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日（水）</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14:00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　④</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8</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6</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日（木）</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9:00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400" b="1" i="0" u="none" strike="noStrike" kern="1200" cap="none" spc="0" normalizeH="0" baseline="0" noProof="0">
                <a:ln>
                  <a:noFill/>
                </a:ln>
                <a:solidFill>
                  <a:srgbClr val="0E322A"/>
                </a:solidFill>
                <a:effectLst/>
                <a:uLnTx/>
                <a:uFillTx/>
                <a:latin typeface="Meiryo UI"/>
                <a:ea typeface="Meiryo UI"/>
                <a:cs typeface="+mn-cs"/>
              </a:rPr>
              <a:t>※リジュベネーション考慮</a:t>
            </a:r>
            <a:endParaRPr kumimoji="0" lang="ja-JP" altLang="en-US" sz="14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■時間　</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10:00~11:00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（内容によって前後＋</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30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分延長）</a:t>
            </a:r>
          </a:p>
        </p:txBody>
      </p:sp>
      <p:sp>
        <p:nvSpPr>
          <p:cNvPr id="5" name="四角形: 角を丸くする 1">
            <a:extLst>
              <a:ext uri="{FF2B5EF4-FFF2-40B4-BE49-F238E27FC236}">
                <a16:creationId xmlns:a16="http://schemas.microsoft.com/office/drawing/2014/main" id="{EE641EDE-2F7D-C520-4FF0-F263BA0FBB9C}"/>
              </a:ext>
            </a:extLst>
          </p:cNvPr>
          <p:cNvSpPr/>
          <p:nvPr/>
        </p:nvSpPr>
        <p:spPr>
          <a:xfrm>
            <a:off x="3253739"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「会えない」を「会える」に変える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医師の導線の見つけ方は？</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「会う」ための情報収集は？</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継続的に会うための工夫は？</a:t>
            </a: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「いつでもどこでも会えるMR」への手がかりが掴めるかも🤏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20" name="四角形: 角を丸くする 1">
            <a:extLst>
              <a:ext uri="{FF2B5EF4-FFF2-40B4-BE49-F238E27FC236}">
                <a16:creationId xmlns:a16="http://schemas.microsoft.com/office/drawing/2014/main" id="{E22EB87F-465B-E288-A038-BCF80447D941}"/>
              </a:ext>
            </a:extLst>
          </p:cNvPr>
          <p:cNvSpPr/>
          <p:nvPr/>
        </p:nvSpPr>
        <p:spPr>
          <a:xfrm>
            <a:off x="9235440"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「ちょっと分かるだけで　世界が変わる」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得た情報を整理する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知ることで何ができる？</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エリア戦略まで繋げる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担当者としての</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自覚がもてるかも🤏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15" name="TextBox 14">
            <a:extLst>
              <a:ext uri="{FF2B5EF4-FFF2-40B4-BE49-F238E27FC236}">
                <a16:creationId xmlns:a16="http://schemas.microsoft.com/office/drawing/2014/main" id="{630890E8-5B6F-F809-41C2-76277E1E2EEF}"/>
              </a:ext>
            </a:extLst>
          </p:cNvPr>
          <p:cNvSpPr txBox="1"/>
          <p:nvPr/>
        </p:nvSpPr>
        <p:spPr>
          <a:xfrm>
            <a:off x="9111342" y="2875380"/>
            <a:ext cx="3039355" cy="3951641"/>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64108514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AGENDA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本日の進め方</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8</a:t>
            </a:r>
          </a:p>
        </p:txBody>
      </p:sp>
      <p:sp>
        <p:nvSpPr>
          <p:cNvPr id="6" name="Rounded Rectangle 5"/>
          <p:cNvSpPr/>
          <p:nvPr/>
        </p:nvSpPr>
        <p:spPr>
          <a:xfrm>
            <a:off x="548640" y="182880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振り返り ／ Triple Win Beyond</a:t>
            </a:r>
          </a:p>
        </p:txBody>
      </p:sp>
      <p:sp>
        <p:nvSpPr>
          <p:cNvPr id="7" name="Rounded Rectangle 6"/>
          <p:cNvSpPr/>
          <p:nvPr/>
        </p:nvSpPr>
        <p:spPr>
          <a:xfrm>
            <a:off x="6400800" y="182880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10分</a:t>
            </a:r>
          </a:p>
        </p:txBody>
      </p:sp>
      <p:sp>
        <p:nvSpPr>
          <p:cNvPr id="8" name="Rounded Rectangle 7"/>
          <p:cNvSpPr/>
          <p:nvPr/>
        </p:nvSpPr>
        <p:spPr>
          <a:xfrm>
            <a:off x="7635240" y="182880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3回の振り返り｜Winをエリアまで広げる</a:t>
            </a:r>
          </a:p>
        </p:txBody>
      </p:sp>
      <p:sp>
        <p:nvSpPr>
          <p:cNvPr id="9" name="Rounded Rectangle 8"/>
          <p:cNvSpPr/>
          <p:nvPr/>
        </p:nvSpPr>
        <p:spPr>
          <a:xfrm>
            <a:off x="548640" y="292608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ワーク①「Wants と Needs の仕分け」</a:t>
            </a:r>
          </a:p>
        </p:txBody>
      </p:sp>
      <p:sp>
        <p:nvSpPr>
          <p:cNvPr id="10" name="Rounded Rectangle 9"/>
          <p:cNvSpPr/>
          <p:nvPr/>
        </p:nvSpPr>
        <p:spPr>
          <a:xfrm>
            <a:off x="6400800" y="292608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1" name="Rounded Rectangle 10"/>
          <p:cNvSpPr/>
          <p:nvPr/>
        </p:nvSpPr>
        <p:spPr>
          <a:xfrm>
            <a:off x="7635240" y="292608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得た情報を3つに分ける</a:t>
            </a:r>
          </a:p>
        </p:txBody>
      </p:sp>
      <p:sp>
        <p:nvSpPr>
          <p:cNvPr id="12" name="Rounded Rectangle 11"/>
          <p:cNvSpPr/>
          <p:nvPr/>
        </p:nvSpPr>
        <p:spPr>
          <a:xfrm>
            <a:off x="548640" y="402336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ワーク②「仮説立て」と 4S</a:t>
            </a:r>
          </a:p>
        </p:txBody>
      </p:sp>
      <p:sp>
        <p:nvSpPr>
          <p:cNvPr id="13" name="Rounded Rectangle 12"/>
          <p:cNvSpPr/>
          <p:nvPr/>
        </p:nvSpPr>
        <p:spPr>
          <a:xfrm>
            <a:off x="6400800" y="402336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4" name="Rounded Rectangle 13"/>
          <p:cNvSpPr/>
          <p:nvPr/>
        </p:nvSpPr>
        <p:spPr>
          <a:xfrm>
            <a:off x="7635240" y="402336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WantsをNeedsへ｜解決策まで出す</a:t>
            </a:r>
          </a:p>
        </p:txBody>
      </p:sp>
      <p:sp>
        <p:nvSpPr>
          <p:cNvPr id="15" name="Rounded Rectangle 14"/>
          <p:cNvSpPr/>
          <p:nvPr/>
        </p:nvSpPr>
        <p:spPr>
          <a:xfrm>
            <a:off x="548640" y="512064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インタビュー ／ まとめ・総括</a:t>
            </a:r>
          </a:p>
        </p:txBody>
      </p:sp>
      <p:sp>
        <p:nvSpPr>
          <p:cNvPr id="16" name="Rounded Rectangle 15"/>
          <p:cNvSpPr/>
          <p:nvPr/>
        </p:nvSpPr>
        <p:spPr>
          <a:xfrm>
            <a:off x="6400800" y="512064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20分</a:t>
            </a:r>
          </a:p>
        </p:txBody>
      </p:sp>
      <p:sp>
        <p:nvSpPr>
          <p:cNvPr id="17" name="Rounded Rectangle 16"/>
          <p:cNvSpPr/>
          <p:nvPr/>
        </p:nvSpPr>
        <p:spPr>
          <a:xfrm>
            <a:off x="7635240" y="512064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エリア＋大学攻略事例｜女子医大の活動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975104"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TODAY'S GOAL</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情報を「仕分ける」と、仮説が立つ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9</a:t>
            </a:r>
          </a:p>
        </p:txBody>
      </p:sp>
      <p:sp>
        <p:nvSpPr>
          <p:cNvPr id="6" name="Rounded Rectangle 5"/>
          <p:cNvSpPr/>
          <p:nvPr/>
        </p:nvSpPr>
        <p:spPr>
          <a:xfrm>
            <a:off x="548640"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採用</a:t>
            </a:r>
          </a:p>
          <a:p>
            <a:pPr algn="ctr"/>
            <a:r>
              <a:rPr sz="1100" b="0" i="0">
                <a:solidFill>
                  <a:srgbClr val="FFFFFF"/>
                </a:solidFill>
                <a:latin typeface="Meiryo UI"/>
                <a:ea typeface="Meiryo UI"/>
              </a:rPr>
              <a:t>DAY 1</a:t>
            </a:r>
          </a:p>
        </p:txBody>
      </p:sp>
      <p:sp>
        <p:nvSpPr>
          <p:cNvPr id="7" name="Rounded Rectangle 6"/>
          <p:cNvSpPr/>
          <p:nvPr/>
        </p:nvSpPr>
        <p:spPr>
          <a:xfrm>
            <a:off x="3401568"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面会</a:t>
            </a:r>
          </a:p>
          <a:p>
            <a:pPr algn="ctr"/>
            <a:r>
              <a:rPr sz="1100" b="0" i="0">
                <a:solidFill>
                  <a:srgbClr val="FFFFFF"/>
                </a:solidFill>
                <a:latin typeface="Meiryo UI"/>
                <a:ea typeface="Meiryo UI"/>
              </a:rPr>
              <a:t>DAY 2</a:t>
            </a:r>
          </a:p>
        </p:txBody>
      </p:sp>
      <p:sp>
        <p:nvSpPr>
          <p:cNvPr id="8" name="Rounded Rectangle 7"/>
          <p:cNvSpPr/>
          <p:nvPr/>
        </p:nvSpPr>
        <p:spPr>
          <a:xfrm>
            <a:off x="6254496"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情報収集</a:t>
            </a:r>
          </a:p>
          <a:p>
            <a:pPr algn="ctr"/>
            <a:r>
              <a:rPr sz="1100" b="0" i="0">
                <a:solidFill>
                  <a:srgbClr val="FFFFFF"/>
                </a:solidFill>
                <a:latin typeface="Meiryo UI"/>
                <a:ea typeface="Meiryo UI"/>
              </a:rPr>
              <a:t>DAY 3</a:t>
            </a:r>
          </a:p>
        </p:txBody>
      </p:sp>
      <p:sp>
        <p:nvSpPr>
          <p:cNvPr id="9" name="Rounded Rectangle 8"/>
          <p:cNvSpPr/>
          <p:nvPr/>
        </p:nvSpPr>
        <p:spPr>
          <a:xfrm>
            <a:off x="9107424" y="1554480"/>
            <a:ext cx="2697480" cy="65836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戦略的思考</a:t>
            </a:r>
          </a:p>
          <a:p>
            <a:pPr algn="ctr"/>
            <a:r>
              <a:rPr sz="1100" b="0" i="0">
                <a:solidFill>
                  <a:srgbClr val="FFFFFF"/>
                </a:solidFill>
                <a:latin typeface="Meiryo UI"/>
                <a:ea typeface="Meiryo UI"/>
              </a:rPr>
              <a:t>DAY 4</a:t>
            </a:r>
          </a:p>
        </p:txBody>
      </p:sp>
      <p:sp>
        <p:nvSpPr>
          <p:cNvPr id="10" name="Rounded Rectangle 9"/>
          <p:cNvSpPr/>
          <p:nvPr/>
        </p:nvSpPr>
        <p:spPr>
          <a:xfrm>
            <a:off x="548640" y="2395728"/>
            <a:ext cx="11109960" cy="82296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500"/>
              </a:spcAft>
            </a:pPr>
            <a:r>
              <a:rPr sz="1350" b="1" i="0">
                <a:solidFill>
                  <a:srgbClr val="0B4F37"/>
                </a:solidFill>
                <a:latin typeface="Meiryo UI"/>
                <a:ea typeface="Meiryo UI"/>
              </a:rPr>
              <a:t>到達目標：</a:t>
            </a:r>
            <a:r>
              <a:rPr sz="1500" b="1" i="0">
                <a:solidFill>
                  <a:srgbClr val="C00000"/>
                </a:solidFill>
                <a:latin typeface="Meiryo UI"/>
                <a:ea typeface="Meiryo UI"/>
              </a:rPr>
              <a:t>収集した情報から、エリアの課題・原因・解決方法を可視化できる</a:t>
            </a:r>
          </a:p>
          <a:p>
            <a:pPr algn="ctr"/>
            <a:r>
              <a:rPr sz="1350" b="1" i="0">
                <a:solidFill>
                  <a:srgbClr val="0B4F37"/>
                </a:solidFill>
                <a:latin typeface="Meiryo UI"/>
                <a:ea typeface="Meiryo UI"/>
              </a:rPr>
              <a:t>本日の到達点：得た情報を仕分け、そこから仮説を立てられる</a:t>
            </a:r>
          </a:p>
        </p:txBody>
      </p:sp>
      <p:sp>
        <p:nvSpPr>
          <p:cNvPr id="11" name="Rounded Rectangle 10"/>
          <p:cNvSpPr/>
          <p:nvPr/>
        </p:nvSpPr>
        <p:spPr>
          <a:xfrm>
            <a:off x="548640" y="3520440"/>
            <a:ext cx="2606040" cy="56692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Fact</a:t>
            </a:r>
          </a:p>
        </p:txBody>
      </p:sp>
      <p:sp>
        <p:nvSpPr>
          <p:cNvPr id="12" name="Rounded Rectangle 11"/>
          <p:cNvSpPr/>
          <p:nvPr/>
        </p:nvSpPr>
        <p:spPr>
          <a:xfrm>
            <a:off x="548640"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集めた事実</a:t>
            </a:r>
          </a:p>
        </p:txBody>
      </p:sp>
      <p:sp>
        <p:nvSpPr>
          <p:cNvPr id="13" name="Right Arrow 12"/>
          <p:cNvSpPr/>
          <p:nvPr/>
        </p:nvSpPr>
        <p:spPr>
          <a:xfrm>
            <a:off x="3191256"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01568" y="3520440"/>
            <a:ext cx="2606040" cy="56692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仕分け</a:t>
            </a:r>
          </a:p>
        </p:txBody>
      </p:sp>
      <p:sp>
        <p:nvSpPr>
          <p:cNvPr id="15" name="Rounded Rectangle 14"/>
          <p:cNvSpPr/>
          <p:nvPr/>
        </p:nvSpPr>
        <p:spPr>
          <a:xfrm>
            <a:off x="3401568"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3つに分ける</a:t>
            </a:r>
          </a:p>
        </p:txBody>
      </p:sp>
      <p:sp>
        <p:nvSpPr>
          <p:cNvPr id="16" name="Right Arrow 15"/>
          <p:cNvSpPr/>
          <p:nvPr/>
        </p:nvSpPr>
        <p:spPr>
          <a:xfrm>
            <a:off x="6044184"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54496" y="3520440"/>
            <a:ext cx="2606040" cy="566928"/>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仮説</a:t>
            </a:r>
          </a:p>
        </p:txBody>
      </p:sp>
      <p:sp>
        <p:nvSpPr>
          <p:cNvPr id="18" name="Rounded Rectangle 17"/>
          <p:cNvSpPr/>
          <p:nvPr/>
        </p:nvSpPr>
        <p:spPr>
          <a:xfrm>
            <a:off x="6254496"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なぜかを立てる</a:t>
            </a:r>
          </a:p>
        </p:txBody>
      </p:sp>
      <p:sp>
        <p:nvSpPr>
          <p:cNvPr id="19" name="Right Arrow 18"/>
          <p:cNvSpPr/>
          <p:nvPr/>
        </p:nvSpPr>
        <p:spPr>
          <a:xfrm>
            <a:off x="8897112"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07424" y="3520440"/>
            <a:ext cx="2606040" cy="56692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4S</a:t>
            </a:r>
          </a:p>
        </p:txBody>
      </p:sp>
      <p:sp>
        <p:nvSpPr>
          <p:cNvPr id="21" name="Rounded Rectangle 20"/>
          <p:cNvSpPr/>
          <p:nvPr/>
        </p:nvSpPr>
        <p:spPr>
          <a:xfrm>
            <a:off x="9107424"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解決策にする</a:t>
            </a:r>
          </a:p>
        </p:txBody>
      </p:sp>
      <p:sp>
        <p:nvSpPr>
          <p:cNvPr id="22" name="Rounded Rectangle 21"/>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情報の量では、差がつかない。</a:t>
            </a:r>
          </a:p>
          <a:p>
            <a:pPr algn="ctr"/>
            <a:r>
              <a:rPr sz="2300" b="1" i="0">
                <a:solidFill>
                  <a:srgbClr val="FFC000"/>
                </a:solidFill>
                <a:latin typeface="Meiryo UI"/>
                <a:ea typeface="Meiryo UI"/>
              </a:rPr>
              <a:t>同じ情報から、どんな仮説を立てられるかで差がつく。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① 振り返り</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3回で手に入れた力</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10</a:t>
            </a:r>
          </a:p>
        </p:txBody>
      </p:sp>
      <p:sp>
        <p:nvSpPr>
          <p:cNvPr id="6" name="Rounded Rectangle 5"/>
          <p:cNvSpPr/>
          <p:nvPr/>
        </p:nvSpPr>
        <p:spPr>
          <a:xfrm>
            <a:off x="548640" y="1737360"/>
            <a:ext cx="3566160" cy="6858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1</a:t>
            </a:r>
          </a:p>
          <a:p>
            <a:pPr algn="ctr"/>
            <a:r>
              <a:rPr sz="1600" b="1" i="0">
                <a:solidFill>
                  <a:srgbClr val="FFFFFF"/>
                </a:solidFill>
                <a:latin typeface="Meiryo UI"/>
                <a:ea typeface="Meiryo UI"/>
              </a:rPr>
              <a:t>見る力</a:t>
            </a:r>
          </a:p>
        </p:txBody>
      </p:sp>
      <p:sp>
        <p:nvSpPr>
          <p:cNvPr id="7" name="Rounded Rectangle 6"/>
          <p:cNvSpPr/>
          <p:nvPr/>
        </p:nvSpPr>
        <p:spPr>
          <a:xfrm>
            <a:off x="548640"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・大学・基幹病院の構造</a:t>
            </a:r>
          </a:p>
          <a:p>
            <a:pPr algn="l">
              <a:lnSpc>
                <a:spcPct val="125000"/>
              </a:lnSpc>
              <a:spcAft>
                <a:spcPts val="900"/>
              </a:spcAft>
            </a:pPr>
            <a:r>
              <a:rPr sz="1300" b="0" i="0">
                <a:solidFill>
                  <a:srgbClr val="262626"/>
                </a:solidFill>
                <a:latin typeface="Meiryo UI"/>
                <a:ea typeface="Meiryo UI"/>
              </a:rPr>
              <a:t>・誰がどこまで決められるか</a:t>
            </a:r>
          </a:p>
        </p:txBody>
      </p:sp>
      <p:sp>
        <p:nvSpPr>
          <p:cNvPr id="8" name="Rounded Rectangle 7"/>
          <p:cNvSpPr/>
          <p:nvPr/>
        </p:nvSpPr>
        <p:spPr>
          <a:xfrm>
            <a:off x="4288536" y="1737360"/>
            <a:ext cx="3566160" cy="685800"/>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2</a:t>
            </a:r>
          </a:p>
          <a:p>
            <a:pPr algn="ctr"/>
            <a:r>
              <a:rPr sz="1600" b="1" i="0">
                <a:solidFill>
                  <a:srgbClr val="FFFFFF"/>
                </a:solidFill>
                <a:latin typeface="Meiryo UI"/>
                <a:ea typeface="Meiryo UI"/>
              </a:rPr>
              <a:t>会う力</a:t>
            </a:r>
          </a:p>
        </p:txBody>
      </p:sp>
      <p:sp>
        <p:nvSpPr>
          <p:cNvPr id="9" name="Rounded Rectangle 8"/>
          <p:cNvSpPr/>
          <p:nvPr/>
        </p:nvSpPr>
        <p:spPr>
          <a:xfrm>
            <a:off x="4288536"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・Best Time / Best Place</a:t>
            </a:r>
          </a:p>
          <a:p>
            <a:pPr algn="l">
              <a:lnSpc>
                <a:spcPct val="125000"/>
              </a:lnSpc>
              <a:spcAft>
                <a:spcPts val="900"/>
              </a:spcAft>
            </a:pPr>
            <a:r>
              <a:rPr sz="1300" b="0" i="0">
                <a:solidFill>
                  <a:srgbClr val="262626"/>
                </a:solidFill>
                <a:latin typeface="Meiryo UI"/>
                <a:ea typeface="Meiryo UI"/>
              </a:rPr>
              <a:t>・一人で突破しない</a:t>
            </a:r>
          </a:p>
        </p:txBody>
      </p:sp>
      <p:sp>
        <p:nvSpPr>
          <p:cNvPr id="10" name="Rounded Rectangle 9"/>
          <p:cNvSpPr/>
          <p:nvPr/>
        </p:nvSpPr>
        <p:spPr>
          <a:xfrm>
            <a:off x="8028431" y="1737360"/>
            <a:ext cx="3566160" cy="6858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3</a:t>
            </a:r>
          </a:p>
          <a:p>
            <a:pPr algn="ctr"/>
            <a:r>
              <a:rPr sz="1600" b="1" i="0">
                <a:solidFill>
                  <a:srgbClr val="FFFFFF"/>
                </a:solidFill>
                <a:latin typeface="Meiryo UI"/>
                <a:ea typeface="Meiryo UI"/>
              </a:rPr>
              <a:t>情報を取る力</a:t>
            </a:r>
          </a:p>
        </p:txBody>
      </p:sp>
      <p:sp>
        <p:nvSpPr>
          <p:cNvPr id="11" name="Rounded Rectangle 10"/>
          <p:cNvSpPr/>
          <p:nvPr/>
        </p:nvSpPr>
        <p:spPr>
          <a:xfrm>
            <a:off x="8028431"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・Dry情報とWet情報</a:t>
            </a:r>
          </a:p>
          <a:p>
            <a:pPr algn="l">
              <a:lnSpc>
                <a:spcPct val="125000"/>
              </a:lnSpc>
              <a:spcAft>
                <a:spcPts val="900"/>
              </a:spcAft>
            </a:pPr>
            <a:r>
              <a:rPr sz="1300" b="0" i="0">
                <a:solidFill>
                  <a:srgbClr val="262626"/>
                </a:solidFill>
                <a:latin typeface="Meiryo UI"/>
                <a:ea typeface="Meiryo UI"/>
              </a:rPr>
              <a:t>・顧客理解を深める</a:t>
            </a:r>
          </a:p>
        </p:txBody>
      </p:sp>
      <p:sp>
        <p:nvSpPr>
          <p:cNvPr id="12" name="Rounded Rectangle 11"/>
          <p:cNvSpPr/>
          <p:nvPr/>
        </p:nvSpPr>
        <p:spPr>
          <a:xfrm>
            <a:off x="548640" y="3977639"/>
            <a:ext cx="11109960" cy="68580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DAY3の最後の問い　</a:t>
            </a:r>
            <a:r>
              <a:rPr sz="1700" b="1" i="0">
                <a:solidFill>
                  <a:srgbClr val="C00000"/>
                </a:solidFill>
                <a:latin typeface="Meiryo UI"/>
                <a:ea typeface="Meiryo UI"/>
              </a:rPr>
              <a:t>「営業として、その情報をどう活かすか」</a:t>
            </a:r>
          </a:p>
        </p:txBody>
      </p:sp>
      <p:sp>
        <p:nvSpPr>
          <p:cNvPr id="13" name="Rounded Rectangle 12"/>
          <p:cNvSpPr/>
          <p:nvPr/>
        </p:nvSpPr>
        <p:spPr>
          <a:xfrm>
            <a:off x="548640" y="4892040"/>
            <a:ext cx="11109960" cy="128016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700"/>
              </a:spcAft>
            </a:pPr>
            <a:r>
              <a:rPr sz="1500" b="0" i="0">
                <a:solidFill>
                  <a:srgbClr val="FFFFFF"/>
                </a:solidFill>
                <a:latin typeface="Meiryo UI"/>
                <a:ea typeface="Meiryo UI"/>
              </a:rPr>
              <a:t>情報は、もう集まっている。</a:t>
            </a:r>
          </a:p>
          <a:p>
            <a:pPr algn="ctr"/>
            <a:r>
              <a:rPr sz="2100" b="1" i="0">
                <a:solidFill>
                  <a:srgbClr val="FFC000"/>
                </a:solidFill>
                <a:latin typeface="Meiryo UI"/>
                <a:ea typeface="Meiryo UI"/>
              </a:rPr>
              <a:t>今日は、その情報を仕分けて、仮説を立てて、エリアで動かす。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04495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② TRIPLE WIN + BEYOND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3者のWinを、エリアまで広げる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11</a:t>
            </a:r>
          </a:p>
        </p:txBody>
      </p:sp>
      <p:sp>
        <p:nvSpPr>
          <p:cNvPr id="6" name="Rounded Rectangle 5"/>
          <p:cNvSpPr/>
          <p:nvPr/>
        </p:nvSpPr>
        <p:spPr>
          <a:xfrm>
            <a:off x="548640" y="1645920"/>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患者さん</a:t>
            </a:r>
          </a:p>
        </p:txBody>
      </p:sp>
      <p:sp>
        <p:nvSpPr>
          <p:cNvPr id="7" name="Rounded Rectangle 6"/>
          <p:cNvSpPr/>
          <p:nvPr/>
        </p:nvSpPr>
        <p:spPr>
          <a:xfrm>
            <a:off x="548640"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適切な治療に、適切な時期で届く</a:t>
            </a:r>
          </a:p>
        </p:txBody>
      </p:sp>
      <p:sp>
        <p:nvSpPr>
          <p:cNvPr id="8" name="Rounded Rectangle 7"/>
          <p:cNvSpPr/>
          <p:nvPr/>
        </p:nvSpPr>
        <p:spPr>
          <a:xfrm>
            <a:off x="4288536" y="1645920"/>
            <a:ext cx="356616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顧客（医局・施設）</a:t>
            </a:r>
          </a:p>
        </p:txBody>
      </p:sp>
      <p:sp>
        <p:nvSpPr>
          <p:cNvPr id="9" name="Rounded Rectangle 8"/>
          <p:cNvSpPr/>
          <p:nvPr/>
        </p:nvSpPr>
        <p:spPr>
          <a:xfrm>
            <a:off x="4288536"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果たしたい役割が、果たせる</a:t>
            </a:r>
          </a:p>
        </p:txBody>
      </p:sp>
      <p:sp>
        <p:nvSpPr>
          <p:cNvPr id="10" name="Rounded Rectangle 9"/>
          <p:cNvSpPr/>
          <p:nvPr/>
        </p:nvSpPr>
        <p:spPr>
          <a:xfrm>
            <a:off x="8028431" y="1645920"/>
            <a:ext cx="3566160" cy="50292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ノバルティス</a:t>
            </a:r>
          </a:p>
        </p:txBody>
      </p:sp>
      <p:sp>
        <p:nvSpPr>
          <p:cNvPr id="11" name="Rounded Rectangle 10"/>
          <p:cNvSpPr/>
          <p:nvPr/>
        </p:nvSpPr>
        <p:spPr>
          <a:xfrm>
            <a:off x="8028431"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必要な患者さんに、届く</a:t>
            </a:r>
          </a:p>
        </p:txBody>
      </p:sp>
      <p:sp>
        <p:nvSpPr>
          <p:cNvPr id="12" name="Rounded Rectangle 11"/>
          <p:cNvSpPr/>
          <p:nvPr/>
        </p:nvSpPr>
        <p:spPr>
          <a:xfrm>
            <a:off x="548640" y="2880360"/>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解決策とは、この3者が同時にWinになっているもの（SAM）</a:t>
            </a:r>
          </a:p>
        </p:txBody>
      </p:sp>
      <p:sp>
        <p:nvSpPr>
          <p:cNvPr id="13" name="Rounded Rectangle 12"/>
          <p:cNvSpPr/>
          <p:nvPr/>
        </p:nvSpPr>
        <p:spPr>
          <a:xfrm>
            <a:off x="548640" y="3611880"/>
            <a:ext cx="111099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BEYOND　―　Winは、その施設の外まで広げられる</a:t>
            </a:r>
          </a:p>
        </p:txBody>
      </p:sp>
      <p:sp>
        <p:nvSpPr>
          <p:cNvPr id="14" name="Rounded Rectangle 13"/>
          <p:cNvSpPr/>
          <p:nvPr/>
        </p:nvSpPr>
        <p:spPr>
          <a:xfrm>
            <a:off x="548640"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関連病院</a:t>
            </a:r>
          </a:p>
        </p:txBody>
      </p:sp>
      <p:sp>
        <p:nvSpPr>
          <p:cNvPr id="15" name="Rounded Rectangle 14"/>
          <p:cNvSpPr/>
          <p:nvPr/>
        </p:nvSpPr>
        <p:spPr>
          <a:xfrm>
            <a:off x="3401568"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近隣大学</a:t>
            </a:r>
          </a:p>
        </p:txBody>
      </p:sp>
      <p:sp>
        <p:nvSpPr>
          <p:cNvPr id="16" name="Rounded Rectangle 15"/>
          <p:cNvSpPr/>
          <p:nvPr/>
        </p:nvSpPr>
        <p:spPr>
          <a:xfrm>
            <a:off x="6254496"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地域の先生</a:t>
            </a:r>
          </a:p>
        </p:txBody>
      </p:sp>
      <p:sp>
        <p:nvSpPr>
          <p:cNvPr id="17" name="Rounded Rectangle 16"/>
          <p:cNvSpPr/>
          <p:nvPr/>
        </p:nvSpPr>
        <p:spPr>
          <a:xfrm>
            <a:off x="9107424"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患者さんの流れ</a:t>
            </a:r>
          </a:p>
        </p:txBody>
      </p:sp>
      <p:sp>
        <p:nvSpPr>
          <p:cNvPr id="18" name="Rounded Rectangle 17"/>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大学は、エリアの1施設。</a:t>
            </a:r>
          </a:p>
          <a:p>
            <a:pPr algn="ctr"/>
            <a:r>
              <a:rPr sz="2100" b="1" i="0">
                <a:solidFill>
                  <a:srgbClr val="FFC000"/>
                </a:solidFill>
                <a:latin typeface="Meiryo UI"/>
                <a:ea typeface="Meiryo UI"/>
              </a:rPr>
              <a:t>影響の輪まで設計すると、同じ打ち手でもWinが大きくなる。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3172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③ NEEDS &amp; WANTS</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Needsは「状態」、Wantsは「手段」</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12</a:t>
            </a:r>
          </a:p>
        </p:txBody>
      </p:sp>
      <p:sp>
        <p:nvSpPr>
          <p:cNvPr id="6" name="Rounded Rectangle 5"/>
          <p:cNvSpPr/>
          <p:nvPr/>
        </p:nvSpPr>
        <p:spPr>
          <a:xfrm>
            <a:off x="548640" y="1645920"/>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理想の状態</a:t>
            </a:r>
          </a:p>
        </p:txBody>
      </p:sp>
      <p:sp>
        <p:nvSpPr>
          <p:cNvPr id="7" name="Rounded Rectangle 6"/>
          <p:cNvSpPr/>
          <p:nvPr/>
        </p:nvSpPr>
        <p:spPr>
          <a:xfrm>
            <a:off x="548640" y="2176272"/>
            <a:ext cx="4114800" cy="7315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200" b="1" i="0">
                <a:solidFill>
                  <a:srgbClr val="FFFFFF"/>
                </a:solidFill>
                <a:latin typeface="Meiryo UI"/>
                <a:ea typeface="Meiryo UI"/>
              </a:rPr>
              <a:t>Gap ＝ Needs</a:t>
            </a:r>
          </a:p>
        </p:txBody>
      </p:sp>
      <p:sp>
        <p:nvSpPr>
          <p:cNvPr id="8" name="Rounded Rectangle 7"/>
          <p:cNvSpPr/>
          <p:nvPr/>
        </p:nvSpPr>
        <p:spPr>
          <a:xfrm>
            <a:off x="548640" y="2980944"/>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現状</a:t>
            </a:r>
          </a:p>
        </p:txBody>
      </p:sp>
      <p:sp>
        <p:nvSpPr>
          <p:cNvPr id="9" name="Down Arrow 8"/>
          <p:cNvSpPr/>
          <p:nvPr/>
        </p:nvSpPr>
        <p:spPr>
          <a:xfrm>
            <a:off x="2313432" y="3520440"/>
            <a:ext cx="402336" cy="292608"/>
          </a:xfrm>
          <a:prstGeom prst="down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886200"/>
            <a:ext cx="411480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Gapを埋める手段 ＝ Wants</a:t>
            </a:r>
          </a:p>
        </p:txBody>
      </p:sp>
      <p:sp>
        <p:nvSpPr>
          <p:cNvPr id="11" name="TextBox 10"/>
          <p:cNvSpPr txBox="1"/>
          <p:nvPr/>
        </p:nvSpPr>
        <p:spPr>
          <a:xfrm>
            <a:off x="548640" y="4553712"/>
            <a:ext cx="4114800" cy="329184"/>
          </a:xfrm>
          <a:prstGeom prst="rect">
            <a:avLst/>
          </a:prstGeom>
          <a:noFill/>
        </p:spPr>
        <p:txBody>
          <a:bodyPr wrap="square" lIns="0" rIns="0" tIns="0" bIns="0" anchor="t">
            <a:spAutoFit/>
          </a:bodyPr>
          <a:lstStyle/>
          <a:p>
            <a:pPr algn="ctr"/>
            <a:r>
              <a:rPr sz="1250" b="1" i="0">
                <a:solidFill>
                  <a:srgbClr val="0B4F37"/>
                </a:solidFill>
                <a:latin typeface="Meiryo UI"/>
                <a:ea typeface="Meiryo UI"/>
              </a:rPr>
              <a:t>顧客が口にするのは、ほとんどWants</a:t>
            </a:r>
          </a:p>
        </p:txBody>
      </p:sp>
      <p:sp>
        <p:nvSpPr>
          <p:cNvPr id="12" name="Rounded Rectangle 11"/>
          <p:cNvSpPr/>
          <p:nvPr/>
        </p:nvSpPr>
        <p:spPr>
          <a:xfrm>
            <a:off x="4937760" y="1645920"/>
            <a:ext cx="2286000" cy="9144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Fact（事実）</a:t>
            </a:r>
          </a:p>
        </p:txBody>
      </p:sp>
      <p:sp>
        <p:nvSpPr>
          <p:cNvPr id="13" name="Rounded Rectangle 12"/>
          <p:cNvSpPr/>
          <p:nvPr/>
        </p:nvSpPr>
        <p:spPr>
          <a:xfrm>
            <a:off x="7360920" y="164592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観察できること。願望が入っていない</a:t>
            </a:r>
          </a:p>
          <a:p>
            <a:pPr algn="l">
              <a:lnSpc>
                <a:spcPct val="120000"/>
              </a:lnSpc>
            </a:pPr>
            <a:r>
              <a:rPr sz="1150" b="0" i="0">
                <a:solidFill>
                  <a:srgbClr val="595959"/>
                </a:solidFill>
                <a:latin typeface="Meiryo UI"/>
                <a:ea typeface="Meiryo UI"/>
              </a:rPr>
              <a:t>例：腎生検が3年前の半分</a:t>
            </a:r>
          </a:p>
        </p:txBody>
      </p:sp>
      <p:sp>
        <p:nvSpPr>
          <p:cNvPr id="14" name="Rounded Rectangle 13"/>
          <p:cNvSpPr/>
          <p:nvPr/>
        </p:nvSpPr>
        <p:spPr>
          <a:xfrm>
            <a:off x="4937760" y="2651760"/>
            <a:ext cx="228600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Wants（手段）</a:t>
            </a:r>
          </a:p>
        </p:txBody>
      </p:sp>
      <p:sp>
        <p:nvSpPr>
          <p:cNvPr id="15" name="Rounded Rectangle 14"/>
          <p:cNvSpPr/>
          <p:nvPr/>
        </p:nvSpPr>
        <p:spPr>
          <a:xfrm>
            <a:off x="7360920" y="265176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「〜が欲しい」「〜してほしい」</a:t>
            </a:r>
          </a:p>
          <a:p>
            <a:pPr algn="l">
              <a:lnSpc>
                <a:spcPct val="120000"/>
              </a:lnSpc>
            </a:pPr>
            <a:r>
              <a:rPr sz="1150" b="0" i="0">
                <a:solidFill>
                  <a:srgbClr val="595959"/>
                </a:solidFill>
                <a:latin typeface="Meiryo UI"/>
                <a:ea typeface="Meiryo UI"/>
              </a:rPr>
              <a:t>例：勉強会をやってほしい</a:t>
            </a:r>
          </a:p>
        </p:txBody>
      </p:sp>
      <p:sp>
        <p:nvSpPr>
          <p:cNvPr id="16" name="Rounded Rectangle 15"/>
          <p:cNvSpPr/>
          <p:nvPr/>
        </p:nvSpPr>
        <p:spPr>
          <a:xfrm>
            <a:off x="4937760" y="3657600"/>
            <a:ext cx="2286000" cy="9144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Needs（状態）</a:t>
            </a:r>
          </a:p>
        </p:txBody>
      </p:sp>
      <p:sp>
        <p:nvSpPr>
          <p:cNvPr id="17" name="Rounded Rectangle 16"/>
          <p:cNvSpPr/>
          <p:nvPr/>
        </p:nvSpPr>
        <p:spPr>
          <a:xfrm>
            <a:off x="7360920" y="365760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「〜したい」「〜が足りない・困っている」</a:t>
            </a:r>
          </a:p>
          <a:p>
            <a:pPr algn="l">
              <a:lnSpc>
                <a:spcPct val="120000"/>
              </a:lnSpc>
            </a:pPr>
            <a:r>
              <a:rPr sz="1150" b="0" i="0">
                <a:solidFill>
                  <a:srgbClr val="595959"/>
                </a:solidFill>
                <a:latin typeface="Meiryo UI"/>
                <a:ea typeface="Meiryo UI"/>
              </a:rPr>
              <a:t>例：若手を育てたい</a:t>
            </a:r>
          </a:p>
        </p:txBody>
      </p:sp>
      <p:sp>
        <p:nvSpPr>
          <p:cNvPr id="18" name="Rounded Rectangle 17"/>
          <p:cNvSpPr/>
          <p:nvPr/>
        </p:nvSpPr>
        <p:spPr>
          <a:xfrm>
            <a:off x="4937760" y="4663440"/>
            <a:ext cx="6720840" cy="45720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迷ったら「これは状態か、手段か」</a:t>
            </a:r>
          </a:p>
        </p:txBody>
      </p:sp>
      <p:sp>
        <p:nvSpPr>
          <p:cNvPr id="19" name="Rounded Rectangle 18"/>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Factは仮説の材料。Wantsは入口。Needsは目指す状態。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①-1　｜　4分</a:t>
            </a:r>
          </a:p>
        </p:txBody>
      </p:sp>
      <p:sp>
        <p:nvSpPr>
          <p:cNvPr id="4" name="TextBox 3"/>
          <p:cNvSpPr txBox="1"/>
          <p:nvPr/>
        </p:nvSpPr>
        <p:spPr>
          <a:xfrm>
            <a:off x="548640" y="786384"/>
            <a:ext cx="11155680" cy="475488"/>
          </a:xfrm>
          <a:prstGeom prst="rect">
            <a:avLst/>
          </a:prstGeom>
          <a:noFill/>
        </p:spPr>
        <p:txBody>
          <a:bodyPr wrap="square" lIns="0" rIns="0" tIns="0" bIns="0" anchor="t">
            <a:spAutoFit/>
          </a:bodyPr>
          <a:lstStyle/>
          <a:p>
            <a:pPr algn="l"/>
            <a:r>
              <a:rPr sz="2400" b="1" i="0">
                <a:solidFill>
                  <a:srgbClr val="0B4F37"/>
                </a:solidFill>
                <a:latin typeface="Meiryo UI"/>
                <a:ea typeface="Meiryo UI"/>
              </a:rPr>
              <a:t>例題を、Fact／Wants／Needs に仕分ける</a:t>
            </a:r>
          </a:p>
        </p:txBody>
      </p:sp>
      <p:sp>
        <p:nvSpPr>
          <p:cNvPr id="5" name="TextBox 4"/>
          <p:cNvSpPr txBox="1"/>
          <p:nvPr/>
        </p:nvSpPr>
        <p:spPr>
          <a:xfrm>
            <a:off x="548640" y="1316736"/>
            <a:ext cx="11155680" cy="292608"/>
          </a:xfrm>
          <a:prstGeom prst="rect">
            <a:avLst/>
          </a:prstGeom>
          <a:noFill/>
        </p:spPr>
        <p:txBody>
          <a:bodyPr wrap="square" lIns="0" rIns="0" tIns="0" bIns="0" anchor="t">
            <a:spAutoFit/>
          </a:bodyPr>
          <a:lstStyle/>
          <a:p>
            <a:pPr algn="l"/>
            <a:r>
              <a:rPr sz="1350" b="0" i="0">
                <a:solidFill>
                  <a:srgbClr val="262626"/>
                </a:solidFill>
                <a:latin typeface="Meiryo UI"/>
                <a:ea typeface="Meiryo UI"/>
              </a:rPr>
              <a:t>腎臓内科の医局・先生から得た情報です。①〜⑨を、下の3つのどこに置きますか。</a:t>
            </a:r>
          </a:p>
        </p:txBody>
      </p:sp>
      <p:sp>
        <p:nvSpPr>
          <p:cNvPr id="6" name="Rounded Rectangle 5"/>
          <p:cNvSpPr/>
          <p:nvPr/>
        </p:nvSpPr>
        <p:spPr>
          <a:xfrm>
            <a:off x="548640"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① 関連病院の先生向けに、CKDの勉強会をやってほしい</a:t>
            </a:r>
          </a:p>
        </p:txBody>
      </p:sp>
      <p:sp>
        <p:nvSpPr>
          <p:cNvPr id="7" name="Rounded Rectangle 6"/>
          <p:cNvSpPr/>
          <p:nvPr/>
        </p:nvSpPr>
        <p:spPr>
          <a:xfrm>
            <a:off x="4288536"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② 腎生検の件数が、3年前の半分になっている</a:t>
            </a:r>
          </a:p>
        </p:txBody>
      </p:sp>
      <p:sp>
        <p:nvSpPr>
          <p:cNvPr id="8" name="Rounded Rectangle 7"/>
          <p:cNvSpPr/>
          <p:nvPr/>
        </p:nvSpPr>
        <p:spPr>
          <a:xfrm>
            <a:off x="8028431"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③ 若手に、腎病理を読める医師を育てたい</a:t>
            </a:r>
          </a:p>
        </p:txBody>
      </p:sp>
      <p:sp>
        <p:nvSpPr>
          <p:cNvPr id="9" name="Rounded Rectangle 8"/>
          <p:cNvSpPr/>
          <p:nvPr/>
        </p:nvSpPr>
        <p:spPr>
          <a:xfrm>
            <a:off x="548640"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④ 〇〇大学の△△先生を、次の研究会に呼んでほしい</a:t>
            </a:r>
          </a:p>
        </p:txBody>
      </p:sp>
      <p:sp>
        <p:nvSpPr>
          <p:cNvPr id="10" name="Rounded Rectangle 9"/>
          <p:cNvSpPr/>
          <p:nvPr/>
        </p:nvSpPr>
        <p:spPr>
          <a:xfrm>
            <a:off x="4288536"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⑤ eGFRが20を切ってから紹介されることが多い</a:t>
            </a:r>
          </a:p>
        </p:txBody>
      </p:sp>
      <p:sp>
        <p:nvSpPr>
          <p:cNvPr id="11" name="Rounded Rectangle 10"/>
          <p:cNvSpPr/>
          <p:nvPr/>
        </p:nvSpPr>
        <p:spPr>
          <a:xfrm>
            <a:off x="8028431"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⑥ うちの医局を、もっと全国に知ってもらいたい</a:t>
            </a:r>
          </a:p>
        </p:txBody>
      </p:sp>
      <p:sp>
        <p:nvSpPr>
          <p:cNvPr id="12" name="Rounded Rectangle 11"/>
          <p:cNvSpPr/>
          <p:nvPr/>
        </p:nvSpPr>
        <p:spPr>
          <a:xfrm>
            <a:off x="548640"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⑦ 先月の学会のスライドが欲しい</a:t>
            </a:r>
          </a:p>
        </p:txBody>
      </p:sp>
      <p:sp>
        <p:nvSpPr>
          <p:cNvPr id="13" name="Rounded Rectangle 12"/>
          <p:cNvSpPr/>
          <p:nvPr/>
        </p:nvSpPr>
        <p:spPr>
          <a:xfrm>
            <a:off x="4288536"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⑧ 教授が来年、学会の会長を務める</a:t>
            </a:r>
          </a:p>
        </p:txBody>
      </p:sp>
      <p:sp>
        <p:nvSpPr>
          <p:cNvPr id="14" name="Rounded Rectangle 13"/>
          <p:cNvSpPr/>
          <p:nvPr/>
        </p:nvSpPr>
        <p:spPr>
          <a:xfrm>
            <a:off x="8028431"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⑨ 透析導入を、できるだけ遅らせたい</a:t>
            </a:r>
          </a:p>
        </p:txBody>
      </p:sp>
      <p:sp>
        <p:nvSpPr>
          <p:cNvPr id="15" name="Rounded Rectangle 14"/>
          <p:cNvSpPr/>
          <p:nvPr/>
        </p:nvSpPr>
        <p:spPr>
          <a:xfrm>
            <a:off x="548640" y="3858768"/>
            <a:ext cx="2377440" cy="713232"/>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Fact（事実）</a:t>
            </a:r>
          </a:p>
        </p:txBody>
      </p:sp>
      <p:sp>
        <p:nvSpPr>
          <p:cNvPr id="16" name="Rounded Rectangle 15"/>
          <p:cNvSpPr/>
          <p:nvPr/>
        </p:nvSpPr>
        <p:spPr>
          <a:xfrm>
            <a:off x="3063240" y="3858768"/>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Rounded Rectangle 16"/>
          <p:cNvSpPr/>
          <p:nvPr/>
        </p:nvSpPr>
        <p:spPr>
          <a:xfrm>
            <a:off x="548640" y="4645152"/>
            <a:ext cx="2377440" cy="713232"/>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Wants（手段）</a:t>
            </a:r>
          </a:p>
        </p:txBody>
      </p:sp>
      <p:sp>
        <p:nvSpPr>
          <p:cNvPr id="18" name="Rounded Rectangle 17"/>
          <p:cNvSpPr/>
          <p:nvPr/>
        </p:nvSpPr>
        <p:spPr>
          <a:xfrm>
            <a:off x="3063240" y="4645152"/>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Rounded Rectangle 18"/>
          <p:cNvSpPr/>
          <p:nvPr/>
        </p:nvSpPr>
        <p:spPr>
          <a:xfrm>
            <a:off x="548640" y="5431536"/>
            <a:ext cx="2377440" cy="713232"/>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Needs（状態）</a:t>
            </a:r>
          </a:p>
        </p:txBody>
      </p:sp>
      <p:sp>
        <p:nvSpPr>
          <p:cNvPr id="20" name="Rounded Rectangle 19"/>
          <p:cNvSpPr/>
          <p:nvPr/>
        </p:nvSpPr>
        <p:spPr>
          <a:xfrm>
            <a:off x="3063240" y="5431536"/>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3063240" y="6199632"/>
            <a:ext cx="8595360" cy="256032"/>
          </a:xfrm>
          <a:prstGeom prst="rect">
            <a:avLst/>
          </a:prstGeom>
          <a:noFill/>
        </p:spPr>
        <p:txBody>
          <a:bodyPr wrap="square" lIns="0" rIns="0" tIns="0" bIns="0" anchor="t">
            <a:spAutoFit/>
          </a:bodyPr>
          <a:lstStyle/>
          <a:p>
            <a:pPr algn="l"/>
            <a:r>
              <a:rPr sz="1050" b="0" i="0">
                <a:solidFill>
                  <a:srgbClr val="595959"/>
                </a:solidFill>
                <a:latin typeface="Meiryo UI"/>
                <a:ea typeface="Meiryo UI"/>
              </a:rPr>
              <a:t>※ 番号を入れて、なぜそこに置いたかを一言で言えるように</a:t>
            </a:r>
          </a:p>
        </p:txBody>
      </p:sp>
      <p:sp>
        <p:nvSpPr>
          <p:cNvPr id="22" name="TextBox 21"/>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3" name="TextBox 22"/>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①-2　｜　6分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これまでの経験を共有する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14</a:t>
            </a:r>
          </a:p>
        </p:txBody>
      </p:sp>
      <p:sp>
        <p:nvSpPr>
          <p:cNvPr id="6" name="Rounded Rectangle 5"/>
          <p:cNvSpPr/>
          <p:nvPr/>
        </p:nvSpPr>
        <p:spPr>
          <a:xfrm>
            <a:off x="548640" y="1737360"/>
            <a:ext cx="11109960" cy="91440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r>
              <a:rPr sz="2000" b="0" i="0">
                <a:solidFill>
                  <a:srgbClr val="262626"/>
                </a:solidFill>
                <a:latin typeface="Meiryo UI"/>
                <a:ea typeface="Meiryo UI"/>
              </a:rPr>
              <a:t>先生のWantsから、</a:t>
            </a:r>
            <a:r>
              <a:rPr sz="2000" b="1" i="0">
                <a:solidFill>
                  <a:srgbClr val="C00000"/>
                </a:solidFill>
                <a:latin typeface="Meiryo UI"/>
                <a:ea typeface="Meiryo UI"/>
              </a:rPr>
              <a:t>Needsを汲み取れた経験</a:t>
            </a:r>
            <a:r>
              <a:rPr sz="2000" b="0" i="0">
                <a:solidFill>
                  <a:srgbClr val="262626"/>
                </a:solidFill>
                <a:latin typeface="Meiryo UI"/>
                <a:ea typeface="Meiryo UI"/>
              </a:rPr>
              <a:t>はありますか？</a:t>
            </a:r>
          </a:p>
        </p:txBody>
      </p:sp>
      <p:sp>
        <p:nvSpPr>
          <p:cNvPr id="7" name="Oval 6"/>
          <p:cNvSpPr/>
          <p:nvPr/>
        </p:nvSpPr>
        <p:spPr>
          <a:xfrm>
            <a:off x="548640" y="3063240"/>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1</a:t>
            </a:r>
          </a:p>
        </p:txBody>
      </p:sp>
      <p:sp>
        <p:nvSpPr>
          <p:cNvPr id="8" name="Rounded Rectangle 7"/>
          <p:cNvSpPr/>
          <p:nvPr/>
        </p:nvSpPr>
        <p:spPr>
          <a:xfrm>
            <a:off x="1426464" y="3063240"/>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どんな言葉（Wants）から始まりましたか？</a:t>
            </a:r>
          </a:p>
        </p:txBody>
      </p:sp>
      <p:sp>
        <p:nvSpPr>
          <p:cNvPr id="9" name="Oval 8"/>
          <p:cNvSpPr/>
          <p:nvPr/>
        </p:nvSpPr>
        <p:spPr>
          <a:xfrm>
            <a:off x="548640" y="3867912"/>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2</a:t>
            </a:r>
          </a:p>
        </p:txBody>
      </p:sp>
      <p:sp>
        <p:nvSpPr>
          <p:cNvPr id="10" name="Rounded Rectangle 9"/>
          <p:cNvSpPr/>
          <p:nvPr/>
        </p:nvSpPr>
        <p:spPr>
          <a:xfrm>
            <a:off x="1426464" y="3867912"/>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その裏にあるNeedsは、何だと考えましたか？</a:t>
            </a:r>
          </a:p>
        </p:txBody>
      </p:sp>
      <p:sp>
        <p:nvSpPr>
          <p:cNvPr id="11" name="Oval 10"/>
          <p:cNvSpPr/>
          <p:nvPr/>
        </p:nvSpPr>
        <p:spPr>
          <a:xfrm>
            <a:off x="548640" y="4672584"/>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3</a:t>
            </a:r>
          </a:p>
        </p:txBody>
      </p:sp>
      <p:sp>
        <p:nvSpPr>
          <p:cNvPr id="12" name="Rounded Rectangle 11"/>
          <p:cNvSpPr/>
          <p:nvPr/>
        </p:nvSpPr>
        <p:spPr>
          <a:xfrm>
            <a:off x="1426464" y="4672584"/>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気づいたあと、活動はどう変わりましたか？</a:t>
            </a:r>
          </a:p>
        </p:txBody>
      </p:sp>
      <p:sp>
        <p:nvSpPr>
          <p:cNvPr id="13" name="Rounded Rectangle 12"/>
          <p:cNvSpPr/>
          <p:nvPr/>
        </p:nvSpPr>
        <p:spPr>
          <a:xfrm>
            <a:off x="548640" y="5623560"/>
            <a:ext cx="11109960" cy="603504"/>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3〜4人で。うまくいかなかった経験でも構いません。</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642616" cy="384048"/>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ワーク①</a:t>
            </a:r>
          </a:p>
        </p:txBody>
      </p:sp>
      <p:sp>
        <p:nvSpPr>
          <p:cNvPr id="4" name="TextBox 3"/>
          <p:cNvSpPr txBox="1"/>
          <p:nvPr/>
        </p:nvSpPr>
        <p:spPr>
          <a:xfrm>
            <a:off x="548640" y="786384"/>
            <a:ext cx="11155680" cy="457200"/>
          </a:xfrm>
          <a:prstGeom prst="rect">
            <a:avLst/>
          </a:prstGeom>
          <a:noFill/>
        </p:spPr>
        <p:txBody>
          <a:bodyPr wrap="square" lIns="0" rIns="0" tIns="0" bIns="0" anchor="t">
            <a:spAutoFit/>
          </a:bodyPr>
          <a:lstStyle/>
          <a:p>
            <a:pPr algn="l"/>
            <a:r>
              <a:rPr sz="2300" b="1" i="0">
                <a:solidFill>
                  <a:srgbClr val="0B4F37"/>
                </a:solidFill>
                <a:latin typeface="Meiryo UI"/>
                <a:ea typeface="Meiryo UI"/>
              </a:rPr>
              <a:t>Wantsから、Needsを汲み取った経験</a:t>
            </a:r>
          </a:p>
        </p:txBody>
      </p:sp>
      <p:sp>
        <p:nvSpPr>
          <p:cNvPr id="5" name="Rounded Rectangle 4"/>
          <p:cNvSpPr/>
          <p:nvPr/>
        </p:nvSpPr>
        <p:spPr>
          <a:xfrm>
            <a:off x="548640" y="1417320"/>
            <a:ext cx="3749039" cy="50292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出てきた Wants（言われた言葉）</a:t>
            </a:r>
          </a:p>
        </p:txBody>
      </p:sp>
      <p:sp>
        <p:nvSpPr>
          <p:cNvPr id="6" name="Rounded Rectangle 5"/>
          <p:cNvSpPr/>
          <p:nvPr/>
        </p:nvSpPr>
        <p:spPr>
          <a:xfrm>
            <a:off x="4343399" y="1417320"/>
            <a:ext cx="3749039" cy="50292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汲み取った Needs（状態）</a:t>
            </a:r>
          </a:p>
        </p:txBody>
      </p:sp>
      <p:sp>
        <p:nvSpPr>
          <p:cNvPr id="7" name="Rounded Rectangle 6"/>
          <p:cNvSpPr/>
          <p:nvPr/>
        </p:nvSpPr>
        <p:spPr>
          <a:xfrm>
            <a:off x="8138159" y="1417320"/>
            <a:ext cx="3611880" cy="5029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活動・提案がどう変わったか</a:t>
            </a:r>
          </a:p>
        </p:txBody>
      </p:sp>
      <p:sp>
        <p:nvSpPr>
          <p:cNvPr id="8" name="Rounded Rectangle 7"/>
          <p:cNvSpPr/>
          <p:nvPr/>
        </p:nvSpPr>
        <p:spPr>
          <a:xfrm>
            <a:off x="548640" y="1993392"/>
            <a:ext cx="3749039" cy="98755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Rounded Rectangle 8"/>
          <p:cNvSpPr/>
          <p:nvPr/>
        </p:nvSpPr>
        <p:spPr>
          <a:xfrm>
            <a:off x="4343399" y="1993392"/>
            <a:ext cx="3749039" cy="98755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0" name="Rounded Rectangle 9"/>
          <p:cNvSpPr/>
          <p:nvPr/>
        </p:nvSpPr>
        <p:spPr>
          <a:xfrm>
            <a:off x="8138159" y="1993392"/>
            <a:ext cx="3611880" cy="98755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Rounded Rectangle 10"/>
          <p:cNvSpPr/>
          <p:nvPr/>
        </p:nvSpPr>
        <p:spPr>
          <a:xfrm>
            <a:off x="548640" y="3054096"/>
            <a:ext cx="3749039" cy="987552"/>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2" name="Rounded Rectangle 11"/>
          <p:cNvSpPr/>
          <p:nvPr/>
        </p:nvSpPr>
        <p:spPr>
          <a:xfrm>
            <a:off x="4343399" y="3054096"/>
            <a:ext cx="3749039" cy="987552"/>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Rounded Rectangle 12"/>
          <p:cNvSpPr/>
          <p:nvPr/>
        </p:nvSpPr>
        <p:spPr>
          <a:xfrm>
            <a:off x="8138159" y="3054096"/>
            <a:ext cx="3611880" cy="987552"/>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Rounded Rectangle 13"/>
          <p:cNvSpPr/>
          <p:nvPr/>
        </p:nvSpPr>
        <p:spPr>
          <a:xfrm>
            <a:off x="548640" y="4114800"/>
            <a:ext cx="3749039" cy="98755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Rounded Rectangle 14"/>
          <p:cNvSpPr/>
          <p:nvPr/>
        </p:nvSpPr>
        <p:spPr>
          <a:xfrm>
            <a:off x="4343399" y="4114800"/>
            <a:ext cx="3749039" cy="98755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6" name="Rounded Rectangle 15"/>
          <p:cNvSpPr/>
          <p:nvPr/>
        </p:nvSpPr>
        <p:spPr>
          <a:xfrm>
            <a:off x="8138159" y="4114800"/>
            <a:ext cx="3611880" cy="98755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Rounded Rectangle 16"/>
          <p:cNvSpPr/>
          <p:nvPr/>
        </p:nvSpPr>
        <p:spPr>
          <a:xfrm>
            <a:off x="548640" y="5175504"/>
            <a:ext cx="3749039" cy="987552"/>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8" name="Rounded Rectangle 17"/>
          <p:cNvSpPr/>
          <p:nvPr/>
        </p:nvSpPr>
        <p:spPr>
          <a:xfrm>
            <a:off x="4343399" y="5175504"/>
            <a:ext cx="3749039" cy="987552"/>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Rounded Rectangle 18"/>
          <p:cNvSpPr/>
          <p:nvPr/>
        </p:nvSpPr>
        <p:spPr>
          <a:xfrm>
            <a:off x="8138159" y="5175504"/>
            <a:ext cx="3611880" cy="987552"/>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TextBox 19"/>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1" name="TextBox 20"/>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660904"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仮説立て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Wantsに「なぜ？」を重ねて、Needsへ降りる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16</a:t>
            </a:r>
          </a:p>
        </p:txBody>
      </p:sp>
      <p:sp>
        <p:nvSpPr>
          <p:cNvPr id="6" name="Rounded Rectangle 5"/>
          <p:cNvSpPr/>
          <p:nvPr/>
        </p:nvSpPr>
        <p:spPr>
          <a:xfrm>
            <a:off x="548640" y="1627632"/>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Wantsに応えるだけなら、御用聞き。</a:t>
            </a:r>
            <a:r>
              <a:rPr sz="1600" b="1" i="0">
                <a:solidFill>
                  <a:srgbClr val="0B4F37"/>
                </a:solidFill>
                <a:latin typeface="Meiryo UI"/>
                <a:ea typeface="Meiryo UI"/>
              </a:rPr>
              <a:t>　Needsまで降りると、提案になる。</a:t>
            </a:r>
          </a:p>
        </p:txBody>
      </p:sp>
      <p:sp>
        <p:nvSpPr>
          <p:cNvPr id="7" name="Rounded Rectangle 6"/>
          <p:cNvSpPr/>
          <p:nvPr/>
        </p:nvSpPr>
        <p:spPr>
          <a:xfrm>
            <a:off x="548640" y="2286000"/>
            <a:ext cx="2286000" cy="65836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Wants</a:t>
            </a:r>
          </a:p>
        </p:txBody>
      </p:sp>
      <p:sp>
        <p:nvSpPr>
          <p:cNvPr id="8" name="Rounded Rectangle 7"/>
          <p:cNvSpPr/>
          <p:nvPr/>
        </p:nvSpPr>
        <p:spPr>
          <a:xfrm>
            <a:off x="2971800" y="228600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関連病院の先生向けに、勉強会をやってほしい</a:t>
            </a:r>
          </a:p>
        </p:txBody>
      </p:sp>
      <p:sp>
        <p:nvSpPr>
          <p:cNvPr id="9" name="Down Arrow 8"/>
          <p:cNvSpPr/>
          <p:nvPr/>
        </p:nvSpPr>
        <p:spPr>
          <a:xfrm>
            <a:off x="1581912" y="296265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154680"/>
            <a:ext cx="2286000" cy="658368"/>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a:t>
            </a:r>
          </a:p>
        </p:txBody>
      </p:sp>
      <p:sp>
        <p:nvSpPr>
          <p:cNvPr id="11" name="Rounded Rectangle 10"/>
          <p:cNvSpPr/>
          <p:nvPr/>
        </p:nvSpPr>
        <p:spPr>
          <a:xfrm>
            <a:off x="2971800" y="315468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関連病院から、進行してから紹介されることが多い</a:t>
            </a:r>
          </a:p>
        </p:txBody>
      </p:sp>
      <p:sp>
        <p:nvSpPr>
          <p:cNvPr id="12" name="Down Arrow 11"/>
          <p:cNvSpPr/>
          <p:nvPr/>
        </p:nvSpPr>
        <p:spPr>
          <a:xfrm>
            <a:off x="1581912" y="383133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4023360"/>
            <a:ext cx="2286000" cy="65836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なぜ困る？</a:t>
            </a:r>
          </a:p>
        </p:txBody>
      </p:sp>
      <p:sp>
        <p:nvSpPr>
          <p:cNvPr id="14" name="Rounded Rectangle 13"/>
          <p:cNvSpPr/>
          <p:nvPr/>
        </p:nvSpPr>
        <p:spPr>
          <a:xfrm>
            <a:off x="2971800" y="402336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早く紹介されれば、まだ治療の選択肢が残る</a:t>
            </a:r>
          </a:p>
        </p:txBody>
      </p:sp>
      <p:sp>
        <p:nvSpPr>
          <p:cNvPr id="15" name="Down Arrow 14"/>
          <p:cNvSpPr/>
          <p:nvPr/>
        </p:nvSpPr>
        <p:spPr>
          <a:xfrm>
            <a:off x="1581912" y="470001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4892040"/>
            <a:ext cx="2286000" cy="658368"/>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Needs</a:t>
            </a:r>
          </a:p>
        </p:txBody>
      </p:sp>
      <p:sp>
        <p:nvSpPr>
          <p:cNvPr id="17" name="Rounded Rectangle 16"/>
          <p:cNvSpPr/>
          <p:nvPr/>
        </p:nvSpPr>
        <p:spPr>
          <a:xfrm>
            <a:off x="2971800" y="4892040"/>
            <a:ext cx="8686800" cy="658368"/>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1" i="0">
                <a:solidFill>
                  <a:srgbClr val="262626"/>
                </a:solidFill>
                <a:latin typeface="Meiryo UI"/>
                <a:ea typeface="Meiryo UI"/>
              </a:rPr>
              <a:t>地域で早く見つけ、適切な時期に紹介される状態にしたい</a:t>
            </a:r>
          </a:p>
        </p:txBody>
      </p:sp>
      <p:sp>
        <p:nvSpPr>
          <p:cNvPr id="18" name="Rounded Rectangle 17"/>
          <p:cNvSpPr/>
          <p:nvPr/>
        </p:nvSpPr>
        <p:spPr>
          <a:xfrm>
            <a:off x="548640" y="5715000"/>
            <a:ext cx="11109960" cy="5303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r>
              <a:rPr sz="1500" b="0" i="0">
                <a:solidFill>
                  <a:srgbClr val="FFFFFF"/>
                </a:solidFill>
                <a:latin typeface="Meiryo UI"/>
                <a:ea typeface="Meiryo UI"/>
              </a:rPr>
              <a:t>仮説は1つとは限らない。</a:t>
            </a:r>
            <a:r>
              <a:rPr sz="1900" b="1" i="0">
                <a:solidFill>
                  <a:srgbClr val="FFC000"/>
                </a:solidFill>
                <a:latin typeface="Meiryo UI"/>
                <a:ea typeface="Meiryo UI"/>
              </a:rPr>
              <a:t>　複数立てて、次の面談の質問で確かめる。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この事例は、実在する病院の公開情報です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17</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病院ホームページ ＞ 腎臓内科 ＞ 実績</a:t>
            </a:r>
          </a:p>
        </p:txBody>
      </p:sp>
      <p:sp>
        <p:nvSpPr>
          <p:cNvPr id="7" name="Rounded Rectangle 6"/>
          <p:cNvSpPr/>
          <p:nvPr/>
        </p:nvSpPr>
        <p:spPr>
          <a:xfrm>
            <a:off x="54864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Rounded Rectangle 7"/>
          <p:cNvSpPr/>
          <p:nvPr/>
        </p:nvSpPr>
        <p:spPr>
          <a:xfrm>
            <a:off x="685800" y="2130552"/>
            <a:ext cx="5212080" cy="310896"/>
          </a:xfrm>
          <a:prstGeom prst="roundRect">
            <a:avLst>
              <a:gd name="adj" fmla="val 5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l"/>
            <a:r>
              <a:rPr sz="1000" b="0" i="0">
                <a:solidFill>
                  <a:srgbClr val="595959"/>
                </a:solidFill>
                <a:latin typeface="Meiryo UI"/>
                <a:ea typeface="Meiryo UI"/>
              </a:rPr>
              <a:t>https://www.■■■■■■.or.jp/departments/nephrology/</a:t>
            </a:r>
          </a:p>
        </p:txBody>
      </p:sp>
      <p:sp>
        <p:nvSpPr>
          <p:cNvPr id="9" name="TextBox 8"/>
          <p:cNvSpPr txBox="1"/>
          <p:nvPr/>
        </p:nvSpPr>
        <p:spPr>
          <a:xfrm>
            <a:off x="685800" y="2523744"/>
            <a:ext cx="5212080" cy="256032"/>
          </a:xfrm>
          <a:prstGeom prst="rect">
            <a:avLst/>
          </a:prstGeom>
          <a:noFill/>
        </p:spPr>
        <p:txBody>
          <a:bodyPr wrap="square" lIns="0" rIns="0" tIns="0" bIns="0" anchor="t">
            <a:spAutoFit/>
          </a:bodyPr>
          <a:lstStyle/>
          <a:p>
            <a:pPr algn="l"/>
            <a:r>
              <a:rPr sz="1300" b="1" i="0">
                <a:solidFill>
                  <a:srgbClr val="262626"/>
                </a:solidFill>
                <a:latin typeface="Meiryo UI"/>
                <a:ea typeface="Meiryo UI"/>
              </a:rPr>
              <a:t>実績</a:t>
            </a:r>
          </a:p>
        </p:txBody>
      </p:sp>
      <p:sp>
        <p:nvSpPr>
          <p:cNvPr id="10" name="Rounded Rectangle 9"/>
          <p:cNvSpPr/>
          <p:nvPr/>
        </p:nvSpPr>
        <p:spPr>
          <a:xfrm>
            <a:off x="685800" y="2852928"/>
            <a:ext cx="1234440"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685800" y="2898648"/>
            <a:ext cx="1234440"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内容</a:t>
            </a:r>
          </a:p>
        </p:txBody>
      </p:sp>
      <p:sp>
        <p:nvSpPr>
          <p:cNvPr id="12" name="Rounded Rectangle 11"/>
          <p:cNvSpPr/>
          <p:nvPr/>
        </p:nvSpPr>
        <p:spPr>
          <a:xfrm>
            <a:off x="685800" y="3218688"/>
            <a:ext cx="1234440"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TextBox 12"/>
          <p:cNvSpPr txBox="1"/>
          <p:nvPr/>
        </p:nvSpPr>
        <p:spPr>
          <a:xfrm>
            <a:off x="685800" y="3291840"/>
            <a:ext cx="1234440"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腎生検数</a:t>
            </a:r>
          </a:p>
        </p:txBody>
      </p:sp>
      <p:sp>
        <p:nvSpPr>
          <p:cNvPr id="14" name="Rounded Rectangle 13"/>
          <p:cNvSpPr/>
          <p:nvPr/>
        </p:nvSpPr>
        <p:spPr>
          <a:xfrm>
            <a:off x="1920240"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TextBox 14"/>
          <p:cNvSpPr txBox="1"/>
          <p:nvPr/>
        </p:nvSpPr>
        <p:spPr>
          <a:xfrm>
            <a:off x="1920240"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16" name="Rounded Rectangle 15"/>
          <p:cNvSpPr/>
          <p:nvPr/>
        </p:nvSpPr>
        <p:spPr>
          <a:xfrm>
            <a:off x="1920240"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1920240"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28件</a:t>
            </a:r>
          </a:p>
        </p:txBody>
      </p:sp>
      <p:sp>
        <p:nvSpPr>
          <p:cNvPr id="18" name="Rounded Rectangle 17"/>
          <p:cNvSpPr/>
          <p:nvPr/>
        </p:nvSpPr>
        <p:spPr>
          <a:xfrm>
            <a:off x="2715768"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TextBox 18"/>
          <p:cNvSpPr txBox="1"/>
          <p:nvPr/>
        </p:nvSpPr>
        <p:spPr>
          <a:xfrm>
            <a:off x="2715768"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0" name="Rounded Rectangle 19"/>
          <p:cNvSpPr/>
          <p:nvPr/>
        </p:nvSpPr>
        <p:spPr>
          <a:xfrm>
            <a:off x="2715768"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2715768"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36件</a:t>
            </a:r>
          </a:p>
        </p:txBody>
      </p:sp>
      <p:sp>
        <p:nvSpPr>
          <p:cNvPr id="22" name="Rounded Rectangle 21"/>
          <p:cNvSpPr/>
          <p:nvPr/>
        </p:nvSpPr>
        <p:spPr>
          <a:xfrm>
            <a:off x="3511296"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3" name="TextBox 22"/>
          <p:cNvSpPr txBox="1"/>
          <p:nvPr/>
        </p:nvSpPr>
        <p:spPr>
          <a:xfrm>
            <a:off x="3511296"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着任年</a:t>
            </a:r>
          </a:p>
        </p:txBody>
      </p:sp>
      <p:sp>
        <p:nvSpPr>
          <p:cNvPr id="24" name="Rounded Rectangle 23"/>
          <p:cNvSpPr/>
          <p:nvPr/>
        </p:nvSpPr>
        <p:spPr>
          <a:xfrm>
            <a:off x="3511296"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5" name="TextBox 24"/>
          <p:cNvSpPr txBox="1"/>
          <p:nvPr/>
        </p:nvSpPr>
        <p:spPr>
          <a:xfrm>
            <a:off x="3511296" y="3291840"/>
            <a:ext cx="795528" cy="274320"/>
          </a:xfrm>
          <a:prstGeom prst="rect">
            <a:avLst/>
          </a:prstGeom>
          <a:noFill/>
        </p:spPr>
        <p:txBody>
          <a:bodyPr wrap="square" lIns="0" rIns="0" tIns="0" bIns="0" anchor="t">
            <a:spAutoFit/>
          </a:bodyPr>
          <a:lstStyle/>
          <a:p>
            <a:pPr algn="ctr"/>
            <a:r>
              <a:rPr sz="1150" b="1" i="0">
                <a:solidFill>
                  <a:srgbClr val="C00000"/>
                </a:solidFill>
                <a:latin typeface="Meiryo UI"/>
                <a:ea typeface="Meiryo UI"/>
              </a:rPr>
              <a:t>90件</a:t>
            </a:r>
          </a:p>
        </p:txBody>
      </p:sp>
      <p:sp>
        <p:nvSpPr>
          <p:cNvPr id="26" name="Rounded Rectangle 25"/>
          <p:cNvSpPr/>
          <p:nvPr/>
        </p:nvSpPr>
        <p:spPr>
          <a:xfrm>
            <a:off x="4306824"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7" name="TextBox 26"/>
          <p:cNvSpPr txBox="1"/>
          <p:nvPr/>
        </p:nvSpPr>
        <p:spPr>
          <a:xfrm>
            <a:off x="4306824"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8" name="Rounded Rectangle 27"/>
          <p:cNvSpPr/>
          <p:nvPr/>
        </p:nvSpPr>
        <p:spPr>
          <a:xfrm>
            <a:off x="4306824"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9" name="TextBox 28"/>
          <p:cNvSpPr txBox="1"/>
          <p:nvPr/>
        </p:nvSpPr>
        <p:spPr>
          <a:xfrm>
            <a:off x="4306824"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96件</a:t>
            </a:r>
          </a:p>
        </p:txBody>
      </p:sp>
      <p:sp>
        <p:nvSpPr>
          <p:cNvPr id="30" name="Rounded Rectangle 29"/>
          <p:cNvSpPr/>
          <p:nvPr/>
        </p:nvSpPr>
        <p:spPr>
          <a:xfrm>
            <a:off x="5102352"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1" name="TextBox 30"/>
          <p:cNvSpPr txBox="1"/>
          <p:nvPr/>
        </p:nvSpPr>
        <p:spPr>
          <a:xfrm>
            <a:off x="5102352"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32" name="Rounded Rectangle 31"/>
          <p:cNvSpPr/>
          <p:nvPr/>
        </p:nvSpPr>
        <p:spPr>
          <a:xfrm>
            <a:off x="5102352"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3" name="TextBox 32"/>
          <p:cNvSpPr txBox="1"/>
          <p:nvPr/>
        </p:nvSpPr>
        <p:spPr>
          <a:xfrm>
            <a:off x="5102352"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99件</a:t>
            </a:r>
          </a:p>
        </p:txBody>
      </p:sp>
      <p:sp>
        <p:nvSpPr>
          <p:cNvPr id="34" name="TextBox 33"/>
          <p:cNvSpPr txBox="1"/>
          <p:nvPr/>
        </p:nvSpPr>
        <p:spPr>
          <a:xfrm>
            <a:off x="685800" y="3767328"/>
            <a:ext cx="5212080" cy="457200"/>
          </a:xfrm>
          <a:prstGeom prst="rect">
            <a:avLst/>
          </a:prstGeom>
          <a:noFill/>
        </p:spPr>
        <p:txBody>
          <a:bodyPr wrap="square" lIns="0" rIns="0" tIns="0" bIns="0" anchor="t">
            <a:spAutoFit/>
          </a:bodyPr>
          <a:lstStyle/>
          <a:p>
            <a:pPr algn="l">
              <a:lnSpc>
                <a:spcPct val="125000"/>
              </a:lnSpc>
            </a:pPr>
            <a:r>
              <a:rPr sz="950" b="0" i="0">
                <a:solidFill>
                  <a:srgbClr val="595959"/>
                </a:solidFill>
                <a:latin typeface="Meiryo UI"/>
                <a:ea typeface="Meiryo UI"/>
              </a:rPr>
              <a:t>※ 実際のページは「2021年度〜2025年度」の年度表記。ここでは施設が特定できないよう、</a:t>
            </a:r>
          </a:p>
          <a:p>
            <a:pPr algn="l">
              <a:lnSpc>
                <a:spcPct val="125000"/>
              </a:lnSpc>
            </a:pPr>
            <a:r>
              <a:rPr sz="950" b="0" i="0">
                <a:solidFill>
                  <a:srgbClr val="595959"/>
                </a:solidFill>
                <a:latin typeface="Meiryo UI"/>
                <a:ea typeface="Meiryo UI"/>
              </a:rPr>
              <a:t>　 部長の着任年を基準にした相対表記に置き換えています。</a:t>
            </a:r>
          </a:p>
        </p:txBody>
      </p:sp>
      <p:sp>
        <p:nvSpPr>
          <p:cNvPr id="35" name="Rounded Rectangle 34"/>
          <p:cNvSpPr/>
          <p:nvPr/>
        </p:nvSpPr>
        <p:spPr>
          <a:xfrm>
            <a:off x="685800" y="4315968"/>
            <a:ext cx="5212080" cy="384048"/>
          </a:xfrm>
          <a:prstGeom prst="roundRect">
            <a:avLst>
              <a:gd name="adj" fmla="val 6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0B4F37"/>
                </a:solidFill>
                <a:latin typeface="Meiryo UI"/>
                <a:ea typeface="Meiryo UI"/>
              </a:rPr>
              <a:t>誰でも見られるページに、年次の推移がそのまま載っている</a:t>
            </a:r>
          </a:p>
        </p:txBody>
      </p:sp>
      <p:sp>
        <p:nvSpPr>
          <p:cNvPr id="36" name="Rounded Rectangle 35"/>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地域連携の広報誌（開業医向け）｜部長 着任のごあいさつ</a:t>
            </a:r>
          </a:p>
        </p:txBody>
      </p:sp>
      <p:sp>
        <p:nvSpPr>
          <p:cNvPr id="37" name="Rounded Rectangle 36"/>
          <p:cNvSpPr/>
          <p:nvPr/>
        </p:nvSpPr>
        <p:spPr>
          <a:xfrm>
            <a:off x="617220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8" name="TextBox 37"/>
          <p:cNvSpPr txBox="1"/>
          <p:nvPr/>
        </p:nvSpPr>
        <p:spPr>
          <a:xfrm>
            <a:off x="6309360" y="2130552"/>
            <a:ext cx="5212080" cy="274320"/>
          </a:xfrm>
          <a:prstGeom prst="rect">
            <a:avLst/>
          </a:prstGeom>
          <a:noFill/>
        </p:spPr>
        <p:txBody>
          <a:bodyPr wrap="square" lIns="0" rIns="0" tIns="0" bIns="0" anchor="t">
            <a:spAutoFit/>
          </a:bodyPr>
          <a:lstStyle/>
          <a:p>
            <a:pPr algn="l"/>
            <a:r>
              <a:rPr sz="950" b="0" i="0">
                <a:solidFill>
                  <a:srgbClr val="595959"/>
                </a:solidFill>
                <a:latin typeface="Meiryo UI"/>
                <a:ea typeface="Meiryo UI"/>
              </a:rPr>
              <a:t>広報誌より抜粋（原文ママ・施設名と氏名は伏せています）</a:t>
            </a:r>
          </a:p>
        </p:txBody>
      </p:sp>
      <p:sp>
        <p:nvSpPr>
          <p:cNvPr id="39" name="Rounded Rectangle 38"/>
          <p:cNvSpPr/>
          <p:nvPr/>
        </p:nvSpPr>
        <p:spPr>
          <a:xfrm>
            <a:off x="6309360" y="2450592"/>
            <a:ext cx="5212080" cy="566928"/>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0" i="0">
                <a:solidFill>
                  <a:srgbClr val="262626"/>
                </a:solidFill>
                <a:latin typeface="Meiryo UI"/>
                <a:ea typeface="Meiryo UI"/>
              </a:rPr>
              <a:t>「◯年4月1日付けで、当院腎臓内科部長に着任しました」</a:t>
            </a:r>
          </a:p>
        </p:txBody>
      </p:sp>
      <p:sp>
        <p:nvSpPr>
          <p:cNvPr id="40" name="Rounded Rectangle 39"/>
          <p:cNvSpPr/>
          <p:nvPr/>
        </p:nvSpPr>
        <p:spPr>
          <a:xfrm>
            <a:off x="6309360" y="309067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「今後は、透析を導入する医療ではなく、透析患者さんを一人でも減らすことが極めて重要と考えています」</a:t>
            </a:r>
          </a:p>
        </p:txBody>
      </p:sp>
      <p:sp>
        <p:nvSpPr>
          <p:cNvPr id="41" name="Rounded Rectangle 40"/>
          <p:cNvSpPr/>
          <p:nvPr/>
        </p:nvSpPr>
        <p:spPr>
          <a:xfrm>
            <a:off x="6309360" y="373075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42" name="TextBox 41"/>
          <p:cNvSpPr txBox="1"/>
          <p:nvPr/>
        </p:nvSpPr>
        <p:spPr>
          <a:xfrm>
            <a:off x="6309360" y="4407408"/>
            <a:ext cx="5212080" cy="274320"/>
          </a:xfrm>
          <a:prstGeom prst="rect">
            <a:avLst/>
          </a:prstGeom>
          <a:noFill/>
        </p:spPr>
        <p:txBody>
          <a:bodyPr wrap="square" lIns="0" rIns="0" tIns="0" bIns="0" anchor="t">
            <a:spAutoFit/>
          </a:bodyPr>
          <a:lstStyle/>
          <a:p>
            <a:pPr algn="r"/>
            <a:r>
              <a:rPr sz="1000" b="1" i="0">
                <a:solidFill>
                  <a:srgbClr val="595959"/>
                </a:solidFill>
                <a:latin typeface="Meiryo UI"/>
                <a:ea typeface="Meiryo UI"/>
              </a:rPr>
              <a:t>■■病院　腎臓内科部長　◯◯</a:t>
            </a:r>
          </a:p>
        </p:txBody>
      </p:sp>
      <p:sp>
        <p:nvSpPr>
          <p:cNvPr id="43" name="Rounded Rectangle 42"/>
          <p:cNvSpPr/>
          <p:nvPr/>
        </p:nvSpPr>
        <p:spPr>
          <a:xfrm>
            <a:off x="6309360" y="4315968"/>
            <a:ext cx="521208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cxnSp>
        <p:nvCxnSpPr>
          <p:cNvPr id="44" name="Connector 43"/>
          <p:cNvCxnSpPr/>
          <p:nvPr/>
        </p:nvCxnSpPr>
        <p:spPr>
          <a:xfrm>
            <a:off x="6309360" y="4279392"/>
            <a:ext cx="521208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309360" y="4956048"/>
            <a:ext cx="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sp>
        <p:nvSpPr>
          <p:cNvPr id="46" name="Rounded Rectangle 45"/>
          <p:cNvSpPr/>
          <p:nvPr/>
        </p:nvSpPr>
        <p:spPr>
          <a:xfrm>
            <a:off x="54864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腎生検数が、いつ・どれだけ動いたか</a:t>
            </a:r>
          </a:p>
        </p:txBody>
      </p:sp>
      <p:sp>
        <p:nvSpPr>
          <p:cNvPr id="47" name="Rounded Rectangle 46"/>
          <p:cNvSpPr/>
          <p:nvPr/>
        </p:nvSpPr>
        <p:spPr>
          <a:xfrm>
            <a:off x="617220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着任の時期と、紹介を受け入れる意思</a:t>
            </a:r>
          </a:p>
        </p:txBody>
      </p:sp>
      <p:sp>
        <p:nvSpPr>
          <p:cNvPr id="48" name="Rounded Rectangle 47"/>
          <p:cNvSpPr/>
          <p:nvPr/>
        </p:nvSpPr>
        <p:spPr>
          <a:xfrm>
            <a:off x="548640" y="5504688"/>
            <a:ext cx="11109960" cy="7589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900" b="1" i="0">
                <a:solidFill>
                  <a:srgbClr val="FFC000"/>
                </a:solidFill>
                <a:latin typeface="Meiryo UI"/>
                <a:ea typeface="Meiryo UI"/>
              </a:rPr>
              <a:t>面会の前に、公開情報だけでここまで分かる。</a:t>
            </a:r>
          </a:p>
          <a:p>
            <a:pPr algn="ctr"/>
            <a:r>
              <a:rPr sz="1000" b="0" i="0">
                <a:solidFill>
                  <a:srgbClr val="FFFFFF"/>
                </a:solidFill>
                <a:latin typeface="Meiryo UI"/>
                <a:ea typeface="Meiryo UI"/>
              </a:rPr>
              <a:t>出典：病院ホームページ「実績」ページ／地域連携の広報誌（いずれも一般公開・研修用に施設名は伏せています）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A病院で、この2年に何が起きたのか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18</a:t>
            </a:r>
          </a:p>
        </p:txBody>
      </p:sp>
      <p:sp>
        <p:nvSpPr>
          <p:cNvPr id="6" name="TextBox 5"/>
          <p:cNvSpPr txBox="1"/>
          <p:nvPr/>
        </p:nvSpPr>
        <p:spPr>
          <a:xfrm>
            <a:off x="548640" y="1536192"/>
            <a:ext cx="4206240" cy="274320"/>
          </a:xfrm>
          <a:prstGeom prst="rect">
            <a:avLst/>
          </a:prstGeom>
          <a:noFill/>
        </p:spPr>
        <p:txBody>
          <a:bodyPr wrap="square" lIns="0" rIns="0" tIns="0" bIns="0" anchor="t">
            <a:spAutoFit/>
          </a:bodyPr>
          <a:lstStyle/>
          <a:p>
            <a:pPr algn="l"/>
            <a:r>
              <a:rPr sz="1200" b="1" i="0">
                <a:solidFill>
                  <a:srgbClr val="595959"/>
                </a:solidFill>
                <a:latin typeface="Meiryo UI"/>
                <a:ea typeface="Meiryo UI"/>
              </a:rPr>
              <a:t>腎生検数の推移（A病院 腎臓内科）</a:t>
            </a:r>
          </a:p>
        </p:txBody>
      </p:sp>
      <p:sp>
        <p:nvSpPr>
          <p:cNvPr id="7" name="Rounded Rectangle 6"/>
          <p:cNvSpPr/>
          <p:nvPr/>
        </p:nvSpPr>
        <p:spPr>
          <a:xfrm>
            <a:off x="4992624" y="1517904"/>
            <a:ext cx="6665976" cy="36576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この年度に、〇〇先生が部長として着任</a:t>
            </a:r>
          </a:p>
        </p:txBody>
      </p:sp>
      <p:sp>
        <p:nvSpPr>
          <p:cNvPr id="8" name="Rectangle 7"/>
          <p:cNvSpPr/>
          <p:nvPr/>
        </p:nvSpPr>
        <p:spPr>
          <a:xfrm>
            <a:off x="978407" y="2987527"/>
            <a:ext cx="1371600" cy="258592"/>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TextBox 8"/>
          <p:cNvSpPr txBox="1"/>
          <p:nvPr/>
        </p:nvSpPr>
        <p:spPr>
          <a:xfrm>
            <a:off x="548640" y="2694919"/>
            <a:ext cx="2221992" cy="274320"/>
          </a:xfrm>
          <a:prstGeom prst="rect">
            <a:avLst/>
          </a:prstGeom>
          <a:noFill/>
        </p:spPr>
        <p:txBody>
          <a:bodyPr wrap="square" lIns="0" rIns="0" tIns="0" bIns="0" anchor="t">
            <a:spAutoFit/>
          </a:bodyPr>
          <a:lstStyle/>
          <a:p>
            <a:pPr algn="ctr"/>
            <a:r>
              <a:rPr sz="1450" b="1" i="0">
                <a:solidFill>
                  <a:srgbClr val="595959"/>
                </a:solidFill>
                <a:latin typeface="Meiryo UI"/>
                <a:ea typeface="Meiryo UI"/>
              </a:rPr>
              <a:t>28件</a:t>
            </a:r>
          </a:p>
        </p:txBody>
      </p:sp>
      <p:sp>
        <p:nvSpPr>
          <p:cNvPr id="10" name="TextBox 9"/>
          <p:cNvSpPr txBox="1"/>
          <p:nvPr/>
        </p:nvSpPr>
        <p:spPr>
          <a:xfrm>
            <a:off x="548640" y="3291839"/>
            <a:ext cx="2221992" cy="256032"/>
          </a:xfrm>
          <a:prstGeom prst="rect">
            <a:avLst/>
          </a:prstGeom>
          <a:noFill/>
        </p:spPr>
        <p:txBody>
          <a:bodyPr wrap="square" lIns="0" rIns="0" tIns="0" bIns="0" anchor="t">
            <a:spAutoFit/>
          </a:bodyPr>
          <a:lstStyle/>
          <a:p>
            <a:pPr algn="ctr"/>
            <a:r>
              <a:rPr sz="1150" b="0" i="0">
                <a:solidFill>
                  <a:srgbClr val="262626"/>
                </a:solidFill>
                <a:latin typeface="Meiryo UI"/>
                <a:ea typeface="Meiryo UI"/>
              </a:rPr>
              <a:t>着任2年前</a:t>
            </a:r>
          </a:p>
        </p:txBody>
      </p:sp>
      <p:sp>
        <p:nvSpPr>
          <p:cNvPr id="11" name="Rectangle 10"/>
          <p:cNvSpPr/>
          <p:nvPr/>
        </p:nvSpPr>
        <p:spPr>
          <a:xfrm>
            <a:off x="3200400" y="2913644"/>
            <a:ext cx="1371600" cy="33247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2" name="TextBox 11"/>
          <p:cNvSpPr txBox="1"/>
          <p:nvPr/>
        </p:nvSpPr>
        <p:spPr>
          <a:xfrm>
            <a:off x="2770632" y="2621036"/>
            <a:ext cx="2221992" cy="274320"/>
          </a:xfrm>
          <a:prstGeom prst="rect">
            <a:avLst/>
          </a:prstGeom>
          <a:noFill/>
        </p:spPr>
        <p:txBody>
          <a:bodyPr wrap="square" lIns="0" rIns="0" tIns="0" bIns="0" anchor="t">
            <a:spAutoFit/>
          </a:bodyPr>
          <a:lstStyle/>
          <a:p>
            <a:pPr algn="ctr"/>
            <a:r>
              <a:rPr sz="1450" b="1" i="0">
                <a:solidFill>
                  <a:srgbClr val="595959"/>
                </a:solidFill>
                <a:latin typeface="Meiryo UI"/>
                <a:ea typeface="Meiryo UI"/>
              </a:rPr>
              <a:t>36件</a:t>
            </a:r>
          </a:p>
        </p:txBody>
      </p:sp>
      <p:sp>
        <p:nvSpPr>
          <p:cNvPr id="13" name="TextBox 12"/>
          <p:cNvSpPr txBox="1"/>
          <p:nvPr/>
        </p:nvSpPr>
        <p:spPr>
          <a:xfrm>
            <a:off x="2770632" y="3291839"/>
            <a:ext cx="2221992" cy="256032"/>
          </a:xfrm>
          <a:prstGeom prst="rect">
            <a:avLst/>
          </a:prstGeom>
          <a:noFill/>
        </p:spPr>
        <p:txBody>
          <a:bodyPr wrap="square" lIns="0" rIns="0" tIns="0" bIns="0" anchor="t">
            <a:spAutoFit/>
          </a:bodyPr>
          <a:lstStyle/>
          <a:p>
            <a:pPr algn="ctr"/>
            <a:r>
              <a:rPr sz="1150" b="0" i="0">
                <a:solidFill>
                  <a:srgbClr val="262626"/>
                </a:solidFill>
                <a:latin typeface="Meiryo UI"/>
                <a:ea typeface="Meiryo UI"/>
              </a:rPr>
              <a:t>着任1年前</a:t>
            </a:r>
          </a:p>
        </p:txBody>
      </p:sp>
      <p:sp>
        <p:nvSpPr>
          <p:cNvPr id="14" name="Rectangle 13"/>
          <p:cNvSpPr/>
          <p:nvPr/>
        </p:nvSpPr>
        <p:spPr>
          <a:xfrm>
            <a:off x="5422392" y="2414930"/>
            <a:ext cx="1371600" cy="831189"/>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TextBox 14"/>
          <p:cNvSpPr txBox="1"/>
          <p:nvPr/>
        </p:nvSpPr>
        <p:spPr>
          <a:xfrm>
            <a:off x="4992624" y="2122322"/>
            <a:ext cx="2221992" cy="274320"/>
          </a:xfrm>
          <a:prstGeom prst="rect">
            <a:avLst/>
          </a:prstGeom>
          <a:noFill/>
        </p:spPr>
        <p:txBody>
          <a:bodyPr wrap="square" lIns="0" rIns="0" tIns="0" bIns="0" anchor="t">
            <a:spAutoFit/>
          </a:bodyPr>
          <a:lstStyle/>
          <a:p>
            <a:pPr algn="ctr"/>
            <a:r>
              <a:rPr sz="1450" b="1" i="0">
                <a:solidFill>
                  <a:srgbClr val="C00000"/>
                </a:solidFill>
                <a:latin typeface="Meiryo UI"/>
                <a:ea typeface="Meiryo UI"/>
              </a:rPr>
              <a:t>90件</a:t>
            </a:r>
          </a:p>
        </p:txBody>
      </p:sp>
      <p:sp>
        <p:nvSpPr>
          <p:cNvPr id="16" name="TextBox 15"/>
          <p:cNvSpPr txBox="1"/>
          <p:nvPr/>
        </p:nvSpPr>
        <p:spPr>
          <a:xfrm>
            <a:off x="4992624" y="3291839"/>
            <a:ext cx="2221992" cy="256032"/>
          </a:xfrm>
          <a:prstGeom prst="rect">
            <a:avLst/>
          </a:prstGeom>
          <a:noFill/>
        </p:spPr>
        <p:txBody>
          <a:bodyPr wrap="square" lIns="0" rIns="0" tIns="0" bIns="0" anchor="t">
            <a:spAutoFit/>
          </a:bodyPr>
          <a:lstStyle/>
          <a:p>
            <a:pPr algn="ctr"/>
            <a:r>
              <a:rPr sz="1150" b="1" i="0">
                <a:solidFill>
                  <a:srgbClr val="262626"/>
                </a:solidFill>
                <a:latin typeface="Meiryo UI"/>
                <a:ea typeface="Meiryo UI"/>
              </a:rPr>
              <a:t>着任年度</a:t>
            </a:r>
          </a:p>
        </p:txBody>
      </p:sp>
      <p:sp>
        <p:nvSpPr>
          <p:cNvPr id="17" name="Rectangle 16"/>
          <p:cNvSpPr/>
          <p:nvPr/>
        </p:nvSpPr>
        <p:spPr>
          <a:xfrm>
            <a:off x="7644384" y="2359517"/>
            <a:ext cx="1371600" cy="886602"/>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8" name="TextBox 17"/>
          <p:cNvSpPr txBox="1"/>
          <p:nvPr/>
        </p:nvSpPr>
        <p:spPr>
          <a:xfrm>
            <a:off x="7214616" y="2066909"/>
            <a:ext cx="2221992" cy="274320"/>
          </a:xfrm>
          <a:prstGeom prst="rect">
            <a:avLst/>
          </a:prstGeom>
          <a:noFill/>
        </p:spPr>
        <p:txBody>
          <a:bodyPr wrap="square" lIns="0" rIns="0" tIns="0" bIns="0" anchor="t">
            <a:spAutoFit/>
          </a:bodyPr>
          <a:lstStyle/>
          <a:p>
            <a:pPr algn="ctr"/>
            <a:r>
              <a:rPr sz="1450" b="1" i="0">
                <a:solidFill>
                  <a:srgbClr val="128A54"/>
                </a:solidFill>
                <a:latin typeface="Meiryo UI"/>
                <a:ea typeface="Meiryo UI"/>
              </a:rPr>
              <a:t>96件</a:t>
            </a:r>
          </a:p>
        </p:txBody>
      </p:sp>
      <p:sp>
        <p:nvSpPr>
          <p:cNvPr id="19" name="TextBox 18"/>
          <p:cNvSpPr txBox="1"/>
          <p:nvPr/>
        </p:nvSpPr>
        <p:spPr>
          <a:xfrm>
            <a:off x="7214616" y="3291839"/>
            <a:ext cx="2221992" cy="256032"/>
          </a:xfrm>
          <a:prstGeom prst="rect">
            <a:avLst/>
          </a:prstGeom>
          <a:noFill/>
        </p:spPr>
        <p:txBody>
          <a:bodyPr wrap="square" lIns="0" rIns="0" tIns="0" bIns="0" anchor="t">
            <a:spAutoFit/>
          </a:bodyPr>
          <a:lstStyle/>
          <a:p>
            <a:pPr algn="ctr"/>
            <a:r>
              <a:rPr sz="1150" b="0" i="0">
                <a:solidFill>
                  <a:srgbClr val="262626"/>
                </a:solidFill>
                <a:latin typeface="Meiryo UI"/>
                <a:ea typeface="Meiryo UI"/>
              </a:rPr>
              <a:t>＋1年</a:t>
            </a:r>
          </a:p>
        </p:txBody>
      </p:sp>
      <p:sp>
        <p:nvSpPr>
          <p:cNvPr id="20" name="Rectangle 19"/>
          <p:cNvSpPr/>
          <p:nvPr/>
        </p:nvSpPr>
        <p:spPr>
          <a:xfrm>
            <a:off x="9866376" y="2331811"/>
            <a:ext cx="1371600" cy="914308"/>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9436608" y="2039203"/>
            <a:ext cx="2221992" cy="274320"/>
          </a:xfrm>
          <a:prstGeom prst="rect">
            <a:avLst/>
          </a:prstGeom>
          <a:noFill/>
        </p:spPr>
        <p:txBody>
          <a:bodyPr wrap="square" lIns="0" rIns="0" tIns="0" bIns="0" anchor="t">
            <a:spAutoFit/>
          </a:bodyPr>
          <a:lstStyle/>
          <a:p>
            <a:pPr algn="ctr"/>
            <a:r>
              <a:rPr sz="1450" b="1" i="0">
                <a:solidFill>
                  <a:srgbClr val="128A54"/>
                </a:solidFill>
                <a:latin typeface="Meiryo UI"/>
                <a:ea typeface="Meiryo UI"/>
              </a:rPr>
              <a:t>99件</a:t>
            </a:r>
          </a:p>
        </p:txBody>
      </p:sp>
      <p:sp>
        <p:nvSpPr>
          <p:cNvPr id="22" name="TextBox 21"/>
          <p:cNvSpPr txBox="1"/>
          <p:nvPr/>
        </p:nvSpPr>
        <p:spPr>
          <a:xfrm>
            <a:off x="9436608" y="3291839"/>
            <a:ext cx="2221992" cy="256032"/>
          </a:xfrm>
          <a:prstGeom prst="rect">
            <a:avLst/>
          </a:prstGeom>
          <a:noFill/>
        </p:spPr>
        <p:txBody>
          <a:bodyPr wrap="square" lIns="0" rIns="0" tIns="0" bIns="0" anchor="t">
            <a:spAutoFit/>
          </a:bodyPr>
          <a:lstStyle/>
          <a:p>
            <a:pPr algn="ctr"/>
            <a:r>
              <a:rPr sz="1150" b="0" i="0">
                <a:solidFill>
                  <a:srgbClr val="262626"/>
                </a:solidFill>
                <a:latin typeface="Meiryo UI"/>
                <a:ea typeface="Meiryo UI"/>
              </a:rPr>
              <a:t>＋2年</a:t>
            </a:r>
          </a:p>
        </p:txBody>
      </p:sp>
      <p:cxnSp>
        <p:nvCxnSpPr>
          <p:cNvPr id="23" name="Connector 22"/>
          <p:cNvCxnSpPr/>
          <p:nvPr/>
        </p:nvCxnSpPr>
        <p:spPr>
          <a:xfrm>
            <a:off x="548640" y="3246120"/>
            <a:ext cx="11109960" cy="0"/>
          </a:xfrm>
          <a:prstGeom prst="line">
            <a:avLst/>
          </a:prstGeom>
          <a:ln w="1524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48640" y="365760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Fact（事実）</a:t>
            </a:r>
          </a:p>
        </p:txBody>
      </p:sp>
      <p:sp>
        <p:nvSpPr>
          <p:cNvPr id="25" name="Rounded Rectangle 24"/>
          <p:cNvSpPr/>
          <p:nvPr/>
        </p:nvSpPr>
        <p:spPr>
          <a:xfrm>
            <a:off x="548640" y="4114800"/>
            <a:ext cx="3566160" cy="11887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5000"/>
              </a:lnSpc>
              <a:spcAft>
                <a:spcPts val="700"/>
              </a:spcAft>
            </a:pPr>
            <a:r>
              <a:rPr sz="1100" b="0" i="0">
                <a:solidFill>
                  <a:srgbClr val="262626"/>
                </a:solidFill>
                <a:latin typeface="Meiryo UI"/>
                <a:ea typeface="Meiryo UI"/>
              </a:rPr>
              <a:t>・着任年度に、腎生検が36件→90件</a:t>
            </a:r>
          </a:p>
          <a:p>
            <a:pPr algn="l">
              <a:lnSpc>
                <a:spcPct val="125000"/>
              </a:lnSpc>
              <a:spcAft>
                <a:spcPts val="700"/>
              </a:spcAft>
            </a:pPr>
            <a:r>
              <a:rPr sz="1100" b="0" i="0">
                <a:solidFill>
                  <a:srgbClr val="262626"/>
                </a:solidFill>
                <a:latin typeface="Meiryo UI"/>
                <a:ea typeface="Meiryo UI"/>
              </a:rPr>
              <a:t>・その後も96件・99件で定着</a:t>
            </a:r>
          </a:p>
          <a:p>
            <a:pPr algn="l">
              <a:lnSpc>
                <a:spcPct val="125000"/>
              </a:lnSpc>
              <a:spcAft>
                <a:spcPts val="700"/>
              </a:spcAft>
            </a:pPr>
            <a:r>
              <a:rPr sz="1100" b="0" i="0">
                <a:solidFill>
                  <a:srgbClr val="262626"/>
                </a:solidFill>
                <a:latin typeface="Meiryo UI"/>
                <a:ea typeface="Meiryo UI"/>
              </a:rPr>
              <a:t>・着任時、開業医向けの広報誌に寄稿</a:t>
            </a:r>
          </a:p>
        </p:txBody>
      </p:sp>
      <p:sp>
        <p:nvSpPr>
          <p:cNvPr id="26" name="Rounded Rectangle 25"/>
          <p:cNvSpPr/>
          <p:nvPr/>
        </p:nvSpPr>
        <p:spPr>
          <a:xfrm>
            <a:off x="4288536" y="3657600"/>
            <a:ext cx="3566160" cy="41148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Wants（広報誌の言葉）</a:t>
            </a:r>
          </a:p>
        </p:txBody>
      </p:sp>
      <p:sp>
        <p:nvSpPr>
          <p:cNvPr id="27" name="Rounded Rectangle 26"/>
          <p:cNvSpPr/>
          <p:nvPr/>
        </p:nvSpPr>
        <p:spPr>
          <a:xfrm>
            <a:off x="4288536" y="4114800"/>
            <a:ext cx="3566160" cy="118872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5000"/>
              </a:lnSpc>
              <a:spcAft>
                <a:spcPts val="700"/>
              </a:spcAft>
            </a:pPr>
            <a:r>
              <a:rPr sz="1100" b="1" i="0">
                <a:solidFill>
                  <a:srgbClr val="262626"/>
                </a:solidFill>
                <a:latin typeface="Meiryo UI"/>
                <a:ea typeface="Meiryo UI"/>
              </a:rPr>
              <a:t>「腎臓に問題がある患者様がいらっしゃいましたら、いつでもご紹介ください」</a:t>
            </a:r>
          </a:p>
        </p:txBody>
      </p:sp>
      <p:sp>
        <p:nvSpPr>
          <p:cNvPr id="28" name="Rounded Rectangle 27"/>
          <p:cNvSpPr/>
          <p:nvPr/>
        </p:nvSpPr>
        <p:spPr>
          <a:xfrm>
            <a:off x="8028431" y="3657600"/>
            <a:ext cx="3566160" cy="41148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Needs（その裏の状態）</a:t>
            </a:r>
          </a:p>
        </p:txBody>
      </p:sp>
      <p:sp>
        <p:nvSpPr>
          <p:cNvPr id="29" name="Rounded Rectangle 28"/>
          <p:cNvSpPr/>
          <p:nvPr/>
        </p:nvSpPr>
        <p:spPr>
          <a:xfrm>
            <a:off x="8028431" y="4114800"/>
            <a:ext cx="3566160" cy="118872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5000"/>
              </a:lnSpc>
              <a:spcAft>
                <a:spcPts val="700"/>
              </a:spcAft>
            </a:pPr>
            <a:r>
              <a:rPr sz="1100" b="1" i="0">
                <a:solidFill>
                  <a:srgbClr val="262626"/>
                </a:solidFill>
                <a:latin typeface="Meiryo UI"/>
                <a:ea typeface="Meiryo UI"/>
              </a:rPr>
              <a:t>「透析を導入する医療ではなく、透析になる患者さんを一人でも減らしたい」</a:t>
            </a:r>
          </a:p>
          <a:p>
            <a:pPr algn="l">
              <a:lnSpc>
                <a:spcPct val="125000"/>
              </a:lnSpc>
              <a:spcAft>
                <a:spcPts val="700"/>
              </a:spcAft>
            </a:pPr>
            <a:r>
              <a:rPr sz="1100" b="1" i="0">
                <a:solidFill>
                  <a:srgbClr val="262626"/>
                </a:solidFill>
                <a:latin typeface="Meiryo UI"/>
                <a:ea typeface="Meiryo UI"/>
              </a:rPr>
              <a:t>→ 早く見つけ、確定診断までつなげたい</a:t>
            </a:r>
          </a:p>
        </p:txBody>
      </p:sp>
      <p:sp>
        <p:nvSpPr>
          <p:cNvPr id="30" name="Rounded Rectangle 29"/>
          <p:cNvSpPr/>
          <p:nvPr/>
        </p:nvSpPr>
        <p:spPr>
          <a:xfrm>
            <a:off x="548640" y="5440680"/>
            <a:ext cx="11109960" cy="82296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300" b="1" i="0">
                <a:solidFill>
                  <a:srgbClr val="BFE8D2"/>
                </a:solidFill>
                <a:latin typeface="Meiryo UI"/>
                <a:ea typeface="Meiryo UI"/>
              </a:rPr>
              <a:t>仮説　</a:t>
            </a:r>
            <a:r>
              <a:rPr sz="1800" b="1" i="0">
                <a:solidFill>
                  <a:srgbClr val="FFC000"/>
                </a:solidFill>
                <a:latin typeface="Meiryo UI"/>
                <a:ea typeface="Meiryo UI"/>
              </a:rPr>
              <a:t>この病院は、地域の腎臓診療の入口を担おうとしている。</a:t>
            </a:r>
          </a:p>
          <a:p>
            <a:pPr algn="ctr"/>
            <a:r>
              <a:rPr sz="1400" b="0" i="0">
                <a:solidFill>
                  <a:srgbClr val="FFFFFF"/>
                </a:solidFill>
                <a:latin typeface="Meiryo UI"/>
                <a:ea typeface="Meiryo UI"/>
              </a:rPr>
              <a:t>だから、まず院内の診断力を上げ、開業医に向けて発信した。</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②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自分の担当施設で、仮説と解決策を考える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19</a:t>
            </a:r>
          </a:p>
        </p:txBody>
      </p:sp>
      <p:sp>
        <p:nvSpPr>
          <p:cNvPr id="6" name="Rounded Rectangle 5"/>
          <p:cNvSpPr/>
          <p:nvPr/>
        </p:nvSpPr>
        <p:spPr>
          <a:xfrm>
            <a:off x="548640" y="1627632"/>
            <a:ext cx="2697480" cy="54864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1　Fact・Wants・Needsを置く</a:t>
            </a:r>
          </a:p>
        </p:txBody>
      </p:sp>
      <p:sp>
        <p:nvSpPr>
          <p:cNvPr id="7" name="Right Arrow 6"/>
          <p:cNvSpPr/>
          <p:nvPr/>
        </p:nvSpPr>
        <p:spPr>
          <a:xfrm>
            <a:off x="3282696"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1627632"/>
            <a:ext cx="2697480"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2　仮説を1文にする</a:t>
            </a:r>
          </a:p>
        </p:txBody>
      </p:sp>
      <p:sp>
        <p:nvSpPr>
          <p:cNvPr id="9" name="Right Arrow 8"/>
          <p:cNvSpPr/>
          <p:nvPr/>
        </p:nvSpPr>
        <p:spPr>
          <a:xfrm>
            <a:off x="6135624"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627632"/>
            <a:ext cx="2697480" cy="54864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3　4Sに当てはめる</a:t>
            </a:r>
          </a:p>
        </p:txBody>
      </p:sp>
      <p:sp>
        <p:nvSpPr>
          <p:cNvPr id="11" name="Right Arrow 10"/>
          <p:cNvSpPr/>
          <p:nvPr/>
        </p:nvSpPr>
        <p:spPr>
          <a:xfrm>
            <a:off x="8988552"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1627632"/>
            <a:ext cx="269748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4　解決策を出す</a:t>
            </a:r>
          </a:p>
        </p:txBody>
      </p:sp>
      <p:sp>
        <p:nvSpPr>
          <p:cNvPr id="13" name="Rounded Rectangle 12"/>
          <p:cNvSpPr/>
          <p:nvPr/>
        </p:nvSpPr>
        <p:spPr>
          <a:xfrm>
            <a:off x="548640" y="2359152"/>
            <a:ext cx="548640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仮説の例</a:t>
            </a:r>
          </a:p>
        </p:txBody>
      </p:sp>
      <p:sp>
        <p:nvSpPr>
          <p:cNvPr id="14" name="Rounded Rectangle 13"/>
          <p:cNvSpPr/>
          <p:nvPr/>
        </p:nvSpPr>
        <p:spPr>
          <a:xfrm>
            <a:off x="548640" y="2926080"/>
            <a:ext cx="5486400" cy="23317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・「地域の腎臓診療の入口」を担いたいのではないか</a:t>
            </a:r>
          </a:p>
          <a:p>
            <a:pPr algn="l">
              <a:lnSpc>
                <a:spcPct val="130000"/>
              </a:lnSpc>
              <a:spcAft>
                <a:spcPts val="1100"/>
              </a:spcAft>
            </a:pPr>
            <a:r>
              <a:rPr sz="1250" b="0" i="0">
                <a:solidFill>
                  <a:srgbClr val="262626"/>
                </a:solidFill>
                <a:latin typeface="Meiryo UI"/>
                <a:ea typeface="Meiryo UI"/>
              </a:rPr>
              <a:t>・学会長の年に、医局の実績を外に出したいのではないか</a:t>
            </a:r>
          </a:p>
          <a:p>
            <a:pPr algn="l">
              <a:lnSpc>
                <a:spcPct val="130000"/>
              </a:lnSpc>
              <a:spcAft>
                <a:spcPts val="1100"/>
              </a:spcAft>
            </a:pPr>
            <a:r>
              <a:rPr sz="1250" b="0" i="0">
                <a:solidFill>
                  <a:srgbClr val="262626"/>
                </a:solidFill>
                <a:latin typeface="Meiryo UI"/>
                <a:ea typeface="Meiryo UI"/>
              </a:rPr>
              <a:t>・若手が育っていないことが、腎生検の減少の原因ではないか</a:t>
            </a:r>
          </a:p>
          <a:p>
            <a:pPr algn="l">
              <a:lnSpc>
                <a:spcPct val="130000"/>
              </a:lnSpc>
              <a:spcAft>
                <a:spcPts val="1100"/>
              </a:spcAft>
            </a:pPr>
            <a:r>
              <a:rPr sz="1250" b="0" i="0">
                <a:solidFill>
                  <a:srgbClr val="262626"/>
                </a:solidFill>
                <a:latin typeface="Meiryo UI"/>
                <a:ea typeface="Meiryo UI"/>
              </a:rPr>
              <a:t>・紹介基準が、地域の先生に伝わっていないのではないか</a:t>
            </a:r>
          </a:p>
          <a:p>
            <a:pPr algn="l">
              <a:lnSpc>
                <a:spcPct val="130000"/>
              </a:lnSpc>
              <a:spcAft>
                <a:spcPts val="1100"/>
              </a:spcAft>
            </a:pPr>
            <a:r>
              <a:rPr sz="1250" b="0" i="0">
                <a:solidFill>
                  <a:srgbClr val="262626"/>
                </a:solidFill>
                <a:latin typeface="Meiryo UI"/>
                <a:ea typeface="Meiryo UI"/>
              </a:rPr>
              <a:t>・全国発信の場を求めていて、近隣大学とも組めるのではないか</a:t>
            </a:r>
          </a:p>
        </p:txBody>
      </p:sp>
      <p:sp>
        <p:nvSpPr>
          <p:cNvPr id="15" name="Rounded Rectangle 14"/>
          <p:cNvSpPr/>
          <p:nvPr/>
        </p:nvSpPr>
        <p:spPr>
          <a:xfrm>
            <a:off x="6172200" y="2359152"/>
            <a:ext cx="548640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解決策の例</a:t>
            </a:r>
          </a:p>
        </p:txBody>
      </p:sp>
      <p:sp>
        <p:nvSpPr>
          <p:cNvPr id="16" name="Rounded Rectangle 15"/>
          <p:cNvSpPr/>
          <p:nvPr/>
        </p:nvSpPr>
        <p:spPr>
          <a:xfrm>
            <a:off x="6172200" y="2926080"/>
            <a:ext cx="5486400" cy="233172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・関連病院＋近隣大学の合同勉強会を、医局と共同で企画する</a:t>
            </a:r>
          </a:p>
          <a:p>
            <a:pPr algn="l">
              <a:lnSpc>
                <a:spcPct val="130000"/>
              </a:lnSpc>
              <a:spcAft>
                <a:spcPts val="1100"/>
              </a:spcAft>
            </a:pPr>
            <a:r>
              <a:rPr sz="1250" b="0" i="0">
                <a:solidFill>
                  <a:srgbClr val="262626"/>
                </a:solidFill>
                <a:latin typeface="Meiryo UI"/>
                <a:ea typeface="Meiryo UI"/>
              </a:rPr>
              <a:t>・紹介基準を、研究会や連携パスで地域と共有する</a:t>
            </a:r>
          </a:p>
          <a:p>
            <a:pPr algn="l">
              <a:lnSpc>
                <a:spcPct val="130000"/>
              </a:lnSpc>
              <a:spcAft>
                <a:spcPts val="1100"/>
              </a:spcAft>
            </a:pPr>
            <a:r>
              <a:rPr sz="1250" b="0" i="0">
                <a:solidFill>
                  <a:srgbClr val="262626"/>
                </a:solidFill>
                <a:latin typeface="Meiryo UI"/>
                <a:ea typeface="Meiryo UI"/>
              </a:rPr>
              <a:t>・若手向けの症例検討会を、医局の教育実績として残す</a:t>
            </a:r>
          </a:p>
          <a:p>
            <a:pPr algn="l">
              <a:lnSpc>
                <a:spcPct val="130000"/>
              </a:lnSpc>
              <a:spcAft>
                <a:spcPts val="1100"/>
              </a:spcAft>
            </a:pPr>
            <a:r>
              <a:rPr sz="1250" b="0" i="0">
                <a:solidFill>
                  <a:srgbClr val="262626"/>
                </a:solidFill>
                <a:latin typeface="Meiryo UI"/>
                <a:ea typeface="Meiryo UI"/>
              </a:rPr>
              <a:t>・医局の症例を、エリア・全国の講演会で発信する</a:t>
            </a:r>
          </a:p>
          <a:p>
            <a:pPr algn="l">
              <a:lnSpc>
                <a:spcPct val="130000"/>
              </a:lnSpc>
              <a:spcAft>
                <a:spcPts val="1100"/>
              </a:spcAft>
            </a:pPr>
            <a:r>
              <a:rPr sz="1250" b="0" i="0">
                <a:solidFill>
                  <a:srgbClr val="262626"/>
                </a:solidFill>
                <a:latin typeface="Meiryo UI"/>
                <a:ea typeface="Meiryo UI"/>
              </a:rPr>
              <a:t>・案内を医師から医師へ回してもらい、参加の角度を上げる</a:t>
            </a:r>
          </a:p>
        </p:txBody>
      </p:sp>
      <p:sp>
        <p:nvSpPr>
          <p:cNvPr id="17" name="Rounded Rectangle 16"/>
          <p:cNvSpPr/>
          <p:nvPr/>
        </p:nvSpPr>
        <p:spPr>
          <a:xfrm>
            <a:off x="548640" y="5440680"/>
            <a:ext cx="11109960" cy="77724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350" b="0" i="0">
                <a:solidFill>
                  <a:srgbClr val="FFFFFF"/>
                </a:solidFill>
                <a:latin typeface="Meiryo UI"/>
                <a:ea typeface="Meiryo UI"/>
              </a:rPr>
              <a:t>例は参考。自分のエリアの言葉に置き換えてください。</a:t>
            </a:r>
          </a:p>
          <a:p>
            <a:pPr algn="ctr"/>
            <a:r>
              <a:rPr sz="1600" b="1" i="0">
                <a:solidFill>
                  <a:srgbClr val="FFC000"/>
                </a:solidFill>
                <a:latin typeface="Meiryo UI"/>
                <a:ea typeface="Meiryo UI"/>
              </a:rPr>
              <a:t>解決策は「顧客・患者さん・自社」の3者がWinになっているかで検証する。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274320"/>
            <a:ext cx="2642616" cy="365760"/>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ワーク②</a:t>
            </a:r>
          </a:p>
        </p:txBody>
      </p:sp>
      <p:sp>
        <p:nvSpPr>
          <p:cNvPr id="4" name="TextBox 3"/>
          <p:cNvSpPr txBox="1"/>
          <p:nvPr/>
        </p:nvSpPr>
        <p:spPr>
          <a:xfrm>
            <a:off x="548640" y="713232"/>
            <a:ext cx="7863840" cy="420624"/>
          </a:xfrm>
          <a:prstGeom prst="rect">
            <a:avLst/>
          </a:prstGeom>
          <a:noFill/>
        </p:spPr>
        <p:txBody>
          <a:bodyPr wrap="square" lIns="0" rIns="0" tIns="0" bIns="0" anchor="t">
            <a:spAutoFit/>
          </a:bodyPr>
          <a:lstStyle/>
          <a:p>
            <a:pPr algn="l"/>
            <a:r>
              <a:rPr sz="2200" b="1" i="0">
                <a:solidFill>
                  <a:srgbClr val="0B4F37"/>
                </a:solidFill>
                <a:latin typeface="Meiryo UI"/>
                <a:ea typeface="Meiryo UI"/>
              </a:rPr>
              <a:t>4S：エリア・施設の課題解決シート</a:t>
            </a:r>
          </a:p>
        </p:txBody>
      </p:sp>
      <p:sp>
        <p:nvSpPr>
          <p:cNvPr id="5" name="TextBox 4"/>
          <p:cNvSpPr txBox="1"/>
          <p:nvPr/>
        </p:nvSpPr>
        <p:spPr>
          <a:xfrm>
            <a:off x="8503920" y="786384"/>
            <a:ext cx="3154680" cy="274320"/>
          </a:xfrm>
          <a:prstGeom prst="rect">
            <a:avLst/>
          </a:prstGeom>
          <a:noFill/>
        </p:spPr>
        <p:txBody>
          <a:bodyPr wrap="square" lIns="0" rIns="0" tIns="0" bIns="0" anchor="t">
            <a:spAutoFit/>
          </a:bodyPr>
          <a:lstStyle/>
          <a:p>
            <a:pPr algn="r"/>
            <a:r>
              <a:rPr sz="1200" b="0" i="0">
                <a:solidFill>
                  <a:srgbClr val="595959"/>
                </a:solidFill>
                <a:latin typeface="Meiryo UI"/>
                <a:ea typeface="Meiryo UI"/>
              </a:rPr>
              <a:t>施設（　　　　　　　　　）</a:t>
            </a:r>
          </a:p>
        </p:txBody>
      </p:sp>
      <p:sp>
        <p:nvSpPr>
          <p:cNvPr id="6" name="Rounded Rectangle 5"/>
          <p:cNvSpPr/>
          <p:nvPr/>
        </p:nvSpPr>
        <p:spPr>
          <a:xfrm>
            <a:off x="548640" y="1234440"/>
            <a:ext cx="11109960" cy="384048"/>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【成功像】　← Needs</a:t>
            </a:r>
          </a:p>
        </p:txBody>
      </p:sp>
      <p:sp>
        <p:nvSpPr>
          <p:cNvPr id="7" name="Rounded Rectangle 6"/>
          <p:cNvSpPr/>
          <p:nvPr/>
        </p:nvSpPr>
        <p:spPr>
          <a:xfrm>
            <a:off x="548640" y="1636776"/>
            <a:ext cx="11109960" cy="65836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Down Arrow 7"/>
          <p:cNvSpPr/>
          <p:nvPr/>
        </p:nvSpPr>
        <p:spPr>
          <a:xfrm>
            <a:off x="2834640" y="2350008"/>
            <a:ext cx="274320" cy="365760"/>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0" y="2404872"/>
            <a:ext cx="301752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理想とのGAPを洗い出す</a:t>
            </a:r>
          </a:p>
        </p:txBody>
      </p:sp>
      <p:sp>
        <p:nvSpPr>
          <p:cNvPr id="10" name="Up Arrow 9"/>
          <p:cNvSpPr/>
          <p:nvPr/>
        </p:nvSpPr>
        <p:spPr>
          <a:xfrm>
            <a:off x="8869680" y="2350008"/>
            <a:ext cx="274320" cy="365760"/>
          </a:xfrm>
          <a:prstGeom prst="up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0" y="2404872"/>
            <a:ext cx="2468880" cy="274320"/>
          </a:xfrm>
          <a:prstGeom prst="rect">
            <a:avLst/>
          </a:prstGeom>
          <a:noFill/>
        </p:spPr>
        <p:txBody>
          <a:bodyPr wrap="square" lIns="0" rIns="0" tIns="0" bIns="0" anchor="t">
            <a:spAutoFit/>
          </a:bodyPr>
          <a:lstStyle/>
          <a:p>
            <a:pPr algn="l"/>
            <a:r>
              <a:rPr sz="1150" b="1" i="0">
                <a:solidFill>
                  <a:srgbClr val="C00000"/>
                </a:solidFill>
                <a:latin typeface="Meiryo UI"/>
                <a:ea typeface="Meiryo UI"/>
              </a:rPr>
              <a:t>理想に近づくか検証</a:t>
            </a:r>
          </a:p>
        </p:txBody>
      </p:sp>
      <p:sp>
        <p:nvSpPr>
          <p:cNvPr id="12" name="Rounded Rectangle 11"/>
          <p:cNvSpPr/>
          <p:nvPr/>
        </p:nvSpPr>
        <p:spPr>
          <a:xfrm>
            <a:off x="548640" y="2788920"/>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【現状・課題】　← Fact</a:t>
            </a:r>
          </a:p>
        </p:txBody>
      </p:sp>
      <p:sp>
        <p:nvSpPr>
          <p:cNvPr id="13" name="Rounded Rectangle 12"/>
          <p:cNvSpPr/>
          <p:nvPr/>
        </p:nvSpPr>
        <p:spPr>
          <a:xfrm>
            <a:off x="548640" y="3191256"/>
            <a:ext cx="5486400" cy="12344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Down Arrow 13"/>
          <p:cNvSpPr/>
          <p:nvPr/>
        </p:nvSpPr>
        <p:spPr>
          <a:xfrm>
            <a:off x="2834640" y="4480560"/>
            <a:ext cx="274320" cy="310896"/>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0" y="4507992"/>
            <a:ext cx="283464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その理由を深掘る</a:t>
            </a:r>
          </a:p>
        </p:txBody>
      </p:sp>
      <p:sp>
        <p:nvSpPr>
          <p:cNvPr id="16" name="Rounded Rectangle 15"/>
          <p:cNvSpPr/>
          <p:nvPr/>
        </p:nvSpPr>
        <p:spPr>
          <a:xfrm>
            <a:off x="548640" y="4864608"/>
            <a:ext cx="5486400" cy="384048"/>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【原因】　← 仮説</a:t>
            </a:r>
          </a:p>
        </p:txBody>
      </p:sp>
      <p:sp>
        <p:nvSpPr>
          <p:cNvPr id="17" name="Rounded Rectangle 16"/>
          <p:cNvSpPr/>
          <p:nvPr/>
        </p:nvSpPr>
        <p:spPr>
          <a:xfrm>
            <a:off x="548640" y="5266944"/>
            <a:ext cx="5486400" cy="96012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8" name="Rounded Rectangle 17"/>
          <p:cNvSpPr/>
          <p:nvPr/>
        </p:nvSpPr>
        <p:spPr>
          <a:xfrm>
            <a:off x="6172200" y="2788920"/>
            <a:ext cx="5486400" cy="384048"/>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【解決策】　← 打ち手（Wantsを手がかりに）</a:t>
            </a:r>
          </a:p>
        </p:txBody>
      </p:sp>
      <p:sp>
        <p:nvSpPr>
          <p:cNvPr id="19" name="Rounded Rectangle 18"/>
          <p:cNvSpPr/>
          <p:nvPr/>
        </p:nvSpPr>
        <p:spPr>
          <a:xfrm>
            <a:off x="6172200" y="3191256"/>
            <a:ext cx="5486400" cy="303580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Right Arrow 19"/>
          <p:cNvSpPr/>
          <p:nvPr/>
        </p:nvSpPr>
        <p:spPr>
          <a:xfrm>
            <a:off x="5742432" y="5394960"/>
            <a:ext cx="365760" cy="274320"/>
          </a:xfrm>
          <a:prstGeom prst="rightArrow">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2" name="TextBox 21"/>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⑥ 事例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A病院の仮説から、戦略を立てる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21</a:t>
            </a:r>
          </a:p>
        </p:txBody>
      </p:sp>
      <p:sp>
        <p:nvSpPr>
          <p:cNvPr id="6" name="Rounded Rectangle 5"/>
          <p:cNvSpPr/>
          <p:nvPr/>
        </p:nvSpPr>
        <p:spPr>
          <a:xfrm>
            <a:off x="548640" y="1572768"/>
            <a:ext cx="5486400" cy="329184"/>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【成功像】　← Needs</a:t>
            </a:r>
          </a:p>
        </p:txBody>
      </p:sp>
      <p:sp>
        <p:nvSpPr>
          <p:cNvPr id="7" name="Rounded Rectangle 6"/>
          <p:cNvSpPr/>
          <p:nvPr/>
        </p:nvSpPr>
        <p:spPr>
          <a:xfrm>
            <a:off x="548640" y="19293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地域の開業医から早期に紹介され、透析に至る患者さんが減っている</a:t>
            </a:r>
          </a:p>
        </p:txBody>
      </p:sp>
      <p:sp>
        <p:nvSpPr>
          <p:cNvPr id="8" name="Rounded Rectangle 7"/>
          <p:cNvSpPr/>
          <p:nvPr/>
        </p:nvSpPr>
        <p:spPr>
          <a:xfrm>
            <a:off x="548640" y="2487168"/>
            <a:ext cx="5486400" cy="32918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【現状・課題】　← Fact</a:t>
            </a:r>
          </a:p>
        </p:txBody>
      </p:sp>
      <p:sp>
        <p:nvSpPr>
          <p:cNvPr id="9" name="Rounded Rectangle 8"/>
          <p:cNvSpPr/>
          <p:nvPr/>
        </p:nvSpPr>
        <p:spPr>
          <a:xfrm>
            <a:off x="548640" y="28437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腎生検は着任年度に2.5倍。ただし直近2年は96→99件で横ばい</a:t>
            </a:r>
          </a:p>
        </p:txBody>
      </p:sp>
      <p:sp>
        <p:nvSpPr>
          <p:cNvPr id="10" name="Rounded Rectangle 9"/>
          <p:cNvSpPr/>
          <p:nvPr/>
        </p:nvSpPr>
        <p:spPr>
          <a:xfrm>
            <a:off x="548640" y="3401568"/>
            <a:ext cx="5486400" cy="329184"/>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【原因】　← 仮説</a:t>
            </a:r>
          </a:p>
        </p:txBody>
      </p:sp>
      <p:sp>
        <p:nvSpPr>
          <p:cNvPr id="11" name="Rounded Rectangle 10"/>
          <p:cNvSpPr/>
          <p:nvPr/>
        </p:nvSpPr>
        <p:spPr>
          <a:xfrm>
            <a:off x="548640" y="3758183"/>
            <a:ext cx="5486400" cy="56692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院内の診断力は上がったが、開業医側に「いつ紹介するか」の基準が</a:t>
            </a:r>
          </a:p>
          <a:p>
            <a:pPr algn="l">
              <a:lnSpc>
                <a:spcPct val="120000"/>
              </a:lnSpc>
              <a:spcAft>
                <a:spcPts val="500"/>
              </a:spcAft>
            </a:pPr>
            <a:r>
              <a:rPr sz="1100" b="0" i="0">
                <a:solidFill>
                  <a:srgbClr val="262626"/>
                </a:solidFill>
                <a:latin typeface="Meiryo UI"/>
                <a:ea typeface="Meiryo UI"/>
              </a:rPr>
              <a:t>届いていない</a:t>
            </a:r>
          </a:p>
        </p:txBody>
      </p:sp>
      <p:sp>
        <p:nvSpPr>
          <p:cNvPr id="12" name="Rounded Rectangle 11"/>
          <p:cNvSpPr/>
          <p:nvPr/>
        </p:nvSpPr>
        <p:spPr>
          <a:xfrm>
            <a:off x="548640" y="4425696"/>
            <a:ext cx="5486400" cy="329184"/>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【解決策】　← 打ち手</a:t>
            </a:r>
          </a:p>
        </p:txBody>
      </p:sp>
      <p:sp>
        <p:nvSpPr>
          <p:cNvPr id="13" name="Rounded Rectangle 12"/>
          <p:cNvSpPr/>
          <p:nvPr/>
        </p:nvSpPr>
        <p:spPr>
          <a:xfrm>
            <a:off x="548640" y="4782312"/>
            <a:ext cx="5486400" cy="960120"/>
          </a:xfrm>
          <a:prstGeom prst="roundRect">
            <a:avLst>
              <a:gd name="adj" fmla="val 2000"/>
            </a:avLst>
          </a:prstGeom>
          <a:solidFill>
            <a:srgbClr val="E9F5EE"/>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・開業医向けに「紹介のタイミング」をテーマにした地域連携の会</a:t>
            </a:r>
          </a:p>
          <a:p>
            <a:pPr algn="l">
              <a:lnSpc>
                <a:spcPct val="120000"/>
              </a:lnSpc>
              <a:spcAft>
                <a:spcPts val="500"/>
              </a:spcAft>
            </a:pPr>
            <a:r>
              <a:rPr sz="1100" b="0" i="0">
                <a:solidFill>
                  <a:srgbClr val="262626"/>
                </a:solidFill>
                <a:latin typeface="Meiryo UI"/>
                <a:ea typeface="Meiryo UI"/>
              </a:rPr>
              <a:t>・確定診断がついた症例を、地域の会で共有</a:t>
            </a:r>
          </a:p>
          <a:p>
            <a:pPr algn="l">
              <a:lnSpc>
                <a:spcPct val="120000"/>
              </a:lnSpc>
              <a:spcAft>
                <a:spcPts val="500"/>
              </a:spcAft>
            </a:pPr>
            <a:r>
              <a:rPr sz="1100" b="0" i="0">
                <a:solidFill>
                  <a:srgbClr val="262626"/>
                </a:solidFill>
                <a:latin typeface="Meiryo UI"/>
                <a:ea typeface="Meiryo UI"/>
              </a:rPr>
              <a:t>・同じ設計を、近隣の基幹病院・大学へ横展開</a:t>
            </a:r>
          </a:p>
        </p:txBody>
      </p:sp>
      <p:sp>
        <p:nvSpPr>
          <p:cNvPr id="14" name="Rounded Rectangle 13"/>
          <p:cNvSpPr/>
          <p:nvPr/>
        </p:nvSpPr>
        <p:spPr>
          <a:xfrm>
            <a:off x="6309360" y="1600200"/>
            <a:ext cx="534924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ノバルティスができること</a:t>
            </a:r>
          </a:p>
        </p:txBody>
      </p:sp>
      <p:sp>
        <p:nvSpPr>
          <p:cNvPr id="15" name="Rounded Rectangle 14"/>
          <p:cNvSpPr/>
          <p:nvPr/>
        </p:nvSpPr>
        <p:spPr>
          <a:xfrm>
            <a:off x="6309360" y="2057400"/>
            <a:ext cx="534924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5000"/>
              </a:lnSpc>
              <a:spcAft>
                <a:spcPts val="800"/>
              </a:spcAft>
            </a:pPr>
            <a:r>
              <a:rPr sz="1150" b="0" i="0">
                <a:solidFill>
                  <a:srgbClr val="262626"/>
                </a:solidFill>
                <a:latin typeface="Meiryo UI"/>
                <a:ea typeface="Meiryo UI"/>
              </a:rPr>
              <a:t>・「紹介のタイミング」をテーマにした地域連携の会を企画・運営支援</a:t>
            </a:r>
          </a:p>
          <a:p>
            <a:pPr algn="l">
              <a:lnSpc>
                <a:spcPct val="125000"/>
              </a:lnSpc>
              <a:spcAft>
                <a:spcPts val="800"/>
              </a:spcAft>
            </a:pPr>
            <a:r>
              <a:rPr sz="1150" b="0" i="0">
                <a:solidFill>
                  <a:srgbClr val="262626"/>
                </a:solidFill>
                <a:latin typeface="Meiryo UI"/>
                <a:ea typeface="Meiryo UI"/>
              </a:rPr>
              <a:t>・確定診断がついた症例を共有する場をつくる</a:t>
            </a:r>
          </a:p>
          <a:p>
            <a:pPr algn="l">
              <a:lnSpc>
                <a:spcPct val="125000"/>
              </a:lnSpc>
              <a:spcAft>
                <a:spcPts val="800"/>
              </a:spcAft>
            </a:pPr>
            <a:r>
              <a:rPr sz="1150" b="0" i="0">
                <a:solidFill>
                  <a:srgbClr val="262626"/>
                </a:solidFill>
                <a:latin typeface="Meiryo UI"/>
                <a:ea typeface="Meiryo UI"/>
              </a:rPr>
              <a:t>・同じ設計を近隣施設・近隣大学へ広げる（エリアマッピング）</a:t>
            </a:r>
          </a:p>
        </p:txBody>
      </p:sp>
      <p:sp>
        <p:nvSpPr>
          <p:cNvPr id="16" name="Rounded Rectangle 15"/>
          <p:cNvSpPr/>
          <p:nvPr/>
        </p:nvSpPr>
        <p:spPr>
          <a:xfrm>
            <a:off x="6309360" y="3456432"/>
            <a:ext cx="2148840" cy="65836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患者 WIN</a:t>
            </a:r>
          </a:p>
        </p:txBody>
      </p:sp>
      <p:sp>
        <p:nvSpPr>
          <p:cNvPr id="17" name="Rounded Rectangle 16"/>
          <p:cNvSpPr/>
          <p:nvPr/>
        </p:nvSpPr>
        <p:spPr>
          <a:xfrm>
            <a:off x="8595360" y="345643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早期に確定診断がつき、透析に至らない選択肢が残る</a:t>
            </a:r>
          </a:p>
        </p:txBody>
      </p:sp>
      <p:sp>
        <p:nvSpPr>
          <p:cNvPr id="18" name="Rounded Rectangle 17"/>
          <p:cNvSpPr/>
          <p:nvPr/>
        </p:nvSpPr>
        <p:spPr>
          <a:xfrm>
            <a:off x="6309360" y="4187952"/>
            <a:ext cx="2148840" cy="658368"/>
          </a:xfrm>
          <a:prstGeom prst="roundRect">
            <a:avLst>
              <a:gd name="adj" fmla="val 8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顧客 WIN</a:t>
            </a:r>
          </a:p>
        </p:txBody>
      </p:sp>
      <p:sp>
        <p:nvSpPr>
          <p:cNvPr id="19" name="Rounded Rectangle 18"/>
          <p:cNvSpPr/>
          <p:nvPr/>
        </p:nvSpPr>
        <p:spPr>
          <a:xfrm>
            <a:off x="8595360" y="418795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紹介が増え、地域連携の窓口としての存在感が高まる</a:t>
            </a:r>
          </a:p>
        </p:txBody>
      </p:sp>
      <p:sp>
        <p:nvSpPr>
          <p:cNvPr id="20" name="Rounded Rectangle 19"/>
          <p:cNvSpPr/>
          <p:nvPr/>
        </p:nvSpPr>
        <p:spPr>
          <a:xfrm>
            <a:off x="6309360" y="4919472"/>
            <a:ext cx="2148840" cy="65836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ノバルティス WIN</a:t>
            </a:r>
          </a:p>
        </p:txBody>
      </p:sp>
      <p:sp>
        <p:nvSpPr>
          <p:cNvPr id="21" name="Rounded Rectangle 20"/>
          <p:cNvSpPr/>
          <p:nvPr/>
        </p:nvSpPr>
        <p:spPr>
          <a:xfrm>
            <a:off x="8595360" y="491947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診断のついた患者さんに、適切な治療を届けられる</a:t>
            </a:r>
          </a:p>
        </p:txBody>
      </p:sp>
      <p:sp>
        <p:nvSpPr>
          <p:cNvPr id="22" name="Rounded Rectangle 21"/>
          <p:cNvSpPr/>
          <p:nvPr/>
        </p:nvSpPr>
        <p:spPr>
          <a:xfrm>
            <a:off x="548640" y="5806440"/>
            <a:ext cx="11109960" cy="438912"/>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大学・基幹病院だけでなく、その先の開業医まで含めてWinを設計する。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218688"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⑦ インタビュー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エリア＋大学攻略事例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22</a:t>
            </a:r>
          </a:p>
        </p:txBody>
      </p:sp>
      <p:sp>
        <p:nvSpPr>
          <p:cNvPr id="6" name="Rounded Rectangle 5"/>
          <p:cNvSpPr/>
          <p:nvPr/>
        </p:nvSpPr>
        <p:spPr>
          <a:xfrm>
            <a:off x="548640" y="1600200"/>
            <a:ext cx="11109960" cy="566928"/>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000" b="1" i="0">
                <a:solidFill>
                  <a:srgbClr val="0B4F37"/>
                </a:solidFill>
                <a:latin typeface="Meiryo UI"/>
                <a:ea typeface="Meiryo UI"/>
              </a:rPr>
              <a:t>どの情報から、その仮説にたどり着いたのか？</a:t>
            </a:r>
          </a:p>
        </p:txBody>
      </p:sp>
      <p:sp>
        <p:nvSpPr>
          <p:cNvPr id="7" name="Rounded Rectangle 6"/>
          <p:cNvSpPr/>
          <p:nvPr/>
        </p:nvSpPr>
        <p:spPr>
          <a:xfrm>
            <a:off x="548640" y="2377440"/>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① 決め手になったFact</a:t>
            </a:r>
          </a:p>
        </p:txBody>
      </p:sp>
      <p:sp>
        <p:nvSpPr>
          <p:cNvPr id="8" name="Rounded Rectangle 7"/>
          <p:cNvSpPr/>
          <p:nvPr/>
        </p:nvSpPr>
        <p:spPr>
          <a:xfrm>
            <a:off x="4069080" y="2377440"/>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Rounded Rectangle 8"/>
          <p:cNvSpPr/>
          <p:nvPr/>
        </p:nvSpPr>
        <p:spPr>
          <a:xfrm>
            <a:off x="548640" y="3346704"/>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② 先生のWantsとNeeds</a:t>
            </a:r>
          </a:p>
        </p:txBody>
      </p:sp>
      <p:sp>
        <p:nvSpPr>
          <p:cNvPr id="10" name="Rounded Rectangle 9"/>
          <p:cNvSpPr/>
          <p:nvPr/>
        </p:nvSpPr>
        <p:spPr>
          <a:xfrm>
            <a:off x="4069080" y="3346704"/>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Rounded Rectangle 10"/>
          <p:cNvSpPr/>
          <p:nvPr/>
        </p:nvSpPr>
        <p:spPr>
          <a:xfrm>
            <a:off x="548640" y="4315968"/>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③ エリアの誰を、どの順番で巻き込んだか</a:t>
            </a:r>
          </a:p>
        </p:txBody>
      </p:sp>
      <p:sp>
        <p:nvSpPr>
          <p:cNvPr id="12" name="Rounded Rectangle 11"/>
          <p:cNvSpPr/>
          <p:nvPr/>
        </p:nvSpPr>
        <p:spPr>
          <a:xfrm>
            <a:off x="4069080" y="4315968"/>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Rounded Rectangle 12"/>
          <p:cNvSpPr/>
          <p:nvPr/>
        </p:nvSpPr>
        <p:spPr>
          <a:xfrm>
            <a:off x="548640" y="5285232"/>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④ 自分のエリアで確かめたいこと</a:t>
            </a:r>
          </a:p>
        </p:txBody>
      </p:sp>
      <p:sp>
        <p:nvSpPr>
          <p:cNvPr id="14" name="Rounded Rectangle 13"/>
          <p:cNvSpPr/>
          <p:nvPr/>
        </p:nvSpPr>
        <p:spPr>
          <a:xfrm>
            <a:off x="4069080" y="5285232"/>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女子医大の活動 — 一言のWantsから、3大学をつないだ</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23</a:t>
            </a:r>
          </a:p>
        </p:txBody>
      </p:sp>
      <p:sp>
        <p:nvSpPr>
          <p:cNvPr id="6" name="Rounded Rectangle 5"/>
          <p:cNvSpPr/>
          <p:nvPr/>
        </p:nvSpPr>
        <p:spPr>
          <a:xfrm>
            <a:off x="548640" y="1600200"/>
            <a:ext cx="11109960" cy="621792"/>
          </a:xfrm>
          <a:prstGeom prst="roundRect">
            <a:avLst>
              <a:gd name="adj" fmla="val 8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300" b="1" i="0">
                <a:solidFill>
                  <a:srgbClr val="595959"/>
                </a:solidFill>
                <a:latin typeface="Meiryo UI"/>
                <a:ea typeface="Meiryo UI"/>
              </a:rPr>
              <a:t>初回面談の一言（Wants）　</a:t>
            </a:r>
            <a:r>
              <a:rPr sz="1900" b="1" i="0">
                <a:solidFill>
                  <a:srgbClr val="C00000"/>
                </a:solidFill>
                <a:latin typeface="Meiryo UI"/>
                <a:ea typeface="Meiryo UI"/>
              </a:rPr>
              <a:t>「女子医大腎臓内科を全国に売り出したい」</a:t>
            </a:r>
          </a:p>
        </p:txBody>
      </p:sp>
      <p:sp>
        <p:nvSpPr>
          <p:cNvPr id="7" name="Rounded Rectangle 6"/>
          <p:cNvSpPr/>
          <p:nvPr/>
        </p:nvSpPr>
        <p:spPr>
          <a:xfrm>
            <a:off x="548640" y="2377440"/>
            <a:ext cx="3566160" cy="4572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① Fact ─ 集まっていた事実</a:t>
            </a:r>
          </a:p>
        </p:txBody>
      </p:sp>
      <p:sp>
        <p:nvSpPr>
          <p:cNvPr id="8" name="Rounded Rectangle 7"/>
          <p:cNvSpPr/>
          <p:nvPr/>
        </p:nvSpPr>
        <p:spPr>
          <a:xfrm>
            <a:off x="548640" y="2944368"/>
            <a:ext cx="3566160" cy="2148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使用経験は女子医大に複数例、近隣2大学は未使用</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「誰に使うべきか」の情報が全国的に不足</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院内の小児腎・移植でも共有Needs</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近隣大学の先生は共同研究者・女子医大出身</a:t>
            </a:r>
          </a:p>
        </p:txBody>
      </p:sp>
      <p:sp>
        <p:nvSpPr>
          <p:cNvPr id="9" name="Rounded Rectangle 8"/>
          <p:cNvSpPr/>
          <p:nvPr/>
        </p:nvSpPr>
        <p:spPr>
          <a:xfrm>
            <a:off x="4288536" y="2377440"/>
            <a:ext cx="3566160" cy="4572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② Needs と 仮説</a:t>
            </a:r>
          </a:p>
        </p:txBody>
      </p:sp>
      <p:sp>
        <p:nvSpPr>
          <p:cNvPr id="10" name="Rounded Rectangle 9"/>
          <p:cNvSpPr/>
          <p:nvPr/>
        </p:nvSpPr>
        <p:spPr>
          <a:xfrm>
            <a:off x="4288536"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C00000"/>
                </a:solidFill>
                <a:latin typeface="Meiryo UI"/>
                <a:ea typeface="Meiryo UI"/>
              </a:rPr>
              <a:t>Needs　</a:t>
            </a:r>
            <a:r>
              <a:rPr sz="1150" b="1" i="0">
                <a:solidFill>
                  <a:srgbClr val="262626"/>
                </a:solidFill>
                <a:latin typeface="Meiryo UI"/>
                <a:ea typeface="Meiryo UI"/>
              </a:rPr>
              <a:t>実臨床の経験を、全国と地域に届ける場がない</a:t>
            </a:r>
          </a:p>
          <a:p>
            <a:pPr algn="l">
              <a:lnSpc>
                <a:spcPct val="125000"/>
              </a:lnSpc>
              <a:spcAft>
                <a:spcPts val="900"/>
              </a:spcAft>
            </a:pPr>
            <a:r>
              <a:rPr sz="1150" b="1" i="0">
                <a:solidFill>
                  <a:srgbClr val="C00000"/>
                </a:solidFill>
                <a:latin typeface="Meiryo UI"/>
                <a:ea typeface="Meiryo UI"/>
              </a:rPr>
              <a:t>仮説　</a:t>
            </a:r>
            <a:r>
              <a:rPr sz="1150" b="1" i="0">
                <a:solidFill>
                  <a:srgbClr val="262626"/>
                </a:solidFill>
                <a:latin typeface="Meiryo UI"/>
                <a:ea typeface="Meiryo UI"/>
              </a:rPr>
              <a:t>女子医大をHUBにすれば、近隣2大学と院内へ横展開が起こる</a:t>
            </a:r>
          </a:p>
        </p:txBody>
      </p:sp>
      <p:sp>
        <p:nvSpPr>
          <p:cNvPr id="11" name="Rounded Rectangle 10"/>
          <p:cNvSpPr/>
          <p:nvPr/>
        </p:nvSpPr>
        <p:spPr>
          <a:xfrm>
            <a:off x="8028431" y="2377440"/>
            <a:ext cx="35661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③ 設計 と 成果</a:t>
            </a:r>
          </a:p>
        </p:txBody>
      </p:sp>
      <p:sp>
        <p:nvSpPr>
          <p:cNvPr id="12" name="Rounded Rectangle 11"/>
          <p:cNvSpPr/>
          <p:nvPr/>
        </p:nvSpPr>
        <p:spPr>
          <a:xfrm>
            <a:off x="8028431"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128A54"/>
                </a:solidFill>
                <a:latin typeface="Meiryo UI"/>
                <a:ea typeface="Meiryo UI"/>
              </a:rPr>
              <a:t>設計　</a:t>
            </a:r>
            <a:r>
              <a:rPr sz="1150" b="1" i="0">
                <a:solidFill>
                  <a:srgbClr val="262626"/>
                </a:solidFill>
                <a:latin typeface="Meiryo UI"/>
                <a:ea typeface="Meiryo UI"/>
              </a:rPr>
              <a:t>近隣2大学を企画段階から巻き込む／案内は医師から医師へ</a:t>
            </a:r>
          </a:p>
          <a:p>
            <a:pPr algn="l">
              <a:lnSpc>
                <a:spcPct val="125000"/>
              </a:lnSpc>
              <a:spcAft>
                <a:spcPts val="900"/>
              </a:spcAft>
            </a:pPr>
            <a:r>
              <a:rPr sz="1150" b="1" i="0">
                <a:solidFill>
                  <a:srgbClr val="128A54"/>
                </a:solidFill>
                <a:latin typeface="Meiryo UI"/>
                <a:ea typeface="Meiryo UI"/>
              </a:rPr>
              <a:t>成果　</a:t>
            </a:r>
            <a:r>
              <a:rPr sz="1150" b="1" i="0">
                <a:solidFill>
                  <a:srgbClr val="262626"/>
                </a:solidFill>
                <a:latin typeface="Meiryo UI"/>
                <a:ea typeface="Meiryo UI"/>
              </a:rPr>
              <a:t>参加35名／処方確約1例・患者発掘1例・IC向上2施設／医師同士の関係性を複数確認</a:t>
            </a:r>
          </a:p>
        </p:txBody>
      </p:sp>
      <p:sp>
        <p:nvSpPr>
          <p:cNvPr id="13" name="Rounded Rectangle 12"/>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大学を「個」で見ず、エリアの1施設として影響の輪を設計した。</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本日の3つ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24</a:t>
            </a:r>
          </a:p>
        </p:txBody>
      </p:sp>
      <p:sp>
        <p:nvSpPr>
          <p:cNvPr id="6" name="Oval 5"/>
          <p:cNvSpPr/>
          <p:nvPr/>
        </p:nvSpPr>
        <p:spPr>
          <a:xfrm>
            <a:off x="548640" y="1920240"/>
            <a:ext cx="731520" cy="73152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1</a:t>
            </a:r>
          </a:p>
        </p:txBody>
      </p:sp>
      <p:sp>
        <p:nvSpPr>
          <p:cNvPr id="7" name="Rounded Rectangle 6"/>
          <p:cNvSpPr/>
          <p:nvPr/>
        </p:nvSpPr>
        <p:spPr>
          <a:xfrm>
            <a:off x="1463040" y="1783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F3864"/>
                </a:solidFill>
                <a:latin typeface="Meiryo UI"/>
                <a:ea typeface="Meiryo UI"/>
              </a:rPr>
              <a:t>情報は、仕分けた瞬間に意味を持つ</a:t>
            </a:r>
          </a:p>
          <a:p>
            <a:pPr algn="l">
              <a:lnSpc>
                <a:spcPct val="120000"/>
              </a:lnSpc>
            </a:pPr>
            <a:r>
              <a:rPr sz="1300" b="0" i="0">
                <a:solidFill>
                  <a:srgbClr val="262626"/>
                </a:solidFill>
                <a:latin typeface="Meiryo UI"/>
                <a:ea typeface="Meiryo UI"/>
              </a:rPr>
              <a:t>Fact・Wants・Needs。どれかに置くだけで、次に何を聞くかが決まる。</a:t>
            </a:r>
          </a:p>
        </p:txBody>
      </p:sp>
      <p:sp>
        <p:nvSpPr>
          <p:cNvPr id="8" name="Oval 7"/>
          <p:cNvSpPr/>
          <p:nvPr/>
        </p:nvSpPr>
        <p:spPr>
          <a:xfrm>
            <a:off x="548640" y="3063240"/>
            <a:ext cx="731520" cy="731520"/>
          </a:xfrm>
          <a:prstGeom prst="ellipse">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2</a:t>
            </a:r>
          </a:p>
        </p:txBody>
      </p:sp>
      <p:sp>
        <p:nvSpPr>
          <p:cNvPr id="9" name="Rounded Rectangle 8"/>
          <p:cNvSpPr/>
          <p:nvPr/>
        </p:nvSpPr>
        <p:spPr>
          <a:xfrm>
            <a:off x="1463040" y="2926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B86A00"/>
                </a:solidFill>
                <a:latin typeface="Meiryo UI"/>
                <a:ea typeface="Meiryo UI"/>
              </a:rPr>
              <a:t>Needsまで降りれば、手段は選べる</a:t>
            </a:r>
          </a:p>
          <a:p>
            <a:pPr algn="l">
              <a:lnSpc>
                <a:spcPct val="120000"/>
              </a:lnSpc>
            </a:pPr>
            <a:r>
              <a:rPr sz="1300" b="0" i="0">
                <a:solidFill>
                  <a:srgbClr val="262626"/>
                </a:solidFill>
                <a:latin typeface="Meiryo UI"/>
                <a:ea typeface="Meiryo UI"/>
              </a:rPr>
              <a:t>Wantsに応えるのが仕事ではない。仮説を立てて、4Sで解決策を選ぶ。</a:t>
            </a:r>
          </a:p>
        </p:txBody>
      </p:sp>
      <p:sp>
        <p:nvSpPr>
          <p:cNvPr id="10" name="Oval 9"/>
          <p:cNvSpPr/>
          <p:nvPr/>
        </p:nvSpPr>
        <p:spPr>
          <a:xfrm>
            <a:off x="548640" y="4206240"/>
            <a:ext cx="731520" cy="73152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3</a:t>
            </a:r>
          </a:p>
        </p:txBody>
      </p:sp>
      <p:sp>
        <p:nvSpPr>
          <p:cNvPr id="11" name="Rounded Rectangle 10"/>
          <p:cNvSpPr/>
          <p:nvPr/>
        </p:nvSpPr>
        <p:spPr>
          <a:xfrm>
            <a:off x="1463040" y="4069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28A54"/>
                </a:solidFill>
                <a:latin typeface="Meiryo UI"/>
                <a:ea typeface="Meiryo UI"/>
              </a:rPr>
              <a:t>大学は、エリアの1施設</a:t>
            </a:r>
          </a:p>
          <a:p>
            <a:pPr algn="l">
              <a:lnSpc>
                <a:spcPct val="120000"/>
              </a:lnSpc>
            </a:pPr>
            <a:r>
              <a:rPr sz="1300" b="0" i="0">
                <a:solidFill>
                  <a:srgbClr val="262626"/>
                </a:solidFill>
                <a:latin typeface="Meiryo UI"/>
                <a:ea typeface="Meiryo UI"/>
              </a:rPr>
              <a:t>Triple Winをエリアまで広げると、同じ打ち手でも残るものが変わる。</a:t>
            </a:r>
          </a:p>
        </p:txBody>
      </p:sp>
      <p:sp>
        <p:nvSpPr>
          <p:cNvPr id="12" name="Rounded Rectangle 11"/>
          <p:cNvSpPr/>
          <p:nvPr/>
        </p:nvSpPr>
        <p:spPr>
          <a:xfrm>
            <a:off x="548640" y="5175504"/>
            <a:ext cx="11109960" cy="102412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600"/>
              </a:spcAft>
            </a:pPr>
            <a:r>
              <a:rPr sz="1500" b="0" i="0">
                <a:solidFill>
                  <a:srgbClr val="FFFFFF"/>
                </a:solidFill>
                <a:latin typeface="Meiryo UI"/>
                <a:ea typeface="Meiryo UI"/>
              </a:rPr>
              <a:t>各自のFactを仕分けて、仮説を立てて、エリア攻略に。</a:t>
            </a:r>
          </a:p>
          <a:p>
            <a:pPr algn="ctr"/>
            <a:r>
              <a:rPr sz="2000" b="1" i="0">
                <a:solidFill>
                  <a:srgbClr val="FFC000"/>
                </a:solidFill>
                <a:latin typeface="Meiryo UI"/>
                <a:ea typeface="Meiryo UI"/>
              </a:rPr>
              <a:t>大学PJで共有した活動を、明日からの担当エリアで活かしてください。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⑨ 総括　｜　5分</a:t>
            </a:r>
          </a:p>
        </p:txBody>
      </p:sp>
      <p:sp>
        <p:nvSpPr>
          <p:cNvPr id="4" name="TextBox 3"/>
          <p:cNvSpPr txBox="1"/>
          <p:nvPr/>
        </p:nvSpPr>
        <p:spPr>
          <a:xfrm>
            <a:off x="548640" y="868680"/>
            <a:ext cx="11155680" cy="731520"/>
          </a:xfrm>
          <a:prstGeom prst="rect">
            <a:avLst/>
          </a:prstGeom>
          <a:noFill/>
        </p:spPr>
        <p:txBody>
          <a:bodyPr wrap="square" lIns="0" rIns="0" tIns="0" bIns="0" anchor="t">
            <a:spAutoFit/>
          </a:bodyPr>
          <a:lstStyle/>
          <a:p>
            <a:pPr algn="l"/>
            <a:r>
              <a:rPr sz="3200" b="1" i="0">
                <a:solidFill>
                  <a:srgbClr val="0B4F37"/>
                </a:solidFill>
                <a:latin typeface="Meiryo UI"/>
                <a:ea typeface="Meiryo UI"/>
              </a:rPr>
              <a:t>総括</a:t>
            </a:r>
          </a:p>
        </p:txBody>
      </p:sp>
      <p:sp>
        <p:nvSpPr>
          <p:cNvPr id="5" name="Rounded Rectangle 4"/>
          <p:cNvSpPr/>
          <p:nvPr/>
        </p:nvSpPr>
        <p:spPr>
          <a:xfrm>
            <a:off x="548640" y="1828800"/>
            <a:ext cx="11109960" cy="777240"/>
          </a:xfrm>
          <a:prstGeom prst="roundRect">
            <a:avLst>
              <a:gd name="adj" fmla="val 6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200" b="1" i="0">
                <a:solidFill>
                  <a:srgbClr val="262626"/>
                </a:solidFill>
                <a:latin typeface="Meiryo UI"/>
                <a:ea typeface="Meiryo UI"/>
              </a:rPr>
              <a:t>4回を通して、大学・基幹病院の担当として何が変わったか</a:t>
            </a:r>
          </a:p>
        </p:txBody>
      </p:sp>
      <p:sp>
        <p:nvSpPr>
          <p:cNvPr id="6" name="Rounded Rectangle 5"/>
          <p:cNvSpPr/>
          <p:nvPr/>
        </p:nvSpPr>
        <p:spPr>
          <a:xfrm>
            <a:off x="548640"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第1回</a:t>
            </a:r>
          </a:p>
          <a:p>
            <a:pPr algn="ctr">
              <a:lnSpc>
                <a:spcPct val="115000"/>
              </a:lnSpc>
            </a:pPr>
            <a:r>
              <a:rPr sz="1450" b="1" i="0">
                <a:solidFill>
                  <a:srgbClr val="FFFFFF"/>
                </a:solidFill>
                <a:latin typeface="Meiryo UI"/>
                <a:ea typeface="Meiryo UI"/>
              </a:rPr>
              <a:t>見る力</a:t>
            </a:r>
          </a:p>
        </p:txBody>
      </p:sp>
      <p:sp>
        <p:nvSpPr>
          <p:cNvPr id="7" name="Right Arrow 6"/>
          <p:cNvSpPr/>
          <p:nvPr/>
        </p:nvSpPr>
        <p:spPr>
          <a:xfrm>
            <a:off x="3227832"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第2回</a:t>
            </a:r>
          </a:p>
          <a:p>
            <a:pPr algn="ctr">
              <a:lnSpc>
                <a:spcPct val="115000"/>
              </a:lnSpc>
            </a:pPr>
            <a:r>
              <a:rPr sz="1450" b="1" i="0">
                <a:solidFill>
                  <a:srgbClr val="FFFFFF"/>
                </a:solidFill>
                <a:latin typeface="Meiryo UI"/>
                <a:ea typeface="Meiryo UI"/>
              </a:rPr>
              <a:t>会う力</a:t>
            </a:r>
          </a:p>
        </p:txBody>
      </p:sp>
      <p:sp>
        <p:nvSpPr>
          <p:cNvPr id="9" name="Right Arrow 8"/>
          <p:cNvSpPr/>
          <p:nvPr/>
        </p:nvSpPr>
        <p:spPr>
          <a:xfrm>
            <a:off x="6080760"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第3回</a:t>
            </a:r>
          </a:p>
          <a:p>
            <a:pPr algn="ctr">
              <a:lnSpc>
                <a:spcPct val="115000"/>
              </a:lnSpc>
            </a:pPr>
            <a:r>
              <a:rPr sz="1450" b="1" i="0">
                <a:solidFill>
                  <a:srgbClr val="FFFFFF"/>
                </a:solidFill>
                <a:latin typeface="Meiryo UI"/>
                <a:ea typeface="Meiryo UI"/>
              </a:rPr>
              <a:t>情報を取る力</a:t>
            </a:r>
          </a:p>
        </p:txBody>
      </p:sp>
      <p:sp>
        <p:nvSpPr>
          <p:cNvPr id="11" name="Right Arrow 10"/>
          <p:cNvSpPr/>
          <p:nvPr/>
        </p:nvSpPr>
        <p:spPr>
          <a:xfrm>
            <a:off x="8933688"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2880360"/>
            <a:ext cx="2651760" cy="86868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0B4F37"/>
                </a:solidFill>
                <a:latin typeface="Meiryo UI"/>
                <a:ea typeface="Meiryo UI"/>
              </a:rPr>
              <a:t>第4回</a:t>
            </a:r>
          </a:p>
          <a:p>
            <a:pPr algn="ctr">
              <a:lnSpc>
                <a:spcPct val="115000"/>
              </a:lnSpc>
            </a:pPr>
            <a:r>
              <a:rPr sz="1450" b="1" i="0">
                <a:solidFill>
                  <a:srgbClr val="0B4F37"/>
                </a:solidFill>
                <a:latin typeface="Meiryo UI"/>
                <a:ea typeface="Meiryo UI"/>
              </a:rPr>
              <a:t>仮説を立てる力</a:t>
            </a:r>
          </a:p>
        </p:txBody>
      </p:sp>
      <p:sp>
        <p:nvSpPr>
          <p:cNvPr id="13" name="Rounded Rectangle 12"/>
          <p:cNvSpPr/>
          <p:nvPr/>
        </p:nvSpPr>
        <p:spPr>
          <a:xfrm>
            <a:off x="548640" y="4023360"/>
            <a:ext cx="11109960" cy="182880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777240" y="4160520"/>
            <a:ext cx="1060704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 所長よりご総括</a:t>
            </a:r>
          </a:p>
        </p:txBody>
      </p:sp>
      <p:sp>
        <p:nvSpPr>
          <p:cNvPr id="15" name="TextBox 1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16" name="TextBox 1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TextBox 2"/>
          <p:cNvSpPr txBox="1"/>
          <p:nvPr/>
        </p:nvSpPr>
        <p:spPr>
          <a:xfrm>
            <a:off x="822960" y="1371600"/>
            <a:ext cx="10515600" cy="457200"/>
          </a:xfrm>
          <a:prstGeom prst="rect">
            <a:avLst/>
          </a:prstGeom>
          <a:noFill/>
        </p:spPr>
        <p:txBody>
          <a:bodyPr wrap="square" lIns="0" rIns="0" tIns="0" bIns="0" anchor="t">
            <a:spAutoFit/>
          </a:bodyPr>
          <a:lstStyle/>
          <a:p>
            <a:pPr algn="l"/>
            <a:r>
              <a:rPr sz="1900" b="1" i="0">
                <a:solidFill>
                  <a:srgbClr val="BFE8D2"/>
                </a:solidFill>
                <a:latin typeface="Meiryo UI"/>
                <a:ea typeface="Meiryo UI"/>
              </a:rPr>
              <a:t>ありがとうございました</a:t>
            </a:r>
          </a:p>
        </p:txBody>
      </p:sp>
      <p:sp>
        <p:nvSpPr>
          <p:cNvPr id="4" name="Rounded Rectangle 3"/>
          <p:cNvSpPr/>
          <p:nvPr/>
        </p:nvSpPr>
        <p:spPr>
          <a:xfrm>
            <a:off x="822960" y="2194560"/>
            <a:ext cx="10515600" cy="173736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ctr">
              <a:spcAft>
                <a:spcPts val="800"/>
              </a:spcAft>
            </a:pPr>
            <a:r>
              <a:rPr sz="1500" b="1" i="0">
                <a:solidFill>
                  <a:srgbClr val="0B4F37"/>
                </a:solidFill>
                <a:latin typeface="Meiryo UI"/>
                <a:ea typeface="Meiryo UI"/>
              </a:rPr>
              <a:t>大学担当者に求められるのは、</a:t>
            </a:r>
          </a:p>
          <a:p>
            <a:pPr algn="ctr">
              <a:spcAft>
                <a:spcPts val="1400"/>
              </a:spcAft>
            </a:pPr>
            <a:r>
              <a:rPr sz="1500" b="1" i="0">
                <a:solidFill>
                  <a:srgbClr val="0B4F37"/>
                </a:solidFill>
                <a:latin typeface="Meiryo UI"/>
                <a:ea typeface="Meiryo UI"/>
              </a:rPr>
              <a:t>大学の中だけを詳しく知ることではありません。</a:t>
            </a:r>
          </a:p>
          <a:p>
            <a:pPr algn="ctr">
              <a:lnSpc>
                <a:spcPct val="125000"/>
              </a:lnSpc>
            </a:pPr>
            <a:r>
              <a:rPr sz="2200" b="1" i="0">
                <a:solidFill>
                  <a:srgbClr val="0B4F37"/>
                </a:solidFill>
                <a:latin typeface="Meiryo UI"/>
                <a:ea typeface="Meiryo UI"/>
              </a:rPr>
              <a:t>得た情報から仮説を立て、エリアの中でWinを広げられること。</a:t>
            </a:r>
          </a:p>
        </p:txBody>
      </p:sp>
      <p:sp>
        <p:nvSpPr>
          <p:cNvPr id="5" name="TextBox 4"/>
          <p:cNvSpPr txBox="1"/>
          <p:nvPr/>
        </p:nvSpPr>
        <p:spPr>
          <a:xfrm>
            <a:off x="822960" y="4343400"/>
            <a:ext cx="10515600" cy="365760"/>
          </a:xfrm>
          <a:prstGeom prst="rect">
            <a:avLst/>
          </a:prstGeom>
          <a:noFill/>
        </p:spPr>
        <p:txBody>
          <a:bodyPr wrap="square" lIns="0" rIns="0" tIns="0" bIns="0" anchor="t">
            <a:spAutoFit/>
          </a:bodyPr>
          <a:lstStyle/>
          <a:p>
            <a:pPr algn="ctr"/>
            <a:r>
              <a:rPr sz="1600" b="1" i="0">
                <a:solidFill>
                  <a:srgbClr val="BFE8D2"/>
                </a:solidFill>
                <a:latin typeface="Meiryo UI"/>
                <a:ea typeface="Meiryo UI"/>
              </a:rPr>
              <a:t>明日から、担当施設のFactを1つ仕分けてみてください。</a:t>
            </a:r>
          </a:p>
        </p:txBody>
      </p:sp>
      <p:sp>
        <p:nvSpPr>
          <p:cNvPr id="6" name="TextBox 5"/>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7" name="TextBox 6"/>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参考：ワーク① 仕分けの一例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27</a:t>
            </a:r>
          </a:p>
        </p:txBody>
      </p:sp>
      <p:sp>
        <p:nvSpPr>
          <p:cNvPr id="6" name="TextBox 5"/>
          <p:cNvSpPr txBox="1"/>
          <p:nvPr/>
        </p:nvSpPr>
        <p:spPr>
          <a:xfrm>
            <a:off x="548640" y="1481328"/>
            <a:ext cx="11109960" cy="310896"/>
          </a:xfrm>
          <a:prstGeom prst="rect">
            <a:avLst/>
          </a:prstGeom>
          <a:noFill/>
        </p:spPr>
        <p:txBody>
          <a:bodyPr wrap="square" lIns="0" rIns="0" tIns="0" bIns="0" anchor="t">
            <a:spAutoFit/>
          </a:bodyPr>
          <a:lstStyle/>
          <a:p>
            <a:pPr algn="ctr"/>
            <a:r>
              <a:rPr sz="1250" b="0" i="0">
                <a:solidFill>
                  <a:srgbClr val="595959"/>
                </a:solidFill>
                <a:latin typeface="Meiryo UI"/>
                <a:ea typeface="Meiryo UI"/>
              </a:rPr>
              <a:t>唯一の正解ではありません。なぜそう置いたかを説明できることが目的です。</a:t>
            </a:r>
          </a:p>
        </p:txBody>
      </p:sp>
      <p:sp>
        <p:nvSpPr>
          <p:cNvPr id="7" name="Rounded Rectangle 6"/>
          <p:cNvSpPr/>
          <p:nvPr/>
        </p:nvSpPr>
        <p:spPr>
          <a:xfrm>
            <a:off x="548640" y="1874519"/>
            <a:ext cx="3566160" cy="50292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Fact（事実）</a:t>
            </a:r>
          </a:p>
        </p:txBody>
      </p:sp>
      <p:sp>
        <p:nvSpPr>
          <p:cNvPr id="8" name="Rounded Rectangle 7"/>
          <p:cNvSpPr/>
          <p:nvPr/>
        </p:nvSpPr>
        <p:spPr>
          <a:xfrm>
            <a:off x="548640"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② 腎生検の件数が、3年前の半分になっている</a:t>
            </a:r>
          </a:p>
          <a:p>
            <a:pPr algn="l">
              <a:lnSpc>
                <a:spcPct val="130000"/>
              </a:lnSpc>
              <a:spcAft>
                <a:spcPts val="1300"/>
              </a:spcAft>
            </a:pPr>
            <a:r>
              <a:rPr sz="1200" b="0" i="0">
                <a:solidFill>
                  <a:srgbClr val="262626"/>
                </a:solidFill>
                <a:latin typeface="Meiryo UI"/>
                <a:ea typeface="Meiryo UI"/>
              </a:rPr>
              <a:t>⑤ eGFRが20を切ってから紹介されることが多い</a:t>
            </a:r>
          </a:p>
          <a:p>
            <a:pPr algn="l">
              <a:lnSpc>
                <a:spcPct val="130000"/>
              </a:lnSpc>
              <a:spcAft>
                <a:spcPts val="1300"/>
              </a:spcAft>
            </a:pPr>
            <a:r>
              <a:rPr sz="1200" b="0" i="0">
                <a:solidFill>
                  <a:srgbClr val="262626"/>
                </a:solidFill>
                <a:latin typeface="Meiryo UI"/>
                <a:ea typeface="Meiryo UI"/>
              </a:rPr>
              <a:t>⑧ 教授が来年、学会の会長を務める</a:t>
            </a:r>
          </a:p>
        </p:txBody>
      </p:sp>
      <p:sp>
        <p:nvSpPr>
          <p:cNvPr id="9" name="Rounded Rectangle 8"/>
          <p:cNvSpPr/>
          <p:nvPr/>
        </p:nvSpPr>
        <p:spPr>
          <a:xfrm>
            <a:off x="548640"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仮説の材料。単独では打ち手にならない</a:t>
            </a:r>
          </a:p>
        </p:txBody>
      </p:sp>
      <p:sp>
        <p:nvSpPr>
          <p:cNvPr id="10" name="Rounded Rectangle 9"/>
          <p:cNvSpPr/>
          <p:nvPr/>
        </p:nvSpPr>
        <p:spPr>
          <a:xfrm>
            <a:off x="4288536" y="1874519"/>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Wants（手段）</a:t>
            </a:r>
          </a:p>
        </p:txBody>
      </p:sp>
      <p:sp>
        <p:nvSpPr>
          <p:cNvPr id="11" name="Rounded Rectangle 10"/>
          <p:cNvSpPr/>
          <p:nvPr/>
        </p:nvSpPr>
        <p:spPr>
          <a:xfrm>
            <a:off x="4288536"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① 関連病院向けにCKDの勉強会をやってほしい</a:t>
            </a:r>
          </a:p>
          <a:p>
            <a:pPr algn="l">
              <a:lnSpc>
                <a:spcPct val="130000"/>
              </a:lnSpc>
              <a:spcAft>
                <a:spcPts val="1300"/>
              </a:spcAft>
            </a:pPr>
            <a:r>
              <a:rPr sz="1200" b="0" i="0">
                <a:solidFill>
                  <a:srgbClr val="262626"/>
                </a:solidFill>
                <a:latin typeface="Meiryo UI"/>
                <a:ea typeface="Meiryo UI"/>
              </a:rPr>
              <a:t>④ 〇〇大学の△△先生を研究会に呼んでほしい</a:t>
            </a:r>
          </a:p>
          <a:p>
            <a:pPr algn="l">
              <a:lnSpc>
                <a:spcPct val="130000"/>
              </a:lnSpc>
              <a:spcAft>
                <a:spcPts val="1300"/>
              </a:spcAft>
            </a:pPr>
            <a:r>
              <a:rPr sz="1200" b="0" i="0">
                <a:solidFill>
                  <a:srgbClr val="262626"/>
                </a:solidFill>
                <a:latin typeface="Meiryo UI"/>
                <a:ea typeface="Meiryo UI"/>
              </a:rPr>
              <a:t>⑦ 先月の学会のスライドが欲しい</a:t>
            </a:r>
          </a:p>
        </p:txBody>
      </p:sp>
      <p:sp>
        <p:nvSpPr>
          <p:cNvPr id="12" name="Rounded Rectangle 11"/>
          <p:cNvSpPr/>
          <p:nvPr/>
        </p:nvSpPr>
        <p:spPr>
          <a:xfrm>
            <a:off x="4288536"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「なぜ？」を重ねてNeedsへ降りる</a:t>
            </a:r>
          </a:p>
        </p:txBody>
      </p:sp>
      <p:sp>
        <p:nvSpPr>
          <p:cNvPr id="13" name="Rounded Rectangle 12"/>
          <p:cNvSpPr/>
          <p:nvPr/>
        </p:nvSpPr>
        <p:spPr>
          <a:xfrm>
            <a:off x="8028431" y="1874519"/>
            <a:ext cx="3566160" cy="5029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Needs（状態）</a:t>
            </a:r>
          </a:p>
        </p:txBody>
      </p:sp>
      <p:sp>
        <p:nvSpPr>
          <p:cNvPr id="14" name="Rounded Rectangle 13"/>
          <p:cNvSpPr/>
          <p:nvPr/>
        </p:nvSpPr>
        <p:spPr>
          <a:xfrm>
            <a:off x="8028431"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③ 若手に、腎病理を読める医師を育てたい</a:t>
            </a:r>
          </a:p>
          <a:p>
            <a:pPr algn="l">
              <a:lnSpc>
                <a:spcPct val="130000"/>
              </a:lnSpc>
              <a:spcAft>
                <a:spcPts val="1300"/>
              </a:spcAft>
            </a:pPr>
            <a:r>
              <a:rPr sz="1200" b="0" i="0">
                <a:solidFill>
                  <a:srgbClr val="262626"/>
                </a:solidFill>
                <a:latin typeface="Meiryo UI"/>
                <a:ea typeface="Meiryo UI"/>
              </a:rPr>
              <a:t>⑥ うちの医局を、もっと全国に知ってもらいたい</a:t>
            </a:r>
          </a:p>
          <a:p>
            <a:pPr algn="l">
              <a:lnSpc>
                <a:spcPct val="130000"/>
              </a:lnSpc>
              <a:spcAft>
                <a:spcPts val="1300"/>
              </a:spcAft>
            </a:pPr>
            <a:r>
              <a:rPr sz="1200" b="0" i="0">
                <a:solidFill>
                  <a:srgbClr val="262626"/>
                </a:solidFill>
                <a:latin typeface="Meiryo UI"/>
                <a:ea typeface="Meiryo UI"/>
              </a:rPr>
              <a:t>⑨ 透析導入を、できるだけ遅らせたい</a:t>
            </a:r>
          </a:p>
        </p:txBody>
      </p:sp>
      <p:sp>
        <p:nvSpPr>
          <p:cNvPr id="15" name="Rounded Rectangle 14"/>
          <p:cNvSpPr/>
          <p:nvPr/>
        </p:nvSpPr>
        <p:spPr>
          <a:xfrm>
            <a:off x="8028431"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成功像になる。手段はここから選ぶ</a:t>
            </a:r>
          </a:p>
        </p:txBody>
      </p:sp>
      <p:sp>
        <p:nvSpPr>
          <p:cNvPr id="16" name="Rounded Rectangle 15"/>
          <p:cNvSpPr/>
          <p:nvPr/>
        </p:nvSpPr>
        <p:spPr>
          <a:xfrm>
            <a:off x="548640" y="5349240"/>
            <a:ext cx="11109960" cy="8686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lnSpc>
                <a:spcPct val="125000"/>
              </a:lnSpc>
            </a:pPr>
            <a:r>
              <a:rPr sz="1500" b="1" i="0">
                <a:solidFill>
                  <a:srgbClr val="FFC000"/>
                </a:solidFill>
                <a:latin typeface="Meiryo UI"/>
                <a:ea typeface="Meiryo UI"/>
              </a:rPr>
              <a:t>一つの発言にも、複数の解釈があり得ます。仕分けが割れること自体が、確認すべき情報の在りかです。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B</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参考：考えられるFact（事実）</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28</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評価や推測を混ぜず、確認できた事実として書く。大学・基幹病院で取得し得るFactの例です。</a:t>
            </a:r>
          </a:p>
        </p:txBody>
      </p:sp>
      <p:sp>
        <p:nvSpPr>
          <p:cNvPr id="7" name="Rounded Rectangle 6"/>
          <p:cNvSpPr/>
          <p:nvPr/>
        </p:nvSpPr>
        <p:spPr>
          <a:xfrm>
            <a:off x="548640"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施設・診療体制</a:t>
            </a:r>
          </a:p>
        </p:txBody>
      </p:sp>
      <p:sp>
        <p:nvSpPr>
          <p:cNvPr id="8" name="Rounded Rectangle 7"/>
          <p:cNvSpPr/>
          <p:nvPr/>
        </p:nvSpPr>
        <p:spPr>
          <a:xfrm>
            <a:off x="548640"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・腎生検件数が3年前より減少している</a:t>
            </a:r>
          </a:p>
          <a:p>
            <a:pPr algn="l">
              <a:lnSpc>
                <a:spcPct val="118000"/>
              </a:lnSpc>
              <a:spcAft>
                <a:spcPts val="600"/>
              </a:spcAft>
            </a:pPr>
            <a:r>
              <a:rPr sz="1050" b="0" i="0">
                <a:solidFill>
                  <a:srgbClr val="262626"/>
                </a:solidFill>
                <a:latin typeface="Meiryo UI"/>
                <a:ea typeface="Meiryo UI"/>
              </a:rPr>
              <a:t>・腎病理を専門とする医師が院内にいない</a:t>
            </a:r>
          </a:p>
          <a:p>
            <a:pPr algn="l">
              <a:lnSpc>
                <a:spcPct val="118000"/>
              </a:lnSpc>
              <a:spcAft>
                <a:spcPts val="600"/>
              </a:spcAft>
            </a:pPr>
            <a:r>
              <a:rPr sz="1050" b="0" i="0">
                <a:solidFill>
                  <a:srgbClr val="262626"/>
                </a:solidFill>
                <a:latin typeface="Meiryo UI"/>
                <a:ea typeface="Meiryo UI"/>
              </a:rPr>
              <a:t>・腎生検結果の確認まで平均3週間かかる</a:t>
            </a:r>
          </a:p>
          <a:p>
            <a:pPr algn="l">
              <a:lnSpc>
                <a:spcPct val="118000"/>
              </a:lnSpc>
              <a:spcAft>
                <a:spcPts val="600"/>
              </a:spcAft>
            </a:pPr>
            <a:r>
              <a:rPr sz="1050" b="0" i="0">
                <a:solidFill>
                  <a:srgbClr val="262626"/>
                </a:solidFill>
                <a:latin typeface="Meiryo UI"/>
                <a:ea typeface="Meiryo UI"/>
              </a:rPr>
              <a:t>・専門外来が週1回のみである</a:t>
            </a:r>
          </a:p>
          <a:p>
            <a:pPr algn="l">
              <a:lnSpc>
                <a:spcPct val="118000"/>
              </a:lnSpc>
              <a:spcAft>
                <a:spcPts val="600"/>
              </a:spcAft>
            </a:pPr>
            <a:r>
              <a:rPr sz="1050" b="0" i="0">
                <a:solidFill>
                  <a:srgbClr val="262626"/>
                </a:solidFill>
                <a:latin typeface="Meiryo UI"/>
                <a:ea typeface="Meiryo UI"/>
              </a:rPr>
              <a:t>・他院からの症例相談は医局長が一括対応</a:t>
            </a:r>
          </a:p>
        </p:txBody>
      </p:sp>
      <p:sp>
        <p:nvSpPr>
          <p:cNvPr id="9" name="Rounded Rectangle 8"/>
          <p:cNvSpPr/>
          <p:nvPr/>
        </p:nvSpPr>
        <p:spPr>
          <a:xfrm>
            <a:off x="4288536"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患者・診療実態</a:t>
            </a:r>
          </a:p>
        </p:txBody>
      </p:sp>
      <p:sp>
        <p:nvSpPr>
          <p:cNvPr id="10" name="Rounded Rectangle 9"/>
          <p:cNvSpPr/>
          <p:nvPr/>
        </p:nvSpPr>
        <p:spPr>
          <a:xfrm>
            <a:off x="4288536"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・腎機能が高度に低下してから紹介される</a:t>
            </a:r>
          </a:p>
          <a:p>
            <a:pPr algn="l">
              <a:lnSpc>
                <a:spcPct val="118000"/>
              </a:lnSpc>
              <a:spcAft>
                <a:spcPts val="600"/>
              </a:spcAft>
            </a:pPr>
            <a:r>
              <a:rPr sz="1050" b="0" i="0">
                <a:solidFill>
                  <a:srgbClr val="262626"/>
                </a:solidFill>
                <a:latin typeface="Meiryo UI"/>
                <a:ea typeface="Meiryo UI"/>
              </a:rPr>
              <a:t>・大学と関連病院で治療方針が異なる</a:t>
            </a:r>
          </a:p>
          <a:p>
            <a:pPr algn="l">
              <a:lnSpc>
                <a:spcPct val="118000"/>
              </a:lnSpc>
              <a:spcAft>
                <a:spcPts val="600"/>
              </a:spcAft>
            </a:pPr>
            <a:r>
              <a:rPr sz="1050" b="0" i="0">
                <a:solidFill>
                  <a:srgbClr val="262626"/>
                </a:solidFill>
                <a:latin typeface="Meiryo UI"/>
                <a:ea typeface="Meiryo UI"/>
              </a:rPr>
              <a:t>・治療導入の判断が特定の医師に集中</a:t>
            </a:r>
          </a:p>
          <a:p>
            <a:pPr algn="l">
              <a:lnSpc>
                <a:spcPct val="118000"/>
              </a:lnSpc>
              <a:spcAft>
                <a:spcPts val="600"/>
              </a:spcAft>
            </a:pPr>
            <a:r>
              <a:rPr sz="1050" b="0" i="0">
                <a:solidFill>
                  <a:srgbClr val="262626"/>
                </a:solidFill>
                <a:latin typeface="Meiryo UI"/>
                <a:ea typeface="Meiryo UI"/>
              </a:rPr>
              <a:t>・若手医師によって検査・治療の進め方に差</a:t>
            </a:r>
          </a:p>
          <a:p>
            <a:pPr algn="l">
              <a:lnSpc>
                <a:spcPct val="118000"/>
              </a:lnSpc>
              <a:spcAft>
                <a:spcPts val="600"/>
              </a:spcAft>
            </a:pPr>
            <a:r>
              <a:rPr sz="1050" b="0" i="0">
                <a:solidFill>
                  <a:srgbClr val="262626"/>
                </a:solidFill>
                <a:latin typeface="Meiryo UI"/>
                <a:ea typeface="Meiryo UI"/>
              </a:rPr>
              <a:t>・紹介後のフィードバックが紹介元へ返らない</a:t>
            </a:r>
          </a:p>
        </p:txBody>
      </p:sp>
      <p:sp>
        <p:nvSpPr>
          <p:cNvPr id="11" name="Rounded Rectangle 10"/>
          <p:cNvSpPr/>
          <p:nvPr/>
        </p:nvSpPr>
        <p:spPr>
          <a:xfrm>
            <a:off x="8028431"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人事・組織</a:t>
            </a:r>
          </a:p>
        </p:txBody>
      </p:sp>
      <p:sp>
        <p:nvSpPr>
          <p:cNvPr id="12" name="Rounded Rectangle 11"/>
          <p:cNvSpPr/>
          <p:nvPr/>
        </p:nvSpPr>
        <p:spPr>
          <a:xfrm>
            <a:off x="8028431"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・来年度に教授交代が予定されている</a:t>
            </a:r>
          </a:p>
          <a:p>
            <a:pPr algn="l">
              <a:lnSpc>
                <a:spcPct val="118000"/>
              </a:lnSpc>
              <a:spcAft>
                <a:spcPts val="600"/>
              </a:spcAft>
            </a:pPr>
            <a:r>
              <a:rPr sz="1050" b="0" i="0">
                <a:solidFill>
                  <a:srgbClr val="262626"/>
                </a:solidFill>
                <a:latin typeface="Meiryo UI"/>
                <a:ea typeface="Meiryo UI"/>
              </a:rPr>
              <a:t>・医局長が関連病院人事の調整を担当</a:t>
            </a:r>
          </a:p>
          <a:p>
            <a:pPr algn="l">
              <a:lnSpc>
                <a:spcPct val="118000"/>
              </a:lnSpc>
              <a:spcAft>
                <a:spcPts val="600"/>
              </a:spcAft>
            </a:pPr>
            <a:r>
              <a:rPr sz="1050" b="0" i="0">
                <a:solidFill>
                  <a:srgbClr val="262626"/>
                </a:solidFill>
                <a:latin typeface="Meiryo UI"/>
                <a:ea typeface="Meiryo UI"/>
              </a:rPr>
              <a:t>・複数の基幹病院部長が同じ医局の出身</a:t>
            </a:r>
          </a:p>
          <a:p>
            <a:pPr algn="l">
              <a:lnSpc>
                <a:spcPct val="118000"/>
              </a:lnSpc>
              <a:spcAft>
                <a:spcPts val="600"/>
              </a:spcAft>
            </a:pPr>
            <a:r>
              <a:rPr sz="1050" b="0" i="0">
                <a:solidFill>
                  <a:srgbClr val="262626"/>
                </a:solidFill>
                <a:latin typeface="Meiryo UI"/>
                <a:ea typeface="Meiryo UI"/>
              </a:rPr>
              <a:t>・若手医師が減少している</a:t>
            </a:r>
          </a:p>
          <a:p>
            <a:pPr algn="l">
              <a:lnSpc>
                <a:spcPct val="118000"/>
              </a:lnSpc>
              <a:spcAft>
                <a:spcPts val="600"/>
              </a:spcAft>
            </a:pPr>
            <a:r>
              <a:rPr sz="1050" b="0" i="0">
                <a:solidFill>
                  <a:srgbClr val="262626"/>
                </a:solidFill>
                <a:latin typeface="Meiryo UI"/>
                <a:ea typeface="Meiryo UI"/>
              </a:rPr>
              <a:t>・新たな寄附講座が設置された</a:t>
            </a:r>
          </a:p>
        </p:txBody>
      </p:sp>
      <p:sp>
        <p:nvSpPr>
          <p:cNvPr id="13" name="Rounded Rectangle 12"/>
          <p:cNvSpPr/>
          <p:nvPr/>
        </p:nvSpPr>
        <p:spPr>
          <a:xfrm>
            <a:off x="548640"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教育・研究・学術</a:t>
            </a:r>
          </a:p>
        </p:txBody>
      </p:sp>
      <p:sp>
        <p:nvSpPr>
          <p:cNvPr id="14" name="Rounded Rectangle 13"/>
          <p:cNvSpPr/>
          <p:nvPr/>
        </p:nvSpPr>
        <p:spPr>
          <a:xfrm>
            <a:off x="548640"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・教授が次年度の学会長を務める</a:t>
            </a:r>
          </a:p>
          <a:p>
            <a:pPr algn="l">
              <a:lnSpc>
                <a:spcPct val="118000"/>
              </a:lnSpc>
              <a:spcAft>
                <a:spcPts val="600"/>
              </a:spcAft>
            </a:pPr>
            <a:r>
              <a:rPr sz="1050" b="0" i="0">
                <a:solidFill>
                  <a:srgbClr val="262626"/>
                </a:solidFill>
                <a:latin typeface="Meiryo UI"/>
                <a:ea typeface="Meiryo UI"/>
              </a:rPr>
              <a:t>・医局が特定疾患の研究班へ参加している</a:t>
            </a:r>
          </a:p>
          <a:p>
            <a:pPr algn="l">
              <a:lnSpc>
                <a:spcPct val="118000"/>
              </a:lnSpc>
              <a:spcAft>
                <a:spcPts val="600"/>
              </a:spcAft>
            </a:pPr>
            <a:r>
              <a:rPr sz="1050" b="0" i="0">
                <a:solidFill>
                  <a:srgbClr val="262626"/>
                </a:solidFill>
                <a:latin typeface="Meiryo UI"/>
                <a:ea typeface="Meiryo UI"/>
              </a:rPr>
              <a:t>・若手向け勉強会が定期開催されていない</a:t>
            </a:r>
          </a:p>
          <a:p>
            <a:pPr algn="l">
              <a:lnSpc>
                <a:spcPct val="118000"/>
              </a:lnSpc>
              <a:spcAft>
                <a:spcPts val="600"/>
              </a:spcAft>
            </a:pPr>
            <a:r>
              <a:rPr sz="1050" b="0" i="0">
                <a:solidFill>
                  <a:srgbClr val="262626"/>
                </a:solidFill>
                <a:latin typeface="Meiryo UI"/>
                <a:ea typeface="Meiryo UI"/>
              </a:rPr>
              <a:t>・研究会の演者が毎回同じ医師に偏る</a:t>
            </a:r>
          </a:p>
          <a:p>
            <a:pPr algn="l">
              <a:lnSpc>
                <a:spcPct val="118000"/>
              </a:lnSpc>
              <a:spcAft>
                <a:spcPts val="600"/>
              </a:spcAft>
            </a:pPr>
            <a:r>
              <a:rPr sz="1050" b="0" i="0">
                <a:solidFill>
                  <a:srgbClr val="262626"/>
                </a:solidFill>
                <a:latin typeface="Meiryo UI"/>
                <a:ea typeface="Meiryo UI"/>
              </a:rPr>
              <a:t>・複数大学による共同研究実績がある</a:t>
            </a:r>
          </a:p>
        </p:txBody>
      </p:sp>
      <p:sp>
        <p:nvSpPr>
          <p:cNvPr id="15" name="Rounded Rectangle 14"/>
          <p:cNvSpPr/>
          <p:nvPr/>
        </p:nvSpPr>
        <p:spPr>
          <a:xfrm>
            <a:off x="4288536"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関係性</a:t>
            </a:r>
          </a:p>
        </p:txBody>
      </p:sp>
      <p:sp>
        <p:nvSpPr>
          <p:cNvPr id="16" name="Rounded Rectangle 15"/>
          <p:cNvSpPr/>
          <p:nvPr/>
        </p:nvSpPr>
        <p:spPr>
          <a:xfrm>
            <a:off x="4288536"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・基幹病院部長が大学教授へ定期的に症例相談</a:t>
            </a:r>
          </a:p>
          <a:p>
            <a:pPr algn="l">
              <a:lnSpc>
                <a:spcPct val="118000"/>
              </a:lnSpc>
              <a:spcAft>
                <a:spcPts val="600"/>
              </a:spcAft>
            </a:pPr>
            <a:r>
              <a:rPr sz="1050" b="0" i="0">
                <a:solidFill>
                  <a:srgbClr val="262626"/>
                </a:solidFill>
                <a:latin typeface="Meiryo UI"/>
                <a:ea typeface="Meiryo UI"/>
              </a:rPr>
              <a:t>・若手の相談相手は教授ではなく講師</a:t>
            </a:r>
          </a:p>
          <a:p>
            <a:pPr algn="l">
              <a:lnSpc>
                <a:spcPct val="118000"/>
              </a:lnSpc>
              <a:spcAft>
                <a:spcPts val="600"/>
              </a:spcAft>
            </a:pPr>
            <a:r>
              <a:rPr sz="1050" b="0" i="0">
                <a:solidFill>
                  <a:srgbClr val="262626"/>
                </a:solidFill>
                <a:latin typeface="Meiryo UI"/>
                <a:ea typeface="Meiryo UI"/>
              </a:rPr>
              <a:t>・近隣大学間に共同研究・同年卒のつながり</a:t>
            </a:r>
          </a:p>
          <a:p>
            <a:pPr algn="l">
              <a:lnSpc>
                <a:spcPct val="118000"/>
              </a:lnSpc>
              <a:spcAft>
                <a:spcPts val="600"/>
              </a:spcAft>
            </a:pPr>
            <a:r>
              <a:rPr sz="1050" b="0" i="0">
                <a:solidFill>
                  <a:srgbClr val="262626"/>
                </a:solidFill>
                <a:latin typeface="Meiryo UI"/>
                <a:ea typeface="Meiryo UI"/>
              </a:rPr>
              <a:t>・過去の人事を背景に施設間の関係が良好でない</a:t>
            </a:r>
          </a:p>
          <a:p>
            <a:pPr algn="l">
              <a:lnSpc>
                <a:spcPct val="118000"/>
              </a:lnSpc>
              <a:spcAft>
                <a:spcPts val="600"/>
              </a:spcAft>
            </a:pPr>
            <a:r>
              <a:rPr sz="1050" b="0" i="0">
                <a:solidFill>
                  <a:srgbClr val="262626"/>
                </a:solidFill>
                <a:latin typeface="Meiryo UI"/>
                <a:ea typeface="Meiryo UI"/>
              </a:rPr>
              <a:t>・研究会の実務を医局長ではなく若手が担う</a:t>
            </a:r>
          </a:p>
        </p:txBody>
      </p:sp>
      <p:sp>
        <p:nvSpPr>
          <p:cNvPr id="17" name="Rounded Rectangle 16"/>
          <p:cNvSpPr/>
          <p:nvPr/>
        </p:nvSpPr>
        <p:spPr>
          <a:xfrm>
            <a:off x="8028431"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地域・外部環境</a:t>
            </a:r>
          </a:p>
        </p:txBody>
      </p:sp>
      <p:sp>
        <p:nvSpPr>
          <p:cNvPr id="18" name="Rounded Rectangle 17"/>
          <p:cNvSpPr/>
          <p:nvPr/>
        </p:nvSpPr>
        <p:spPr>
          <a:xfrm>
            <a:off x="8028431"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・地域の腎臓専門医数が減少している</a:t>
            </a:r>
          </a:p>
          <a:p>
            <a:pPr algn="l">
              <a:lnSpc>
                <a:spcPct val="118000"/>
              </a:lnSpc>
              <a:spcAft>
                <a:spcPts val="600"/>
              </a:spcAft>
            </a:pPr>
            <a:r>
              <a:rPr sz="1050" b="0" i="0">
                <a:solidFill>
                  <a:srgbClr val="262626"/>
                </a:solidFill>
                <a:latin typeface="Meiryo UI"/>
                <a:ea typeface="Meiryo UI"/>
              </a:rPr>
              <a:t>・専門医療機関への患者流出が増えている</a:t>
            </a:r>
          </a:p>
          <a:p>
            <a:pPr algn="l">
              <a:lnSpc>
                <a:spcPct val="118000"/>
              </a:lnSpc>
              <a:spcAft>
                <a:spcPts val="600"/>
              </a:spcAft>
            </a:pPr>
            <a:r>
              <a:rPr sz="1050" b="0" i="0">
                <a:solidFill>
                  <a:srgbClr val="262626"/>
                </a:solidFill>
                <a:latin typeface="Meiryo UI"/>
                <a:ea typeface="Meiryo UI"/>
              </a:rPr>
              <a:t>・地域連携パスが十分に活用されていない</a:t>
            </a:r>
          </a:p>
          <a:p>
            <a:pPr algn="l">
              <a:lnSpc>
                <a:spcPct val="118000"/>
              </a:lnSpc>
              <a:spcAft>
                <a:spcPts val="600"/>
              </a:spcAft>
            </a:pPr>
            <a:r>
              <a:rPr sz="1050" b="0" i="0">
                <a:solidFill>
                  <a:srgbClr val="262626"/>
                </a:solidFill>
                <a:latin typeface="Meiryo UI"/>
                <a:ea typeface="Meiryo UI"/>
              </a:rPr>
              <a:t>・行政がCKD連携事業を開始している</a:t>
            </a:r>
          </a:p>
          <a:p>
            <a:pPr algn="l">
              <a:lnSpc>
                <a:spcPct val="118000"/>
              </a:lnSpc>
              <a:spcAft>
                <a:spcPts val="600"/>
              </a:spcAft>
            </a:pPr>
            <a:r>
              <a:rPr sz="1050" b="0" i="0">
                <a:solidFill>
                  <a:srgbClr val="262626"/>
                </a:solidFill>
                <a:latin typeface="Meiryo UI"/>
                <a:ea typeface="Meiryo UI"/>
              </a:rPr>
              <a:t>・紹介基準が地域内で統一されていない</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Factは単独では打ち手にならない。いくつかを線でつなぎ、仮説の材料にする。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C</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参考：Wants → 複数のNeeds仮説 → 確かめる質問</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29</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一つのWantsに、Needs仮説は複数あり得ます。決めつけず、質問で確かめる。中央列はNeedsの例としても使えます。</a:t>
            </a:r>
          </a:p>
        </p:txBody>
      </p:sp>
      <p:sp>
        <p:nvSpPr>
          <p:cNvPr id="7" name="Rounded Rectangle 6"/>
          <p:cNvSpPr/>
          <p:nvPr/>
        </p:nvSpPr>
        <p:spPr>
          <a:xfrm>
            <a:off x="548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「勉強会をやってほしい」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若手の診療力向上／接点の維持／紹介を早める／方針の浸透</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特に誰に、何を持ち帰ってほしいですか？</a:t>
            </a:r>
          </a:p>
        </p:txBody>
      </p:sp>
      <p:sp>
        <p:nvSpPr>
          <p:cNvPr id="8" name="Rounded Rectangle 7"/>
          <p:cNvSpPr/>
          <p:nvPr/>
        </p:nvSpPr>
        <p:spPr>
          <a:xfrm>
            <a:off x="548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「A大学のB先生を呼んでほしい」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外部の知見／A大学との関係強化／医局を変える刺激／若手への視点</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B先生の、どの経験を聞きたいのでしょうか？</a:t>
            </a:r>
          </a:p>
        </p:txBody>
      </p:sp>
      <p:sp>
        <p:nvSpPr>
          <p:cNvPr id="9" name="Rounded Rectangle 8"/>
          <p:cNvSpPr/>
          <p:nvPr/>
        </p:nvSpPr>
        <p:spPr>
          <a:xfrm>
            <a:off x="548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「学会のスライド・文献が欲しい」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院内で共有したい／理解を深めたい／症例判断・教育に使いたい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どの内容を、どの場面で活用したいですか？</a:t>
            </a:r>
          </a:p>
        </p:txBody>
      </p:sp>
      <p:sp>
        <p:nvSpPr>
          <p:cNvPr id="10" name="Rounded Rectangle 9"/>
          <p:cNvSpPr/>
          <p:nvPr/>
        </p:nvSpPr>
        <p:spPr>
          <a:xfrm>
            <a:off x="548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「若手に腎病理を学ばせたい」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診断の質の安定／特定医師への依存減／将来の体制維持</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どのレベルまで判断できる状態を目指しますか？</a:t>
            </a:r>
          </a:p>
        </p:txBody>
      </p:sp>
      <p:sp>
        <p:nvSpPr>
          <p:cNvPr id="11" name="Rounded Rectangle 10"/>
          <p:cNvSpPr/>
          <p:nvPr/>
        </p:nvSpPr>
        <p:spPr>
          <a:xfrm>
            <a:off x="548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「連携パスを整えたい」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役割分担の明確化／逆紹介の円滑化／患者の流れの安定</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今、連携のどこで最も困っていますか？</a:t>
            </a:r>
          </a:p>
        </p:txBody>
      </p:sp>
      <p:sp>
        <p:nvSpPr>
          <p:cNvPr id="12" name="Rounded Rectangle 11"/>
          <p:cNvSpPr/>
          <p:nvPr/>
        </p:nvSpPr>
        <p:spPr>
          <a:xfrm>
            <a:off x="548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「もっと早く紹介してほしい」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適切な時期につなぐ／治療の選択肢を残す／地域の基準を揃える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紹介の、どの段階が最も課題ですか？</a:t>
            </a:r>
          </a:p>
        </p:txBody>
      </p:sp>
      <p:sp>
        <p:nvSpPr>
          <p:cNvPr id="13" name="Rounded Rectangle 12"/>
          <p:cNvSpPr/>
          <p:nvPr/>
        </p:nvSpPr>
        <p:spPr>
          <a:xfrm>
            <a:off x="6263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「症例をまとめたい・論文にしたい」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業績が必要／専門医・学位／医局の評価を上げたい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いつまでに、どの形で発表したいですか？</a:t>
            </a:r>
          </a:p>
        </p:txBody>
      </p:sp>
      <p:sp>
        <p:nvSpPr>
          <p:cNvPr id="14" name="Rounded Rectangle 13"/>
          <p:cNvSpPr/>
          <p:nvPr/>
        </p:nvSpPr>
        <p:spPr>
          <a:xfrm>
            <a:off x="6263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「医局の活動を全国へ発信したい」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存在価値を高める／入局者を増やす／共同研究へつなげる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全国に最も伝えたい強みは何ですか？</a:t>
            </a:r>
          </a:p>
        </p:txBody>
      </p:sp>
      <p:sp>
        <p:nvSpPr>
          <p:cNvPr id="15" name="Rounded Rectangle 14"/>
          <p:cNvSpPr/>
          <p:nvPr/>
        </p:nvSpPr>
        <p:spPr>
          <a:xfrm>
            <a:off x="6263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「関連病院に若手を出したい」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経験を積ませたい／派遣先との関係維持／ポストの確保</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派遣で、若手に何を得てほしいですか？</a:t>
            </a:r>
          </a:p>
        </p:txBody>
      </p:sp>
      <p:sp>
        <p:nvSpPr>
          <p:cNvPr id="16" name="Rounded Rectangle 15"/>
          <p:cNvSpPr/>
          <p:nvPr/>
        </p:nvSpPr>
        <p:spPr>
          <a:xfrm>
            <a:off x="6263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「市民公開講座をやりたい」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地域での認知向上／早期受診につなげる／患者・家族の支援</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参加者に、何を持ち帰ってほしいですか？</a:t>
            </a:r>
          </a:p>
        </p:txBody>
      </p:sp>
      <p:sp>
        <p:nvSpPr>
          <p:cNvPr id="17" name="Rounded Rectangle 16"/>
          <p:cNvSpPr/>
          <p:nvPr/>
        </p:nvSpPr>
        <p:spPr>
          <a:xfrm>
            <a:off x="6263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「〇〇大学と共同で会をやりたい」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研究の幅を広げる／人材交流／エリアでの存在感</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その大学と、何を一緒に実現したいですか？</a:t>
            </a:r>
          </a:p>
        </p:txBody>
      </p:sp>
      <p:sp>
        <p:nvSpPr>
          <p:cNvPr id="18" name="Rounded Rectangle 17"/>
          <p:cNvSpPr/>
          <p:nvPr/>
        </p:nvSpPr>
        <p:spPr>
          <a:xfrm>
            <a:off x="6263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「小児科・移植科と話す場が欲しい」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移行期診療の円滑化／院内での症例共有</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どの患者さんの場面を想定していますか？</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同じWantsでも、裏のNeedsは施設によって違う。仮説が変われば、解決策も変わる。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参考：4Sへつなげる思考プロセスの例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30</a:t>
            </a:r>
          </a:p>
        </p:txBody>
      </p:sp>
      <p:sp>
        <p:nvSpPr>
          <p:cNvPr id="6" name="TextBox 5"/>
          <p:cNvSpPr txBox="1"/>
          <p:nvPr/>
        </p:nvSpPr>
        <p:spPr>
          <a:xfrm>
            <a:off x="548640" y="1371600"/>
            <a:ext cx="11109960" cy="274320"/>
          </a:xfrm>
          <a:prstGeom prst="rect">
            <a:avLst/>
          </a:prstGeom>
          <a:noFill/>
        </p:spPr>
        <p:txBody>
          <a:bodyPr wrap="square" lIns="0" rIns="0" tIns="0" bIns="0" anchor="t">
            <a:spAutoFit/>
          </a:bodyPr>
          <a:lstStyle/>
          <a:p>
            <a:pPr algn="ctr"/>
            <a:r>
              <a:rPr sz="1150" b="1" i="0">
                <a:solidFill>
                  <a:srgbClr val="0B4F37"/>
                </a:solidFill>
                <a:latin typeface="Meiryo UI"/>
                <a:ea typeface="Meiryo UI"/>
              </a:rPr>
              <a:t>以下は参考例です。同じ情報から異なる仮説・解決策も考えられます。どのFactからどの仮説を立てたかを見てください。</a:t>
            </a:r>
          </a:p>
        </p:txBody>
      </p:sp>
      <p:sp>
        <p:nvSpPr>
          <p:cNvPr id="7" name="Rounded Rectangle 6"/>
          <p:cNvSpPr/>
          <p:nvPr/>
        </p:nvSpPr>
        <p:spPr>
          <a:xfrm>
            <a:off x="1554480" y="1719072"/>
            <a:ext cx="3310128" cy="329184"/>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例1：関連病院向け勉強会</a:t>
            </a:r>
          </a:p>
        </p:txBody>
      </p:sp>
      <p:sp>
        <p:nvSpPr>
          <p:cNvPr id="8" name="Rounded Rectangle 7"/>
          <p:cNvSpPr/>
          <p:nvPr/>
        </p:nvSpPr>
        <p:spPr>
          <a:xfrm>
            <a:off x="4956048" y="1719072"/>
            <a:ext cx="3310128" cy="329184"/>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例2：全国発信</a:t>
            </a:r>
          </a:p>
        </p:txBody>
      </p:sp>
      <p:sp>
        <p:nvSpPr>
          <p:cNvPr id="9" name="Rounded Rectangle 8"/>
          <p:cNvSpPr/>
          <p:nvPr/>
        </p:nvSpPr>
        <p:spPr>
          <a:xfrm>
            <a:off x="8357616" y="1719072"/>
            <a:ext cx="3310128" cy="329184"/>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例3：腎病理教育</a:t>
            </a:r>
          </a:p>
        </p:txBody>
      </p:sp>
      <p:sp>
        <p:nvSpPr>
          <p:cNvPr id="10" name="Rounded Rectangle 9"/>
          <p:cNvSpPr/>
          <p:nvPr/>
        </p:nvSpPr>
        <p:spPr>
          <a:xfrm>
            <a:off x="548640" y="2103120"/>
            <a:ext cx="932688" cy="60350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起点</a:t>
            </a:r>
          </a:p>
        </p:txBody>
      </p:sp>
      <p:sp>
        <p:nvSpPr>
          <p:cNvPr id="11" name="Rounded Rectangle 10"/>
          <p:cNvSpPr/>
          <p:nvPr/>
        </p:nvSpPr>
        <p:spPr>
          <a:xfrm>
            <a:off x="1554480"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Fact：進行後の紹介が多く、施設で時期に差</a:t>
            </a:r>
          </a:p>
          <a:p>
            <a:pPr algn="l">
              <a:lnSpc>
                <a:spcPct val="112000"/>
              </a:lnSpc>
            </a:pPr>
            <a:r>
              <a:rPr sz="900" b="0" i="0">
                <a:solidFill>
                  <a:srgbClr val="262626"/>
                </a:solidFill>
                <a:latin typeface="Meiryo UI"/>
                <a:ea typeface="Meiryo UI"/>
              </a:rPr>
              <a:t>Wants：関連病院向けに勉強会を</a:t>
            </a:r>
          </a:p>
        </p:txBody>
      </p:sp>
      <p:sp>
        <p:nvSpPr>
          <p:cNvPr id="12" name="Rounded Rectangle 11"/>
          <p:cNvSpPr/>
          <p:nvPr/>
        </p:nvSpPr>
        <p:spPr>
          <a:xfrm>
            <a:off x="4956048"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Fact：症例・研究実績はあるが発表は一部に限定</a:t>
            </a:r>
          </a:p>
          <a:p>
            <a:pPr algn="l">
              <a:lnSpc>
                <a:spcPct val="112000"/>
              </a:lnSpc>
            </a:pPr>
            <a:r>
              <a:rPr sz="900" b="0" i="0">
                <a:solidFill>
                  <a:srgbClr val="262626"/>
                </a:solidFill>
                <a:latin typeface="Meiryo UI"/>
                <a:ea typeface="Meiryo UI"/>
              </a:rPr>
              <a:t>Wants：医局の活動を全国へ</a:t>
            </a:r>
          </a:p>
        </p:txBody>
      </p:sp>
      <p:sp>
        <p:nvSpPr>
          <p:cNvPr id="13" name="Rounded Rectangle 12"/>
          <p:cNvSpPr/>
          <p:nvPr/>
        </p:nvSpPr>
        <p:spPr>
          <a:xfrm>
            <a:off x="8357616"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Fact：病理評価が少数医師に集中</a:t>
            </a:r>
          </a:p>
          <a:p>
            <a:pPr algn="l">
              <a:lnSpc>
                <a:spcPct val="112000"/>
              </a:lnSpc>
            </a:pPr>
            <a:r>
              <a:rPr sz="900" b="0" i="0">
                <a:solidFill>
                  <a:srgbClr val="262626"/>
                </a:solidFill>
                <a:latin typeface="Meiryo UI"/>
                <a:ea typeface="Meiryo UI"/>
              </a:rPr>
              <a:t>Wants：若手に腎病理を学ばせたい</a:t>
            </a:r>
          </a:p>
        </p:txBody>
      </p:sp>
      <p:sp>
        <p:nvSpPr>
          <p:cNvPr id="14" name="Rounded Rectangle 13"/>
          <p:cNvSpPr/>
          <p:nvPr/>
        </p:nvSpPr>
        <p:spPr>
          <a:xfrm>
            <a:off x="548640" y="2752344"/>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仮説</a:t>
            </a:r>
          </a:p>
        </p:txBody>
      </p:sp>
      <p:sp>
        <p:nvSpPr>
          <p:cNvPr id="15" name="Rounded Rectangle 14"/>
          <p:cNvSpPr/>
          <p:nvPr/>
        </p:nvSpPr>
        <p:spPr>
          <a:xfrm>
            <a:off x="1554480"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紹介判断の考え方を共有し、適切な時期につなぎたい</a:t>
            </a:r>
          </a:p>
        </p:txBody>
      </p:sp>
      <p:sp>
        <p:nvSpPr>
          <p:cNvPr id="16" name="Rounded Rectangle 15"/>
          <p:cNvSpPr/>
          <p:nvPr/>
        </p:nvSpPr>
        <p:spPr>
          <a:xfrm>
            <a:off x="4956048"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存在価値を高め、若手の成長機会と人脈を広げたい</a:t>
            </a:r>
          </a:p>
        </p:txBody>
      </p:sp>
      <p:sp>
        <p:nvSpPr>
          <p:cNvPr id="17" name="Rounded Rectangle 16"/>
          <p:cNvSpPr/>
          <p:nvPr/>
        </p:nvSpPr>
        <p:spPr>
          <a:xfrm>
            <a:off x="8357616"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診断の質と、将来の診療・教育体制を維持したい</a:t>
            </a:r>
          </a:p>
        </p:txBody>
      </p:sp>
      <p:sp>
        <p:nvSpPr>
          <p:cNvPr id="18" name="Rounded Rectangle 17"/>
          <p:cNvSpPr/>
          <p:nvPr/>
        </p:nvSpPr>
        <p:spPr>
          <a:xfrm>
            <a:off x="548640" y="3255263"/>
            <a:ext cx="932688" cy="457200"/>
          </a:xfrm>
          <a:prstGeom prst="roundRect">
            <a:avLst>
              <a:gd name="adj" fmla="val 6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質問</a:t>
            </a:r>
          </a:p>
        </p:txBody>
      </p:sp>
      <p:sp>
        <p:nvSpPr>
          <p:cNvPr id="19" name="Rounded Rectangle 18"/>
          <p:cNvSpPr/>
          <p:nvPr/>
        </p:nvSpPr>
        <p:spPr>
          <a:xfrm>
            <a:off x="1554480"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勉強会の後、関連病院の何が変わってほしいですか？</a:t>
            </a:r>
          </a:p>
        </p:txBody>
      </p:sp>
      <p:sp>
        <p:nvSpPr>
          <p:cNvPr id="20" name="Rounded Rectangle 19"/>
          <p:cNvSpPr/>
          <p:nvPr/>
        </p:nvSpPr>
        <p:spPr>
          <a:xfrm>
            <a:off x="4956048"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全国に最も伝えたい医局の強みは何ですか？</a:t>
            </a:r>
          </a:p>
        </p:txBody>
      </p:sp>
      <p:sp>
        <p:nvSpPr>
          <p:cNvPr id="21" name="Rounded Rectangle 20"/>
          <p:cNvSpPr/>
          <p:nvPr/>
        </p:nvSpPr>
        <p:spPr>
          <a:xfrm>
            <a:off x="8357616"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どのレベルまで判断できる状態を目指しますか？</a:t>
            </a:r>
          </a:p>
        </p:txBody>
      </p:sp>
      <p:sp>
        <p:nvSpPr>
          <p:cNvPr id="22" name="Rounded Rectangle 21"/>
          <p:cNvSpPr/>
          <p:nvPr/>
        </p:nvSpPr>
        <p:spPr>
          <a:xfrm>
            <a:off x="548640" y="3758183"/>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Success</a:t>
            </a:r>
          </a:p>
        </p:txBody>
      </p:sp>
      <p:sp>
        <p:nvSpPr>
          <p:cNvPr id="23" name="Rounded Rectangle 22"/>
          <p:cNvSpPr/>
          <p:nvPr/>
        </p:nvSpPr>
        <p:spPr>
          <a:xfrm>
            <a:off x="1554480"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相談・紹介の考え方が、大学と関連病院で共有されている</a:t>
            </a:r>
          </a:p>
        </p:txBody>
      </p:sp>
      <p:sp>
        <p:nvSpPr>
          <p:cNvPr id="24" name="Rounded Rectangle 23"/>
          <p:cNvSpPr/>
          <p:nvPr/>
        </p:nvSpPr>
        <p:spPr>
          <a:xfrm>
            <a:off x="4956048"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強みが認知され、若手も含め継続的に発信している</a:t>
            </a:r>
          </a:p>
        </p:txBody>
      </p:sp>
      <p:sp>
        <p:nvSpPr>
          <p:cNvPr id="25" name="Rounded Rectangle 24"/>
          <p:cNvSpPr/>
          <p:nvPr/>
        </p:nvSpPr>
        <p:spPr>
          <a:xfrm>
            <a:off x="8357616"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複数の医師が病理所見を臨床と統合して検討できる</a:t>
            </a:r>
          </a:p>
        </p:txBody>
      </p:sp>
      <p:sp>
        <p:nvSpPr>
          <p:cNvPr id="26" name="Rounded Rectangle 25"/>
          <p:cNvSpPr/>
          <p:nvPr/>
        </p:nvSpPr>
        <p:spPr>
          <a:xfrm>
            <a:off x="548640" y="4261103"/>
            <a:ext cx="932688" cy="45720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Situation</a:t>
            </a:r>
          </a:p>
        </p:txBody>
      </p:sp>
      <p:sp>
        <p:nvSpPr>
          <p:cNvPr id="27" name="Rounded Rectangle 26"/>
          <p:cNvSpPr/>
          <p:nvPr/>
        </p:nvSpPr>
        <p:spPr>
          <a:xfrm>
            <a:off x="1554480"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進行後の紹介が多く、施設ごとに紹介時期が異なる</a:t>
            </a:r>
          </a:p>
        </p:txBody>
      </p:sp>
      <p:sp>
        <p:nvSpPr>
          <p:cNvPr id="28" name="Rounded Rectangle 27"/>
          <p:cNvSpPr/>
          <p:nvPr/>
        </p:nvSpPr>
        <p:spPr>
          <a:xfrm>
            <a:off x="4956048"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実績はあるが、発信する医師と機会が限られている</a:t>
            </a:r>
          </a:p>
        </p:txBody>
      </p:sp>
      <p:sp>
        <p:nvSpPr>
          <p:cNvPr id="29" name="Rounded Rectangle 28"/>
          <p:cNvSpPr/>
          <p:nvPr/>
        </p:nvSpPr>
        <p:spPr>
          <a:xfrm>
            <a:off x="8357616"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評価が少数に集中し、若手の教育機会が少ない</a:t>
            </a:r>
          </a:p>
        </p:txBody>
      </p:sp>
      <p:sp>
        <p:nvSpPr>
          <p:cNvPr id="30" name="Rounded Rectangle 29"/>
          <p:cNvSpPr/>
          <p:nvPr/>
        </p:nvSpPr>
        <p:spPr>
          <a:xfrm>
            <a:off x="548640" y="4764023"/>
            <a:ext cx="932688" cy="457200"/>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Source</a:t>
            </a:r>
          </a:p>
        </p:txBody>
      </p:sp>
      <p:sp>
        <p:nvSpPr>
          <p:cNvPr id="31" name="Rounded Rectangle 30"/>
          <p:cNvSpPr/>
          <p:nvPr/>
        </p:nvSpPr>
        <p:spPr>
          <a:xfrm>
            <a:off x="1554480"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紹介の目安が共有されず、相談の時期を判断しにくい</a:t>
            </a:r>
          </a:p>
        </p:txBody>
      </p:sp>
      <p:sp>
        <p:nvSpPr>
          <p:cNvPr id="32" name="Rounded Rectangle 31"/>
          <p:cNvSpPr/>
          <p:nvPr/>
        </p:nvSpPr>
        <p:spPr>
          <a:xfrm>
            <a:off x="4956048"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テーマ整理・若手育成・外部との接点が不足</a:t>
            </a:r>
          </a:p>
        </p:txBody>
      </p:sp>
      <p:sp>
        <p:nvSpPr>
          <p:cNvPr id="33" name="Rounded Rectangle 32"/>
          <p:cNvSpPr/>
          <p:nvPr/>
        </p:nvSpPr>
        <p:spPr>
          <a:xfrm>
            <a:off x="8357616"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継続的に振り返る場と、臨床と病理をつなぐ機会が不足</a:t>
            </a:r>
          </a:p>
        </p:txBody>
      </p:sp>
      <p:sp>
        <p:nvSpPr>
          <p:cNvPr id="34" name="Rounded Rectangle 33"/>
          <p:cNvSpPr/>
          <p:nvPr/>
        </p:nvSpPr>
        <p:spPr>
          <a:xfrm>
            <a:off x="548640" y="5266943"/>
            <a:ext cx="932688" cy="548640"/>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Solution</a:t>
            </a:r>
          </a:p>
        </p:txBody>
      </p:sp>
      <p:sp>
        <p:nvSpPr>
          <p:cNvPr id="35" name="Rounded Rectangle 34"/>
          <p:cNvSpPr/>
          <p:nvPr/>
        </p:nvSpPr>
        <p:spPr>
          <a:xfrm>
            <a:off x="1554480"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一方向の講演ではなく、症例で相談時期を議論する場を設計</a:t>
            </a:r>
          </a:p>
        </p:txBody>
      </p:sp>
      <p:sp>
        <p:nvSpPr>
          <p:cNvPr id="36" name="Rounded Rectangle 35"/>
          <p:cNvSpPr/>
          <p:nvPr/>
        </p:nvSpPr>
        <p:spPr>
          <a:xfrm>
            <a:off x="4956048"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若手・中堅も含め、近隣大学・基幹病院と共同で発信機会を設計</a:t>
            </a:r>
          </a:p>
        </p:txBody>
      </p:sp>
      <p:sp>
        <p:nvSpPr>
          <p:cNvPr id="37" name="Rounded Rectangle 36"/>
          <p:cNvSpPr/>
          <p:nvPr/>
        </p:nvSpPr>
        <p:spPr>
          <a:xfrm>
            <a:off x="8357616"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病理医・臨床医・関連病院の若手による継続的な症例検討を設計</a:t>
            </a:r>
          </a:p>
        </p:txBody>
      </p:sp>
      <p:sp>
        <p:nvSpPr>
          <p:cNvPr id="38" name="Rounded Rectangle 37"/>
          <p:cNvSpPr/>
          <p:nvPr/>
        </p:nvSpPr>
        <p:spPr>
          <a:xfrm>
            <a:off x="548640" y="5806440"/>
            <a:ext cx="11109960" cy="420624"/>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解決策は影響の範囲で選べる：　① 施設内　→　② 大学と関連病院　→　③ 複数の大学・基幹病院　→　④ エリア全体</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E</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ファシリテーター用メモ</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31</a:t>
            </a:r>
          </a:p>
        </p:txBody>
      </p:sp>
      <p:sp>
        <p:nvSpPr>
          <p:cNvPr id="6" name="Rounded Rectangle 5"/>
          <p:cNvSpPr/>
          <p:nvPr/>
        </p:nvSpPr>
        <p:spPr>
          <a:xfrm>
            <a:off x="54864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当日の進行</a:t>
            </a:r>
          </a:p>
        </p:txBody>
      </p:sp>
      <p:sp>
        <p:nvSpPr>
          <p:cNvPr id="7" name="Rounded Rectangle 6"/>
          <p:cNvSpPr/>
          <p:nvPr/>
        </p:nvSpPr>
        <p:spPr>
          <a:xfrm>
            <a:off x="54864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・0-10 振り返り＋Triple Win Beyond／10-25 ワーク①</a:t>
            </a:r>
          </a:p>
          <a:p>
            <a:pPr algn="l">
              <a:lnSpc>
                <a:spcPct val="120000"/>
              </a:lnSpc>
              <a:spcAft>
                <a:spcPts val="700"/>
              </a:spcAft>
            </a:pPr>
            <a:r>
              <a:rPr sz="1100" b="0" i="0">
                <a:solidFill>
                  <a:srgbClr val="262626"/>
                </a:solidFill>
                <a:latin typeface="Meiryo UI"/>
                <a:ea typeface="Meiryo UI"/>
              </a:rPr>
              <a:t>・25-40 ワーク②＋4S／40-50 インタビュー／50-60 まとめ・総括</a:t>
            </a:r>
          </a:p>
          <a:p>
            <a:pPr algn="l">
              <a:lnSpc>
                <a:spcPct val="120000"/>
              </a:lnSpc>
              <a:spcAft>
                <a:spcPts val="700"/>
              </a:spcAft>
            </a:pPr>
            <a:r>
              <a:rPr sz="1100" b="0" i="0">
                <a:solidFill>
                  <a:srgbClr val="262626"/>
                </a:solidFill>
                <a:latin typeface="Meiryo UI"/>
                <a:ea typeface="Meiryo UI"/>
              </a:rPr>
              <a:t>・レクチャーは合計20分。ワークと共有に30分を残す</a:t>
            </a:r>
          </a:p>
        </p:txBody>
      </p:sp>
      <p:sp>
        <p:nvSpPr>
          <p:cNvPr id="8" name="Rounded Rectangle 7"/>
          <p:cNvSpPr/>
          <p:nvPr/>
        </p:nvSpPr>
        <p:spPr>
          <a:xfrm>
            <a:off x="617220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ワーク①・②と事例</a:t>
            </a:r>
          </a:p>
        </p:txBody>
      </p:sp>
      <p:sp>
        <p:nvSpPr>
          <p:cNvPr id="9" name="Rounded Rectangle 8"/>
          <p:cNvSpPr/>
          <p:nvPr/>
        </p:nvSpPr>
        <p:spPr>
          <a:xfrm>
            <a:off x="617220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・①前半4分：例題9件を仕分け（13枚目の欄に番号）</a:t>
            </a:r>
          </a:p>
          <a:p>
            <a:pPr algn="l">
              <a:lnSpc>
                <a:spcPct val="120000"/>
              </a:lnSpc>
              <a:spcAft>
                <a:spcPts val="700"/>
              </a:spcAft>
            </a:pPr>
            <a:r>
              <a:rPr sz="1100" b="0" i="0">
                <a:solidFill>
                  <a:srgbClr val="262626"/>
                </a:solidFill>
                <a:latin typeface="Meiryo UI"/>
                <a:ea typeface="Meiryo UI"/>
              </a:rPr>
              <a:t>・①後半6分：WantsからNeedsを汲み取った経験を共有</a:t>
            </a:r>
          </a:p>
          <a:p>
            <a:pPr algn="l">
              <a:lnSpc>
                <a:spcPct val="120000"/>
              </a:lnSpc>
              <a:spcAft>
                <a:spcPts val="700"/>
              </a:spcAft>
            </a:pPr>
            <a:r>
              <a:rPr sz="1100" b="0" i="0">
                <a:solidFill>
                  <a:srgbClr val="262626"/>
                </a:solidFill>
                <a:latin typeface="Meiryo UI"/>
                <a:ea typeface="Meiryo UI"/>
              </a:rPr>
              <a:t>・17-18枚目：公開情報の実物 → Fact/Wants/Needs → 仮説の読み解き</a:t>
            </a:r>
          </a:p>
          <a:p>
            <a:pPr algn="l">
              <a:lnSpc>
                <a:spcPct val="120000"/>
              </a:lnSpc>
              <a:spcAft>
                <a:spcPts val="700"/>
              </a:spcAft>
            </a:pPr>
            <a:r>
              <a:rPr sz="1100" b="0" i="0">
                <a:solidFill>
                  <a:srgbClr val="262626"/>
                </a:solidFill>
                <a:latin typeface="Meiryo UI"/>
                <a:ea typeface="Meiryo UI"/>
              </a:rPr>
              <a:t>・②：19枚目の例を残したまま、20枚目の4Sに書き切る</a:t>
            </a:r>
          </a:p>
        </p:txBody>
      </p:sp>
      <p:sp>
        <p:nvSpPr>
          <p:cNvPr id="10" name="Rounded Rectangle 9"/>
          <p:cNvSpPr/>
          <p:nvPr/>
        </p:nvSpPr>
        <p:spPr>
          <a:xfrm>
            <a:off x="54864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付録の使い方</a:t>
            </a:r>
          </a:p>
        </p:txBody>
      </p:sp>
      <p:sp>
        <p:nvSpPr>
          <p:cNvPr id="11" name="Rounded Rectangle 10"/>
          <p:cNvSpPr/>
          <p:nvPr/>
        </p:nvSpPr>
        <p:spPr>
          <a:xfrm>
            <a:off x="54864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・A〜Cは、ワーク①の後に投影してよい（考える材料）</a:t>
            </a:r>
          </a:p>
          <a:p>
            <a:pPr algn="l">
              <a:lnSpc>
                <a:spcPct val="120000"/>
              </a:lnSpc>
              <a:spcAft>
                <a:spcPts val="700"/>
              </a:spcAft>
            </a:pPr>
            <a:r>
              <a:rPr sz="1100" b="0" i="0">
                <a:solidFill>
                  <a:srgbClr val="262626"/>
                </a:solidFill>
                <a:latin typeface="Meiryo UI"/>
                <a:ea typeface="Meiryo UI"/>
              </a:rPr>
              <a:t>・D（4S参考例）はワーク前に投影しない — なぞってしまうため</a:t>
            </a:r>
          </a:p>
          <a:p>
            <a:pPr algn="l">
              <a:lnSpc>
                <a:spcPct val="120000"/>
              </a:lnSpc>
              <a:spcAft>
                <a:spcPts val="700"/>
              </a:spcAft>
            </a:pPr>
            <a:r>
              <a:rPr sz="1100" b="0" i="0">
                <a:solidFill>
                  <a:srgbClr val="262626"/>
                </a:solidFill>
                <a:latin typeface="Meiryo UI"/>
                <a:ea typeface="Meiryo UI"/>
              </a:rPr>
              <a:t>・使うのは、ワーク②後の解説／議論が止まった時／研修後</a:t>
            </a:r>
          </a:p>
          <a:p>
            <a:pPr algn="l">
              <a:lnSpc>
                <a:spcPct val="120000"/>
              </a:lnSpc>
              <a:spcAft>
                <a:spcPts val="700"/>
              </a:spcAft>
            </a:pPr>
            <a:r>
              <a:rPr sz="1100" b="0" i="0">
                <a:solidFill>
                  <a:srgbClr val="262626"/>
                </a:solidFill>
                <a:latin typeface="Meiryo UI"/>
                <a:ea typeface="Meiryo UI"/>
              </a:rPr>
              <a:t>・「例が正しいのではなく、どのFactからどの仮説を立てたかを見る」</a:t>
            </a:r>
          </a:p>
        </p:txBody>
      </p:sp>
      <p:sp>
        <p:nvSpPr>
          <p:cNvPr id="12" name="Rounded Rectangle 11"/>
          <p:cNvSpPr/>
          <p:nvPr/>
        </p:nvSpPr>
        <p:spPr>
          <a:xfrm>
            <a:off x="617220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記録・書記</a:t>
            </a:r>
          </a:p>
        </p:txBody>
      </p:sp>
      <p:sp>
        <p:nvSpPr>
          <p:cNvPr id="13" name="Rounded Rectangle 12"/>
          <p:cNvSpPr/>
          <p:nvPr/>
        </p:nvSpPr>
        <p:spPr>
          <a:xfrm>
            <a:off x="617220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・13・15・20・22枚目が記録用スライド（そのまま入力可）</a:t>
            </a:r>
          </a:p>
          <a:p>
            <a:pPr algn="l">
              <a:lnSpc>
                <a:spcPct val="120000"/>
              </a:lnSpc>
              <a:spcAft>
                <a:spcPts val="700"/>
              </a:spcAft>
            </a:pPr>
            <a:r>
              <a:rPr sz="1100" b="0" i="0">
                <a:solidFill>
                  <a:srgbClr val="262626"/>
                </a:solidFill>
                <a:latin typeface="Meiryo UI"/>
                <a:ea typeface="Meiryo UI"/>
              </a:rPr>
              <a:t>・ワーク①はWants／Needs／変化の3列で拾う</a:t>
            </a:r>
          </a:p>
          <a:p>
            <a:pPr algn="l">
              <a:lnSpc>
                <a:spcPct val="120000"/>
              </a:lnSpc>
              <a:spcAft>
                <a:spcPts val="700"/>
              </a:spcAft>
            </a:pPr>
            <a:r>
              <a:rPr sz="1100" b="0" i="0">
                <a:solidFill>
                  <a:srgbClr val="262626"/>
                </a:solidFill>
                <a:latin typeface="Meiryo UI"/>
                <a:ea typeface="Meiryo UI"/>
              </a:rPr>
              <a:t>・終了後、記録用スライドをTeamsへ格納</a:t>
            </a:r>
          </a:p>
        </p:txBody>
      </p:sp>
      <p:sp>
        <p:nvSpPr>
          <p:cNvPr id="14" name="TextBox 13"/>
          <p:cNvSpPr txBox="1"/>
          <p:nvPr/>
        </p:nvSpPr>
        <p:spPr>
          <a:xfrm>
            <a:off x="3977639" y="6309360"/>
            <a:ext cx="768096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ワーク①の題材・付録の事例はすべて架空です。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Emerald Chic">
  <a:themeElements>
    <a:clrScheme name="Novartis 2025">
      <a:dk1>
        <a:srgbClr val="0E322A"/>
      </a:dk1>
      <a:lt1>
        <a:srgbClr val="F7FBF8"/>
      </a:lt1>
      <a:dk2>
        <a:srgbClr val="173A32"/>
      </a:dk2>
      <a:lt2>
        <a:srgbClr val="DDEAE1"/>
      </a:lt2>
      <a:accent1>
        <a:srgbClr val="0D8B5F"/>
      </a:accent1>
      <a:accent2>
        <a:srgbClr val="14543F"/>
      </a:accent2>
      <a:accent3>
        <a:srgbClr val="4C6F62"/>
      </a:accent3>
      <a:accent4>
        <a:srgbClr val="A7D7BF"/>
      </a:accent4>
      <a:accent5>
        <a:srgbClr val="B7CDC2"/>
      </a:accent5>
      <a:accent6>
        <a:srgbClr val="E8F2EC"/>
      </a:accent6>
      <a:hlink>
        <a:srgbClr val="14543F"/>
      </a:hlink>
      <a:folHlink>
        <a:srgbClr val="4C6F62"/>
      </a:folHlink>
    </a:clrScheme>
    <a:fontScheme name="Novartis 2025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108000" rIns="108000" bIns="108000" rtlCol="0" anchor="t"/>
      <a:lstStyle>
        <a:defPPr marL="180000" indent="-180000" algn="l">
          <a:spcBef>
            <a:spcPts val="800"/>
          </a:spcBef>
          <a:buFont typeface="Arial" panose="020B0604020202020204" pitchFamily="34" charset="0"/>
          <a:buChar char="•"/>
          <a:defRPr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spAutoFit/>
      </a:bodyPr>
      <a:lstStyle>
        <a:defPPr marL="180000" indent="-180000" algn="l">
          <a:spcBef>
            <a:spcPts val="800"/>
          </a:spcBef>
          <a:buFont typeface="Arial" panose="020B0604020202020204" pitchFamily="34" charset="0"/>
          <a:buChar char="•"/>
          <a:defRPr dirty="0" err="1" smtClean="0"/>
        </a:defPPr>
      </a:lstStyle>
    </a:txDef>
  </a:objectDefaults>
  <a:extraClrSchemeLst/>
  <a:custClrLst>
    <a:custClr>
      <a:srgbClr val="0D8B5F"/>
    </a:custClr>
    <a:custClr>
      <a:srgbClr val="C9D9F9"/>
    </a:custClr>
  </a:custClrLst>
  <a:extLst>
    <a:ext uri="{05A4C25C-085E-4340-85A3-A5531E510DB2}">
      <thm15:themeFamily xmlns:thm15="http://schemas.microsoft.com/office/thememl/2012/main" name="Novartis PowerPoint" id="{46FD7BFE-C972-1446-9555-CBDA807834FC}" vid="{71B7A1DA-CA9E-CE4E-99A9-0C1B3863930A}"/>
    </a:ext>
  </a:extLst>
</a:theme>
</file>

<file path=docProps/app.xml><?xml version="1.0" encoding="utf-8"?>
<Properties xmlns="http://schemas.openxmlformats.org/officeDocument/2006/extended-properties" xmlns:vt="http://schemas.openxmlformats.org/officeDocument/2006/docPropsVTypes">
  <TotalTime>3</TotalTime>
  <Words>4993</Words>
  <Application>Microsoft Macintosh PowerPoint</Application>
  <PresentationFormat>ワイド画面</PresentationFormat>
  <Paragraphs>834</Paragraphs>
  <Slides>47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47</vt:i4>
      </vt:variant>
    </vt:vector>
  </HeadingPairs>
  <TitlesOfParts>
    <vt:vector size="53" baseType="lpstr">
      <vt:lpstr>HG創英ﾌﾟﾚｾﾞﾝｽEB</vt:lpstr>
      <vt:lpstr>Meiryo UI</vt:lpstr>
      <vt:lpstr>Arial</vt:lpstr>
      <vt:lpstr>Calibri</vt:lpstr>
      <vt:lpstr>Office Theme</vt:lpstr>
      <vt:lpstr>Emerald Chic</vt:lpstr>
      <vt:lpstr>Renal　MR　スキルアッププロジェクトDAY４　</vt:lpstr>
      <vt:lpstr>■オープニング　5分 ■レクチャー&amp;ワーク①「構造マップ」 ■レクチャー&amp;ワーク②「4Sシート」 ■エリア戦略・まとめ　5分</vt:lpstr>
      <vt:lpstr>集めた情報、次の一手は？、、、</vt:lpstr>
      <vt:lpstr>Renal 大学/基幹病院担当者スキルアッププロジェクト</vt:lpstr>
      <vt:lpstr>Renal 大学/基幹病院担当者スキルアッププロジェクト</vt:lpstr>
      <vt:lpstr>Renal 大学/基幹病院担当者スキルアッププロジェクト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拓也 井上</cp:lastModifiedBy>
  <cp:revision>1</cp:revision>
  <dcterms:created xsi:type="dcterms:W3CDTF">2013-01-27T09:14:16Z</dcterms:created>
  <dcterms:modified xsi:type="dcterms:W3CDTF">2026-07-27T11:49:09Z</dcterms:modified>
  <cp:category/>
</cp:coreProperties>
</file>