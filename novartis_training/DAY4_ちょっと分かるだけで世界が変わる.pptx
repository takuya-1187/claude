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腎臓内科の医局・先生から得た情報です。①〜⑨を、下の3つのどこに置きますか。</a:t>
            </a:r>
          </a:p>
        </p:txBody>
      </p:sp>
      <p:sp>
        <p:nvSpPr>
          <p:cNvPr id="6" name="Rounded Rectangle 5"/>
          <p:cNvSpPr/>
          <p:nvPr/>
        </p:nvSpPr>
        <p:spPr>
          <a:xfrm>
            <a:off x="548640"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① 関連病院の先生向けに、CKDの勉強会をやってほしい</a:t>
            </a:r>
          </a:p>
        </p:txBody>
      </p:sp>
      <p:sp>
        <p:nvSpPr>
          <p:cNvPr id="7" name="Rounded Rectangle 6"/>
          <p:cNvSpPr/>
          <p:nvPr/>
        </p:nvSpPr>
        <p:spPr>
          <a:xfrm>
            <a:off x="4288536"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② 腎生検の件数が、3年前の半分になっている</a:t>
            </a:r>
          </a:p>
        </p:txBody>
      </p:sp>
      <p:sp>
        <p:nvSpPr>
          <p:cNvPr id="8" name="Rounded Rectangle 7"/>
          <p:cNvSpPr/>
          <p:nvPr/>
        </p:nvSpPr>
        <p:spPr>
          <a:xfrm>
            <a:off x="8028431"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③ 若手に、腎病理を読める医師を育てたい</a:t>
            </a:r>
          </a:p>
        </p:txBody>
      </p:sp>
      <p:sp>
        <p:nvSpPr>
          <p:cNvPr id="9" name="Rounded Rectangle 8"/>
          <p:cNvSpPr/>
          <p:nvPr/>
        </p:nvSpPr>
        <p:spPr>
          <a:xfrm>
            <a:off x="548640"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④ 〇〇大学の△△先生を、次の研究会に呼んでほしい</a:t>
            </a:r>
          </a:p>
        </p:txBody>
      </p:sp>
      <p:sp>
        <p:nvSpPr>
          <p:cNvPr id="10" name="Rounded Rectangle 9"/>
          <p:cNvSpPr/>
          <p:nvPr/>
        </p:nvSpPr>
        <p:spPr>
          <a:xfrm>
            <a:off x="4288536"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⑤ eGFRが20を切ってから紹介されることが多い</a:t>
            </a:r>
          </a:p>
        </p:txBody>
      </p:sp>
      <p:sp>
        <p:nvSpPr>
          <p:cNvPr id="11" name="Rounded Rectangle 10"/>
          <p:cNvSpPr/>
          <p:nvPr/>
        </p:nvSpPr>
        <p:spPr>
          <a:xfrm>
            <a:off x="8028431"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⑥ うちの医局を、もっと全国に知ってもらいたい</a:t>
            </a:r>
          </a:p>
        </p:txBody>
      </p:sp>
      <p:sp>
        <p:nvSpPr>
          <p:cNvPr id="12" name="Rounded Rectangle 11"/>
          <p:cNvSpPr/>
          <p:nvPr/>
        </p:nvSpPr>
        <p:spPr>
          <a:xfrm>
            <a:off x="548640"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⑦ 先月の学会のスライドが欲しい</a:t>
            </a:r>
          </a:p>
        </p:txBody>
      </p:sp>
      <p:sp>
        <p:nvSpPr>
          <p:cNvPr id="13" name="Rounded Rectangle 12"/>
          <p:cNvSpPr/>
          <p:nvPr/>
        </p:nvSpPr>
        <p:spPr>
          <a:xfrm>
            <a:off x="4288536"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⑧ 教授が来年、学会の会長を務める</a:t>
            </a:r>
          </a:p>
        </p:txBody>
      </p:sp>
      <p:sp>
        <p:nvSpPr>
          <p:cNvPr id="14" name="Rounded Rectangle 13"/>
          <p:cNvSpPr/>
          <p:nvPr/>
        </p:nvSpPr>
        <p:spPr>
          <a:xfrm>
            <a:off x="8028431"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⑨ 透析導入を、できるだけ遅らせたい</a:t>
            </a:r>
          </a:p>
        </p:txBody>
      </p:sp>
      <p:sp>
        <p:nvSpPr>
          <p:cNvPr id="15" name="Rounded Rectangle 14"/>
          <p:cNvSpPr/>
          <p:nvPr/>
        </p:nvSpPr>
        <p:spPr>
          <a:xfrm>
            <a:off x="548640" y="3858768"/>
            <a:ext cx="2377440" cy="713232"/>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858768"/>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45152"/>
            <a:ext cx="2377440" cy="71323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45152"/>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31536"/>
            <a:ext cx="2377440" cy="713232"/>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31536"/>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99632"/>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737360"/>
            <a:ext cx="11109960" cy="91440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7" name="Oval 6"/>
          <p:cNvSpPr/>
          <p:nvPr/>
        </p:nvSpPr>
        <p:spPr>
          <a:xfrm>
            <a:off x="548640" y="3063240"/>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8" name="Rounded Rectangle 7"/>
          <p:cNvSpPr/>
          <p:nvPr/>
        </p:nvSpPr>
        <p:spPr>
          <a:xfrm>
            <a:off x="1426464" y="3063240"/>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どんな言葉（Wants）から始まりましたか？</a:t>
            </a:r>
          </a:p>
        </p:txBody>
      </p:sp>
      <p:sp>
        <p:nvSpPr>
          <p:cNvPr id="9" name="Oval 8"/>
          <p:cNvSpPr/>
          <p:nvPr/>
        </p:nvSpPr>
        <p:spPr>
          <a:xfrm>
            <a:off x="548640" y="386791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0" name="Rounded Rectangle 9"/>
          <p:cNvSpPr/>
          <p:nvPr/>
        </p:nvSpPr>
        <p:spPr>
          <a:xfrm>
            <a:off x="1426464" y="386791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1" name="Oval 10"/>
          <p:cNvSpPr/>
          <p:nvPr/>
        </p:nvSpPr>
        <p:spPr>
          <a:xfrm>
            <a:off x="548640" y="467258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2" name="Rounded Rectangle 11"/>
          <p:cNvSpPr/>
          <p:nvPr/>
        </p:nvSpPr>
        <p:spPr>
          <a:xfrm>
            <a:off x="1426464" y="467258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3" name="Rounded Rectangle 12"/>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Rounded Rectangle 4"/>
          <p:cNvSpPr/>
          <p:nvPr/>
        </p:nvSpPr>
        <p:spPr>
          <a:xfrm>
            <a:off x="548640" y="1417320"/>
            <a:ext cx="3749039" cy="50292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出てきた Wants（言われた言葉）</a:t>
            </a:r>
          </a:p>
        </p:txBody>
      </p:sp>
      <p:sp>
        <p:nvSpPr>
          <p:cNvPr id="6" name="Rounded Rectangle 5"/>
          <p:cNvSpPr/>
          <p:nvPr/>
        </p:nvSpPr>
        <p:spPr>
          <a:xfrm>
            <a:off x="4343399" y="1417320"/>
            <a:ext cx="3749039" cy="50292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汲み取った Needs（状態）</a:t>
            </a:r>
          </a:p>
        </p:txBody>
      </p:sp>
      <p:sp>
        <p:nvSpPr>
          <p:cNvPr id="7" name="Rounded Rectangle 6"/>
          <p:cNvSpPr/>
          <p:nvPr/>
        </p:nvSpPr>
        <p:spPr>
          <a:xfrm>
            <a:off x="8138159" y="1417320"/>
            <a:ext cx="3611880" cy="5029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活動・提案がどう変わったか</a:t>
            </a:r>
          </a:p>
        </p:txBody>
      </p:sp>
      <p:sp>
        <p:nvSpPr>
          <p:cNvPr id="8" name="Rounded Rectangle 7"/>
          <p:cNvSpPr/>
          <p:nvPr/>
        </p:nvSpPr>
        <p:spPr>
          <a:xfrm>
            <a:off x="548640" y="1993392"/>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4343399" y="1993392"/>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0" name="Rounded Rectangle 9"/>
          <p:cNvSpPr/>
          <p:nvPr/>
        </p:nvSpPr>
        <p:spPr>
          <a:xfrm>
            <a:off x="8138159" y="1993392"/>
            <a:ext cx="3611880"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3054096"/>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2" name="Rounded Rectangle 11"/>
          <p:cNvSpPr/>
          <p:nvPr/>
        </p:nvSpPr>
        <p:spPr>
          <a:xfrm>
            <a:off x="4343399" y="3054096"/>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8138159" y="3054096"/>
            <a:ext cx="3611880"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Rounded Rectangle 13"/>
          <p:cNvSpPr/>
          <p:nvPr/>
        </p:nvSpPr>
        <p:spPr>
          <a:xfrm>
            <a:off x="548640" y="4114800"/>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Rounded Rectangle 14"/>
          <p:cNvSpPr/>
          <p:nvPr/>
        </p:nvSpPr>
        <p:spPr>
          <a:xfrm>
            <a:off x="4343399" y="4114800"/>
            <a:ext cx="3749039"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6" name="Rounded Rectangle 15"/>
          <p:cNvSpPr/>
          <p:nvPr/>
        </p:nvSpPr>
        <p:spPr>
          <a:xfrm>
            <a:off x="8138159" y="4114800"/>
            <a:ext cx="3611880" cy="98755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5175504"/>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4343399" y="5175504"/>
            <a:ext cx="3749039"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8138159" y="5175504"/>
            <a:ext cx="3611880" cy="987552"/>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1" name="TextBox 20"/>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この事例は、実在する病院の公開情報です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公開情報から、FactとWantsを並べる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地域の入口を担いたい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地域の開業医との接点が薄く、腎疾患の患者が集まってこない</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「どの段階でご相談いただくのが理想ですか？」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開業医向けに「紹介のタイミング」を共有する会／連携パスづくり</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透析導入という結果ではなく、透析を回避した成果を示す場がない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保存期CKDの症例検討会／患者さんの療養を支える情報提供</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体制づくりの棚卸し → 近隣施設・大学を巻き込んだ地域版の設計</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仮説が変われば、解決策も変わる。だから、次の面談で確かめる。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・「地域の腎臓診療の入口」を担いたいのではないか</a:t>
            </a:r>
          </a:p>
          <a:p>
            <a:pPr algn="l">
              <a:lnSpc>
                <a:spcPct val="130000"/>
              </a:lnSpc>
              <a:spcAft>
                <a:spcPts val="1100"/>
              </a:spcAft>
            </a:pPr>
            <a:r>
              <a:rPr sz="1250" b="0" i="0">
                <a:solidFill>
                  <a:srgbClr val="262626"/>
                </a:solidFill>
                <a:latin typeface="Meiryo UI"/>
                <a:ea typeface="Meiryo UI"/>
              </a:rPr>
              <a:t>・学会長の年に、医局の実績を外に出したいのではないか</a:t>
            </a:r>
          </a:p>
          <a:p>
            <a:pPr algn="l">
              <a:lnSpc>
                <a:spcPct val="130000"/>
              </a:lnSpc>
              <a:spcAft>
                <a:spcPts val="1100"/>
              </a:spcAft>
            </a:pPr>
            <a:r>
              <a:rPr sz="1250" b="0" i="0">
                <a:solidFill>
                  <a:srgbClr val="262626"/>
                </a:solidFill>
                <a:latin typeface="Meiryo UI"/>
                <a:ea typeface="Meiryo UI"/>
              </a:rPr>
              <a:t>・若手が育っていないことが、腎生検の減少の原因ではないか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・関連病院＋近隣大学の合同勉強会を、医局と共同で企画する</a:t>
            </a:r>
          </a:p>
          <a:p>
            <a:pPr algn="l">
              <a:lnSpc>
                <a:spcPct val="130000"/>
              </a:lnSpc>
              <a:spcAft>
                <a:spcPts val="1100"/>
              </a:spcAft>
            </a:pPr>
            <a:r>
              <a:rPr sz="1250" b="0" i="0">
                <a:solidFill>
                  <a:srgbClr val="262626"/>
                </a:solidFill>
                <a:latin typeface="Meiryo UI"/>
                <a:ea typeface="Meiryo UI"/>
              </a:rPr>
              <a:t>・紹介基準を、研究会や連携パスで地域と共有する</a:t>
            </a:r>
          </a:p>
          <a:p>
            <a:pPr algn="l">
              <a:lnSpc>
                <a:spcPct val="130000"/>
              </a:lnSpc>
              <a:spcAft>
                <a:spcPts val="1100"/>
              </a:spcAft>
            </a:pPr>
            <a:r>
              <a:rPr sz="1250" b="0" i="0">
                <a:solidFill>
                  <a:srgbClr val="262626"/>
                </a:solidFill>
                <a:latin typeface="Meiryo UI"/>
                <a:ea typeface="Meiryo UI"/>
              </a:rPr>
              <a:t>・若手向けの症例検討会を、医局の教育実績として残す</a:t>
            </a:r>
          </a:p>
          <a:p>
            <a:pPr algn="l">
              <a:lnSpc>
                <a:spcPct val="130000"/>
              </a:lnSpc>
              <a:spcAft>
                <a:spcPts val="1100"/>
              </a:spcAft>
            </a:pPr>
            <a:r>
              <a:rPr sz="1250" b="0" i="0">
                <a:solidFill>
                  <a:srgbClr val="262626"/>
                </a:solidFill>
                <a:latin typeface="Meiryo UI"/>
                <a:ea typeface="Meiryo UI"/>
              </a:rPr>
              <a:t>・医局の症例を、エリア・全国の講演会で発信する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仮説A（地域の入口を担いたい）で4Sに落とす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地域の開業医から早期に紹介され、透析に至る患者さんが減っている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院内の診断力は上がったが、開業医側に「いつ紹介するか」の基準が</a:t>
            </a:r>
          </a:p>
          <a:p>
            <a:pPr algn="l">
              <a:lnSpc>
                <a:spcPct val="120000"/>
              </a:lnSpc>
              <a:spcAft>
                <a:spcPts val="500"/>
              </a:spcAft>
            </a:pPr>
            <a:r>
              <a:rPr sz="1100" b="0" i="0">
                <a:solidFill>
                  <a:srgbClr val="262626"/>
                </a:solidFill>
                <a:latin typeface="Meiryo UI"/>
                <a:ea typeface="Meiryo UI"/>
              </a:rPr>
              <a:t>届いていない（＝仮説A）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・開業医向けに「紹介のタイミング」をテーマにした地域連携の会</a:t>
            </a:r>
          </a:p>
          <a:p>
            <a:pPr algn="l">
              <a:lnSpc>
                <a:spcPct val="120000"/>
              </a:lnSpc>
              <a:spcAft>
                <a:spcPts val="500"/>
              </a:spcAft>
            </a:pPr>
            <a:r>
              <a:rPr sz="1100" b="0" i="0">
                <a:solidFill>
                  <a:srgbClr val="262626"/>
                </a:solidFill>
                <a:latin typeface="Meiryo UI"/>
                <a:ea typeface="Meiryo UI"/>
              </a:rPr>
              <a:t>・確定診断がついた症例を、地域の会で共有</a:t>
            </a:r>
          </a:p>
          <a:p>
            <a:pPr algn="l">
              <a:lnSpc>
                <a:spcPct val="120000"/>
              </a:lnSpc>
              <a:spcAft>
                <a:spcPts val="500"/>
              </a:spcAft>
            </a:pPr>
            <a:r>
              <a:rPr sz="1100" b="0" i="0">
                <a:solidFill>
                  <a:srgbClr val="262626"/>
                </a:solidFill>
                <a:latin typeface="Meiryo UI"/>
                <a:ea typeface="Meiryo UI"/>
              </a:rPr>
              <a:t>・同じ設計を、近隣の基幹病院・大学へ横展開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・「紹介のタイミング」をテーマにした地域連携の会を企画・運営支援</a:t>
            </a:r>
          </a:p>
          <a:p>
            <a:pPr algn="l">
              <a:lnSpc>
                <a:spcPct val="125000"/>
              </a:lnSpc>
              <a:spcAft>
                <a:spcPts val="800"/>
              </a:spcAft>
            </a:pPr>
            <a:r>
              <a:rPr sz="1150" b="0" i="0">
                <a:solidFill>
                  <a:srgbClr val="262626"/>
                </a:solidFill>
                <a:latin typeface="Meiryo UI"/>
                <a:ea typeface="Meiryo UI"/>
              </a:rPr>
              <a:t>・確定診断がついた症例を共有する場をつくる</a:t>
            </a:r>
          </a:p>
          <a:p>
            <a:pPr algn="l">
              <a:lnSpc>
                <a:spcPct val="125000"/>
              </a:lnSpc>
              <a:spcAft>
                <a:spcPts val="800"/>
              </a:spcAft>
            </a:pPr>
            <a:r>
              <a:rPr sz="1150" b="0" i="0">
                <a:solidFill>
                  <a:srgbClr val="262626"/>
                </a:solidFill>
                <a:latin typeface="Meiryo UI"/>
                <a:ea typeface="Meiryo UI"/>
              </a:rPr>
              <a:t>・同じ設計を近隣施設・近隣大学へ広げる（エリアマッピング）</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早期に確定診断がつき、透析に至らない選択肢が残る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顧客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紹介が増え、地域連携の窓口としての存在感が高まる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大学・基幹病院だけでなく、その先の開業医まで含めてWinを設計する。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a:t>
            </a:r>
          </a:p>
        </p:txBody>
      </p:sp>
      <p:sp>
        <p:nvSpPr>
          <p:cNvPr id="8" name="Rounded Rectangle 7"/>
          <p:cNvSpPr/>
          <p:nvPr/>
        </p:nvSpPr>
        <p:spPr>
          <a:xfrm>
            <a:off x="548640"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② 腎生検の件数が、3年前の半分になっている</a:t>
            </a:r>
          </a:p>
          <a:p>
            <a:pPr algn="l">
              <a:lnSpc>
                <a:spcPct val="130000"/>
              </a:lnSpc>
              <a:spcAft>
                <a:spcPts val="1300"/>
              </a:spcAft>
            </a:pPr>
            <a:r>
              <a:rPr sz="1200" b="0" i="0">
                <a:solidFill>
                  <a:srgbClr val="262626"/>
                </a:solidFill>
                <a:latin typeface="Meiryo UI"/>
                <a:ea typeface="Meiryo UI"/>
              </a:rPr>
              <a:t>⑤ eGFRが20を切ってから紹介されることが多い</a:t>
            </a:r>
          </a:p>
          <a:p>
            <a:pPr algn="l">
              <a:lnSpc>
                <a:spcPct val="130000"/>
              </a:lnSpc>
              <a:spcAft>
                <a:spcPts val="1300"/>
              </a:spcAft>
            </a:pPr>
            <a:r>
              <a:rPr sz="1200" b="0" i="0">
                <a:solidFill>
                  <a:srgbClr val="262626"/>
                </a:solidFill>
                <a:latin typeface="Meiryo UI"/>
                <a:ea typeface="Meiryo UI"/>
              </a:rPr>
              <a:t>⑧ 教授が来年、学会の会長を務める</a:t>
            </a:r>
          </a:p>
        </p:txBody>
      </p:sp>
      <p:sp>
        <p:nvSpPr>
          <p:cNvPr id="9" name="Rounded Rectangle 8"/>
          <p:cNvSpPr/>
          <p:nvPr/>
        </p:nvSpPr>
        <p:spPr>
          <a:xfrm>
            <a:off x="548640"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a:t>
            </a:r>
          </a:p>
        </p:txBody>
      </p:sp>
      <p:sp>
        <p:nvSpPr>
          <p:cNvPr id="11" name="Rounded Rectangle 10"/>
          <p:cNvSpPr/>
          <p:nvPr/>
        </p:nvSpPr>
        <p:spPr>
          <a:xfrm>
            <a:off x="4288536"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① 関連病院向けにCKDの勉強会をやってほしい</a:t>
            </a:r>
          </a:p>
          <a:p>
            <a:pPr algn="l">
              <a:lnSpc>
                <a:spcPct val="130000"/>
              </a:lnSpc>
              <a:spcAft>
                <a:spcPts val="1300"/>
              </a:spcAft>
            </a:pPr>
            <a:r>
              <a:rPr sz="1200" b="0" i="0">
                <a:solidFill>
                  <a:srgbClr val="262626"/>
                </a:solidFill>
                <a:latin typeface="Meiryo UI"/>
                <a:ea typeface="Meiryo UI"/>
              </a:rPr>
              <a:t>④ 〇〇大学の△△先生を研究会に呼んでほしい</a:t>
            </a:r>
          </a:p>
          <a:p>
            <a:pPr algn="l">
              <a:lnSpc>
                <a:spcPct val="130000"/>
              </a:lnSpc>
              <a:spcAft>
                <a:spcPts val="1300"/>
              </a:spcAft>
            </a:pPr>
            <a:r>
              <a:rPr sz="1200" b="0" i="0">
                <a:solidFill>
                  <a:srgbClr val="262626"/>
                </a:solidFill>
                <a:latin typeface="Meiryo UI"/>
                <a:ea typeface="Meiryo UI"/>
              </a:rPr>
              <a:t>⑦ 先月の学会のスライドが欲しい</a:t>
            </a:r>
          </a:p>
        </p:txBody>
      </p:sp>
      <p:sp>
        <p:nvSpPr>
          <p:cNvPr id="12" name="Rounded Rectangle 11"/>
          <p:cNvSpPr/>
          <p:nvPr/>
        </p:nvSpPr>
        <p:spPr>
          <a:xfrm>
            <a:off x="4288536"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a:t>
            </a:r>
          </a:p>
        </p:txBody>
      </p:sp>
      <p:sp>
        <p:nvSpPr>
          <p:cNvPr id="14" name="Rounded Rectangle 13"/>
          <p:cNvSpPr/>
          <p:nvPr/>
        </p:nvSpPr>
        <p:spPr>
          <a:xfrm>
            <a:off x="8028431"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③ 若手に、腎病理を読める医師を育てたい</a:t>
            </a:r>
          </a:p>
          <a:p>
            <a:pPr algn="l">
              <a:lnSpc>
                <a:spcPct val="130000"/>
              </a:lnSpc>
              <a:spcAft>
                <a:spcPts val="1300"/>
              </a:spcAft>
            </a:pPr>
            <a:r>
              <a:rPr sz="1200" b="0" i="0">
                <a:solidFill>
                  <a:srgbClr val="262626"/>
                </a:solidFill>
                <a:latin typeface="Meiryo UI"/>
                <a:ea typeface="Meiryo UI"/>
              </a:rPr>
              <a:t>⑥ うちの医局を、もっと全国に知ってもらいたい</a:t>
            </a:r>
          </a:p>
          <a:p>
            <a:pPr algn="l">
              <a:lnSpc>
                <a:spcPct val="130000"/>
              </a:lnSpc>
              <a:spcAft>
                <a:spcPts val="1300"/>
              </a:spcAft>
            </a:pPr>
            <a:r>
              <a:rPr sz="1200" b="0" i="0">
                <a:solidFill>
                  <a:srgbClr val="262626"/>
                </a:solidFill>
                <a:latin typeface="Meiryo UI"/>
                <a:ea typeface="Meiryo UI"/>
              </a:rPr>
              <a:t>⑨ 透析導入を、できるだけ遅らせたい</a:t>
            </a:r>
          </a:p>
        </p:txBody>
      </p:sp>
      <p:sp>
        <p:nvSpPr>
          <p:cNvPr id="15" name="Rounded Rectangle 14"/>
          <p:cNvSpPr/>
          <p:nvPr/>
        </p:nvSpPr>
        <p:spPr>
          <a:xfrm>
            <a:off x="8028431"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49240"/>
            <a:ext cx="11109960" cy="8686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一つの発言にも、複数の解釈があり得ます。仕分けが割れること自体が、確認すべき情報の在りかです。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