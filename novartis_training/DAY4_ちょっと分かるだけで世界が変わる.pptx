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■オープニング　5分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■テーマ①「影響力を考える」　25分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■テーマ②「影響の輪を考える」　25分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■エリア戦略・まとめ　5分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3回の振り返り／今日の2つの視点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テーマ①「影響力を考える」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70632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25分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770632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誰が、何を動かせるのか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03904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テーマ②「影響の輪を考える」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03904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25分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803904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その力は、どこまで届くのか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37176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エリア戦略・まとめ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837176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37176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まとめ／今週の一手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テーマ① 講義10 → ワーク10 → 共有5　　｜　　テーマ② 講義10 → ワーク5 → ディスカッション10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第4回のテーマは「戦略的思考」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担当施設と周辺エリアに対する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成功像・現状・課題・解決法を言語化できる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① 影響力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誰が、何を動かせるのか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8795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肩書きではなく「動かせるもの」で見る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5138928"/>
            <a:ext cx="118872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テーマ①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42900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② 影響の輪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その力は、どこまで届くのか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18795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施設 → 関連病院 → エリア → その先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5138928"/>
            <a:ext cx="118872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テーマ②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715000"/>
            <a:ext cx="11109960" cy="65836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戦略的思考 ＝ 影響力を見極め、その輪をどこまで広げるかを決めること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LOOK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3回で手に入れた力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・大学の3使命と医師派遣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・影響力はテリトリー×ニーズ（HP／HS）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・教授の裁量権／医局の集合体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・薬審・採用の流れ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誰が“何を動かせるか”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・カレンダー管理と行動ログ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・会う理由を設計し、次の約束を残す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動かせる人に“会える”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・ドライ情報 × ウェット情報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・small b として面会に持ち込む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・面会後は「なぜ」を分解して次へ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その人のニーズが“分かる”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Meiryo UI"/>
                <a:ea typeface="Meiryo UI"/>
              </a:rPr>
              <a:t>この3つが揃うと、「影響力」が見える。</a:t>
            </a:r>
          </a:p>
          <a:p>
            <a:pPr algn="ctr"/>
            <a:r>
              <a:rPr sz="1500" b="0" i="0">
                <a:solidFill>
                  <a:srgbClr val="BFE8D2"/>
                </a:solidFill>
                <a:latin typeface="Meiryo UI"/>
                <a:ea typeface="Meiryo UI"/>
              </a:rPr>
              <a:t>今日は、それを戦略にします。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IN　｜　3分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11099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3000" b="1" i="0">
                <a:solidFill>
                  <a:srgbClr val="262626"/>
                </a:solidFill>
                <a:latin typeface="Meiryo UI"/>
                <a:ea typeface="Meiryo UI"/>
              </a:rPr>
              <a:t>この3回で、実際に変わったことは何ですか？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103120"/>
            <a:ext cx="873252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Teamsチャットに、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「以前と比べて変わったこと」を1つ、1行で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大学・基幹病院の見方、行動、準備の仕方 — どれでも構いません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4612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3611880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会う相手が、教授だけではなくなった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4270248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面会前に、仮説を準備するようになった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4928616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医局長や若手医師の役割を、見るようになった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5623560"/>
            <a:ext cx="7452360" cy="64008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まだ変わっていない方は、「今も不安なこと」を1つどうぞ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テーマ①　｜　誰が、何を動かせるのか　｜　25分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影響力を考える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その疾患で、「何かを動かせる人」は誰ですか？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DAY1の「“影響力”を紐解く」を、自分の担当施設で実際にやってみる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影響力は「肩書き」ではなく「何を動かせるか」で見る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DAY2で会えた人・DAY3で分かったニーズを、ここで結びつける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172968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DAY1の復習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影響力は「テリトリー」と「ニーズ」で決まる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HP（基幹病院）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542032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1病院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090672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医師会・医療圏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9312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関連病院・出身医局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97680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ニーズ：紹介率を上げたい／関連病院と協働したい／院内で負けたくない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HS（大学病院）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2542032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県内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090672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県内＋他大学・専門領域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39312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日本全体・学会・世界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297680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ニーズ：研修医が欲しい／論文を出したい／県内での存在感が欲しい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Meiryo UI"/>
                <a:ea typeface="Meiryo UI"/>
              </a:rPr>
              <a:t>テリトリーが違えば、ニーズも違う。ニーズが違えば、動かせるものも違う。</a:t>
            </a:r>
          </a:p>
          <a:p>
            <a:pPr algn="ctr"/>
            <a:r>
              <a:rPr sz="2400" b="1" i="0">
                <a:solidFill>
                  <a:srgbClr val="FFC000"/>
                </a:solidFill>
                <a:latin typeface="Meiryo UI"/>
                <a:ea typeface="Meiryo UI"/>
              </a:rPr>
              <a:t>「この先生は、何を動かせるのか？」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影響力は「肩書き」ではなく「何を動かせるか」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教育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若手が数年後にエリアへ散る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研究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学会・論文で外へ届く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臨床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症例が集まる・評価の場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07424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関連病院の部長・医長を決める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医師派遣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エリアの布陣が決まる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情報発信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治療方針がエリアの標準に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講演会・研究会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地域の共通認識をつくる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3200400"/>
            <a:ext cx="2551176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その疾患で</a:t>
            </a:r>
          </a:p>
          <a:p>
            <a:pPr algn="ctr"/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どれを動かせる？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5486400" cy="15087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教授の裁量権（DAY1）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① 臨床機会の配分　② 医局人事・異動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③ 教授会・教授選　④ 研究・教育の方向性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＝ 教授は「処方者」ではなく、これらを動かせる人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09160"/>
            <a:ext cx="5486400" cy="15087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肩書きの落とし穴（DAY1）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病院教授・特任教授は「教授」でも動かせるものが違う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財源・任期・実権・医局への接続で見極める（付録E）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影響力は、1人に集中していない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98448" y="1828800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方針を決める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22191" y="1828800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治療方針が、この人の一言で決まる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505456"/>
            <a:ext cx="566928" cy="566928"/>
          </a:xfrm>
          <a:prstGeom prst="ellipse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" y="2505456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3DA574"/>
                </a:solidFill>
                <a:latin typeface="Meiryo UI"/>
                <a:ea typeface="Meiryo UI"/>
              </a:rPr>
              <a:t>最初に試す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2191" y="2505456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新しい治療を最初に使う。実務の中心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82112"/>
            <a:ext cx="566928" cy="56692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98448" y="3182112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B86A00"/>
                </a:solidFill>
                <a:latin typeface="Meiryo UI"/>
                <a:ea typeface="Meiryo UI"/>
              </a:rPr>
              <a:t>情報ハブ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3182112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若手が困ったら聞きに行く。医局長に多い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98448" y="3858768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連携の要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2191" y="3858768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35424"/>
            <a:ext cx="566928" cy="56692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98448" y="4535424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3B5C99"/>
                </a:solidFill>
                <a:latin typeface="Meiryo UI"/>
                <a:ea typeface="Meiryo UI"/>
              </a:rPr>
              <a:t>対外の顔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4535424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研究会・講演会で外に発信する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1828800"/>
            <a:ext cx="3154680" cy="3035808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1400"/>
              </a:spcAft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DAY2・DAY3が効く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この5人を見分けるには、会って話すしかない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BFE8D2"/>
                </a:solidFill>
                <a:latin typeface="Meiryo UI"/>
                <a:ea typeface="Meiryo UI"/>
              </a:rPr>
              <a:t>DAY2　会えるようになった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250" b="1" i="0">
                <a:solidFill>
                  <a:srgbClr val="BFE8D2"/>
                </a:solidFill>
                <a:latin typeface="Meiryo UI"/>
                <a:ea typeface="Meiryo UI"/>
              </a:rPr>
              <a:t>DAY3　ニーズが見えてきた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3回分の学びが、ここで1つに。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8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「この施設で、何かを動かせるのは誰か」を固有名詞で言えるか。</a:t>
            </a:r>
          </a:p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言えない場所が、次に会いに行く相手です。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影響力マップを描く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7360920" cy="77724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まず、今日考える疾患を1つ決めてください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慢性糸球体腎炎の診療（IgA腎症など）から、あなたが一番動かしたい疾患を1つ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128016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STEP 1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2514600"/>
            <a:ext cx="5943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大学・基幹病院を、重要な順に3〜5施設描く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丸の大きさ＝その施設が動いたとき、他施設の診療がどれだけ変わるか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93008"/>
            <a:ext cx="128016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STEP 2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4分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65960" y="3493008"/>
            <a:ext cx="5943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各施設に、影響を持つ人を1〜2名書く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誰か（氏名 or 役職）／何を動かせるか（方針・導入・教育・連携・発信）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71416"/>
            <a:ext cx="128016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STEP 3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4471416"/>
            <a:ext cx="5943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分からない施設・人物・関係に「？」を書く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その「？」が、次に聞きに行くことです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3832"/>
            <a:ext cx="7360920" cy="77724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問い：</a:t>
            </a: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その疾患で最も影響力が大きい施設はどこ？　大学・基幹病院はそれぞれどの位置？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00200"/>
            <a:ext cx="3520440" cy="2423160"/>
          </a:xfrm>
          <a:prstGeom prst="roundRect">
            <a:avLst>
              <a:gd name="adj" fmla="val 8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0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完成条件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次の一文が作れたら完成です</a:t>
            </a:r>
          </a:p>
          <a:p>
            <a:pPr algn="l">
              <a:lnSpc>
                <a:spcPct val="135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「この疾患で最も影響力が大きいのは〇〇施設の△△先生。□□を動かせるから」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4160520"/>
            <a:ext cx="3520440" cy="2130552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迷ったら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・人が出てこなければ役職だけで可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・影響が担当エリアを超えるなら、そう書いてよい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BFE8D2"/>
                </a:solidFill>
                <a:latin typeface="Meiryo UI"/>
                <a:ea typeface="Meiryo UI"/>
              </a:rPr>
              <a:t>・分からないところは「？」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3人1組で、1人60秒ずつ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時計回りに、全員が話してください。1人60秒。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発表の型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35808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私が選んだ疾患は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〇〇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最も影響力が大きい施設は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△△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52544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動かせる人は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□□先生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で、◇◇を動かせると考えています。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10912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まだ分からないことは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☆☆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60720"/>
            <a:ext cx="11109960" cy="54864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聞き手の質問は1つだけ　—　</a:t>
            </a: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「その判断の根拠は何ですか？」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テーマ②　｜　その力は、どこまで届くのか　｜　25分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影響の輪を考える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その影響力は、どこまで届きますか？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影響の輪：施設の中 → 関連病院 → 担当エリア → 営業所・その先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大学に固執しない。輪が一番大きいのは大学とは限らない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輪を動かすには、相手のWINが要る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影響の輪 — その力は、どこまで届くのか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1234440" y="1783079"/>
            <a:ext cx="3931920" cy="3931920"/>
          </a:xfrm>
          <a:prstGeom prst="ellipse">
            <a:avLst/>
          </a:prstGeom>
          <a:noFill/>
          <a:ln w="2286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20" y="2194559"/>
            <a:ext cx="3108960" cy="3108960"/>
          </a:xfrm>
          <a:prstGeom prst="ellipse">
            <a:avLst/>
          </a:prstGeom>
          <a:noFill/>
          <a:ln w="2286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57400" y="2606039"/>
            <a:ext cx="2286000" cy="2286000"/>
          </a:xfrm>
          <a:prstGeom prst="ellipse">
            <a:avLst/>
          </a:prstGeom>
          <a:noFill/>
          <a:ln w="2286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68880" y="3017520"/>
            <a:ext cx="1463040" cy="1463040"/>
          </a:xfrm>
          <a:prstGeom prst="ellipse">
            <a:avLst/>
          </a:prstGeom>
          <a:noFill/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84708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3DA574"/>
                </a:solidFill>
                <a:latin typeface="Meiryo UI"/>
                <a:ea typeface="Meiryo UI"/>
              </a:rPr>
              <a:t>① 施設の中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25856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② 関連病院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67004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3B5C99"/>
                </a:solidFill>
                <a:latin typeface="Meiryo UI"/>
                <a:ea typeface="Meiryo UI"/>
              </a:rPr>
              <a:t>③ 担当エリア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08152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④ その先</a:t>
            </a:r>
          </a:p>
        </p:txBody>
      </p:sp>
      <p:sp>
        <p:nvSpPr>
          <p:cNvPr id="14" name="Oval 13"/>
          <p:cNvSpPr/>
          <p:nvPr/>
        </p:nvSpPr>
        <p:spPr>
          <a:xfrm>
            <a:off x="2834640" y="3383279"/>
            <a:ext cx="731520" cy="73152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先生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DA574"/>
                </a:solidFill>
                <a:latin typeface="Meiryo UI"/>
                <a:ea typeface="Meiryo UI"/>
              </a:rPr>
              <a:t>① 施設の中まで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院内の方針・採用は動く。エリアには届かない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07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28A54"/>
                </a:solidFill>
                <a:latin typeface="Meiryo UI"/>
                <a:ea typeface="Meiryo UI"/>
              </a:rPr>
              <a:t>② 関連病院まで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医局人事・派遣を通じて、系列に届く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831336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B5C99"/>
                </a:solidFill>
                <a:latin typeface="Meiryo UI"/>
                <a:ea typeface="Meiryo UI"/>
              </a:rPr>
              <a:t>③ 担当エリアまで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研究会・講演会・地域連携で、系列を越える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85546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F3864"/>
                </a:solidFill>
                <a:latin typeface="Meiryo UI"/>
                <a:ea typeface="Meiryo UI"/>
              </a:rPr>
              <a:t>④ その先まで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学会・全国の研究会で、担当範囲を超える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70448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輪の大きさは、肩書きでは決まらない。　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その疾患で、一番大きな輪を持つのは誰？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大学に固執しない — 大学はエリアの中の「1施設」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大学の輪が最大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08760" y="2907792"/>
            <a:ext cx="1097280" cy="10972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9" name="Oval 8"/>
          <p:cNvSpPr/>
          <p:nvPr/>
        </p:nvSpPr>
        <p:spPr>
          <a:xfrm>
            <a:off x="2514600" y="37307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0" name="Oval 9"/>
          <p:cNvSpPr/>
          <p:nvPr/>
        </p:nvSpPr>
        <p:spPr>
          <a:xfrm>
            <a:off x="841247" y="3822191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方針がエリア全体に波及。人事と発信が効く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複数の大学が並ぶ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13048" y="2953512"/>
            <a:ext cx="914400" cy="91440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5" name="Oval 14"/>
          <p:cNvSpPr/>
          <p:nvPr/>
        </p:nvSpPr>
        <p:spPr>
          <a:xfrm>
            <a:off x="5001768" y="3547872"/>
            <a:ext cx="914400" cy="91440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3DA574"/>
                </a:solidFill>
                <a:latin typeface="Meiryo UI"/>
                <a:ea typeface="Meiryo UI"/>
              </a:rPr>
              <a:t>B大</a:t>
            </a:r>
          </a:p>
        </p:txBody>
      </p:sp>
      <p:sp>
        <p:nvSpPr>
          <p:cNvPr id="16" name="Oval 15"/>
          <p:cNvSpPr/>
          <p:nvPr/>
        </p:nvSpPr>
        <p:spPr>
          <a:xfrm>
            <a:off x="4636008" y="272491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1大学では動かない。共通する課題を探す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基幹病院の輪が最大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77456" y="2953512"/>
            <a:ext cx="1143000" cy="114300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1F3864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1" name="Oval 20"/>
          <p:cNvSpPr/>
          <p:nvPr/>
        </p:nvSpPr>
        <p:spPr>
          <a:xfrm>
            <a:off x="6601968" y="3913632"/>
            <a:ext cx="658368" cy="658368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2" name="Oval 21"/>
          <p:cNvSpPr/>
          <p:nvPr/>
        </p:nvSpPr>
        <p:spPr>
          <a:xfrm>
            <a:off x="8129016" y="3867912"/>
            <a:ext cx="603504" cy="603504"/>
          </a:xfrm>
          <a:prstGeom prst="ellipse">
            <a:avLst/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3B5C9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実務は基幹病院。大学は研究・教育で効かせる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輪がエリアを超える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46336" y="2907792"/>
            <a:ext cx="1051560" cy="105156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7" name="Oval 26"/>
          <p:cNvSpPr/>
          <p:nvPr/>
        </p:nvSpPr>
        <p:spPr>
          <a:xfrm>
            <a:off x="10981943" y="2834640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8" name="Oval 27"/>
          <p:cNvSpPr/>
          <p:nvPr/>
        </p:nvSpPr>
        <p:spPr>
          <a:xfrm>
            <a:off x="11073384" y="3867912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07424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営業所・全国への展開を考える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97880"/>
            <a:ext cx="11109960" cy="45720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「大学を軸としたエリア攻略」ではなく、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「エリアを動かすために、どの輪を使うか」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輪を動かすには、相手のWINが要る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920240"/>
            <a:ext cx="3200400" cy="3200400"/>
          </a:xfrm>
          <a:prstGeom prst="ellipse">
            <a:avLst/>
          </a:prstGeom>
          <a:solidFill>
            <a:srgbClr val="3B5C99">
              <a:alpha val="22000"/>
            </a:srgbClr>
          </a:solidFill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651760" y="1920240"/>
            <a:ext cx="3200400" cy="3200400"/>
          </a:xfrm>
          <a:prstGeom prst="ellipse">
            <a:avLst/>
          </a:prstGeom>
          <a:solidFill>
            <a:srgbClr val="128A54">
              <a:alpha val="22000"/>
            </a:srgbClr>
          </a:solidFill>
          <a:ln w="2286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エリアで
実現したいこと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86000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大学・医局が
したいこと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200400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打ち手</a:t>
            </a:r>
          </a:p>
          <a:p>
            <a:pPr algn="ctr"/>
            <a:r>
              <a:rPr sz="1100" b="1" i="0">
                <a:solidFill>
                  <a:srgbClr val="C00000"/>
                </a:solidFill>
                <a:latin typeface="Meiryo UI"/>
                <a:ea typeface="Meiryo UI"/>
              </a:rPr>
              <a:t>はここ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303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重なりが大きいほど、相手は本気で動く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2024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腎臓内科の医局が「したいこと」の例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487168"/>
            <a:ext cx="548640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・専門性の高い症例を集めたい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・若手・専攻医を増やしたい、育てたい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・研究データを出したい・論文を書きたい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・関連病院との連携／派遣先を確保したい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・県内・地域での存在感を高めたい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・学会・研究会で発信したい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75488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DAY1で見た「HSのニーズ」そのもの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23560"/>
            <a:ext cx="11109960" cy="73152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「先生がやりたいこと」を叶えながら、「エリアで実現したいこと」も進む打ち手は何か？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エリアプランニング — 4つのステップ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2697480" cy="82296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1年後、エリアがどうなっていたら理想か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73552" y="1938528"/>
            <a:ext cx="109728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1568" y="178308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② 使う影響力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2395728"/>
            <a:ext cx="2697480" cy="82296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誰の・どの輪を、どこまで届かせるか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1938528"/>
            <a:ext cx="109728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54496" y="178308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③ 相手のWIN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2395728"/>
            <a:ext cx="2697480" cy="82296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その先生・医局は何を実現したいか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79408" y="1938528"/>
            <a:ext cx="109728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07424" y="178308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④ 次の一手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395728"/>
            <a:ext cx="2697480" cy="82296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今週、誰に・何を・いつまでに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337560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情報から考えるのではなく、成功像から逆算する。DAY3の「取り方」に「取りに行く理由」が加わります。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30752"/>
            <a:ext cx="111099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例：IgA腎症（架空のエリア）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24528"/>
            <a:ext cx="2103120" cy="43891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224528"/>
            <a:ext cx="8915400" cy="438912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主要な大学・基幹病院で、患者選択・治療導入・フォローの考え方が整理されている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36592"/>
            <a:ext cx="2103120" cy="438912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使う影響力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736592"/>
            <a:ext cx="8915400" cy="438912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A大学教授＝県内の研究会で発信（③の輪）／B大学＝関連病院に強い（②の輪）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48656"/>
            <a:ext cx="2103120" cy="43891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相手のWIN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5248656"/>
            <a:ext cx="8915400" cy="438912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A大学＝県内での存在感を高めたい／B大学＝関連病院との連携を強めたい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760720"/>
            <a:ext cx="2103120" cy="43891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次の一手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760720"/>
            <a:ext cx="8915400" cy="438912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今週、A大学の医局長に、県内の研究会での発信について相談する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5856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エリアの次の一手を決める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選んだ疾患について、4つの問いに1人でメモしてください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79"/>
            <a:ext cx="548640" cy="54864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212848"/>
            <a:ext cx="2011680" cy="603504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128A54"/>
                </a:solidFill>
                <a:latin typeface="Meiryo UI"/>
                <a:ea typeface="Meiryo UI"/>
              </a:rPr>
              <a:t>成功像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212848"/>
            <a:ext cx="82296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1年後、担当エリアがどうなっていたら理想ですか？（一文で）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53512"/>
            <a:ext cx="548640" cy="54864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2926080"/>
            <a:ext cx="2011680" cy="603504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3B5C99"/>
                </a:solidFill>
                <a:latin typeface="Meiryo UI"/>
                <a:ea typeface="Meiryo UI"/>
              </a:rPr>
              <a:t>使う影響力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926080"/>
            <a:ext cx="82296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誰の・どの輪を使いますか？　どこまで届かせたいですか？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666744"/>
            <a:ext cx="548640" cy="54864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3639312"/>
            <a:ext cx="2011680" cy="603504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B86A00"/>
                </a:solidFill>
                <a:latin typeface="Meiryo UI"/>
                <a:ea typeface="Meiryo UI"/>
              </a:rPr>
              <a:t>相手のWIN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639312"/>
            <a:ext cx="82296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その先生・医局は、何を実現したいですか？（分からなければ「次回何を確認するか」）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379976"/>
            <a:ext cx="548640" cy="5486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4352544"/>
            <a:ext cx="2011680" cy="603504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次の一手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4352544"/>
            <a:ext cx="82296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今週、自分が最初に行うことは？（誰に・何を・いつまでに）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38928"/>
            <a:ext cx="111099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完成条件：この4行が書けたら完成です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62356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私のエリアでは </a:t>
            </a: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〇〇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 を実現したい。そのために </a:t>
            </a: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△△先生の□□という影響力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 を使いたい。</a:t>
            </a:r>
          </a:p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先生・医局のWINは </a:t>
            </a: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◇◇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 だと考える。まず私は、今週 </a:t>
            </a: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☆☆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 を確認・実行する。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85292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DISCUSSION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3人1組で、戦略を確かめ合う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1人3分 × 3人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7315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発表2分 ＋ 質問1分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最後の1分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651760"/>
            <a:ext cx="7315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グループの一番の気づきを1つ決める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11109960" cy="4572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発表は、ワーク②の4行をそのまま読むだけでOK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79392"/>
            <a:ext cx="11109960" cy="10515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800"/>
              </a:spcAft>
            </a:pPr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聞き手の質問は1つだけ</a:t>
            </a:r>
          </a:p>
          <a:p>
            <a:pPr algn="ctr"/>
            <a:r>
              <a:rPr sz="2200" b="1" i="0">
                <a:solidFill>
                  <a:srgbClr val="C00000"/>
                </a:solidFill>
                <a:latin typeface="Meiryo UI"/>
                <a:ea typeface="Meiryo UI"/>
              </a:rPr>
              <a:t>「その打ち手で、成功像に本当に近づきますか？」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48640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施設や先生の紹介で終わらせず、</a:t>
            </a: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「その打ち手は成功像につながっているか」を確かめる時間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にしてください。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誰が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動かせるか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73736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影響力は「肩書き」ではなく「何を動かせるか」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◎方針／○最初に試す／★情報ハブ／◇連携の要／□対外の顔。1人とは限らない。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どこまで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届くか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288036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影響の輪で見る。大学に固執しない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施設の中／関連病院／担当エリア／その先。一番大きいのは大学とは限らない。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どう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動かすか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402336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相手のWINと重なる打ち手を選ぶ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エリアで実現したいことと、医局がしたいことが重なるところに置く。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11109960" cy="10515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300" b="1" i="0">
                <a:solidFill>
                  <a:srgbClr val="FFC000"/>
                </a:solidFill>
                <a:latin typeface="Meiryo UI"/>
                <a:ea typeface="Meiryo UI"/>
              </a:rPr>
              <a:t>一施設で終わらせず、その影響を担当エリアへ広げる。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行動宣言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10996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400" b="1" i="0">
                <a:solidFill>
                  <a:srgbClr val="262626"/>
                </a:solidFill>
                <a:latin typeface="Meiryo UI"/>
                <a:ea typeface="Meiryo UI"/>
              </a:rPr>
              <a:t>Teamsチャットに、「今週、誰に・何をするか」を1行で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3063240"/>
            <a:ext cx="7452360" cy="594360"/>
          </a:xfrm>
          <a:prstGeom prst="roundRect">
            <a:avLst>
              <a:gd name="adj" fmla="val 12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記入形式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3730752"/>
            <a:ext cx="745236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900" b="0" i="0">
                <a:solidFill>
                  <a:srgbClr val="262626"/>
                </a:solidFill>
                <a:latin typeface="Meiryo UI"/>
                <a:ea typeface="Meiryo UI"/>
              </a:rPr>
              <a:t>今週中に、</a:t>
            </a:r>
            <a:r>
              <a:rPr sz="1900" b="1" i="0">
                <a:solidFill>
                  <a:srgbClr val="C00000"/>
                </a:solidFill>
                <a:latin typeface="Meiryo UI"/>
                <a:ea typeface="Meiryo UI"/>
              </a:rPr>
              <a:t>〇〇先生</a:t>
            </a:r>
            <a:r>
              <a:rPr sz="1900" b="0" i="0">
                <a:solidFill>
                  <a:srgbClr val="262626"/>
                </a:solidFill>
                <a:latin typeface="Meiryo UI"/>
                <a:ea typeface="Meiryo UI"/>
              </a:rPr>
              <a:t> へ </a:t>
            </a:r>
            <a:r>
              <a:rPr sz="1900" b="1" i="0">
                <a:solidFill>
                  <a:srgbClr val="C00000"/>
                </a:solidFill>
                <a:latin typeface="Meiryo UI"/>
                <a:ea typeface="Meiryo UI"/>
              </a:rPr>
              <a:t>△△</a:t>
            </a:r>
            <a:r>
              <a:rPr sz="1900" b="0" i="0">
                <a:solidFill>
                  <a:srgbClr val="262626"/>
                </a:solidFill>
                <a:latin typeface="Meiryo UI"/>
                <a:ea typeface="Meiryo UI"/>
              </a:rPr>
              <a:t> を確認する。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4892040"/>
            <a:ext cx="7452360" cy="77724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ワーク②のQ4に書いたことを、そのまま投稿すればOKです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5806440"/>
            <a:ext cx="745236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Meiryo UI"/>
                <a:ea typeface="Meiryo UI"/>
              </a:rPr>
              <a:t>「電話1本サイズ」に割ること。小さいほど、実行されます。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364991" y="1947672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4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62472" y="1947672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9952" y="1947672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何のために使うかを決める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10515600" cy="137160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600"/>
              </a:spcAft>
            </a:pPr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「このエリアは、自分に任せてください。</a:t>
            </a:r>
          </a:p>
          <a:p>
            <a:pPr algn="ctr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そのために、大学・基幹病院の力をこう組み合わせます」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そう言える担当者を目指しましょう。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21208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今日中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行動宣言をチャットへ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521208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今週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録画・資料・気づきリストを共有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0416" y="521208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これから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困ったら、全国の仲間に相談を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ワークシート① 影響力マップ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選んだ疾患（　　　　　　　　　　　　）　　作成日（　　／　　）　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8138160" cy="393192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丸の大きさ＝その施設が動いたとき、他施設の診療がどれだけ変わるか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82880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0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各施設に書くこと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施設名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誰か（氏名 or 役職）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何を動かせるか</a:t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BFE8D2"/>
                </a:solidFill>
                <a:latin typeface="Meiryo UI"/>
                <a:ea typeface="Meiryo UI"/>
              </a:rPr>
              <a:t>□ 分からないところは「？」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84048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役割の記号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◎　方針を決める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○　最初に試す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★　情報ハブ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◇　連携の要</a:t>
            </a:r>
          </a:p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□　対外の顔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70448"/>
            <a:ext cx="11109960" cy="47548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C00000"/>
                </a:solidFill>
                <a:latin typeface="Meiryo UI"/>
                <a:ea typeface="Meiryo UI"/>
              </a:rPr>
              <a:t>完成条件：</a:t>
            </a: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「この疾患で最も影響力が大きいのは〇〇施設の△△先生。□□を動かせるから」と書けること</a:t>
            </a:r>
          </a:p>
          <a:p>
            <a:pPr algn="ctr"/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動かせるもの：教育／研究／臨床／医局人事／医師派遣／情報発信／講演会・研究会　　※その他の医療機関は、背景となる患者動線として必要に応じて記載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ワークシート② エリアの次の一手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選んだ疾患（　　　　　　　　　　　　）　　作成日（　　／　　）　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10512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Q1 成功像　—　1年後、エリアがどうなっていたら理想か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95144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10512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Q2 使う影響力　—　誰の・どの輪を、どこまで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295144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Q3 相手のWIN　—　その先生・医局は何を実現したいか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8503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0040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Q4 次の一手　—　今週、誰に・何を・いつまでに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8503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111099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完成文（この4行が書けたら完成）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102352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私のエリアでは〇〇を実現したい。そのために△△先生の□□という影響力を使いたい。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先生・医局のWINは◇◇だと考える。まず私は、今週☆☆を確認・実行する。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989320"/>
            <a:ext cx="11109960" cy="36576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　□ 主語は「エリア」か　　□ 使う輪を決めたか　　□ 相手のWINを書けたか　　□ 今週の行動まで落ちたか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疾患別に考えると、こうなる（架空の例）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C3腎症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成功像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大学・主要基幹病院の間で、疑う患者像、病理・補体評価、専門医への相談経路について共通認識がある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影響の輪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病理や補体領域に詳しい大学医師から、関連基幹病院へ診断上の視点を発信する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大学の「研究」「情報発信」の輪が効きやすい。まず疑ってもらう段階から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IgA腎症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成功像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主要な大学・基幹病院で、患者選択、治療導入、フォローに関する考え方が整理されている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影響の輪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診療経験を持つ基幹病院医師と大学医師が、施設間の治療課題を共有する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基幹病院の「臨床」の輪も大きい。大学と基幹病院を組み合わせる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925312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同じエリアでも、疾患が違えば重要施設もキーパーソンも変わります。だからワークは疾患を1つ決めてから。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DAY1〜3の学び 総まとめ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・大学の3使命：教育・研究・臨床。医師派遣で地域を支える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・教授の裁量権：臨床機会・医局人事・教授選・研究教育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・大学は「医局の集合体」。病院教授／特任教授は財源・任期・実権で見分ける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・薬審・採用は施設ごとに流れが違う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で設計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・アクセス：訪問ルール確認・秘書経由・メール・手紙・直接訪問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Place：外来・外勤・医局会・総回診・カンファ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・カレンダーで情報管理し、行動ログで検証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・会う理由を設計し次の約束を残す。My teacherをつくる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・ドライ情報：HP・機関紙・掲示物・Veeva Link・講演内容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・ウェット情報：面会・他Dr・社内他領域・MS・HCP・雑談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・分からないことは small b として面会に持ち込む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・顧客理解＝現状把握。何を・なぜ使い、患者をどうしたいのか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・面会後は「なぜ」を分解し、仮説を立てて次へ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15000"/>
            <a:ext cx="11109960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この3つが揃って初めて「影響力」が見え、「影響の輪」を設計できる。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大学の「肩書き」早見表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方針・人事の最終決定者。多忙で現場の細部は下が握ることも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実務の要であり次期教授候補。関係構築は先行投資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医局長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医局の雑務・人事、行事の窓口。教授の信頼が厚く影響力大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実処方と臨床研究の担い手。数年後は関連病院の幹部へ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病院教授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臨床・病院運営に強い。採用・薬審には効くが医局人事権は別のことも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特任教授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寄附講座・外部資金による任用。研究・講演に強いが医局人事は限定的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本務は他施設。院内の決定権は限定的だがネットワークのハブに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現役の決定権はない。人脈・影響力は健在。研究会の重鎮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4360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見極めの5点：① 財源　② 任期　③ 実権　④ 本務教授・医局長・薬剤部との距離　⑤ COIの扱い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1874519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訪問・面会・資材配布のルールは施設ごとに違う。迷ったら守りに倒す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70632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その場で約束しない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770632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寄附金・広告協賛の依頼は即答せず、必ず社内の申請・審査手続きへ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66744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現行の文書で確認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666744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「前任者がやっていた」は根拠にならない。薬審・採用は施設ごとに毎回確認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62856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自己判断しない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4562856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基準はプロモーションコードと社内SOP。迷ったら相談してから動く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58968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5458968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依頼・回答・手続きの経緯を記録に。先生と自分の両方を守る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617220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当日の投影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・冒頭は タイトル → 4回のロードマップ → 本日のAgenda の3枚だけ使う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・プロジェクト概要・メンバー紹介は開始前の待機画面／配布資料へ回す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・オープニング5分を守れないと、ワークの時間が削られる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ワークの前提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・ワーク①の冒頭で、必ず対象疾患を1つ決めさせる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・疾患が違えば重要施設もキーパーソンも変わる（付録C）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・「完成条件の一文」が書けたら完成、と最初に伝える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共有・ディスカッション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・共有①は時計回りで1人60秒。型どおりで構わないと伝える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・ディスカッションは1人3分（発表2分＋質問1分）×3人＋気づき1分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・質問は1つだけ。施設紹介で終わらせず、成功像との接続を確かめる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締め方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・まとめは3つのメッセージだけ。掘り下げない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・行動宣言はワーク②のQ4をそのまま投稿してもらう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・最終メッセージまで必ず2〜3分残す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