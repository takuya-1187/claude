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 id="525" r:id="rId41"/>
    <p:sldId id="526" r:id="rId42"/>
    <p:sldId id="527" r:id="rId43"/>
    <p:sldId id="528" r:id="rId44"/>
    <p:sldId id="529"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■オープニング　5分</a:t>
            </a:r>
          </a:p>
          <a:p>
            <a:r>
              <a:rPr lang="ja-JP" altLang="en-US" sz="3200" dirty="0">
                <a:solidFill>
                  <a:schemeClr val="bg1"/>
                </a:solidFill>
                <a:latin typeface="Meiryo UI"/>
                <a:ea typeface="Meiryo UI"/>
              </a:rPr>
              <a:t>■テーマ①「視座を変える」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■テーマ②「順序を変える」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■エリア戦略・まとめ　5分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 — 60分、大きく4つのブロックです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783080"/>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オープニング</a:t>
            </a:r>
          </a:p>
        </p:txBody>
      </p:sp>
      <p:sp>
        <p:nvSpPr>
          <p:cNvPr id="7" name="Rounded Rectangle 6"/>
          <p:cNvSpPr/>
          <p:nvPr/>
        </p:nvSpPr>
        <p:spPr>
          <a:xfrm>
            <a:off x="6400800" y="1783080"/>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8" name="Rounded Rectangle 7"/>
          <p:cNvSpPr/>
          <p:nvPr/>
        </p:nvSpPr>
        <p:spPr>
          <a:xfrm>
            <a:off x="7571231" y="1783080"/>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3回で何が変わったか／戦略的思考とは何か</a:t>
            </a:r>
          </a:p>
        </p:txBody>
      </p:sp>
      <p:sp>
        <p:nvSpPr>
          <p:cNvPr id="9" name="Rounded Rectangle 8"/>
          <p:cNvSpPr/>
          <p:nvPr/>
        </p:nvSpPr>
        <p:spPr>
          <a:xfrm>
            <a:off x="548640" y="2843784"/>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テーマ①「視座を変える」</a:t>
            </a:r>
          </a:p>
        </p:txBody>
      </p:sp>
      <p:sp>
        <p:nvSpPr>
          <p:cNvPr id="10" name="Rounded Rectangle 9"/>
          <p:cNvSpPr/>
          <p:nvPr/>
        </p:nvSpPr>
        <p:spPr>
          <a:xfrm>
            <a:off x="6400800" y="2843784"/>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1" name="Rounded Rectangle 10"/>
          <p:cNvSpPr/>
          <p:nvPr/>
        </p:nvSpPr>
        <p:spPr>
          <a:xfrm>
            <a:off x="7571231" y="2843784"/>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大学の中から見る → 自分の任された範囲から見る</a:t>
            </a:r>
          </a:p>
        </p:txBody>
      </p:sp>
      <p:sp>
        <p:nvSpPr>
          <p:cNvPr id="12" name="Rounded Rectangle 11"/>
          <p:cNvSpPr/>
          <p:nvPr/>
        </p:nvSpPr>
        <p:spPr>
          <a:xfrm>
            <a:off x="548640" y="3904487"/>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テーマ②「順序を変える」</a:t>
            </a:r>
          </a:p>
        </p:txBody>
      </p:sp>
      <p:sp>
        <p:nvSpPr>
          <p:cNvPr id="13" name="Rounded Rectangle 12"/>
          <p:cNvSpPr/>
          <p:nvPr/>
        </p:nvSpPr>
        <p:spPr>
          <a:xfrm>
            <a:off x="6400800" y="3904487"/>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4" name="Rounded Rectangle 13"/>
          <p:cNvSpPr/>
          <p:nvPr/>
        </p:nvSpPr>
        <p:spPr>
          <a:xfrm>
            <a:off x="7571231" y="3904487"/>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情報から考える → 成功像から逆算して考える</a:t>
            </a:r>
          </a:p>
        </p:txBody>
      </p:sp>
      <p:sp>
        <p:nvSpPr>
          <p:cNvPr id="15" name="Rounded Rectangle 14"/>
          <p:cNvSpPr/>
          <p:nvPr/>
        </p:nvSpPr>
        <p:spPr>
          <a:xfrm>
            <a:off x="548640" y="4965192"/>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エリア戦略・まとめ</a:t>
            </a:r>
          </a:p>
        </p:txBody>
      </p:sp>
      <p:sp>
        <p:nvSpPr>
          <p:cNvPr id="16" name="Rounded Rectangle 15"/>
          <p:cNvSpPr/>
          <p:nvPr/>
        </p:nvSpPr>
        <p:spPr>
          <a:xfrm>
            <a:off x="6400800" y="4965192"/>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17" name="Rounded Rectangle 16"/>
          <p:cNvSpPr/>
          <p:nvPr/>
        </p:nvSpPr>
        <p:spPr>
          <a:xfrm>
            <a:off x="7571231" y="4965192"/>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Beyond：影響を広げる／自分の範囲に責任を持つ</a:t>
            </a:r>
          </a:p>
        </p:txBody>
      </p:sp>
      <p:sp>
        <p:nvSpPr>
          <p:cNvPr id="18" name="Rounded Rectangle 17"/>
          <p:cNvSpPr/>
          <p:nvPr/>
        </p:nvSpPr>
        <p:spPr>
          <a:xfrm>
            <a:off x="548640" y="5870448"/>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0B4F37"/>
                </a:solidFill>
                <a:latin typeface="Meiryo UI"/>
                <a:ea typeface="Meiryo UI"/>
              </a:rPr>
              <a:t>テーマ①②はどちらも「レクチャー10分 → ワーク10分 → 共有5分」。</a:t>
            </a:r>
            <a:r>
              <a:rPr sz="1250" b="0" i="0">
                <a:solidFill>
                  <a:srgbClr val="262626"/>
                </a:solidFill>
                <a:latin typeface="Meiryo UI"/>
                <a:ea typeface="Meiryo UI"/>
              </a:rPr>
              <a:t>　手を動かす時間を長く取っています。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12848"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DESIGN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第4回のテーマは「戦略的思考」です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50" b="0" i="0">
                <a:solidFill>
                  <a:srgbClr val="FFFFFF"/>
                </a:solidFill>
                <a:latin typeface="Meiryo UI"/>
                <a:ea typeface="Meiryo UI"/>
              </a:rPr>
              <a:t>DAY 1</a:t>
            </a:r>
          </a:p>
        </p:txBody>
      </p:sp>
      <p:sp>
        <p:nvSpPr>
          <p:cNvPr id="7" name="Rounded Rectangle 6"/>
          <p:cNvSpPr/>
          <p:nvPr/>
        </p:nvSpPr>
        <p:spPr>
          <a:xfrm>
            <a:off x="3401568"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50" b="0" i="0">
                <a:solidFill>
                  <a:srgbClr val="FFFFFF"/>
                </a:solidFill>
                <a:latin typeface="Meiryo UI"/>
                <a:ea typeface="Meiryo UI"/>
              </a:rPr>
              <a:t>DAY 2</a:t>
            </a:r>
          </a:p>
        </p:txBody>
      </p:sp>
      <p:sp>
        <p:nvSpPr>
          <p:cNvPr id="8" name="Rounded Rectangle 7"/>
          <p:cNvSpPr/>
          <p:nvPr/>
        </p:nvSpPr>
        <p:spPr>
          <a:xfrm>
            <a:off x="6254496"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50" b="0" i="0">
                <a:solidFill>
                  <a:srgbClr val="FFFFFF"/>
                </a:solidFill>
                <a:latin typeface="Meiryo UI"/>
                <a:ea typeface="Meiryo UI"/>
              </a:rPr>
              <a:t>DAY 3</a:t>
            </a:r>
          </a:p>
        </p:txBody>
      </p:sp>
      <p:sp>
        <p:nvSpPr>
          <p:cNvPr id="9" name="Rounded Rectangle 8"/>
          <p:cNvSpPr/>
          <p:nvPr/>
        </p:nvSpPr>
        <p:spPr>
          <a:xfrm>
            <a:off x="9107424" y="1691640"/>
            <a:ext cx="269748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50" b="0" i="0">
                <a:solidFill>
                  <a:srgbClr val="FFFFFF"/>
                </a:solidFill>
                <a:latin typeface="Meiryo UI"/>
                <a:ea typeface="Meiryo UI"/>
              </a:rPr>
              <a:t>DAY 4</a:t>
            </a:r>
          </a:p>
        </p:txBody>
      </p:sp>
      <p:sp>
        <p:nvSpPr>
          <p:cNvPr id="10" name="Rounded Rectangle 9"/>
          <p:cNvSpPr/>
          <p:nvPr/>
        </p:nvSpPr>
        <p:spPr>
          <a:xfrm>
            <a:off x="548640" y="2606040"/>
            <a:ext cx="11109960" cy="6858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DAY4の到達目標：</a:t>
            </a:r>
            <a:r>
              <a:rPr sz="1500" b="1" i="0">
                <a:solidFill>
                  <a:srgbClr val="262626"/>
                </a:solidFill>
                <a:latin typeface="Meiryo UI"/>
                <a:ea typeface="Meiryo UI"/>
              </a:rPr>
              <a:t>担当施設と周辺エリアに対する</a:t>
            </a:r>
            <a:r>
              <a:rPr sz="1500" b="1" i="0">
                <a:solidFill>
                  <a:srgbClr val="C00000"/>
                </a:solidFill>
                <a:latin typeface="Meiryo UI"/>
                <a:ea typeface="Meiryo UI"/>
              </a:rPr>
              <a:t>成功像・現状・課題・解決法を言語化できる</a:t>
            </a:r>
          </a:p>
        </p:txBody>
      </p:sp>
      <p:sp>
        <p:nvSpPr>
          <p:cNvPr id="11" name="TextBox 10"/>
          <p:cNvSpPr txBox="1"/>
          <p:nvPr/>
        </p:nvSpPr>
        <p:spPr>
          <a:xfrm>
            <a:off x="548640" y="3520440"/>
            <a:ext cx="11109960" cy="365760"/>
          </a:xfrm>
          <a:prstGeom prst="rect">
            <a:avLst/>
          </a:prstGeom>
          <a:noFill/>
        </p:spPr>
        <p:txBody>
          <a:bodyPr wrap="square" lIns="0" rIns="0" tIns="0" bIns="0" anchor="t">
            <a:spAutoFit/>
          </a:bodyPr>
          <a:lstStyle/>
          <a:p>
            <a:pPr algn="ctr"/>
            <a:r>
              <a:rPr sz="1400" b="1" i="0">
                <a:solidFill>
                  <a:srgbClr val="262626"/>
                </a:solidFill>
                <a:latin typeface="Meiryo UI"/>
                <a:ea typeface="Meiryo UI"/>
              </a:rPr>
              <a:t>戦略的思考といっても、難しい理論は使いません。今日変えるのは、この2つだけです。</a:t>
            </a:r>
          </a:p>
        </p:txBody>
      </p:sp>
      <p:sp>
        <p:nvSpPr>
          <p:cNvPr id="12" name="Rounded Rectangle 11"/>
          <p:cNvSpPr/>
          <p:nvPr/>
        </p:nvSpPr>
        <p:spPr>
          <a:xfrm>
            <a:off x="548640" y="3931920"/>
            <a:ext cx="548640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① 視座　</a:t>
            </a:r>
            <a:r>
              <a:rPr sz="1250" b="0" i="0">
                <a:solidFill>
                  <a:srgbClr val="FFFFFF"/>
                </a:solidFill>
                <a:latin typeface="Meiryo UI"/>
                <a:ea typeface="Meiryo UI"/>
              </a:rPr>
              <a:t>どこを見るか</a:t>
            </a:r>
          </a:p>
        </p:txBody>
      </p:sp>
      <p:sp>
        <p:nvSpPr>
          <p:cNvPr id="13" name="Rounded Rectangle 12"/>
          <p:cNvSpPr/>
          <p:nvPr/>
        </p:nvSpPr>
        <p:spPr>
          <a:xfrm>
            <a:off x="548640" y="4535424"/>
            <a:ext cx="5486400" cy="86868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大学の中から見る　→　自分の任された範囲から見る</a:t>
            </a:r>
          </a:p>
        </p:txBody>
      </p:sp>
      <p:sp>
        <p:nvSpPr>
          <p:cNvPr id="14" name="Rounded Rectangle 13"/>
          <p:cNvSpPr/>
          <p:nvPr/>
        </p:nvSpPr>
        <p:spPr>
          <a:xfrm>
            <a:off x="2148840" y="5477256"/>
            <a:ext cx="2286000" cy="384048"/>
          </a:xfrm>
          <a:prstGeom prst="roundRect">
            <a:avLst>
              <a:gd name="adj" fmla="val 2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1F3864"/>
                </a:solidFill>
                <a:latin typeface="Meiryo UI"/>
                <a:ea typeface="Meiryo UI"/>
              </a:rPr>
              <a:t>テーマ①（25分）</a:t>
            </a:r>
          </a:p>
        </p:txBody>
      </p:sp>
      <p:sp>
        <p:nvSpPr>
          <p:cNvPr id="15" name="Rounded Rectangle 14"/>
          <p:cNvSpPr/>
          <p:nvPr/>
        </p:nvSpPr>
        <p:spPr>
          <a:xfrm>
            <a:off x="6172200" y="3931920"/>
            <a:ext cx="548640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② 順序　</a:t>
            </a:r>
            <a:r>
              <a:rPr sz="1250" b="0" i="0">
                <a:solidFill>
                  <a:srgbClr val="FFFFFF"/>
                </a:solidFill>
                <a:latin typeface="Meiryo UI"/>
                <a:ea typeface="Meiryo UI"/>
              </a:rPr>
              <a:t>どう考えるか</a:t>
            </a:r>
          </a:p>
        </p:txBody>
      </p:sp>
      <p:sp>
        <p:nvSpPr>
          <p:cNvPr id="16" name="Rounded Rectangle 15"/>
          <p:cNvSpPr/>
          <p:nvPr/>
        </p:nvSpPr>
        <p:spPr>
          <a:xfrm>
            <a:off x="6172200" y="4535424"/>
            <a:ext cx="5486400" cy="86868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情報から考える　→　成功像から逆算して考える</a:t>
            </a:r>
          </a:p>
        </p:txBody>
      </p:sp>
      <p:sp>
        <p:nvSpPr>
          <p:cNvPr id="17" name="Rounded Rectangle 16"/>
          <p:cNvSpPr/>
          <p:nvPr/>
        </p:nvSpPr>
        <p:spPr>
          <a:xfrm>
            <a:off x="7772400" y="5477256"/>
            <a:ext cx="2286000" cy="384048"/>
          </a:xfrm>
          <a:prstGeom prst="roundRect">
            <a:avLst>
              <a:gd name="adj" fmla="val 2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B86A00"/>
                </a:solidFill>
                <a:latin typeface="Meiryo UI"/>
                <a:ea typeface="Meiryo UI"/>
              </a:rPr>
              <a:t>テーマ②（25分）</a:t>
            </a:r>
          </a:p>
        </p:txBody>
      </p:sp>
      <p:sp>
        <p:nvSpPr>
          <p:cNvPr id="18" name="Rounded Rectangle 17"/>
          <p:cNvSpPr/>
          <p:nvPr/>
        </p:nvSpPr>
        <p:spPr>
          <a:xfrm>
            <a:off x="548640" y="594360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戦略的思考 ＝ 「どこを見るか」×「どう考えるか」。この2つが変わると、同じ活動でも意味が変わります。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LOOK BACK</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3回で、あなたはこれだけの力を手に入れました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691640"/>
            <a:ext cx="356616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1　</a:t>
            </a:r>
            <a:r>
              <a:rPr sz="1150" b="1" i="0">
                <a:solidFill>
                  <a:srgbClr val="FFFFFF"/>
                </a:solidFill>
                <a:latin typeface="Meiryo UI"/>
                <a:ea typeface="Meiryo UI"/>
              </a:rPr>
              <a:t>大学・基幹病院のイロハ</a:t>
            </a:r>
          </a:p>
        </p:txBody>
      </p:sp>
      <p:sp>
        <p:nvSpPr>
          <p:cNvPr id="7" name="Rounded Rectangle 6"/>
          <p:cNvSpPr/>
          <p:nvPr/>
        </p:nvSpPr>
        <p:spPr>
          <a:xfrm>
            <a:off x="548640"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・大学の使命（教育・研究・臨床）と、医師派遣による地域への影響</a:t>
            </a:r>
          </a:p>
          <a:p>
            <a:pPr algn="l">
              <a:lnSpc>
                <a:spcPct val="125000"/>
              </a:lnSpc>
              <a:spcAft>
                <a:spcPts val="800"/>
              </a:spcAft>
            </a:pPr>
            <a:r>
              <a:rPr sz="1100" b="0" i="0">
                <a:solidFill>
                  <a:srgbClr val="262626"/>
                </a:solidFill>
                <a:latin typeface="Meiryo UI"/>
                <a:ea typeface="Meiryo UI"/>
              </a:rPr>
              <a:t>・影響力はテリトリーとニーズで決まる（GP／HP／HS）</a:t>
            </a:r>
          </a:p>
          <a:p>
            <a:pPr algn="l">
              <a:lnSpc>
                <a:spcPct val="125000"/>
              </a:lnSpc>
              <a:spcAft>
                <a:spcPts val="800"/>
              </a:spcAft>
            </a:pPr>
            <a:r>
              <a:rPr sz="1100" b="0" i="0">
                <a:solidFill>
                  <a:srgbClr val="262626"/>
                </a:solidFill>
                <a:latin typeface="Meiryo UI"/>
                <a:ea typeface="Meiryo UI"/>
              </a:rPr>
              <a:t>・教授の裁量権と「医局の集合体」という構造／薬審・採用の流れ</a:t>
            </a:r>
          </a:p>
        </p:txBody>
      </p:sp>
      <p:sp>
        <p:nvSpPr>
          <p:cNvPr id="8" name="Rounded Rectangle 7"/>
          <p:cNvSpPr/>
          <p:nvPr/>
        </p:nvSpPr>
        <p:spPr>
          <a:xfrm>
            <a:off x="548640"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28A54"/>
                </a:solidFill>
                <a:latin typeface="Meiryo UI"/>
                <a:ea typeface="Meiryo UI"/>
              </a:rPr>
              <a:t>→ 先生の“影響力の大きさ”が読める</a:t>
            </a:r>
          </a:p>
        </p:txBody>
      </p:sp>
      <p:sp>
        <p:nvSpPr>
          <p:cNvPr id="9" name="Rounded Rectangle 8"/>
          <p:cNvSpPr/>
          <p:nvPr/>
        </p:nvSpPr>
        <p:spPr>
          <a:xfrm>
            <a:off x="4288536" y="1691640"/>
            <a:ext cx="356616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2　</a:t>
            </a:r>
            <a:r>
              <a:rPr sz="1150" b="1" i="0">
                <a:solidFill>
                  <a:srgbClr val="FFFFFF"/>
                </a:solidFill>
                <a:latin typeface="Meiryo UI"/>
                <a:ea typeface="Meiryo UI"/>
              </a:rPr>
              <a:t>「会えない」を「会える」に</a:t>
            </a:r>
          </a:p>
        </p:txBody>
      </p:sp>
      <p:sp>
        <p:nvSpPr>
          <p:cNvPr id="10" name="Rounded Rectangle 9"/>
          <p:cNvSpPr/>
          <p:nvPr/>
        </p:nvSpPr>
        <p:spPr>
          <a:xfrm>
            <a:off x="4288536"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・未訪問 → 初回接点 → 仮説面会 → 定期面会 の設計</a:t>
            </a:r>
          </a:p>
          <a:p>
            <a:pPr algn="l">
              <a:lnSpc>
                <a:spcPct val="125000"/>
              </a:lnSpc>
              <a:spcAft>
                <a:spcPts val="800"/>
              </a:spcAft>
            </a:pPr>
            <a:r>
              <a:rPr sz="1100" b="0" i="0">
                <a:solidFill>
                  <a:srgbClr val="262626"/>
                </a:solidFill>
                <a:latin typeface="Meiryo UI"/>
                <a:ea typeface="Meiryo UI"/>
              </a:rPr>
              <a:t>・Best Time / Best Place：ルーチンワークの把握とカレンダー管理</a:t>
            </a:r>
          </a:p>
          <a:p>
            <a:pPr algn="l">
              <a:lnSpc>
                <a:spcPct val="125000"/>
              </a:lnSpc>
              <a:spcAft>
                <a:spcPts val="800"/>
              </a:spcAft>
            </a:pPr>
            <a:r>
              <a:rPr sz="1100" b="0" i="0">
                <a:solidFill>
                  <a:srgbClr val="262626"/>
                </a:solidFill>
                <a:latin typeface="Meiryo UI"/>
                <a:ea typeface="Meiryo UI"/>
              </a:rPr>
              <a:t>・「会う理由」を設計し、次回の約束を残す／My teacherをつくる</a:t>
            </a:r>
          </a:p>
        </p:txBody>
      </p:sp>
      <p:sp>
        <p:nvSpPr>
          <p:cNvPr id="11" name="Rounded Rectangle 10"/>
          <p:cNvSpPr/>
          <p:nvPr/>
        </p:nvSpPr>
        <p:spPr>
          <a:xfrm>
            <a:off x="4288536"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F3864"/>
                </a:solidFill>
                <a:latin typeface="Meiryo UI"/>
                <a:ea typeface="Meiryo UI"/>
              </a:rPr>
              <a:t>→ 会いたい先生に“会える”</a:t>
            </a:r>
          </a:p>
        </p:txBody>
      </p:sp>
      <p:sp>
        <p:nvSpPr>
          <p:cNvPr id="12" name="Rounded Rectangle 11"/>
          <p:cNvSpPr/>
          <p:nvPr/>
        </p:nvSpPr>
        <p:spPr>
          <a:xfrm>
            <a:off x="8028431" y="1691640"/>
            <a:ext cx="3566160" cy="65836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3　</a:t>
            </a:r>
            <a:r>
              <a:rPr sz="1150" b="1" i="0">
                <a:solidFill>
                  <a:srgbClr val="FFFFFF"/>
                </a:solidFill>
                <a:latin typeface="Meiryo UI"/>
                <a:ea typeface="Meiryo UI"/>
              </a:rPr>
              <a:t>やっぱりMRは情報が命</a:t>
            </a:r>
          </a:p>
        </p:txBody>
      </p:sp>
      <p:sp>
        <p:nvSpPr>
          <p:cNvPr id="13" name="Rounded Rectangle 12"/>
          <p:cNvSpPr/>
          <p:nvPr/>
        </p:nvSpPr>
        <p:spPr>
          <a:xfrm>
            <a:off x="8028431"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・ドライ情報 × ウェット情報で顧客理解の解像度を上げる</a:t>
            </a:r>
          </a:p>
          <a:p>
            <a:pPr algn="l">
              <a:lnSpc>
                <a:spcPct val="125000"/>
              </a:lnSpc>
              <a:spcAft>
                <a:spcPts val="800"/>
              </a:spcAft>
            </a:pPr>
            <a:r>
              <a:rPr sz="1100" b="0" i="0">
                <a:solidFill>
                  <a:srgbClr val="262626"/>
                </a:solidFill>
                <a:latin typeface="Meiryo UI"/>
                <a:ea typeface="Meiryo UI"/>
              </a:rPr>
              <a:t>・分からないことは small b として面会に持ち込む</a:t>
            </a:r>
          </a:p>
          <a:p>
            <a:pPr algn="l">
              <a:lnSpc>
                <a:spcPct val="125000"/>
              </a:lnSpc>
              <a:spcAft>
                <a:spcPts val="800"/>
              </a:spcAft>
            </a:pPr>
            <a:r>
              <a:rPr sz="1100" b="0" i="0">
                <a:solidFill>
                  <a:srgbClr val="262626"/>
                </a:solidFill>
                <a:latin typeface="Meiryo UI"/>
                <a:ea typeface="Meiryo UI"/>
              </a:rPr>
              <a:t>・面会後は「なぜ」を分解し、仮説を立てて次の面会へ</a:t>
            </a:r>
          </a:p>
        </p:txBody>
      </p:sp>
      <p:sp>
        <p:nvSpPr>
          <p:cNvPr id="14" name="Rounded Rectangle 13"/>
          <p:cNvSpPr/>
          <p:nvPr/>
        </p:nvSpPr>
        <p:spPr>
          <a:xfrm>
            <a:off x="8028431"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B86A00"/>
                </a:solidFill>
                <a:latin typeface="Meiryo UI"/>
                <a:ea typeface="Meiryo UI"/>
              </a:rPr>
              <a:t>→ 必要な情報が“取れる”</a:t>
            </a:r>
          </a:p>
        </p:txBody>
      </p:sp>
      <p:sp>
        <p:nvSpPr>
          <p:cNvPr id="15" name="Rounded Rectangle 14"/>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2200" b="1" i="0">
                <a:solidFill>
                  <a:srgbClr val="FFFFFF"/>
                </a:solidFill>
                <a:latin typeface="Meiryo UI"/>
                <a:ea typeface="Meiryo UI"/>
              </a:rPr>
              <a:t>では、その力を —— どこに、何のために使いますか？</a:t>
            </a:r>
          </a:p>
          <a:p>
            <a:pPr algn="ctr"/>
            <a:r>
              <a:rPr sz="1300" b="0" i="0">
                <a:solidFill>
                  <a:srgbClr val="BFE8D2"/>
                </a:solidFill>
                <a:latin typeface="Meiryo UI"/>
                <a:ea typeface="Meiryo UI"/>
              </a:rPr>
              <a:t>大学に行ける。会える。情報も取れる。DAY4は、そこで終わらせずに「使い道を自分で決める」回です。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310896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CHECK IN　｜　3分</a:t>
            </a:r>
          </a:p>
        </p:txBody>
      </p:sp>
      <p:sp>
        <p:nvSpPr>
          <p:cNvPr id="4" name="Rounded Rectangle 3"/>
          <p:cNvSpPr/>
          <p:nvPr/>
        </p:nvSpPr>
        <p:spPr>
          <a:xfrm>
            <a:off x="548640" y="868680"/>
            <a:ext cx="11109960" cy="105156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2300" b="1" i="0">
                <a:solidFill>
                  <a:srgbClr val="262626"/>
                </a:solidFill>
                <a:latin typeface="Meiryo UI"/>
                <a:ea typeface="Meiryo UI"/>
              </a:rPr>
              <a:t>Q. この3回の勉強会で、あなたの</a:t>
            </a:r>
            <a:r>
              <a:rPr sz="2300" b="1" i="0">
                <a:solidFill>
                  <a:srgbClr val="C00000"/>
                </a:solidFill>
                <a:latin typeface="Meiryo UI"/>
                <a:ea typeface="Meiryo UI"/>
              </a:rPr>
              <a:t>「大学の見方」は変わりましたか？</a:t>
            </a:r>
            <a:r>
              <a:rPr sz="2300" b="0" i="0">
                <a:solidFill>
                  <a:srgbClr val="262626"/>
                </a:solidFill>
                <a:latin typeface="Meiryo UI"/>
                <a:ea typeface="Meiryo UI"/>
              </a:rPr>
              <a:t>　</a:t>
            </a:r>
          </a:p>
          <a:p>
            <a:pPr algn="ctr"/>
            <a:r>
              <a:rPr sz="2300" b="1" i="0">
                <a:solidFill>
                  <a:srgbClr val="262626"/>
                </a:solidFill>
                <a:latin typeface="Meiryo UI"/>
                <a:ea typeface="Meiryo UI"/>
              </a:rPr>
              <a:t>大学担当としての</a:t>
            </a:r>
            <a:r>
              <a:rPr sz="2300" b="1" i="0">
                <a:solidFill>
                  <a:srgbClr val="C00000"/>
                </a:solidFill>
                <a:latin typeface="Meiryo UI"/>
                <a:ea typeface="Meiryo UI"/>
              </a:rPr>
              <a:t>「自信」はつきましたか？</a:t>
            </a:r>
          </a:p>
        </p:txBody>
      </p:sp>
      <p:sp>
        <p:nvSpPr>
          <p:cNvPr id="5" name="Rounded Rectangle 4"/>
          <p:cNvSpPr/>
          <p:nvPr/>
        </p:nvSpPr>
        <p:spPr>
          <a:xfrm>
            <a:off x="2880360" y="2084831"/>
            <a:ext cx="6400800" cy="594360"/>
          </a:xfrm>
          <a:prstGeom prst="roundRect">
            <a:avLst>
              <a:gd name="adj" fmla="val 1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Teamsチャットに、思ったことを自由に書き込んでください</a:t>
            </a:r>
          </a:p>
        </p:txBody>
      </p:sp>
      <p:sp>
        <p:nvSpPr>
          <p:cNvPr id="6" name="TextBox 5"/>
          <p:cNvSpPr txBox="1"/>
          <p:nvPr/>
        </p:nvSpPr>
        <p:spPr>
          <a:xfrm>
            <a:off x="548640" y="2880360"/>
            <a:ext cx="11109960" cy="320040"/>
          </a:xfrm>
          <a:prstGeom prst="rect">
            <a:avLst/>
          </a:prstGeom>
          <a:noFill/>
        </p:spPr>
        <p:txBody>
          <a:bodyPr wrap="square" lIns="0" rIns="0" tIns="0" bIns="0" anchor="t">
            <a:spAutoFit/>
          </a:bodyPr>
          <a:lstStyle/>
          <a:p>
            <a:pPr algn="ctr"/>
            <a:r>
              <a:rPr sz="1350" b="1" i="0">
                <a:solidFill>
                  <a:srgbClr val="262626"/>
                </a:solidFill>
                <a:latin typeface="Meiryo UI"/>
                <a:ea typeface="Meiryo UI"/>
              </a:rPr>
              <a:t>形式も長さも自由です。ひと言だけでもOK。難しく考えずに、思い浮かんだことをどうぞ。</a:t>
            </a:r>
          </a:p>
        </p:txBody>
      </p:sp>
      <p:sp>
        <p:nvSpPr>
          <p:cNvPr id="7" name="Rounded Rectangle 6"/>
          <p:cNvSpPr/>
          <p:nvPr/>
        </p:nvSpPr>
        <p:spPr>
          <a:xfrm>
            <a:off x="548640" y="3337560"/>
            <a:ext cx="3566160" cy="41148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思い出すきっかけ①</a:t>
            </a:r>
          </a:p>
        </p:txBody>
      </p:sp>
      <p:sp>
        <p:nvSpPr>
          <p:cNvPr id="8" name="Rounded Rectangle 7"/>
          <p:cNvSpPr/>
          <p:nvPr/>
        </p:nvSpPr>
        <p:spPr>
          <a:xfrm>
            <a:off x="548640"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大学に行くとき、以前と違うことはありますか？</a:t>
            </a:r>
          </a:p>
        </p:txBody>
      </p:sp>
      <p:sp>
        <p:nvSpPr>
          <p:cNvPr id="9" name="Rounded Rectangle 8"/>
          <p:cNvSpPr/>
          <p:nvPr/>
        </p:nvSpPr>
        <p:spPr>
          <a:xfrm>
            <a:off x="4288536" y="3337560"/>
            <a:ext cx="3566160" cy="41148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思い出すきっかけ②</a:t>
            </a:r>
          </a:p>
        </p:txBody>
      </p:sp>
      <p:sp>
        <p:nvSpPr>
          <p:cNvPr id="10" name="Rounded Rectangle 9"/>
          <p:cNvSpPr/>
          <p:nvPr/>
        </p:nvSpPr>
        <p:spPr>
          <a:xfrm>
            <a:off x="4288536"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会う人・聞くことは、変わりましたか？</a:t>
            </a:r>
          </a:p>
        </p:txBody>
      </p:sp>
      <p:sp>
        <p:nvSpPr>
          <p:cNvPr id="11" name="Rounded Rectangle 10"/>
          <p:cNvSpPr/>
          <p:nvPr/>
        </p:nvSpPr>
        <p:spPr>
          <a:xfrm>
            <a:off x="8028431" y="3337560"/>
            <a:ext cx="3566160" cy="41148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FFFFFF"/>
                </a:solidFill>
                <a:latin typeface="Meiryo UI"/>
                <a:ea typeface="Meiryo UI"/>
              </a:rPr>
              <a:t>思い出すきっかけ③</a:t>
            </a:r>
          </a:p>
        </p:txBody>
      </p:sp>
      <p:sp>
        <p:nvSpPr>
          <p:cNvPr id="12" name="Rounded Rectangle 11"/>
          <p:cNvSpPr/>
          <p:nvPr/>
        </p:nvSpPr>
        <p:spPr>
          <a:xfrm>
            <a:off x="8028431" y="3803904"/>
            <a:ext cx="3566160" cy="8686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300" b="1" i="0">
                <a:solidFill>
                  <a:srgbClr val="262626"/>
                </a:solidFill>
                <a:latin typeface="Meiryo UI"/>
                <a:ea typeface="Meiryo UI"/>
              </a:rPr>
              <a:t>まだ「ここが分からない」と思うことは？</a:t>
            </a:r>
          </a:p>
        </p:txBody>
      </p:sp>
      <p:sp>
        <p:nvSpPr>
          <p:cNvPr id="13" name="Rounded Rectangle 12"/>
          <p:cNvSpPr/>
          <p:nvPr/>
        </p:nvSpPr>
        <p:spPr>
          <a:xfrm>
            <a:off x="548640" y="4892040"/>
            <a:ext cx="11109960" cy="141732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700"/>
              </a:spcAft>
            </a:pPr>
            <a:r>
              <a:rPr sz="1500" b="1" i="0">
                <a:solidFill>
                  <a:srgbClr val="0B4F37"/>
                </a:solidFill>
                <a:latin typeface="Meiryo UI"/>
                <a:ea typeface="Meiryo UI"/>
              </a:rPr>
              <a:t>「変わった」でも「あまり変わっていない」でも、どちらでも大歓迎です。</a:t>
            </a:r>
          </a:p>
          <a:p>
            <a:pPr algn="ctr">
              <a:spcAft>
                <a:spcPts val="700"/>
              </a:spcAft>
            </a:pPr>
            <a:r>
              <a:rPr sz="1300" b="0" i="0">
                <a:solidFill>
                  <a:srgbClr val="262626"/>
                </a:solidFill>
                <a:latin typeface="Meiryo UI"/>
                <a:ea typeface="Meiryo UI"/>
              </a:rPr>
              <a:t>感想・気づき・モヤモヤ、なんでも構いません。正解はありません。</a:t>
            </a:r>
          </a:p>
          <a:p>
            <a:pPr algn="ctr"/>
            <a:r>
              <a:rPr sz="1250" b="0" i="0">
                <a:solidFill>
                  <a:srgbClr val="595959"/>
                </a:solidFill>
                <a:latin typeface="Meiryo UI"/>
                <a:ea typeface="Meiryo UI"/>
              </a:rPr>
              <a:t>他の人の投稿も、ぜひ読んでみてください。同じことを感じている仲間が、全国にいると分かります。</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①</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テーマ①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視座を変える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大学を攻略すれば、あなたの範囲の課題は解決しますか？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DAY1で考えた「先生のテリトリー」を、今日は「自分のテリトリー」に置き換える</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大学に固執しない。大学は、エリアマッピングの中の「1施設」として置き直す</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その1施設が持つ影響力を、どう活かすかを自分で決める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DAY1の復習 — 影響力は「テリトリー」と「ニーズ」で決まる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皆さんの担当は「基幹病院（HP）」と「大学病院（HS）」。この2つでも、見ている世界もニーズもまったく違います。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
        <p:nvSpPr>
          <p:cNvPr id="7" name="Rounded Rectangle 6"/>
          <p:cNvSpPr/>
          <p:nvPr/>
        </p:nvSpPr>
        <p:spPr>
          <a:xfrm>
            <a:off x="548640" y="1920240"/>
            <a:ext cx="3977639"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HP（基幹病院）</a:t>
            </a:r>
          </a:p>
        </p:txBody>
      </p:sp>
      <p:sp>
        <p:nvSpPr>
          <p:cNvPr id="8" name="Rounded Rectangle 7"/>
          <p:cNvSpPr/>
          <p:nvPr/>
        </p:nvSpPr>
        <p:spPr>
          <a:xfrm>
            <a:off x="950976" y="2450592"/>
            <a:ext cx="3172968"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1病院</a:t>
            </a:r>
          </a:p>
        </p:txBody>
      </p:sp>
      <p:sp>
        <p:nvSpPr>
          <p:cNvPr id="9" name="Rounded Rectangle 8"/>
          <p:cNvSpPr/>
          <p:nvPr/>
        </p:nvSpPr>
        <p:spPr>
          <a:xfrm>
            <a:off x="749808" y="2907792"/>
            <a:ext cx="3575303"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医師会・医療圏</a:t>
            </a:r>
          </a:p>
        </p:txBody>
      </p:sp>
      <p:sp>
        <p:nvSpPr>
          <p:cNvPr id="10" name="Rounded Rectangle 9"/>
          <p:cNvSpPr/>
          <p:nvPr/>
        </p:nvSpPr>
        <p:spPr>
          <a:xfrm>
            <a:off x="548640" y="3364992"/>
            <a:ext cx="3977639"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関連病院・出身医局</a:t>
            </a:r>
          </a:p>
        </p:txBody>
      </p:sp>
      <p:sp>
        <p:nvSpPr>
          <p:cNvPr id="11" name="Rounded Rectangle 10"/>
          <p:cNvSpPr/>
          <p:nvPr/>
        </p:nvSpPr>
        <p:spPr>
          <a:xfrm>
            <a:off x="548640" y="3913632"/>
            <a:ext cx="3977639"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ニーズ：紹介率を上げたい・関連病院と協働したい・院内で負けたくない</a:t>
            </a:r>
          </a:p>
        </p:txBody>
      </p:sp>
      <p:sp>
        <p:nvSpPr>
          <p:cNvPr id="12" name="Rounded Rectangle 11"/>
          <p:cNvSpPr/>
          <p:nvPr/>
        </p:nvSpPr>
        <p:spPr>
          <a:xfrm>
            <a:off x="4709159" y="1920240"/>
            <a:ext cx="3977639"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HS（大学病院）</a:t>
            </a:r>
          </a:p>
        </p:txBody>
      </p:sp>
      <p:sp>
        <p:nvSpPr>
          <p:cNvPr id="13" name="Rounded Rectangle 12"/>
          <p:cNvSpPr/>
          <p:nvPr/>
        </p:nvSpPr>
        <p:spPr>
          <a:xfrm>
            <a:off x="5111496" y="2450592"/>
            <a:ext cx="3172968"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a:t>
            </a:r>
          </a:p>
        </p:txBody>
      </p:sp>
      <p:sp>
        <p:nvSpPr>
          <p:cNvPr id="14" name="Rounded Rectangle 13"/>
          <p:cNvSpPr/>
          <p:nvPr/>
        </p:nvSpPr>
        <p:spPr>
          <a:xfrm>
            <a:off x="4910327" y="2907792"/>
            <a:ext cx="3575303"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県内＋他大学・専門領域</a:t>
            </a:r>
          </a:p>
        </p:txBody>
      </p:sp>
      <p:sp>
        <p:nvSpPr>
          <p:cNvPr id="15" name="Rounded Rectangle 14"/>
          <p:cNvSpPr/>
          <p:nvPr/>
        </p:nvSpPr>
        <p:spPr>
          <a:xfrm>
            <a:off x="4709159" y="3364992"/>
            <a:ext cx="3977639"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日本全体・学会・世界</a:t>
            </a:r>
          </a:p>
        </p:txBody>
      </p:sp>
      <p:sp>
        <p:nvSpPr>
          <p:cNvPr id="16" name="Rounded Rectangle 15"/>
          <p:cNvSpPr/>
          <p:nvPr/>
        </p:nvSpPr>
        <p:spPr>
          <a:xfrm>
            <a:off x="4709159" y="3913632"/>
            <a:ext cx="3977639"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ニーズ：研修医が欲しい・論文を出したい・県内での存在感が欲しい</a:t>
            </a:r>
          </a:p>
        </p:txBody>
      </p:sp>
      <p:sp>
        <p:nvSpPr>
          <p:cNvPr id="17" name="Rounded Rectangle 16"/>
          <p:cNvSpPr/>
          <p:nvPr/>
        </p:nvSpPr>
        <p:spPr>
          <a:xfrm>
            <a:off x="9006840" y="1920240"/>
            <a:ext cx="26517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GP（開業医）</a:t>
            </a:r>
          </a:p>
        </p:txBody>
      </p:sp>
      <p:sp>
        <p:nvSpPr>
          <p:cNvPr id="18" name="Rounded Rectangle 17"/>
          <p:cNvSpPr/>
          <p:nvPr/>
        </p:nvSpPr>
        <p:spPr>
          <a:xfrm>
            <a:off x="9006840" y="2450592"/>
            <a:ext cx="2651760" cy="2103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1" i="0">
                <a:solidFill>
                  <a:srgbClr val="262626"/>
                </a:solidFill>
                <a:latin typeface="Meiryo UI"/>
                <a:ea typeface="Meiryo UI"/>
              </a:rPr>
              <a:t>今回、皆さんの担当施設ではありません。</a:t>
            </a:r>
          </a:p>
          <a:p>
            <a:pPr algn="l">
              <a:lnSpc>
                <a:spcPct val="125000"/>
              </a:lnSpc>
              <a:spcAft>
                <a:spcPts val="800"/>
              </a:spcAft>
            </a:pPr>
            <a:r>
              <a:rPr sz="1100" b="0" i="0">
                <a:solidFill>
                  <a:srgbClr val="262626"/>
                </a:solidFill>
                <a:latin typeface="Meiryo UI"/>
                <a:ea typeface="Meiryo UI"/>
              </a:rPr>
              <a:t>ただし、患者さんの流れの起点として、範囲の絵の中には存在します。</a:t>
            </a:r>
          </a:p>
          <a:p>
            <a:pPr algn="l">
              <a:lnSpc>
                <a:spcPct val="125000"/>
              </a:lnSpc>
            </a:pPr>
            <a:r>
              <a:rPr sz="1100" b="1" i="0">
                <a:solidFill>
                  <a:srgbClr val="595959"/>
                </a:solidFill>
                <a:latin typeface="Meiryo UI"/>
                <a:ea typeface="Meiryo UI"/>
              </a:rPr>
              <a:t>→ 「担当する施設」と「範囲の中にある施設」は別モノ。両方を見るのが戦略的思考です。</a:t>
            </a:r>
          </a:p>
        </p:txBody>
      </p:sp>
      <p:sp>
        <p:nvSpPr>
          <p:cNvPr id="19" name="Rounded Rectangle 18"/>
          <p:cNvSpPr/>
          <p:nvPr/>
        </p:nvSpPr>
        <p:spPr>
          <a:xfrm>
            <a:off x="548640" y="4709160"/>
            <a:ext cx="11109960" cy="13716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DAY1では「先生のテリトリーはどこまでか」を考えました。</a:t>
            </a:r>
          </a:p>
          <a:p>
            <a:pPr algn="ctr">
              <a:spcAft>
                <a:spcPts val="600"/>
              </a:spcAft>
            </a:pPr>
            <a:r>
              <a:rPr sz="1700" b="1" i="0">
                <a:solidFill>
                  <a:srgbClr val="BFE8D2"/>
                </a:solidFill>
                <a:latin typeface="Meiryo UI"/>
                <a:ea typeface="Meiryo UI"/>
              </a:rPr>
              <a:t>今日は、その問いを自分に向けます。</a:t>
            </a:r>
          </a:p>
          <a:p>
            <a:pPr algn="ctr"/>
            <a:r>
              <a:rPr sz="2100" b="1" i="0">
                <a:solidFill>
                  <a:srgbClr val="FFC000"/>
                </a:solidFill>
                <a:latin typeface="Meiryo UI"/>
                <a:ea typeface="Meiryo UI"/>
              </a:rPr>
              <a:t>あなたのテリトリーは、どこですか？　その中で、大学はどれくらいの大きさですか？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「大学の中から」ではなく「範囲の中に大学を置く」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691640"/>
            <a:ext cx="530352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これまで：大学の中から、周りを見る</a:t>
            </a:r>
          </a:p>
        </p:txBody>
      </p:sp>
      <p:sp>
        <p:nvSpPr>
          <p:cNvPr id="7" name="Rounded Rectangle 6"/>
          <p:cNvSpPr/>
          <p:nvPr/>
        </p:nvSpPr>
        <p:spPr>
          <a:xfrm>
            <a:off x="548640" y="2331720"/>
            <a:ext cx="5303520" cy="2377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spcAft>
                <a:spcPts val="1000"/>
              </a:spcAft>
            </a:pPr>
            <a:r>
              <a:rPr sz="1250" b="0" i="0">
                <a:solidFill>
                  <a:srgbClr val="262626"/>
                </a:solidFill>
                <a:latin typeface="Meiryo UI"/>
                <a:ea typeface="Meiryo UI"/>
              </a:rPr>
              <a:t>・視点の中心は「大学」</a:t>
            </a:r>
          </a:p>
          <a:p>
            <a:pPr algn="l">
              <a:lnSpc>
                <a:spcPct val="125000"/>
              </a:lnSpc>
              <a:spcAft>
                <a:spcPts val="1000"/>
              </a:spcAft>
            </a:pPr>
            <a:r>
              <a:rPr sz="1250" b="0" i="0">
                <a:solidFill>
                  <a:srgbClr val="262626"/>
                </a:solidFill>
                <a:latin typeface="Meiryo UI"/>
                <a:ea typeface="Meiryo UI"/>
              </a:rPr>
              <a:t>・成功像が、大学内の採用・処方・面会・講演会になりやすい</a:t>
            </a:r>
          </a:p>
          <a:p>
            <a:pPr algn="l">
              <a:lnSpc>
                <a:spcPct val="125000"/>
              </a:lnSpc>
              <a:spcAft>
                <a:spcPts val="1000"/>
              </a:spcAft>
            </a:pPr>
            <a:r>
              <a:rPr sz="1250" b="0" i="0">
                <a:solidFill>
                  <a:srgbClr val="262626"/>
                </a:solidFill>
                <a:latin typeface="Meiryo UI"/>
                <a:ea typeface="Meiryo UI"/>
              </a:rPr>
              <a:t>・大学から依頼されたことに応える活動になりやすい</a:t>
            </a:r>
          </a:p>
          <a:p>
            <a:pPr algn="l">
              <a:lnSpc>
                <a:spcPct val="125000"/>
              </a:lnSpc>
            </a:pPr>
            <a:r>
              <a:rPr sz="1250" b="0" i="0">
                <a:solidFill>
                  <a:srgbClr val="262626"/>
                </a:solidFill>
                <a:latin typeface="Meiryo UI"/>
                <a:ea typeface="Meiryo UI"/>
              </a:rPr>
              <a:t>・大学を攻略すれば解決する、という前提に立ちやすい</a:t>
            </a:r>
          </a:p>
        </p:txBody>
      </p:sp>
      <p:sp>
        <p:nvSpPr>
          <p:cNvPr id="8" name="Right Arrow 7"/>
          <p:cNvSpPr/>
          <p:nvPr/>
        </p:nvSpPr>
        <p:spPr>
          <a:xfrm>
            <a:off x="6053328" y="3200400"/>
            <a:ext cx="594360" cy="548640"/>
          </a:xfrm>
          <a:prstGeom prst="rightArrow">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0" y="1691640"/>
            <a:ext cx="480060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これから：範囲の中に、大学を置く</a:t>
            </a:r>
          </a:p>
        </p:txBody>
      </p:sp>
      <p:sp>
        <p:nvSpPr>
          <p:cNvPr id="10" name="Rounded Rectangle 9"/>
          <p:cNvSpPr/>
          <p:nvPr/>
        </p:nvSpPr>
        <p:spPr>
          <a:xfrm>
            <a:off x="6858000" y="2331720"/>
            <a:ext cx="4800600" cy="23774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25000"/>
              </a:lnSpc>
              <a:spcAft>
                <a:spcPts val="1000"/>
              </a:spcAft>
            </a:pPr>
            <a:r>
              <a:rPr sz="1250" b="1" i="0">
                <a:solidFill>
                  <a:srgbClr val="262626"/>
                </a:solidFill>
                <a:latin typeface="Meiryo UI"/>
                <a:ea typeface="Meiryo UI"/>
              </a:rPr>
              <a:t>・視点の中心は「自分の任された範囲」</a:t>
            </a:r>
          </a:p>
          <a:p>
            <a:pPr algn="l">
              <a:lnSpc>
                <a:spcPct val="125000"/>
              </a:lnSpc>
              <a:spcAft>
                <a:spcPts val="1000"/>
              </a:spcAft>
            </a:pPr>
            <a:r>
              <a:rPr sz="1250" b="1" i="0">
                <a:solidFill>
                  <a:srgbClr val="262626"/>
                </a:solidFill>
                <a:latin typeface="Meiryo UI"/>
                <a:ea typeface="Meiryo UI"/>
              </a:rPr>
              <a:t>・成功像は、範囲全体がどうなっているか</a:t>
            </a:r>
          </a:p>
          <a:p>
            <a:pPr algn="l">
              <a:lnSpc>
                <a:spcPct val="125000"/>
              </a:lnSpc>
              <a:spcAft>
                <a:spcPts val="1000"/>
              </a:spcAft>
            </a:pPr>
            <a:r>
              <a:rPr sz="1250" b="1" i="0">
                <a:solidFill>
                  <a:srgbClr val="C00000"/>
                </a:solidFill>
                <a:latin typeface="Meiryo UI"/>
                <a:ea typeface="Meiryo UI"/>
              </a:rPr>
              <a:t>・大学は、エリアマッピングの中の「1施設」</a:t>
            </a:r>
          </a:p>
          <a:p>
            <a:pPr algn="l">
              <a:lnSpc>
                <a:spcPct val="125000"/>
              </a:lnSpc>
            </a:pPr>
            <a:r>
              <a:rPr sz="1250" b="1" i="0">
                <a:solidFill>
                  <a:srgbClr val="262626"/>
                </a:solidFill>
                <a:latin typeface="Meiryo UI"/>
                <a:ea typeface="Meiryo UI"/>
              </a:rPr>
              <a:t>・大学が中心とは限らない。基幹病院が中心の範囲もある</a:t>
            </a:r>
          </a:p>
        </p:txBody>
      </p:sp>
      <p:sp>
        <p:nvSpPr>
          <p:cNvPr id="11" name="Rounded Rectangle 10"/>
          <p:cNvSpPr/>
          <p:nvPr/>
        </p:nvSpPr>
        <p:spPr>
          <a:xfrm>
            <a:off x="548640" y="4937760"/>
            <a:ext cx="11109960" cy="12801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1500" b="1" i="0">
                <a:solidFill>
                  <a:srgbClr val="0B4F37"/>
                </a:solidFill>
                <a:latin typeface="Meiryo UI"/>
                <a:ea typeface="Meiryo UI"/>
              </a:rPr>
              <a:t>「大学を軸としたエリア攻略」ではなく、「エリア攻略のために大学を活かす」。</a:t>
            </a:r>
          </a:p>
          <a:p>
            <a:pPr algn="ctr">
              <a:lnSpc>
                <a:spcPct val="125000"/>
              </a:lnSpc>
            </a:pPr>
            <a:r>
              <a:rPr sz="1300" b="0" i="0">
                <a:solidFill>
                  <a:srgbClr val="262626"/>
                </a:solidFill>
                <a:latin typeface="Meiryo UI"/>
                <a:ea typeface="Meiryo UI"/>
              </a:rPr>
              <a:t>表面的には同じ「教授面会」「講演会」でも、大学だけを見て実施した活動と、範囲全体を見て大学を活かした活動では、</a:t>
            </a:r>
            <a:r>
              <a:rPr sz="1300" b="1" i="0">
                <a:solidFill>
                  <a:srgbClr val="C00000"/>
                </a:solidFill>
                <a:latin typeface="Meiryo UI"/>
                <a:ea typeface="Meiryo UI"/>
              </a:rPr>
              <a:t>意味も成果の質もまったく違います。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だから、答えは人によって違います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大学が強い地域もあれば、基幹病院のほうが症例数・影響力を持つ地域もあります。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
        <p:nvSpPr>
          <p:cNvPr id="7" name="Rounded Rectangle 6"/>
          <p:cNvSpPr/>
          <p:nvPr/>
        </p:nvSpPr>
        <p:spPr>
          <a:xfrm>
            <a:off x="548640" y="1920240"/>
            <a:ext cx="2697480" cy="4572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① 一つの大学が中心</a:t>
            </a:r>
          </a:p>
        </p:txBody>
      </p:sp>
      <p:sp>
        <p:nvSpPr>
          <p:cNvPr id="8" name="Rounded Rectangle 7"/>
          <p:cNvSpPr/>
          <p:nvPr/>
        </p:nvSpPr>
        <p:spPr>
          <a:xfrm>
            <a:off x="548640"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1508760" y="2971800"/>
            <a:ext cx="1051560" cy="105156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0" name="Oval 9"/>
          <p:cNvSpPr/>
          <p:nvPr/>
        </p:nvSpPr>
        <p:spPr>
          <a:xfrm>
            <a:off x="2468880" y="374903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1" name="Oval 10"/>
          <p:cNvSpPr/>
          <p:nvPr/>
        </p:nvSpPr>
        <p:spPr>
          <a:xfrm>
            <a:off x="868680" y="384047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2" name="Rounded Rectangle 11"/>
          <p:cNvSpPr/>
          <p:nvPr/>
        </p:nvSpPr>
        <p:spPr>
          <a:xfrm>
            <a:off x="548640"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大学の方針が範囲全体に波及する。医局人事と情報発信が効く</a:t>
            </a:r>
          </a:p>
        </p:txBody>
      </p:sp>
      <p:sp>
        <p:nvSpPr>
          <p:cNvPr id="13" name="Rounded Rectangle 12"/>
          <p:cNvSpPr/>
          <p:nvPr/>
        </p:nvSpPr>
        <p:spPr>
          <a:xfrm>
            <a:off x="3401568" y="1920240"/>
            <a:ext cx="269748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② 複数の大学が並ぶ</a:t>
            </a:r>
          </a:p>
        </p:txBody>
      </p:sp>
      <p:sp>
        <p:nvSpPr>
          <p:cNvPr id="14" name="Rounded Rectangle 13"/>
          <p:cNvSpPr/>
          <p:nvPr/>
        </p:nvSpPr>
        <p:spPr>
          <a:xfrm>
            <a:off x="3401568"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Oval 14"/>
          <p:cNvSpPr/>
          <p:nvPr/>
        </p:nvSpPr>
        <p:spPr>
          <a:xfrm>
            <a:off x="3858768" y="3017520"/>
            <a:ext cx="868680" cy="8686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6" name="Oval 15"/>
          <p:cNvSpPr/>
          <p:nvPr/>
        </p:nvSpPr>
        <p:spPr>
          <a:xfrm>
            <a:off x="5001768" y="3566160"/>
            <a:ext cx="868680" cy="868680"/>
          </a:xfrm>
          <a:prstGeom prst="ellipse">
            <a:avLst/>
          </a:prstGeom>
          <a:solidFill>
            <a:srgbClr val="E9F5EE"/>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3DA574"/>
                </a:solidFill>
                <a:latin typeface="Meiryo UI"/>
                <a:ea typeface="Meiryo UI"/>
              </a:rPr>
              <a:t>B大</a:t>
            </a:r>
          </a:p>
        </p:txBody>
      </p:sp>
      <p:sp>
        <p:nvSpPr>
          <p:cNvPr id="17" name="Oval 16"/>
          <p:cNvSpPr/>
          <p:nvPr/>
        </p:nvSpPr>
        <p:spPr>
          <a:xfrm>
            <a:off x="4636008" y="2834639"/>
            <a:ext cx="548640" cy="54864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8" name="Rounded Rectangle 17"/>
          <p:cNvSpPr/>
          <p:nvPr/>
        </p:nvSpPr>
        <p:spPr>
          <a:xfrm>
            <a:off x="3401568"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1大学では範囲は動かない。両大学に共通する課題を探す</a:t>
            </a:r>
          </a:p>
        </p:txBody>
      </p:sp>
      <p:sp>
        <p:nvSpPr>
          <p:cNvPr id="19" name="Rounded Rectangle 18"/>
          <p:cNvSpPr/>
          <p:nvPr/>
        </p:nvSpPr>
        <p:spPr>
          <a:xfrm>
            <a:off x="6254496" y="1920240"/>
            <a:ext cx="2697480" cy="4572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③ 基幹病院が中心</a:t>
            </a:r>
          </a:p>
        </p:txBody>
      </p:sp>
      <p:sp>
        <p:nvSpPr>
          <p:cNvPr id="20" name="Rounded Rectangle 19"/>
          <p:cNvSpPr/>
          <p:nvPr/>
        </p:nvSpPr>
        <p:spPr>
          <a:xfrm>
            <a:off x="6254496"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Oval 20"/>
          <p:cNvSpPr/>
          <p:nvPr/>
        </p:nvSpPr>
        <p:spPr>
          <a:xfrm>
            <a:off x="7123176" y="3017520"/>
            <a:ext cx="1097280" cy="1097280"/>
          </a:xfrm>
          <a:prstGeom prst="ellipse">
            <a:avLst/>
          </a:prstGeom>
          <a:solidFill>
            <a:srgbClr val="EAF0F9"/>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1F3864"/>
                </a:solidFill>
                <a:latin typeface="Meiryo UI"/>
                <a:ea typeface="Meiryo UI"/>
              </a:rPr>
              <a:t>基幹</a:t>
            </a:r>
          </a:p>
        </p:txBody>
      </p:sp>
      <p:sp>
        <p:nvSpPr>
          <p:cNvPr id="22" name="Oval 21"/>
          <p:cNvSpPr/>
          <p:nvPr/>
        </p:nvSpPr>
        <p:spPr>
          <a:xfrm>
            <a:off x="6620256" y="3931920"/>
            <a:ext cx="640080" cy="6400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0B4F37"/>
                </a:solidFill>
                <a:latin typeface="Meiryo UI"/>
                <a:ea typeface="Meiryo UI"/>
              </a:rPr>
              <a:t>A大</a:t>
            </a:r>
          </a:p>
        </p:txBody>
      </p:sp>
      <p:sp>
        <p:nvSpPr>
          <p:cNvPr id="23" name="Oval 22"/>
          <p:cNvSpPr/>
          <p:nvPr/>
        </p:nvSpPr>
        <p:spPr>
          <a:xfrm>
            <a:off x="8174736" y="3886200"/>
            <a:ext cx="594360" cy="594360"/>
          </a:xfrm>
          <a:prstGeom prst="ellipse">
            <a:avLst/>
          </a:prstGeom>
          <a:solidFill>
            <a:srgbClr val="EAF0F9"/>
          </a:solidFill>
          <a:ln w="12700">
            <a:solidFill>
              <a:srgbClr val="3B5C9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3B5C99"/>
                </a:solidFill>
                <a:latin typeface="Meiryo UI"/>
                <a:ea typeface="Meiryo UI"/>
              </a:rPr>
              <a:t>基幹</a:t>
            </a:r>
          </a:p>
        </p:txBody>
      </p:sp>
      <p:sp>
        <p:nvSpPr>
          <p:cNvPr id="24" name="Rounded Rectangle 23"/>
          <p:cNvSpPr/>
          <p:nvPr/>
        </p:nvSpPr>
        <p:spPr>
          <a:xfrm>
            <a:off x="6254496"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症例数・実務の影響力は基幹病院。大学は研究・教育で効かせる</a:t>
            </a:r>
          </a:p>
        </p:txBody>
      </p:sp>
      <p:sp>
        <p:nvSpPr>
          <p:cNvPr id="25" name="Rounded Rectangle 24"/>
          <p:cNvSpPr/>
          <p:nvPr/>
        </p:nvSpPr>
        <p:spPr>
          <a:xfrm>
            <a:off x="9107424" y="1920240"/>
            <a:ext cx="2697480" cy="45720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④ 大学の影響が広域に</a:t>
            </a:r>
          </a:p>
        </p:txBody>
      </p:sp>
      <p:sp>
        <p:nvSpPr>
          <p:cNvPr id="26" name="Rounded Rectangle 25"/>
          <p:cNvSpPr/>
          <p:nvPr/>
        </p:nvSpPr>
        <p:spPr>
          <a:xfrm>
            <a:off x="9107424"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Oval 26"/>
          <p:cNvSpPr/>
          <p:nvPr/>
        </p:nvSpPr>
        <p:spPr>
          <a:xfrm>
            <a:off x="9564624" y="2971800"/>
            <a:ext cx="1005840" cy="100584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28" name="Oval 27"/>
          <p:cNvSpPr/>
          <p:nvPr/>
        </p:nvSpPr>
        <p:spPr>
          <a:xfrm>
            <a:off x="10936224" y="2926079"/>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29" name="Oval 28"/>
          <p:cNvSpPr/>
          <p:nvPr/>
        </p:nvSpPr>
        <p:spPr>
          <a:xfrm>
            <a:off x="11027663" y="3886200"/>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30" name="Rounded Rectangle 29"/>
          <p:cNvSpPr/>
          <p:nvPr/>
        </p:nvSpPr>
        <p:spPr>
          <a:xfrm>
            <a:off x="9107424"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先生の影響が担当範囲を超える。営業所・全国への展開を考える</a:t>
            </a:r>
          </a:p>
        </p:txBody>
      </p:sp>
      <p:sp>
        <p:nvSpPr>
          <p:cNvPr id="31" name="Rounded Rectangle 30"/>
          <p:cNvSpPr/>
          <p:nvPr/>
        </p:nvSpPr>
        <p:spPr>
          <a:xfrm>
            <a:off x="548640" y="5897880"/>
            <a:ext cx="11109960" cy="41148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0" i="0">
                <a:solidFill>
                  <a:srgbClr val="262626"/>
                </a:solidFill>
                <a:latin typeface="Meiryo UI"/>
                <a:ea typeface="Meiryo UI"/>
              </a:rPr>
              <a:t>正解の型はありません。大事なのは、</a:t>
            </a:r>
            <a:r>
              <a:rPr sz="1250" b="1" i="0">
                <a:solidFill>
                  <a:srgbClr val="C00000"/>
                </a:solidFill>
                <a:latin typeface="Meiryo UI"/>
                <a:ea typeface="Meiryo UI"/>
              </a:rPr>
              <a:t>「自分は任された範囲をこう見ている」と言えること</a:t>
            </a:r>
            <a:r>
              <a:rPr sz="1250" b="0" i="0">
                <a:solidFill>
                  <a:srgbClr val="262626"/>
                </a:solidFill>
                <a:latin typeface="Meiryo UI"/>
                <a:ea typeface="Meiryo UI"/>
              </a:rPr>
              <a:t>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大学の「どの機能」を使いますか？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DAY1で学んだとおり、大学病院はトップダウン組織ではなく「医局の集合体」。使える機能は複数あります。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7" name="Rounded Rectangle 6"/>
          <p:cNvSpPr/>
          <p:nvPr/>
        </p:nvSpPr>
        <p:spPr>
          <a:xfrm>
            <a:off x="548640"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a:t>
            </a:r>
          </a:p>
        </p:txBody>
      </p:sp>
      <p:sp>
        <p:nvSpPr>
          <p:cNvPr id="8" name="Rounded Rectangle 7"/>
          <p:cNvSpPr/>
          <p:nvPr/>
        </p:nvSpPr>
        <p:spPr>
          <a:xfrm>
            <a:off x="548640"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若手が学び、数年後に範囲の病院へ散っていく</a:t>
            </a:r>
          </a:p>
        </p:txBody>
      </p:sp>
      <p:sp>
        <p:nvSpPr>
          <p:cNvPr id="9" name="Rounded Rectangle 8"/>
          <p:cNvSpPr/>
          <p:nvPr/>
        </p:nvSpPr>
        <p:spPr>
          <a:xfrm>
            <a:off x="3401568"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研究</a:t>
            </a:r>
          </a:p>
        </p:txBody>
      </p:sp>
      <p:sp>
        <p:nvSpPr>
          <p:cNvPr id="10" name="Rounded Rectangle 9"/>
          <p:cNvSpPr/>
          <p:nvPr/>
        </p:nvSpPr>
        <p:spPr>
          <a:xfrm>
            <a:off x="3401568"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エビデンスをつくり、学会・論文で外へ届く</a:t>
            </a:r>
          </a:p>
        </p:txBody>
      </p:sp>
      <p:sp>
        <p:nvSpPr>
          <p:cNvPr id="11" name="Rounded Rectangle 10"/>
          <p:cNvSpPr/>
          <p:nvPr/>
        </p:nvSpPr>
        <p:spPr>
          <a:xfrm>
            <a:off x="6254496"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臨床</a:t>
            </a:r>
          </a:p>
        </p:txBody>
      </p:sp>
      <p:sp>
        <p:nvSpPr>
          <p:cNvPr id="12" name="Rounded Rectangle 11"/>
          <p:cNvSpPr/>
          <p:nvPr/>
        </p:nvSpPr>
        <p:spPr>
          <a:xfrm>
            <a:off x="6254496"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症例が集まる。専門治療の実施と評価の場</a:t>
            </a:r>
          </a:p>
        </p:txBody>
      </p:sp>
      <p:sp>
        <p:nvSpPr>
          <p:cNvPr id="13" name="Rounded Rectangle 12"/>
          <p:cNvSpPr/>
          <p:nvPr/>
        </p:nvSpPr>
        <p:spPr>
          <a:xfrm>
            <a:off x="9107424" y="1965960"/>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医局人事</a:t>
            </a:r>
          </a:p>
        </p:txBody>
      </p:sp>
      <p:sp>
        <p:nvSpPr>
          <p:cNvPr id="14" name="Rounded Rectangle 13"/>
          <p:cNvSpPr/>
          <p:nvPr/>
        </p:nvSpPr>
        <p:spPr>
          <a:xfrm>
            <a:off x="9107424"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関連病院の部長・医長を決める。方針が波及する</a:t>
            </a:r>
          </a:p>
        </p:txBody>
      </p:sp>
      <p:sp>
        <p:nvSpPr>
          <p:cNvPr id="15" name="Rounded Rectangle 14"/>
          <p:cNvSpPr/>
          <p:nvPr/>
        </p:nvSpPr>
        <p:spPr>
          <a:xfrm>
            <a:off x="548640" y="3264408"/>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医師派遣</a:t>
            </a:r>
          </a:p>
        </p:txBody>
      </p:sp>
      <p:sp>
        <p:nvSpPr>
          <p:cNvPr id="16" name="Rounded Rectangle 15"/>
          <p:cNvSpPr/>
          <p:nvPr/>
        </p:nvSpPr>
        <p:spPr>
          <a:xfrm>
            <a:off x="548640"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誰がどの施設に行くか。範囲の布陣が決まる</a:t>
            </a:r>
          </a:p>
        </p:txBody>
      </p:sp>
      <p:sp>
        <p:nvSpPr>
          <p:cNvPr id="17" name="Rounded Rectangle 16"/>
          <p:cNvSpPr/>
          <p:nvPr/>
        </p:nvSpPr>
        <p:spPr>
          <a:xfrm>
            <a:off x="3401568"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情報発信</a:t>
            </a:r>
          </a:p>
        </p:txBody>
      </p:sp>
      <p:sp>
        <p:nvSpPr>
          <p:cNvPr id="18" name="Rounded Rectangle 17"/>
          <p:cNvSpPr/>
          <p:nvPr/>
        </p:nvSpPr>
        <p:spPr>
          <a:xfrm>
            <a:off x="3401568"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治療方針が、時間差で範囲の標準になる</a:t>
            </a:r>
          </a:p>
        </p:txBody>
      </p:sp>
      <p:sp>
        <p:nvSpPr>
          <p:cNvPr id="19" name="Rounded Rectangle 18"/>
          <p:cNvSpPr/>
          <p:nvPr/>
        </p:nvSpPr>
        <p:spPr>
          <a:xfrm>
            <a:off x="6254496"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講演会・研究会</a:t>
            </a:r>
          </a:p>
        </p:txBody>
      </p:sp>
      <p:sp>
        <p:nvSpPr>
          <p:cNvPr id="20" name="Rounded Rectangle 19"/>
          <p:cNvSpPr/>
          <p:nvPr/>
        </p:nvSpPr>
        <p:spPr>
          <a:xfrm>
            <a:off x="6254496"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地域の医師が集まる場。共通認識をつくれる</a:t>
            </a:r>
          </a:p>
        </p:txBody>
      </p:sp>
      <p:sp>
        <p:nvSpPr>
          <p:cNvPr id="21" name="Rounded Rectangle 20"/>
          <p:cNvSpPr/>
          <p:nvPr/>
        </p:nvSpPr>
        <p:spPr>
          <a:xfrm>
            <a:off x="9107424" y="3264408"/>
            <a:ext cx="2551176" cy="12161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200" b="1" i="0">
                <a:solidFill>
                  <a:srgbClr val="FFFFFF"/>
                </a:solidFill>
                <a:latin typeface="Meiryo UI"/>
                <a:ea typeface="Meiryo UI"/>
              </a:rPr>
              <a:t>この7つのうち、</a:t>
            </a:r>
          </a:p>
          <a:p>
            <a:pPr algn="ctr">
              <a:lnSpc>
                <a:spcPct val="125000"/>
              </a:lnSpc>
            </a:pPr>
            <a:r>
              <a:rPr sz="1300" b="1" i="0">
                <a:solidFill>
                  <a:srgbClr val="FFC000"/>
                </a:solidFill>
                <a:latin typeface="Meiryo UI"/>
                <a:ea typeface="Meiryo UI"/>
              </a:rPr>
              <a:t>あなたの課題を解くのに
必要なのはどれ？</a:t>
            </a:r>
          </a:p>
        </p:txBody>
      </p:sp>
      <p:sp>
        <p:nvSpPr>
          <p:cNvPr id="22" name="Rounded Rectangle 21"/>
          <p:cNvSpPr/>
          <p:nvPr/>
        </p:nvSpPr>
        <p:spPr>
          <a:xfrm>
            <a:off x="548640" y="4754880"/>
            <a:ext cx="11109960" cy="68580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400"/>
              </a:spcAft>
            </a:pPr>
            <a:r>
              <a:rPr sz="1300" b="1" i="0">
                <a:solidFill>
                  <a:srgbClr val="0B4F37"/>
                </a:solidFill>
                <a:latin typeface="Meiryo UI"/>
                <a:ea typeface="Meiryo UI"/>
              </a:rPr>
              <a:t>DAY1の「教授の裁量権」を思い出してください：</a:t>
            </a:r>
            <a:r>
              <a:rPr sz="1250" b="0" i="0">
                <a:solidFill>
                  <a:srgbClr val="262626"/>
                </a:solidFill>
                <a:latin typeface="Meiryo UI"/>
                <a:ea typeface="Meiryo UI"/>
              </a:rPr>
              <a:t>①臨床機会の配分　②医局人事・異動　③教授会・教授選　④研究・教育の方向性</a:t>
            </a:r>
          </a:p>
          <a:p>
            <a:pPr algn="ctr"/>
            <a:r>
              <a:rPr sz="1200" b="0" i="0">
                <a:solidFill>
                  <a:srgbClr val="595959"/>
                </a:solidFill>
                <a:latin typeface="Meiryo UI"/>
                <a:ea typeface="Meiryo UI"/>
              </a:rPr>
              <a:t>＝ 教授は「処方者」ではなく、機能を動かせる人。誰を通じて、どの機能を動かすかを設計します。</a:t>
            </a:r>
          </a:p>
        </p:txBody>
      </p:sp>
      <p:sp>
        <p:nvSpPr>
          <p:cNvPr id="23" name="Rounded Rectangle 22"/>
          <p:cNvSpPr/>
          <p:nvPr/>
        </p:nvSpPr>
        <p:spPr>
          <a:xfrm>
            <a:off x="548640" y="5532120"/>
            <a:ext cx="11109960" cy="77724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0B4F37"/>
                </a:solidFill>
                <a:latin typeface="Meiryo UI"/>
                <a:ea typeface="Meiryo UI"/>
              </a:rPr>
              <a:t>「大学を攻略する」ではなく、「この課題を解くために、大学のこの機能を使う」と言えるか。</a:t>
            </a:r>
          </a:p>
          <a:p>
            <a:pPr algn="ctr"/>
            <a:r>
              <a:rPr sz="1250" b="0" i="0">
                <a:solidFill>
                  <a:srgbClr val="262626"/>
                </a:solidFill>
                <a:latin typeface="Meiryo UI"/>
                <a:ea typeface="Meiryo UI"/>
              </a:rPr>
              <a:t>例：範囲の紹介が遅い → 使うのは</a:t>
            </a:r>
            <a:r>
              <a:rPr sz="1250" b="1" i="0">
                <a:solidFill>
                  <a:srgbClr val="C00000"/>
                </a:solidFill>
                <a:latin typeface="Meiryo UI"/>
                <a:ea typeface="Meiryo UI"/>
              </a:rPr>
              <a:t>情報発信と講演会</a:t>
            </a:r>
            <a:r>
              <a:rPr sz="1250" b="0" i="0">
                <a:solidFill>
                  <a:srgbClr val="262626"/>
                </a:solidFill>
                <a:latin typeface="Meiryo UI"/>
                <a:ea typeface="Meiryo UI"/>
              </a:rPr>
              <a:t>　／　例：基幹病院の治療方針を変えたい → 使うのは</a:t>
            </a:r>
            <a:r>
              <a:rPr sz="1250" b="1" i="0">
                <a:solidFill>
                  <a:srgbClr val="C00000"/>
                </a:solidFill>
                <a:latin typeface="Meiryo UI"/>
                <a:ea typeface="Meiryo UI"/>
              </a:rPr>
              <a:t>医局人事と医師派遣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自分のテリトリーを、1枚の絵にする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645920"/>
            <a:ext cx="7360920" cy="713232"/>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手元の紙に、あなたの任された範囲を描いてください。描き方は自由。上手さは関係ありません。</a:t>
            </a:r>
          </a:p>
        </p:txBody>
      </p:sp>
      <p:sp>
        <p:nvSpPr>
          <p:cNvPr id="7" name="Oval 6"/>
          <p:cNvSpPr/>
          <p:nvPr/>
        </p:nvSpPr>
        <p:spPr>
          <a:xfrm>
            <a:off x="548640" y="251460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4分</a:t>
            </a:r>
          </a:p>
        </p:txBody>
      </p:sp>
      <p:sp>
        <p:nvSpPr>
          <p:cNvPr id="8" name="Rounded Rectangle 7"/>
          <p:cNvSpPr/>
          <p:nvPr/>
        </p:nvSpPr>
        <p:spPr>
          <a:xfrm>
            <a:off x="1371600" y="251460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施設を丸で置く</a:t>
            </a:r>
          </a:p>
          <a:p>
            <a:pPr algn="l">
              <a:lnSpc>
                <a:spcPct val="115000"/>
              </a:lnSpc>
            </a:pPr>
            <a:r>
              <a:rPr sz="1050" b="0" i="0">
                <a:solidFill>
                  <a:srgbClr val="262626"/>
                </a:solidFill>
                <a:latin typeface="Meiryo UI"/>
                <a:ea typeface="Meiryo UI"/>
              </a:rPr>
              <a:t>担当する大学・基幹病院を全部。丸の大きさ＝あなたが考える重要度</a:t>
            </a:r>
          </a:p>
        </p:txBody>
      </p:sp>
      <p:sp>
        <p:nvSpPr>
          <p:cNvPr id="9" name="Oval 8"/>
          <p:cNvSpPr/>
          <p:nvPr/>
        </p:nvSpPr>
        <p:spPr>
          <a:xfrm>
            <a:off x="548640" y="329184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0" name="Rounded Rectangle 9"/>
          <p:cNvSpPr/>
          <p:nvPr/>
        </p:nvSpPr>
        <p:spPr>
          <a:xfrm>
            <a:off x="1371600" y="329184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つながりを線で結ぶ</a:t>
            </a:r>
          </a:p>
          <a:p>
            <a:pPr algn="l">
              <a:lnSpc>
                <a:spcPct val="115000"/>
              </a:lnSpc>
            </a:pPr>
            <a:r>
              <a:rPr sz="1050" b="0" i="0">
                <a:solidFill>
                  <a:srgbClr val="262626"/>
                </a:solidFill>
                <a:latin typeface="Meiryo UI"/>
                <a:ea typeface="Meiryo UI"/>
              </a:rPr>
              <a:t>患者の流れ／医師の人事・派遣／情報・診療方針の流れ</a:t>
            </a:r>
          </a:p>
        </p:txBody>
      </p:sp>
      <p:sp>
        <p:nvSpPr>
          <p:cNvPr id="11" name="Oval 10"/>
          <p:cNvSpPr/>
          <p:nvPr/>
        </p:nvSpPr>
        <p:spPr>
          <a:xfrm>
            <a:off x="548640" y="406908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2" name="Rounded Rectangle 11"/>
          <p:cNvSpPr/>
          <p:nvPr/>
        </p:nvSpPr>
        <p:spPr>
          <a:xfrm>
            <a:off x="1371600" y="406908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大学の丸に機能を書く</a:t>
            </a:r>
          </a:p>
          <a:p>
            <a:pPr algn="l">
              <a:lnSpc>
                <a:spcPct val="115000"/>
              </a:lnSpc>
            </a:pPr>
            <a:r>
              <a:rPr sz="1050" b="0" i="0">
                <a:solidFill>
                  <a:srgbClr val="262626"/>
                </a:solidFill>
                <a:latin typeface="Meiryo UI"/>
                <a:ea typeface="Meiryo UI"/>
              </a:rPr>
              <a:t>教育・研究・臨床・医局人事・医師派遣・情報発信・講演会から選ぶ</a:t>
            </a:r>
          </a:p>
        </p:txBody>
      </p:sp>
      <p:sp>
        <p:nvSpPr>
          <p:cNvPr id="13" name="Rounded Rectangle 12"/>
          <p:cNvSpPr/>
          <p:nvPr/>
        </p:nvSpPr>
        <p:spPr>
          <a:xfrm>
            <a:off x="548640" y="4892040"/>
            <a:ext cx="7360920" cy="132588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600"/>
              </a:spcAft>
            </a:pPr>
            <a:r>
              <a:rPr sz="1300" b="1" i="0">
                <a:solidFill>
                  <a:srgbClr val="262626"/>
                </a:solidFill>
                <a:latin typeface="Meiryo UI"/>
                <a:ea typeface="Meiryo UI"/>
              </a:rPr>
              <a:t>描き終えたら、自分に問いかけてください。</a:t>
            </a:r>
          </a:p>
          <a:p>
            <a:pPr algn="ctr">
              <a:spcAft>
                <a:spcPts val="600"/>
              </a:spcAft>
            </a:pPr>
            <a:r>
              <a:rPr sz="1800" b="1" i="0">
                <a:solidFill>
                  <a:srgbClr val="C00000"/>
                </a:solidFill>
                <a:latin typeface="Meiryo UI"/>
                <a:ea typeface="Meiryo UI"/>
              </a:rPr>
              <a:t>あなたの絵で、大学は何番目に大きいですか？</a:t>
            </a:r>
          </a:p>
          <a:p>
            <a:pPr algn="l"/>
            <a:r>
              <a:rPr sz="1150" b="0" i="0">
                <a:solidFill>
                  <a:srgbClr val="595959"/>
                </a:solidFill>
                <a:latin typeface="Meiryo UI"/>
                <a:ea typeface="Meiryo UI"/>
              </a:rPr>
              <a:t>一番大きくなくても、まったく問題ありません。それがあなたの範囲の実態です。</a:t>
            </a:r>
          </a:p>
        </p:txBody>
      </p:sp>
      <p:sp>
        <p:nvSpPr>
          <p:cNvPr id="14" name="Rounded Rectangle 13"/>
          <p:cNvSpPr/>
          <p:nvPr/>
        </p:nvSpPr>
        <p:spPr>
          <a:xfrm>
            <a:off x="8138160" y="1645920"/>
            <a:ext cx="3520440" cy="4572000"/>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200"/>
              </a:spcAft>
            </a:pPr>
            <a:r>
              <a:rPr sz="1450" b="1" i="0">
                <a:solidFill>
                  <a:srgbClr val="FFFFFF"/>
                </a:solidFill>
                <a:latin typeface="Meiryo UI"/>
                <a:ea typeface="Meiryo UI"/>
              </a:rPr>
              <a:t>迷ったときは</a:t>
            </a:r>
          </a:p>
          <a:p>
            <a:pPr algn="l">
              <a:lnSpc>
                <a:spcPct val="125000"/>
              </a:lnSpc>
              <a:spcAft>
                <a:spcPts val="1000"/>
              </a:spcAft>
            </a:pPr>
            <a:r>
              <a:rPr sz="1150" b="0" i="0">
                <a:solidFill>
                  <a:srgbClr val="FFFFFF"/>
                </a:solidFill>
                <a:latin typeface="Meiryo UI"/>
                <a:ea typeface="Meiryo UI"/>
              </a:rPr>
              <a:t>・施設が多すぎる → 重要そうな5〜6施設だけでOK</a:t>
            </a:r>
          </a:p>
          <a:p>
            <a:pPr algn="l">
              <a:lnSpc>
                <a:spcPct val="125000"/>
              </a:lnSpc>
              <a:spcAft>
                <a:spcPts val="1000"/>
              </a:spcAft>
            </a:pPr>
            <a:r>
              <a:rPr sz="1150" b="0" i="0">
                <a:solidFill>
                  <a:srgbClr val="FFFFFF"/>
                </a:solidFill>
                <a:latin typeface="Meiryo UI"/>
                <a:ea typeface="Meiryo UI"/>
              </a:rPr>
              <a:t>・担当外の施設（クリニック等）は、患者の流れが分かる範囲で薄く描けば十分</a:t>
            </a:r>
          </a:p>
          <a:p>
            <a:pPr algn="l">
              <a:lnSpc>
                <a:spcPct val="125000"/>
              </a:lnSpc>
              <a:spcAft>
                <a:spcPts val="1000"/>
              </a:spcAft>
            </a:pPr>
            <a:r>
              <a:rPr sz="1150" b="0" i="0">
                <a:solidFill>
                  <a:srgbClr val="FFFFFF"/>
                </a:solidFill>
                <a:latin typeface="Meiryo UI"/>
                <a:ea typeface="Meiryo UI"/>
              </a:rPr>
              <a:t>・重要度が決められない →「この施設が変われば、範囲全体が変わるか？」で判断</a:t>
            </a:r>
          </a:p>
          <a:p>
            <a:pPr algn="l">
              <a:lnSpc>
                <a:spcPct val="125000"/>
              </a:lnSpc>
              <a:spcAft>
                <a:spcPts val="1000"/>
              </a:spcAft>
            </a:pPr>
            <a:r>
              <a:rPr sz="1150" b="0" i="0">
                <a:solidFill>
                  <a:srgbClr val="FFFFFF"/>
                </a:solidFill>
                <a:latin typeface="Meiryo UI"/>
                <a:ea typeface="Meiryo UI"/>
              </a:rPr>
              <a:t>・線が分からない → 分からない線は点線＋「？」で。それが次に取りに行く情報</a:t>
            </a:r>
          </a:p>
          <a:p>
            <a:pPr algn="l">
              <a:lnSpc>
                <a:spcPct val="125000"/>
              </a:lnSpc>
            </a:pPr>
            <a:r>
              <a:rPr sz="1150" b="0" i="0">
                <a:solidFill>
                  <a:srgbClr val="FFFFFF"/>
                </a:solidFill>
                <a:latin typeface="Meiryo UI"/>
                <a:ea typeface="Meiryo UI"/>
              </a:rPr>
              <a:t>・大学が複数ある → 全部描く。関係が分からなければ、それも「？」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①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共有：描いた絵を見せ合って、自由に話しましょう</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691640"/>
            <a:ext cx="11109960" cy="65836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3〜4人1組。順番も型も決めません。描いた絵を画面に映して、思ったことを話してください。</a:t>
            </a:r>
          </a:p>
        </p:txBody>
      </p:sp>
      <p:sp>
        <p:nvSpPr>
          <p:cNvPr id="7" name="Rounded Rectangle 6"/>
          <p:cNvSpPr/>
          <p:nvPr/>
        </p:nvSpPr>
        <p:spPr>
          <a:xfrm>
            <a:off x="548640" y="260604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話のきっかけ①</a:t>
            </a:r>
          </a:p>
        </p:txBody>
      </p:sp>
      <p:sp>
        <p:nvSpPr>
          <p:cNvPr id="8" name="Rounded Rectangle 7"/>
          <p:cNvSpPr/>
          <p:nvPr/>
        </p:nvSpPr>
        <p:spPr>
          <a:xfrm>
            <a:off x="3017520" y="260604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あなたの範囲で、一番大きい施設はどこ？　それはなぜ？</a:t>
            </a:r>
          </a:p>
        </p:txBody>
      </p:sp>
      <p:sp>
        <p:nvSpPr>
          <p:cNvPr id="9" name="Rounded Rectangle 8"/>
          <p:cNvSpPr/>
          <p:nvPr/>
        </p:nvSpPr>
        <p:spPr>
          <a:xfrm>
            <a:off x="548640" y="338328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話のきっかけ②</a:t>
            </a:r>
          </a:p>
        </p:txBody>
      </p:sp>
      <p:sp>
        <p:nvSpPr>
          <p:cNvPr id="10" name="Rounded Rectangle 9"/>
          <p:cNvSpPr/>
          <p:nvPr/>
        </p:nvSpPr>
        <p:spPr>
          <a:xfrm>
            <a:off x="3017520" y="338328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大学と基幹病院、いまはどちらが効いていますか？</a:t>
            </a:r>
          </a:p>
        </p:txBody>
      </p:sp>
      <p:sp>
        <p:nvSpPr>
          <p:cNvPr id="11" name="Rounded Rectangle 10"/>
          <p:cNvSpPr/>
          <p:nvPr/>
        </p:nvSpPr>
        <p:spPr>
          <a:xfrm>
            <a:off x="548640" y="4160520"/>
            <a:ext cx="237744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話のきっかけ③</a:t>
            </a:r>
          </a:p>
        </p:txBody>
      </p:sp>
      <p:sp>
        <p:nvSpPr>
          <p:cNvPr id="12" name="Rounded Rectangle 11"/>
          <p:cNvSpPr/>
          <p:nvPr/>
        </p:nvSpPr>
        <p:spPr>
          <a:xfrm>
            <a:off x="3017520" y="4160520"/>
            <a:ext cx="864108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r>
              <a:rPr sz="1400" b="1" i="0">
                <a:solidFill>
                  <a:srgbClr val="262626"/>
                </a:solidFill>
                <a:latin typeface="Meiryo UI"/>
                <a:ea typeface="Meiryo UI"/>
              </a:rPr>
              <a:t>描いてみて、意外だったこと・困ったことは？</a:t>
            </a:r>
          </a:p>
        </p:txBody>
      </p:sp>
      <p:sp>
        <p:nvSpPr>
          <p:cNvPr id="13" name="Rounded Rectangle 12"/>
          <p:cNvSpPr/>
          <p:nvPr/>
        </p:nvSpPr>
        <p:spPr>
          <a:xfrm>
            <a:off x="548640" y="5029200"/>
            <a:ext cx="11109960" cy="685800"/>
          </a:xfrm>
          <a:prstGeom prst="roundRect">
            <a:avLst>
              <a:gd name="adj" fmla="val 12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350" b="1" i="0">
                <a:solidFill>
                  <a:srgbClr val="0B4F37"/>
                </a:solidFill>
                <a:latin typeface="Meiryo UI"/>
                <a:ea typeface="Meiryo UI"/>
              </a:rPr>
              <a:t>どれから話しても、全部飛ばして別の話をしてもOK。他の人の話に乗っかるのも大歓迎です。</a:t>
            </a:r>
          </a:p>
        </p:txBody>
      </p:sp>
      <p:sp>
        <p:nvSpPr>
          <p:cNvPr id="14" name="Rounded Rectangle 13"/>
          <p:cNvSpPr/>
          <p:nvPr/>
        </p:nvSpPr>
        <p:spPr>
          <a:xfrm>
            <a:off x="548640" y="5806440"/>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他の人の絵は、最高の教材です。「大学が中心じゃない範囲もあるのか」— 自分の絵の空白が見えてきます。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②</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テーマ②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順序を変える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その情報は、何のために取りましたか？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情報を集めてから考えるのではなく、成功像から逆算して取りに行く</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自分の範囲のWINと、大学・医局のWINが重なるところに打ち手を置く</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成功像・現状・課題・解決法を、自分の言葉で言語化する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情報は、集めるほど良いわけではありません</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教授の専門、医局員の横のつながり、派遣先、人事、研究内容 — 知ること自体は目的ではありません。</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7" name="Rounded Rectangle 6"/>
          <p:cNvSpPr/>
          <p:nvPr/>
        </p:nvSpPr>
        <p:spPr>
          <a:xfrm>
            <a:off x="548640" y="1965960"/>
            <a:ext cx="1110996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よくある順番：</a:t>
            </a:r>
            <a:r>
              <a:rPr sz="1300" b="1" i="0">
                <a:solidFill>
                  <a:srgbClr val="FFFFFF"/>
                </a:solidFill>
                <a:latin typeface="Meiryo UI"/>
                <a:ea typeface="Meiryo UI"/>
              </a:rPr>
              <a:t>情報を集める</a:t>
            </a:r>
            <a:r>
              <a:rPr sz="1300" b="0" i="0">
                <a:solidFill>
                  <a:srgbClr val="FFFFFF"/>
                </a:solidFill>
                <a:latin typeface="Meiryo UI"/>
                <a:ea typeface="Meiryo UI"/>
              </a:rPr>
              <a:t>　→　</a:t>
            </a:r>
            <a:r>
              <a:rPr sz="1300" b="1" i="0">
                <a:solidFill>
                  <a:srgbClr val="FFFFFF"/>
                </a:solidFill>
                <a:latin typeface="Meiryo UI"/>
                <a:ea typeface="Meiryo UI"/>
              </a:rPr>
              <a:t>何に使えるか考える</a:t>
            </a:r>
            <a:r>
              <a:rPr sz="1300" b="0" i="0">
                <a:solidFill>
                  <a:srgbClr val="FFFFFF"/>
                </a:solidFill>
                <a:latin typeface="Meiryo UI"/>
                <a:ea typeface="Meiryo UI"/>
              </a:rPr>
              <a:t>　→　集めたけれど活かせない</a:t>
            </a:r>
          </a:p>
        </p:txBody>
      </p:sp>
      <p:sp>
        <p:nvSpPr>
          <p:cNvPr id="8" name="Rounded Rectangle 7"/>
          <p:cNvSpPr/>
          <p:nvPr/>
        </p:nvSpPr>
        <p:spPr>
          <a:xfrm>
            <a:off x="548640" y="2880360"/>
            <a:ext cx="2084831"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① 成功像を考える</a:t>
            </a:r>
          </a:p>
        </p:txBody>
      </p:sp>
      <p:sp>
        <p:nvSpPr>
          <p:cNvPr id="9" name="Rounded Rectangle 8"/>
          <p:cNvSpPr/>
          <p:nvPr/>
        </p:nvSpPr>
        <p:spPr>
          <a:xfrm>
            <a:off x="548640"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任された範囲を、どうしたいのか</a:t>
            </a:r>
          </a:p>
        </p:txBody>
      </p:sp>
      <p:sp>
        <p:nvSpPr>
          <p:cNvPr id="10" name="Right Arrow 9"/>
          <p:cNvSpPr/>
          <p:nvPr/>
        </p:nvSpPr>
        <p:spPr>
          <a:xfrm>
            <a:off x="2660904"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07208"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② 役割を仮説化する</a:t>
            </a:r>
          </a:p>
        </p:txBody>
      </p:sp>
      <p:sp>
        <p:nvSpPr>
          <p:cNvPr id="12" name="Rounded Rectangle 11"/>
          <p:cNvSpPr/>
          <p:nvPr/>
        </p:nvSpPr>
        <p:spPr>
          <a:xfrm>
            <a:off x="2807208"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大学・基幹病院に、どんな役割が必要か</a:t>
            </a:r>
          </a:p>
        </p:txBody>
      </p:sp>
      <p:sp>
        <p:nvSpPr>
          <p:cNvPr id="13" name="Right Arrow 12"/>
          <p:cNvSpPr/>
          <p:nvPr/>
        </p:nvSpPr>
        <p:spPr>
          <a:xfrm>
            <a:off x="4919472"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65776"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③ 必要な情報を決める</a:t>
            </a:r>
          </a:p>
        </p:txBody>
      </p:sp>
      <p:sp>
        <p:nvSpPr>
          <p:cNvPr id="15" name="Rounded Rectangle 14"/>
          <p:cNvSpPr/>
          <p:nvPr/>
        </p:nvSpPr>
        <p:spPr>
          <a:xfrm>
            <a:off x="5065776"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その仮説を確かめるには、何を知る必要があるか</a:t>
            </a:r>
          </a:p>
        </p:txBody>
      </p:sp>
      <p:sp>
        <p:nvSpPr>
          <p:cNvPr id="16" name="Right Arrow 15"/>
          <p:cNvSpPr/>
          <p:nvPr/>
        </p:nvSpPr>
        <p:spPr>
          <a:xfrm>
            <a:off x="7178040"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24344" y="2880360"/>
            <a:ext cx="2084831"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④ 情報を取りに行く</a:t>
            </a:r>
          </a:p>
        </p:txBody>
      </p:sp>
      <p:sp>
        <p:nvSpPr>
          <p:cNvPr id="18" name="Rounded Rectangle 17"/>
          <p:cNvSpPr/>
          <p:nvPr/>
        </p:nvSpPr>
        <p:spPr>
          <a:xfrm>
            <a:off x="7324344"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DAY3で学んだドライ／ウェットの方法で</a:t>
            </a:r>
          </a:p>
        </p:txBody>
      </p:sp>
      <p:sp>
        <p:nvSpPr>
          <p:cNvPr id="19" name="Right Arrow 18"/>
          <p:cNvSpPr/>
          <p:nvPr/>
        </p:nvSpPr>
        <p:spPr>
          <a:xfrm>
            <a:off x="9436608"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82912" y="2880360"/>
            <a:ext cx="2084831" cy="54864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⑤ 仮説と活動を直す</a:t>
            </a:r>
          </a:p>
        </p:txBody>
      </p:sp>
      <p:sp>
        <p:nvSpPr>
          <p:cNvPr id="21" name="Rounded Rectangle 20"/>
          <p:cNvSpPr/>
          <p:nvPr/>
        </p:nvSpPr>
        <p:spPr>
          <a:xfrm>
            <a:off x="9582912"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違っていたら、成功像や打ち手を修正する</a:t>
            </a:r>
          </a:p>
        </p:txBody>
      </p:sp>
      <p:cxnSp>
        <p:nvCxnSpPr>
          <p:cNvPr id="22" name="Connector 21"/>
          <p:cNvCxnSpPr/>
          <p:nvPr/>
        </p:nvCxnSpPr>
        <p:spPr>
          <a:xfrm>
            <a:off x="11548872" y="3931920"/>
            <a:ext cx="0" cy="932688"/>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4400" y="4864608"/>
            <a:ext cx="10634472" cy="0"/>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sp>
        <p:nvSpPr>
          <p:cNvPr id="24" name="Up Arrow 23"/>
          <p:cNvSpPr/>
          <p:nvPr/>
        </p:nvSpPr>
        <p:spPr>
          <a:xfrm>
            <a:off x="804672" y="3977639"/>
            <a:ext cx="219456" cy="914400"/>
          </a:xfrm>
          <a:prstGeom prst="up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4919472"/>
            <a:ext cx="4114800" cy="274320"/>
          </a:xfrm>
          <a:prstGeom prst="rect">
            <a:avLst/>
          </a:prstGeom>
          <a:noFill/>
        </p:spPr>
        <p:txBody>
          <a:bodyPr wrap="square" lIns="0" rIns="0" tIns="0" bIns="0" anchor="t">
            <a:spAutoFit/>
          </a:bodyPr>
          <a:lstStyle/>
          <a:p>
            <a:pPr algn="ctr"/>
            <a:r>
              <a:rPr sz="1050" b="1" i="0">
                <a:solidFill>
                  <a:srgbClr val="128A54"/>
                </a:solidFill>
                <a:latin typeface="Meiryo UI"/>
                <a:ea typeface="Meiryo UI"/>
              </a:rPr>
              <a:t>← 回しながら精度を上げる</a:t>
            </a:r>
          </a:p>
        </p:txBody>
      </p:sp>
      <p:sp>
        <p:nvSpPr>
          <p:cNvPr id="26" name="Rounded Rectangle 25"/>
          <p:cNvSpPr/>
          <p:nvPr/>
        </p:nvSpPr>
        <p:spPr>
          <a:xfrm>
            <a:off x="548640" y="5321808"/>
            <a:ext cx="11109960" cy="91440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500" b="1" i="0">
                <a:solidFill>
                  <a:srgbClr val="0B4F37"/>
                </a:solidFill>
                <a:latin typeface="Meiryo UI"/>
                <a:ea typeface="Meiryo UI"/>
              </a:rPr>
              <a:t>DAY3では「情報の取り方」を学びました。今日足すのは、「取りに行く理由」です。</a:t>
            </a:r>
          </a:p>
          <a:p>
            <a:pPr algn="ctr">
              <a:lnSpc>
                <a:spcPct val="125000"/>
              </a:lnSpc>
            </a:pPr>
            <a:r>
              <a:rPr sz="1250" b="0" i="0">
                <a:solidFill>
                  <a:srgbClr val="262626"/>
                </a:solidFill>
                <a:latin typeface="Meiryo UI"/>
                <a:ea typeface="Meiryo UI"/>
              </a:rPr>
              <a:t>範囲をどうしたいかというビジョンと、大学・基幹病院にどんな役割が要るかという仮説があるから、確かめるために情報を取りに行く。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戦略は、WIN-WIN の「重なり」にあります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DAY3の ROTF3「顧客の意思決定のニーズを正確に捉え、Win-Winの関係となる提案を行う」を、エリア規模でやります。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
        <p:nvSpPr>
          <p:cNvPr id="7" name="Oval 6"/>
          <p:cNvSpPr/>
          <p:nvPr/>
        </p:nvSpPr>
        <p:spPr>
          <a:xfrm>
            <a:off x="1417320" y="2011680"/>
            <a:ext cx="3291840" cy="3291840"/>
          </a:xfrm>
          <a:prstGeom prst="ellipse">
            <a:avLst/>
          </a:prstGeom>
          <a:solidFill>
            <a:srgbClr val="3B5C99">
              <a:alpha val="22000"/>
            </a:srgbClr>
          </a:solidFill>
          <a:ln w="2286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3246120" y="2011680"/>
            <a:ext cx="3291840" cy="3291840"/>
          </a:xfrm>
          <a:prstGeom prst="ellipse">
            <a:avLst/>
          </a:prstGeom>
          <a:solidFill>
            <a:srgbClr val="128A54">
              <a:alpha val="22000"/>
            </a:srgbClr>
          </a:solidFill>
          <a:ln w="2286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TextBox 8"/>
          <p:cNvSpPr txBox="1"/>
          <p:nvPr/>
        </p:nvSpPr>
        <p:spPr>
          <a:xfrm>
            <a:off x="1234440" y="2331720"/>
            <a:ext cx="1920240" cy="640080"/>
          </a:xfrm>
          <a:prstGeom prst="rect">
            <a:avLst/>
          </a:prstGeom>
          <a:noFill/>
        </p:spPr>
        <p:txBody>
          <a:bodyPr wrap="square" lIns="0" rIns="0" tIns="0" bIns="0" anchor="t">
            <a:spAutoFit/>
          </a:bodyPr>
          <a:lstStyle/>
          <a:p>
            <a:pPr algn="ctr">
              <a:lnSpc>
                <a:spcPct val="120000"/>
              </a:lnSpc>
            </a:pPr>
            <a:r>
              <a:rPr sz="1250" b="1" i="0">
                <a:solidFill>
                  <a:srgbClr val="1F3864"/>
                </a:solidFill>
                <a:latin typeface="Meiryo UI"/>
                <a:ea typeface="Meiryo UI"/>
              </a:rPr>
              <a:t>自分の範囲の
成功像</a:t>
            </a:r>
          </a:p>
        </p:txBody>
      </p:sp>
      <p:sp>
        <p:nvSpPr>
          <p:cNvPr id="10" name="TextBox 9"/>
          <p:cNvSpPr txBox="1"/>
          <p:nvPr/>
        </p:nvSpPr>
        <p:spPr>
          <a:xfrm>
            <a:off x="4800600" y="2331720"/>
            <a:ext cx="1920240" cy="640080"/>
          </a:xfrm>
          <a:prstGeom prst="rect">
            <a:avLst/>
          </a:prstGeom>
          <a:noFill/>
        </p:spPr>
        <p:txBody>
          <a:bodyPr wrap="square" lIns="0" rIns="0" tIns="0" bIns="0" anchor="t">
            <a:spAutoFit/>
          </a:bodyPr>
          <a:lstStyle/>
          <a:p>
            <a:pPr algn="ctr">
              <a:lnSpc>
                <a:spcPct val="120000"/>
              </a:lnSpc>
            </a:pPr>
            <a:r>
              <a:rPr sz="1250" b="1" i="0">
                <a:solidFill>
                  <a:srgbClr val="128A54"/>
                </a:solidFill>
                <a:latin typeface="Meiryo UI"/>
                <a:ea typeface="Meiryo UI"/>
              </a:rPr>
              <a:t>大学・医局が
したいこと</a:t>
            </a:r>
          </a:p>
        </p:txBody>
      </p:sp>
      <p:sp>
        <p:nvSpPr>
          <p:cNvPr id="11" name="TextBox 10"/>
          <p:cNvSpPr txBox="1"/>
          <p:nvPr/>
        </p:nvSpPr>
        <p:spPr>
          <a:xfrm>
            <a:off x="3383280" y="3246120"/>
            <a:ext cx="1188720" cy="822960"/>
          </a:xfrm>
          <a:prstGeom prst="rect">
            <a:avLst/>
          </a:prstGeom>
          <a:noFill/>
        </p:spPr>
        <p:txBody>
          <a:bodyPr wrap="square" lIns="0" rIns="0" tIns="0" bIns="0" anchor="t">
            <a:spAutoFit/>
          </a:bodyPr>
          <a:lstStyle/>
          <a:p>
            <a:pPr algn="ctr">
              <a:spcAft>
                <a:spcPts val="200"/>
              </a:spcAft>
            </a:pPr>
            <a:r>
              <a:rPr sz="1700" b="1" i="0">
                <a:solidFill>
                  <a:srgbClr val="C00000"/>
                </a:solidFill>
                <a:latin typeface="Meiryo UI"/>
                <a:ea typeface="Meiryo UI"/>
              </a:rPr>
              <a:t>戦略</a:t>
            </a:r>
          </a:p>
          <a:p>
            <a:pPr algn="ctr"/>
            <a:r>
              <a:rPr sz="1100" b="1" i="0">
                <a:solidFill>
                  <a:srgbClr val="C00000"/>
                </a:solidFill>
                <a:latin typeface="Meiryo UI"/>
                <a:ea typeface="Meiryo UI"/>
              </a:rPr>
              <a:t>の核</a:t>
            </a:r>
          </a:p>
        </p:txBody>
      </p:sp>
      <p:sp>
        <p:nvSpPr>
          <p:cNvPr id="12" name="TextBox 11"/>
          <p:cNvSpPr txBox="1"/>
          <p:nvPr/>
        </p:nvSpPr>
        <p:spPr>
          <a:xfrm>
            <a:off x="1417320" y="5440680"/>
            <a:ext cx="5120640" cy="320040"/>
          </a:xfrm>
          <a:prstGeom prst="rect">
            <a:avLst/>
          </a:prstGeom>
          <a:noFill/>
        </p:spPr>
        <p:txBody>
          <a:bodyPr wrap="square" lIns="0" rIns="0" tIns="0" bIns="0" anchor="t">
            <a:spAutoFit/>
          </a:bodyPr>
          <a:lstStyle/>
          <a:p>
            <a:pPr algn="ctr"/>
            <a:r>
              <a:rPr sz="1200" b="1" i="0">
                <a:solidFill>
                  <a:srgbClr val="0B4F37"/>
                </a:solidFill>
                <a:latin typeface="Meiryo UI"/>
                <a:ea typeface="Meiryo UI"/>
              </a:rPr>
              <a:t>重なりが大きいほど、打ち手は動きやすい</a:t>
            </a:r>
          </a:p>
        </p:txBody>
      </p:sp>
      <p:sp>
        <p:nvSpPr>
          <p:cNvPr id="13" name="Oval 12"/>
          <p:cNvSpPr/>
          <p:nvPr/>
        </p:nvSpPr>
        <p:spPr>
          <a:xfrm>
            <a:off x="6949440" y="212140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A</a:t>
            </a:r>
          </a:p>
        </p:txBody>
      </p:sp>
      <p:sp>
        <p:nvSpPr>
          <p:cNvPr id="14" name="Rounded Rectangle 13"/>
          <p:cNvSpPr/>
          <p:nvPr/>
        </p:nvSpPr>
        <p:spPr>
          <a:xfrm>
            <a:off x="7635240" y="201168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大学の要望に応えるだけ</a:t>
            </a:r>
          </a:p>
          <a:p>
            <a:pPr algn="l">
              <a:lnSpc>
                <a:spcPct val="120000"/>
              </a:lnSpc>
            </a:pPr>
            <a:r>
              <a:rPr sz="1050" b="0" i="0">
                <a:solidFill>
                  <a:srgbClr val="262626"/>
                </a:solidFill>
                <a:latin typeface="Meiryo UI"/>
                <a:ea typeface="Meiryo UI"/>
              </a:rPr>
              <a:t>大学はWIN。でも自分の範囲は変わらない。担当者の介入価値が見えない</a:t>
            </a:r>
          </a:p>
        </p:txBody>
      </p:sp>
      <p:sp>
        <p:nvSpPr>
          <p:cNvPr id="15" name="Oval 14"/>
          <p:cNvSpPr/>
          <p:nvPr/>
        </p:nvSpPr>
        <p:spPr>
          <a:xfrm>
            <a:off x="6949440" y="331012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B</a:t>
            </a:r>
          </a:p>
        </p:txBody>
      </p:sp>
      <p:sp>
        <p:nvSpPr>
          <p:cNvPr id="16" name="Rounded Rectangle 15"/>
          <p:cNvSpPr/>
          <p:nvPr/>
        </p:nvSpPr>
        <p:spPr>
          <a:xfrm>
            <a:off x="7635240" y="320040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自分の範囲の都合だけ</a:t>
            </a:r>
          </a:p>
          <a:p>
            <a:pPr algn="l">
              <a:lnSpc>
                <a:spcPct val="120000"/>
              </a:lnSpc>
            </a:pPr>
            <a:r>
              <a:rPr sz="1050" b="0" i="0">
                <a:solidFill>
                  <a:srgbClr val="262626"/>
                </a:solidFill>
                <a:latin typeface="Meiryo UI"/>
                <a:ea typeface="Meiryo UI"/>
              </a:rPr>
              <a:t>範囲としては正しい。でも医局にメリットがなく、動いてもらえない</a:t>
            </a:r>
          </a:p>
        </p:txBody>
      </p:sp>
      <p:sp>
        <p:nvSpPr>
          <p:cNvPr id="17" name="Oval 16"/>
          <p:cNvSpPr/>
          <p:nvPr/>
        </p:nvSpPr>
        <p:spPr>
          <a:xfrm>
            <a:off x="6949440" y="4498848"/>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C</a:t>
            </a:r>
          </a:p>
        </p:txBody>
      </p:sp>
      <p:sp>
        <p:nvSpPr>
          <p:cNvPr id="18" name="Rounded Rectangle 17"/>
          <p:cNvSpPr/>
          <p:nvPr/>
        </p:nvSpPr>
        <p:spPr>
          <a:xfrm>
            <a:off x="7635240" y="4389120"/>
            <a:ext cx="4023360" cy="1051560"/>
          </a:xfrm>
          <a:prstGeom prst="roundRect">
            <a:avLst>
              <a:gd name="adj" fmla="val 10000"/>
            </a:avLst>
          </a:prstGeom>
          <a:solidFill>
            <a:srgbClr val="FBECEC"/>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C00000"/>
                </a:solidFill>
                <a:latin typeface="Meiryo UI"/>
                <a:ea typeface="Meiryo UI"/>
              </a:rPr>
              <a:t>WIN-WIN　← ここが戦略</a:t>
            </a:r>
          </a:p>
          <a:p>
            <a:pPr algn="l">
              <a:lnSpc>
                <a:spcPct val="120000"/>
              </a:lnSpc>
            </a:pPr>
            <a:r>
              <a:rPr sz="1050" b="0" i="0">
                <a:solidFill>
                  <a:srgbClr val="262626"/>
                </a:solidFill>
                <a:latin typeface="Meiryo UI"/>
                <a:ea typeface="Meiryo UI"/>
              </a:rPr>
              <a:t>範囲の課題と、医局がしたいことが重なるところに打ち手を置く。だから相手も本気で動く</a:t>
            </a:r>
          </a:p>
        </p:txBody>
      </p:sp>
      <p:sp>
        <p:nvSpPr>
          <p:cNvPr id="19" name="Rounded Rectangle 18"/>
          <p:cNvSpPr/>
          <p:nvPr/>
        </p:nvSpPr>
        <p:spPr>
          <a:xfrm>
            <a:off x="548640" y="5852160"/>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実例：複数の大学がある地域で、一つの大学の要望に応えるのではなく、範囲の課題と両大学がやりたいことの重なりを見つけて共通の方向へ乗せた講演会。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医局は何をしたいのか／その影響力を、どう活かすか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691640"/>
            <a:ext cx="5486400" cy="5029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腎臓内科の医局が「したいこと」の例</a:t>
            </a:r>
          </a:p>
        </p:txBody>
      </p:sp>
      <p:sp>
        <p:nvSpPr>
          <p:cNvPr id="7" name="Rounded Rectangle 6"/>
          <p:cNvSpPr/>
          <p:nvPr/>
        </p:nvSpPr>
        <p:spPr>
          <a:xfrm>
            <a:off x="548640" y="2267712"/>
            <a:ext cx="5486400" cy="224028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800"/>
              </a:spcAft>
            </a:pPr>
            <a:r>
              <a:rPr sz="1200" b="0" i="0">
                <a:solidFill>
                  <a:srgbClr val="262626"/>
                </a:solidFill>
                <a:latin typeface="Meiryo UI"/>
                <a:ea typeface="Meiryo UI"/>
              </a:rPr>
              <a:t>・専門性の高い症例を集めたい（紹介を増やしたい）</a:t>
            </a:r>
          </a:p>
          <a:p>
            <a:pPr algn="l">
              <a:lnSpc>
                <a:spcPct val="120000"/>
              </a:lnSpc>
              <a:spcAft>
                <a:spcPts val="800"/>
              </a:spcAft>
            </a:pPr>
            <a:r>
              <a:rPr sz="1200" b="0" i="0">
                <a:solidFill>
                  <a:srgbClr val="262626"/>
                </a:solidFill>
                <a:latin typeface="Meiryo UI"/>
                <a:ea typeface="Meiryo UI"/>
              </a:rPr>
              <a:t>・若手・専攻医を増やしたい、育てたい</a:t>
            </a:r>
          </a:p>
          <a:p>
            <a:pPr algn="l">
              <a:lnSpc>
                <a:spcPct val="120000"/>
              </a:lnSpc>
              <a:spcAft>
                <a:spcPts val="800"/>
              </a:spcAft>
            </a:pPr>
            <a:r>
              <a:rPr sz="1200" b="0" i="0">
                <a:solidFill>
                  <a:srgbClr val="262626"/>
                </a:solidFill>
                <a:latin typeface="Meiryo UI"/>
                <a:ea typeface="Meiryo UI"/>
              </a:rPr>
              <a:t>・研究データを出したい・論文を書きたい</a:t>
            </a:r>
          </a:p>
          <a:p>
            <a:pPr algn="l">
              <a:lnSpc>
                <a:spcPct val="120000"/>
              </a:lnSpc>
              <a:spcAft>
                <a:spcPts val="800"/>
              </a:spcAft>
            </a:pPr>
            <a:r>
              <a:rPr sz="1200" b="0" i="0">
                <a:solidFill>
                  <a:srgbClr val="262626"/>
                </a:solidFill>
                <a:latin typeface="Meiryo UI"/>
                <a:ea typeface="Meiryo UI"/>
              </a:rPr>
              <a:t>・関連病院との連携を強めたい／派遣先を確保したい</a:t>
            </a:r>
          </a:p>
          <a:p>
            <a:pPr algn="l">
              <a:lnSpc>
                <a:spcPct val="120000"/>
              </a:lnSpc>
              <a:spcAft>
                <a:spcPts val="800"/>
              </a:spcAft>
            </a:pPr>
            <a:r>
              <a:rPr sz="1200" b="0" i="0">
                <a:solidFill>
                  <a:srgbClr val="262626"/>
                </a:solidFill>
                <a:latin typeface="Meiryo UI"/>
                <a:ea typeface="Meiryo UI"/>
              </a:rPr>
              <a:t>・県内・地域での存在感を高めたい</a:t>
            </a:r>
          </a:p>
          <a:p>
            <a:pPr algn="l">
              <a:lnSpc>
                <a:spcPct val="120000"/>
              </a:lnSpc>
              <a:spcAft>
                <a:spcPts val="800"/>
              </a:spcAft>
            </a:pPr>
            <a:r>
              <a:rPr sz="1200" b="0" i="0">
                <a:solidFill>
                  <a:srgbClr val="262626"/>
                </a:solidFill>
                <a:latin typeface="Meiryo UI"/>
                <a:ea typeface="Meiryo UI"/>
              </a:rPr>
              <a:t>・学会・研究会で発信したい</a:t>
            </a:r>
          </a:p>
        </p:txBody>
      </p:sp>
      <p:sp>
        <p:nvSpPr>
          <p:cNvPr id="8" name="Rounded Rectangle 7"/>
          <p:cNvSpPr/>
          <p:nvPr/>
        </p:nvSpPr>
        <p:spPr>
          <a:xfrm>
            <a:off x="548640" y="4599432"/>
            <a:ext cx="5486400" cy="73152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0B4F37"/>
                </a:solidFill>
                <a:latin typeface="Meiryo UI"/>
                <a:ea typeface="Meiryo UI"/>
              </a:rPr>
              <a:t>DAY1で見た「HSのニーズ」そのものです。</a:t>
            </a:r>
          </a:p>
          <a:p>
            <a:pPr algn="ctr"/>
            <a:r>
              <a:rPr sz="1150" b="0" i="0">
                <a:solidFill>
                  <a:srgbClr val="262626"/>
                </a:solidFill>
                <a:latin typeface="Meiryo UI"/>
                <a:ea typeface="Meiryo UI"/>
              </a:rPr>
              <a:t>「先生が困っていること」だけでなく「先生がやりたいこと」を聞く。</a:t>
            </a:r>
          </a:p>
        </p:txBody>
      </p:sp>
      <p:sp>
        <p:nvSpPr>
          <p:cNvPr id="9" name="Rounded Rectangle 8"/>
          <p:cNvSpPr/>
          <p:nvPr/>
        </p:nvSpPr>
        <p:spPr>
          <a:xfrm>
            <a:off x="6172200" y="1691640"/>
            <a:ext cx="5486400" cy="5029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影響力の活かし方 ＝ 誰に × 何を × どこまで</a:t>
            </a:r>
          </a:p>
        </p:txBody>
      </p:sp>
      <p:sp>
        <p:nvSpPr>
          <p:cNvPr id="10" name="Rounded Rectangle 9"/>
          <p:cNvSpPr/>
          <p:nvPr/>
        </p:nvSpPr>
        <p:spPr>
          <a:xfrm>
            <a:off x="6172200" y="2267712"/>
            <a:ext cx="1371600" cy="6858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誰に</a:t>
            </a:r>
          </a:p>
        </p:txBody>
      </p:sp>
      <p:sp>
        <p:nvSpPr>
          <p:cNvPr id="11" name="Rounded Rectangle 10"/>
          <p:cNvSpPr/>
          <p:nvPr/>
        </p:nvSpPr>
        <p:spPr>
          <a:xfrm>
            <a:off x="7635240" y="226771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F3864"/>
                </a:solidFill>
                <a:latin typeface="Meiryo UI"/>
                <a:ea typeface="Meiryo UI"/>
              </a:rPr>
              <a:t>影響力を持つのは誰か</a:t>
            </a:r>
          </a:p>
          <a:p>
            <a:pPr algn="l">
              <a:lnSpc>
                <a:spcPct val="115000"/>
              </a:lnSpc>
            </a:pPr>
            <a:r>
              <a:rPr sz="1050" b="0" i="0">
                <a:solidFill>
                  <a:srgbClr val="262626"/>
                </a:solidFill>
                <a:latin typeface="Meiryo UI"/>
                <a:ea typeface="Meiryo UI"/>
              </a:rPr>
              <a:t>教授／医局長／若手／連携の要。キーパーソンは1人とは限らない</a:t>
            </a:r>
          </a:p>
        </p:txBody>
      </p:sp>
      <p:sp>
        <p:nvSpPr>
          <p:cNvPr id="12" name="Rounded Rectangle 11"/>
          <p:cNvSpPr/>
          <p:nvPr/>
        </p:nvSpPr>
        <p:spPr>
          <a:xfrm>
            <a:off x="6172200" y="3044952"/>
            <a:ext cx="1371600" cy="6858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何を</a:t>
            </a:r>
          </a:p>
        </p:txBody>
      </p:sp>
      <p:sp>
        <p:nvSpPr>
          <p:cNvPr id="13" name="Rounded Rectangle 12"/>
          <p:cNvSpPr/>
          <p:nvPr/>
        </p:nvSpPr>
        <p:spPr>
          <a:xfrm>
            <a:off x="7635240" y="304495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B86A00"/>
                </a:solidFill>
                <a:latin typeface="Meiryo UI"/>
                <a:ea typeface="Meiryo UI"/>
              </a:rPr>
              <a:t>どの機能を動かすか</a:t>
            </a:r>
          </a:p>
          <a:p>
            <a:pPr algn="l">
              <a:lnSpc>
                <a:spcPct val="115000"/>
              </a:lnSpc>
            </a:pPr>
            <a:r>
              <a:rPr sz="1050" b="0" i="0">
                <a:solidFill>
                  <a:srgbClr val="262626"/>
                </a:solidFill>
                <a:latin typeface="Meiryo UI"/>
                <a:ea typeface="Meiryo UI"/>
              </a:rPr>
              <a:t>教育・研究・臨床・医局人事・医師派遣・情報発信・講演会から選ぶ</a:t>
            </a:r>
          </a:p>
        </p:txBody>
      </p:sp>
      <p:sp>
        <p:nvSpPr>
          <p:cNvPr id="14" name="Rounded Rectangle 13"/>
          <p:cNvSpPr/>
          <p:nvPr/>
        </p:nvSpPr>
        <p:spPr>
          <a:xfrm>
            <a:off x="6172200" y="3822191"/>
            <a:ext cx="1371600" cy="6858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どこまで</a:t>
            </a:r>
          </a:p>
        </p:txBody>
      </p:sp>
      <p:sp>
        <p:nvSpPr>
          <p:cNvPr id="15" name="Rounded Rectangle 14"/>
          <p:cNvSpPr/>
          <p:nvPr/>
        </p:nvSpPr>
        <p:spPr>
          <a:xfrm>
            <a:off x="7635240" y="3822191"/>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28A54"/>
                </a:solidFill>
                <a:latin typeface="Meiryo UI"/>
                <a:ea typeface="Meiryo UI"/>
              </a:rPr>
              <a:t>影響をどこへ届けるか</a:t>
            </a:r>
          </a:p>
          <a:p>
            <a:pPr algn="l">
              <a:lnSpc>
                <a:spcPct val="115000"/>
              </a:lnSpc>
            </a:pPr>
            <a:r>
              <a:rPr sz="1050" b="0" i="0">
                <a:solidFill>
                  <a:srgbClr val="262626"/>
                </a:solidFill>
                <a:latin typeface="Meiryo UI"/>
                <a:ea typeface="Meiryo UI"/>
              </a:rPr>
              <a:t>施設内／関連病院／担当範囲／営業所・広域。どこまで届かせたいかを先に決める</a:t>
            </a:r>
          </a:p>
        </p:txBody>
      </p:sp>
      <p:sp>
        <p:nvSpPr>
          <p:cNvPr id="16" name="Rounded Rectangle 15"/>
          <p:cNvSpPr/>
          <p:nvPr/>
        </p:nvSpPr>
        <p:spPr>
          <a:xfrm>
            <a:off x="6172200" y="4599432"/>
            <a:ext cx="5486400" cy="73152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C00000"/>
                </a:solidFill>
                <a:latin typeface="Meiryo UI"/>
                <a:ea typeface="Meiryo UI"/>
              </a:rPr>
              <a:t>大学に固執しない。大学は「1施設」。</a:t>
            </a:r>
          </a:p>
          <a:p>
            <a:pPr algn="ctr"/>
            <a:r>
              <a:rPr sz="1150" b="0" i="0">
                <a:solidFill>
                  <a:srgbClr val="262626"/>
                </a:solidFill>
                <a:latin typeface="Meiryo UI"/>
                <a:ea typeface="Meiryo UI"/>
              </a:rPr>
              <a:t>その1施設が持つ影響力を、範囲のどこに効かせるかを設計します。</a:t>
            </a:r>
          </a:p>
        </p:txBody>
      </p:sp>
      <p:sp>
        <p:nvSpPr>
          <p:cNvPr id="17" name="Rounded Rectangle 16"/>
          <p:cNvSpPr/>
          <p:nvPr/>
        </p:nvSpPr>
        <p:spPr>
          <a:xfrm>
            <a:off x="548640" y="5468112"/>
            <a:ext cx="11109960" cy="8229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00" b="1" i="0">
                <a:solidFill>
                  <a:srgbClr val="0B4F37"/>
                </a:solidFill>
                <a:latin typeface="Meiryo UI"/>
                <a:ea typeface="Meiryo UI"/>
              </a:rPr>
              <a:t>問いはシンプルです。</a:t>
            </a:r>
            <a:r>
              <a:rPr sz="1500" b="1" i="0">
                <a:solidFill>
                  <a:srgbClr val="C00000"/>
                </a:solidFill>
                <a:latin typeface="Meiryo UI"/>
                <a:ea typeface="Meiryo UI"/>
              </a:rPr>
              <a:t>「先生がやりたいこと」を叶えながら、「私の範囲の課題」も同時に解ける打ち手は何か？</a:t>
            </a:r>
          </a:p>
          <a:p>
            <a:pPr algn="ctr"/>
            <a:r>
              <a:rPr sz="1250" b="0" i="0">
                <a:solidFill>
                  <a:srgbClr val="262626"/>
                </a:solidFill>
                <a:latin typeface="Meiryo UI"/>
                <a:ea typeface="Meiryo UI"/>
              </a:rPr>
              <a:t>これが見つかれば、お願いする活動ではなく、一緒にやる活動になります。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言語化する — 4つの問い ＋ 3</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プロジェクトの到達目標「成功像・現状・課題・解決法を言語化できる」を、問いの形にしました。</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7" name="Rounded Rectangle 6"/>
          <p:cNvSpPr/>
          <p:nvPr/>
        </p:nvSpPr>
        <p:spPr>
          <a:xfrm>
            <a:off x="548640" y="1874519"/>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① 成功像</a:t>
            </a:r>
          </a:p>
        </p:txBody>
      </p:sp>
      <p:sp>
        <p:nvSpPr>
          <p:cNvPr id="8" name="Rounded Rectangle 7"/>
          <p:cNvSpPr/>
          <p:nvPr/>
        </p:nvSpPr>
        <p:spPr>
          <a:xfrm>
            <a:off x="548640" y="2331720"/>
            <a:ext cx="5486400" cy="74980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任された範囲が、どうなっていたら最高ですか？</a:t>
            </a:r>
          </a:p>
        </p:txBody>
      </p:sp>
      <p:sp>
        <p:nvSpPr>
          <p:cNvPr id="9" name="Rounded Rectangle 8"/>
          <p:cNvSpPr/>
          <p:nvPr/>
        </p:nvSpPr>
        <p:spPr>
          <a:xfrm>
            <a:off x="6172200" y="1874519"/>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② 現状・課題</a:t>
            </a:r>
          </a:p>
        </p:txBody>
      </p:sp>
      <p:sp>
        <p:nvSpPr>
          <p:cNvPr id="10" name="Rounded Rectangle 9"/>
          <p:cNvSpPr/>
          <p:nvPr/>
        </p:nvSpPr>
        <p:spPr>
          <a:xfrm>
            <a:off x="6172200" y="2331720"/>
            <a:ext cx="5486400" cy="74980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いま、その理想とどこがどう違いますか？</a:t>
            </a:r>
          </a:p>
        </p:txBody>
      </p:sp>
      <p:sp>
        <p:nvSpPr>
          <p:cNvPr id="11" name="Rounded Rectangle 10"/>
          <p:cNvSpPr/>
          <p:nvPr/>
        </p:nvSpPr>
        <p:spPr>
          <a:xfrm>
            <a:off x="548640" y="315468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③ 原因</a:t>
            </a:r>
          </a:p>
        </p:txBody>
      </p:sp>
      <p:sp>
        <p:nvSpPr>
          <p:cNvPr id="12" name="Rounded Rectangle 11"/>
          <p:cNvSpPr/>
          <p:nvPr/>
        </p:nvSpPr>
        <p:spPr>
          <a:xfrm>
            <a:off x="548640" y="3611880"/>
            <a:ext cx="5486400" cy="74980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なぜ、そのギャップが生まれていますか？</a:t>
            </a:r>
          </a:p>
        </p:txBody>
      </p:sp>
      <p:sp>
        <p:nvSpPr>
          <p:cNvPr id="13" name="Rounded Rectangle 12"/>
          <p:cNvSpPr/>
          <p:nvPr/>
        </p:nvSpPr>
        <p:spPr>
          <a:xfrm>
            <a:off x="6172200" y="315468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④ 解決法</a:t>
            </a:r>
          </a:p>
        </p:txBody>
      </p:sp>
      <p:sp>
        <p:nvSpPr>
          <p:cNvPr id="14" name="Rounded Rectangle 13"/>
          <p:cNvSpPr/>
          <p:nvPr/>
        </p:nvSpPr>
        <p:spPr>
          <a:xfrm>
            <a:off x="6172200" y="3611880"/>
            <a:ext cx="5486400" cy="74980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そのギャップを埋めるために、何を起こしますか？</a:t>
            </a:r>
          </a:p>
        </p:txBody>
      </p:sp>
      <p:sp>
        <p:nvSpPr>
          <p:cNvPr id="15" name="Rounded Rectangle 14"/>
          <p:cNvSpPr/>
          <p:nvPr/>
        </p:nvSpPr>
        <p:spPr>
          <a:xfrm>
            <a:off x="548640"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大学・医局のWIN</a:t>
            </a:r>
          </a:p>
        </p:txBody>
      </p:sp>
      <p:sp>
        <p:nvSpPr>
          <p:cNvPr id="16" name="Rounded Rectangle 15"/>
          <p:cNvSpPr/>
          <p:nvPr/>
        </p:nvSpPr>
        <p:spPr>
          <a:xfrm>
            <a:off x="548640"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相手は、何をしたいのですか？</a:t>
            </a:r>
          </a:p>
        </p:txBody>
      </p:sp>
      <p:sp>
        <p:nvSpPr>
          <p:cNvPr id="17" name="Rounded Rectangle 16"/>
          <p:cNvSpPr/>
          <p:nvPr/>
        </p:nvSpPr>
        <p:spPr>
          <a:xfrm>
            <a:off x="4288536"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使う機能・影響力</a:t>
            </a:r>
          </a:p>
        </p:txBody>
      </p:sp>
      <p:sp>
        <p:nvSpPr>
          <p:cNvPr id="18" name="Rounded Rectangle 17"/>
          <p:cNvSpPr/>
          <p:nvPr/>
        </p:nvSpPr>
        <p:spPr>
          <a:xfrm>
            <a:off x="4288536"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誰に・何を・どこまで効かせますか？</a:t>
            </a:r>
          </a:p>
        </p:txBody>
      </p:sp>
      <p:sp>
        <p:nvSpPr>
          <p:cNvPr id="19" name="Rounded Rectangle 18"/>
          <p:cNvSpPr/>
          <p:nvPr/>
        </p:nvSpPr>
        <p:spPr>
          <a:xfrm>
            <a:off x="8028431"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自分の介入点</a:t>
            </a:r>
          </a:p>
        </p:txBody>
      </p:sp>
      <p:sp>
        <p:nvSpPr>
          <p:cNvPr id="20" name="Rounded Rectangle 19"/>
          <p:cNvSpPr/>
          <p:nvPr/>
        </p:nvSpPr>
        <p:spPr>
          <a:xfrm>
            <a:off x="8028431"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自分にしかできないことは何ですか？</a:t>
            </a:r>
          </a:p>
        </p:txBody>
      </p:sp>
      <p:sp>
        <p:nvSpPr>
          <p:cNvPr id="21" name="Rounded Rectangle 20"/>
          <p:cNvSpPr/>
          <p:nvPr/>
        </p:nvSpPr>
        <p:spPr>
          <a:xfrm>
            <a:off x="548640" y="5532120"/>
            <a:ext cx="11109960" cy="77724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300" b="1" i="0">
                <a:solidFill>
                  <a:srgbClr val="0B4F37"/>
                </a:solidFill>
                <a:latin typeface="Meiryo UI"/>
                <a:ea typeface="Meiryo UI"/>
              </a:rPr>
              <a:t>①〜④が「自分の範囲をどうしたいか」、＋3が「そのために誰の・どの影響力を、どう活かすか」。</a:t>
            </a:r>
          </a:p>
          <a:p>
            <a:pPr algn="ctr">
              <a:lnSpc>
                <a:spcPct val="120000"/>
              </a:lnSpc>
            </a:pPr>
            <a:r>
              <a:rPr sz="1250" b="1" i="0">
                <a:solidFill>
                  <a:srgbClr val="C00000"/>
                </a:solidFill>
                <a:latin typeface="Meiryo UI"/>
                <a:ea typeface="Meiryo UI"/>
              </a:rPr>
              <a:t>形式は自由です。</a:t>
            </a:r>
            <a:r>
              <a:rPr sz="1200" b="0" i="0">
                <a:solidFill>
                  <a:srgbClr val="262626"/>
                </a:solidFill>
                <a:latin typeface="Meiryo UI"/>
                <a:ea typeface="Meiryo UI"/>
              </a:rPr>
              <a:t>箇条書きでも絵への書き込みでも構いません（整理の一例として「4Sシート」を付録Bに用意）。整ったシートより、「なぜ重要か」を説明できることが大切です。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言語化の例：複数の大学がある地域（架空の例）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4592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成功像</a:t>
            </a:r>
          </a:p>
        </p:txBody>
      </p:sp>
      <p:sp>
        <p:nvSpPr>
          <p:cNvPr id="7" name="Rounded Rectangle 6"/>
          <p:cNvSpPr/>
          <p:nvPr/>
        </p:nvSpPr>
        <p:spPr>
          <a:xfrm>
            <a:off x="548640" y="2093976"/>
            <a:ext cx="5486400" cy="84124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範囲の基幹病院でも専門治療が必要な患者さんが適切に見極められ、必要な患者さんが大学に集まっている。</a:t>
            </a:r>
          </a:p>
        </p:txBody>
      </p:sp>
      <p:sp>
        <p:nvSpPr>
          <p:cNvPr id="8" name="Rounded Rectangle 7"/>
          <p:cNvSpPr/>
          <p:nvPr/>
        </p:nvSpPr>
        <p:spPr>
          <a:xfrm>
            <a:off x="6172200" y="164592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現状・課題</a:t>
            </a:r>
          </a:p>
        </p:txBody>
      </p:sp>
      <p:sp>
        <p:nvSpPr>
          <p:cNvPr id="9" name="Rounded Rectangle 8"/>
          <p:cNvSpPr/>
          <p:nvPr/>
        </p:nvSpPr>
        <p:spPr>
          <a:xfrm>
            <a:off x="6172200" y="2093976"/>
            <a:ext cx="5486400" cy="84124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基幹病院ごとに判断がばらつく。A大学とB大学で治療方針の温度差があり、両大学の関連病院の先生が迷っている。</a:t>
            </a:r>
          </a:p>
        </p:txBody>
      </p:sp>
      <p:sp>
        <p:nvSpPr>
          <p:cNvPr id="10" name="Rounded Rectangle 9"/>
          <p:cNvSpPr/>
          <p:nvPr/>
        </p:nvSpPr>
        <p:spPr>
          <a:xfrm>
            <a:off x="548640" y="29718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原因</a:t>
            </a:r>
          </a:p>
        </p:txBody>
      </p:sp>
      <p:sp>
        <p:nvSpPr>
          <p:cNvPr id="11" name="Rounded Rectangle 10"/>
          <p:cNvSpPr/>
          <p:nvPr/>
        </p:nvSpPr>
        <p:spPr>
          <a:xfrm>
            <a:off x="548640" y="3419856"/>
            <a:ext cx="5486400" cy="84124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なぜばらつく？→判断の目安が共有されていない →なぜ？→範囲共通の基準がない →なぜ？→両大学と基幹病院が同じ場で話す機会がない。</a:t>
            </a:r>
          </a:p>
        </p:txBody>
      </p:sp>
      <p:sp>
        <p:nvSpPr>
          <p:cNvPr id="12" name="Rounded Rectangle 11"/>
          <p:cNvSpPr/>
          <p:nvPr/>
        </p:nvSpPr>
        <p:spPr>
          <a:xfrm>
            <a:off x="6172200" y="29718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④ 解決法</a:t>
            </a:r>
          </a:p>
        </p:txBody>
      </p:sp>
      <p:sp>
        <p:nvSpPr>
          <p:cNvPr id="13" name="Rounded Rectangle 12"/>
          <p:cNvSpPr/>
          <p:nvPr/>
        </p:nvSpPr>
        <p:spPr>
          <a:xfrm>
            <a:off x="6172200" y="3419856"/>
            <a:ext cx="5486400" cy="84124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両大学と主要な基幹病院が同席する会を企画し、範囲共通の判断の目安を、両大学の連名で発信してもらう。</a:t>
            </a:r>
          </a:p>
        </p:txBody>
      </p:sp>
      <p:sp>
        <p:nvSpPr>
          <p:cNvPr id="14" name="Rounded Rectangle 13"/>
          <p:cNvSpPr/>
          <p:nvPr/>
        </p:nvSpPr>
        <p:spPr>
          <a:xfrm>
            <a:off x="548640" y="4279392"/>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大学・医局のWIN</a:t>
            </a:r>
          </a:p>
        </p:txBody>
      </p:sp>
      <p:sp>
        <p:nvSpPr>
          <p:cNvPr id="15" name="Rounded Rectangle 14"/>
          <p:cNvSpPr/>
          <p:nvPr/>
        </p:nvSpPr>
        <p:spPr>
          <a:xfrm>
            <a:off x="3429000" y="4279392"/>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A大学＝県内での存在感を高めたい／B大学＝関連病院との連携を強めたい　→ どちらも「関連病院に発信する場」を求めていた</a:t>
            </a:r>
          </a:p>
        </p:txBody>
      </p:sp>
      <p:sp>
        <p:nvSpPr>
          <p:cNvPr id="16" name="Rounded Rectangle 15"/>
          <p:cNvSpPr/>
          <p:nvPr/>
        </p:nvSpPr>
        <p:spPr>
          <a:xfrm>
            <a:off x="548640" y="4791456"/>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使う機能・影響力</a:t>
            </a:r>
          </a:p>
        </p:txBody>
      </p:sp>
      <p:sp>
        <p:nvSpPr>
          <p:cNvPr id="17" name="Rounded Rectangle 16"/>
          <p:cNvSpPr/>
          <p:nvPr/>
        </p:nvSpPr>
        <p:spPr>
          <a:xfrm>
            <a:off x="3429000" y="4791456"/>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誰に＝両大学の教授と医局長／何を＝情報発信と講演会／どこまで＝範囲の基幹病院まで</a:t>
            </a:r>
          </a:p>
        </p:txBody>
      </p:sp>
      <p:sp>
        <p:nvSpPr>
          <p:cNvPr id="18" name="Rounded Rectangle 17"/>
          <p:cNvSpPr/>
          <p:nvPr/>
        </p:nvSpPr>
        <p:spPr>
          <a:xfrm>
            <a:off x="548640" y="5303520"/>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自分の介入点</a:t>
            </a:r>
          </a:p>
        </p:txBody>
      </p:sp>
      <p:sp>
        <p:nvSpPr>
          <p:cNvPr id="19" name="Rounded Rectangle 18"/>
          <p:cNvSpPr/>
          <p:nvPr/>
        </p:nvSpPr>
        <p:spPr>
          <a:xfrm>
            <a:off x="3429000" y="5303520"/>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両大学の関係性を踏まえた会の設計と、両医局長への事前相談は、範囲全体を見ている自分にしかできない</a:t>
            </a:r>
          </a:p>
        </p:txBody>
      </p:sp>
      <p:sp>
        <p:nvSpPr>
          <p:cNvPr id="20" name="Rounded Rectangle 19"/>
          <p:cNvSpPr/>
          <p:nvPr/>
        </p:nvSpPr>
        <p:spPr>
          <a:xfrm>
            <a:off x="548640" y="5870448"/>
            <a:ext cx="11109960" cy="457200"/>
          </a:xfrm>
          <a:prstGeom prst="roundRect">
            <a:avLst>
              <a:gd name="adj" fmla="val 15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C00000"/>
                </a:solidFill>
                <a:latin typeface="Meiryo UI"/>
                <a:ea typeface="Meiryo UI"/>
              </a:rPr>
              <a:t>注目：この会は「大学から頼まれた会」でも「こちらの都合の会」でもありません。</a:t>
            </a:r>
            <a:r>
              <a:rPr sz="1200" b="1" i="0">
                <a:solidFill>
                  <a:srgbClr val="262626"/>
                </a:solidFill>
                <a:latin typeface="Meiryo UI"/>
                <a:ea typeface="Meiryo UI"/>
              </a:rPr>
              <a:t>範囲の課題と、両大学がしたいことの重なりに置いた会です。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自分の範囲を、4つの問いで言語化する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Rounded Rectangle 5"/>
          <p:cNvSpPr/>
          <p:nvPr/>
        </p:nvSpPr>
        <p:spPr>
          <a:xfrm>
            <a:off x="548640" y="1645920"/>
            <a:ext cx="7360920" cy="713232"/>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さきほど描いた絵を横に置いて、範囲の戦略を言葉にします。完璧でなくて構いません。</a:t>
            </a:r>
          </a:p>
        </p:txBody>
      </p:sp>
      <p:sp>
        <p:nvSpPr>
          <p:cNvPr id="7" name="Oval 6"/>
          <p:cNvSpPr/>
          <p:nvPr/>
        </p:nvSpPr>
        <p:spPr>
          <a:xfrm>
            <a:off x="548640" y="251460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8" name="Rounded Rectangle 7"/>
          <p:cNvSpPr/>
          <p:nvPr/>
        </p:nvSpPr>
        <p:spPr>
          <a:xfrm>
            <a:off x="1371600" y="251460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① 成功像 ② 現状・課題</a:t>
            </a:r>
          </a:p>
          <a:p>
            <a:pPr algn="l">
              <a:lnSpc>
                <a:spcPct val="115000"/>
              </a:lnSpc>
            </a:pPr>
            <a:r>
              <a:rPr sz="1050" b="0" i="0">
                <a:solidFill>
                  <a:srgbClr val="262626"/>
                </a:solidFill>
                <a:latin typeface="Meiryo UI"/>
                <a:ea typeface="Meiryo UI"/>
              </a:rPr>
              <a:t>絵を見ながら「範囲がどうなっていたら最高か」から書く</a:t>
            </a:r>
          </a:p>
        </p:txBody>
      </p:sp>
      <p:sp>
        <p:nvSpPr>
          <p:cNvPr id="9" name="Oval 8"/>
          <p:cNvSpPr/>
          <p:nvPr/>
        </p:nvSpPr>
        <p:spPr>
          <a:xfrm>
            <a:off x="548640" y="329184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0" name="Rounded Rectangle 9"/>
          <p:cNvSpPr/>
          <p:nvPr/>
        </p:nvSpPr>
        <p:spPr>
          <a:xfrm>
            <a:off x="1371600" y="329184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③ 原因 ＋ 大学・医局のWIN</a:t>
            </a:r>
          </a:p>
          <a:p>
            <a:pPr algn="l">
              <a:lnSpc>
                <a:spcPct val="115000"/>
              </a:lnSpc>
            </a:pPr>
            <a:r>
              <a:rPr sz="1050" b="0" i="0">
                <a:solidFill>
                  <a:srgbClr val="262626"/>
                </a:solidFill>
                <a:latin typeface="Meiryo UI"/>
                <a:ea typeface="Meiryo UI"/>
              </a:rPr>
              <a:t>なぜ？を3回。あわせて「相手は何をしたいか」も書き出す</a:t>
            </a:r>
          </a:p>
        </p:txBody>
      </p:sp>
      <p:sp>
        <p:nvSpPr>
          <p:cNvPr id="11" name="Oval 10"/>
          <p:cNvSpPr/>
          <p:nvPr/>
        </p:nvSpPr>
        <p:spPr>
          <a:xfrm>
            <a:off x="548640" y="406908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4分</a:t>
            </a:r>
          </a:p>
        </p:txBody>
      </p:sp>
      <p:sp>
        <p:nvSpPr>
          <p:cNvPr id="12" name="Rounded Rectangle 11"/>
          <p:cNvSpPr/>
          <p:nvPr/>
        </p:nvSpPr>
        <p:spPr>
          <a:xfrm>
            <a:off x="1371600" y="406908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④ 解決法 ＋ 影響力・介入点</a:t>
            </a:r>
          </a:p>
          <a:p>
            <a:pPr algn="l">
              <a:lnSpc>
                <a:spcPct val="115000"/>
              </a:lnSpc>
            </a:pPr>
            <a:r>
              <a:rPr sz="1050" b="0" i="0">
                <a:solidFill>
                  <a:srgbClr val="262626"/>
                </a:solidFill>
                <a:latin typeface="Meiryo UI"/>
                <a:ea typeface="Meiryo UI"/>
              </a:rPr>
              <a:t>2つのWINが重なる打ち手は何か。誰に・何を・どこまで効かせるか</a:t>
            </a:r>
          </a:p>
        </p:txBody>
      </p:sp>
      <p:sp>
        <p:nvSpPr>
          <p:cNvPr id="13" name="Rounded Rectangle 12"/>
          <p:cNvSpPr/>
          <p:nvPr/>
        </p:nvSpPr>
        <p:spPr>
          <a:xfrm>
            <a:off x="548640" y="4892040"/>
            <a:ext cx="7360920" cy="132588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1700" b="1" i="0">
                <a:solidFill>
                  <a:srgbClr val="C00000"/>
                </a:solidFill>
                <a:latin typeface="Meiryo UI"/>
                <a:ea typeface="Meiryo UI"/>
              </a:rPr>
              <a:t>合言葉：整った戦略より、語れる戦略。</a:t>
            </a:r>
          </a:p>
          <a:p>
            <a:pPr algn="l">
              <a:lnSpc>
                <a:spcPct val="125000"/>
              </a:lnSpc>
            </a:pPr>
            <a:r>
              <a:rPr sz="1150" b="0" i="0">
                <a:solidFill>
                  <a:srgbClr val="262626"/>
                </a:solidFill>
                <a:latin typeface="Meiryo UI"/>
                <a:ea typeface="Meiryo UI"/>
              </a:rPr>
              <a:t>空欄があってもかまいません。偏っていてもかまいません。1つでも「これが重要だ」と言い切れるものがあれば、今日は成功です。</a:t>
            </a:r>
          </a:p>
        </p:txBody>
      </p:sp>
      <p:sp>
        <p:nvSpPr>
          <p:cNvPr id="14" name="Rounded Rectangle 13"/>
          <p:cNvSpPr/>
          <p:nvPr/>
        </p:nvSpPr>
        <p:spPr>
          <a:xfrm>
            <a:off x="8138160" y="1645920"/>
            <a:ext cx="3520440" cy="4572000"/>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200"/>
              </a:spcAft>
            </a:pPr>
            <a:r>
              <a:rPr sz="1450" b="1" i="0">
                <a:solidFill>
                  <a:srgbClr val="FFFFFF"/>
                </a:solidFill>
                <a:latin typeface="Meiryo UI"/>
                <a:ea typeface="Meiryo UI"/>
              </a:rPr>
              <a:t>手が止まったら</a:t>
            </a:r>
          </a:p>
          <a:p>
            <a:pPr algn="l">
              <a:lnSpc>
                <a:spcPct val="125000"/>
              </a:lnSpc>
              <a:spcAft>
                <a:spcPts val="1000"/>
              </a:spcAft>
            </a:pPr>
            <a:r>
              <a:rPr sz="1150" b="0" i="0">
                <a:solidFill>
                  <a:srgbClr val="FFFFFF"/>
                </a:solidFill>
                <a:latin typeface="Meiryo UI"/>
                <a:ea typeface="Meiryo UI"/>
              </a:rPr>
              <a:t>・成功像が出ない →「1年後、上司に自慢したい範囲の姿」を想像する</a:t>
            </a:r>
          </a:p>
          <a:p>
            <a:pPr algn="l">
              <a:lnSpc>
                <a:spcPct val="125000"/>
              </a:lnSpc>
              <a:spcAft>
                <a:spcPts val="1000"/>
              </a:spcAft>
            </a:pPr>
            <a:r>
              <a:rPr sz="1150" b="0" i="0">
                <a:solidFill>
                  <a:srgbClr val="FFFFFF"/>
                </a:solidFill>
                <a:latin typeface="Meiryo UI"/>
                <a:ea typeface="Meiryo UI"/>
              </a:rPr>
              <a:t>・課題が出ない → 絵の中で詰まっている線を探す（紹介・人事・情報）</a:t>
            </a:r>
          </a:p>
          <a:p>
            <a:pPr algn="l">
              <a:lnSpc>
                <a:spcPct val="125000"/>
              </a:lnSpc>
              <a:spcAft>
                <a:spcPts val="1000"/>
              </a:spcAft>
            </a:pPr>
            <a:r>
              <a:rPr sz="1150" b="0" i="0">
                <a:solidFill>
                  <a:srgbClr val="FFFFFF"/>
                </a:solidFill>
                <a:latin typeface="Meiryo UI"/>
                <a:ea typeface="Meiryo UI"/>
              </a:rPr>
              <a:t>・相手のWINが分からない → それが次に聞きに行くこと。「先生は今、何をやりたいですか？」</a:t>
            </a:r>
          </a:p>
          <a:p>
            <a:pPr algn="l">
              <a:lnSpc>
                <a:spcPct val="125000"/>
              </a:lnSpc>
            </a:pPr>
            <a:r>
              <a:rPr sz="1150" b="0" i="0">
                <a:solidFill>
                  <a:srgbClr val="FFFFFF"/>
                </a:solidFill>
                <a:latin typeface="Meiryo UI"/>
                <a:ea typeface="Meiryo UI"/>
              </a:rPr>
              <a:t>・役割が決まらない → 大学の7つの機能に戻り、必要なものを1つだけ選ぶ</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②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共有：グループで、自由にディスカッション</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
        <p:nvSpPr>
          <p:cNvPr id="6" name="Rounded Rectangle 5"/>
          <p:cNvSpPr/>
          <p:nvPr/>
        </p:nvSpPr>
        <p:spPr>
          <a:xfrm>
            <a:off x="548640" y="1664208"/>
            <a:ext cx="11109960" cy="621792"/>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3〜4人1組。発表会ではありません。テーマは用意しましたが、話したいことから自由にどうぞ。</a:t>
            </a:r>
          </a:p>
        </p:txBody>
      </p:sp>
      <p:sp>
        <p:nvSpPr>
          <p:cNvPr id="7" name="Oval 6"/>
          <p:cNvSpPr/>
          <p:nvPr/>
        </p:nvSpPr>
        <p:spPr>
          <a:xfrm>
            <a:off x="548640" y="2514600"/>
            <a:ext cx="548640" cy="54864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A</a:t>
            </a:r>
          </a:p>
        </p:txBody>
      </p:sp>
      <p:sp>
        <p:nvSpPr>
          <p:cNvPr id="8" name="Rounded Rectangle 7"/>
          <p:cNvSpPr/>
          <p:nvPr/>
        </p:nvSpPr>
        <p:spPr>
          <a:xfrm>
            <a:off x="1298448" y="2514600"/>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いま、自分の範囲で一番動かしたいことは何ですか？</a:t>
            </a:r>
          </a:p>
        </p:txBody>
      </p:sp>
      <p:sp>
        <p:nvSpPr>
          <p:cNvPr id="9" name="Oval 8"/>
          <p:cNvSpPr/>
          <p:nvPr/>
        </p:nvSpPr>
        <p:spPr>
          <a:xfrm>
            <a:off x="548640" y="3172968"/>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B</a:t>
            </a:r>
          </a:p>
        </p:txBody>
      </p:sp>
      <p:sp>
        <p:nvSpPr>
          <p:cNvPr id="10" name="Rounded Rectangle 9"/>
          <p:cNvSpPr/>
          <p:nvPr/>
        </p:nvSpPr>
        <p:spPr>
          <a:xfrm>
            <a:off x="1298448" y="3172968"/>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その大学・医局は、何をやりたいと思っていますか？　（分からなければ、それも話題に）</a:t>
            </a:r>
          </a:p>
        </p:txBody>
      </p:sp>
      <p:sp>
        <p:nvSpPr>
          <p:cNvPr id="11" name="Oval 10"/>
          <p:cNvSpPr/>
          <p:nvPr/>
        </p:nvSpPr>
        <p:spPr>
          <a:xfrm>
            <a:off x="548640" y="3831335"/>
            <a:ext cx="548640" cy="54864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C</a:t>
            </a:r>
          </a:p>
        </p:txBody>
      </p:sp>
      <p:sp>
        <p:nvSpPr>
          <p:cNvPr id="12" name="Rounded Rectangle 11"/>
          <p:cNvSpPr/>
          <p:nvPr/>
        </p:nvSpPr>
        <p:spPr>
          <a:xfrm>
            <a:off x="1298448" y="3831335"/>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大学と基幹病院、どちらに効かせるのが早いと思いますか？</a:t>
            </a:r>
          </a:p>
        </p:txBody>
      </p:sp>
      <p:sp>
        <p:nvSpPr>
          <p:cNvPr id="13" name="Oval 12"/>
          <p:cNvSpPr/>
          <p:nvPr/>
        </p:nvSpPr>
        <p:spPr>
          <a:xfrm>
            <a:off x="548640" y="4489703"/>
            <a:ext cx="548640" cy="5486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D</a:t>
            </a:r>
          </a:p>
        </p:txBody>
      </p:sp>
      <p:sp>
        <p:nvSpPr>
          <p:cNvPr id="14" name="Rounded Rectangle 13"/>
          <p:cNvSpPr/>
          <p:nvPr/>
        </p:nvSpPr>
        <p:spPr>
          <a:xfrm>
            <a:off x="1298448" y="4489703"/>
            <a:ext cx="10360152" cy="5486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50" b="1" i="0">
                <a:solidFill>
                  <a:srgbClr val="262626"/>
                </a:solidFill>
                <a:latin typeface="Meiryo UI"/>
                <a:ea typeface="Meiryo UI"/>
              </a:rPr>
              <a:t>これまでで「うまくいった」「難しかった」と感じた経験</a:t>
            </a:r>
          </a:p>
        </p:txBody>
      </p:sp>
      <p:sp>
        <p:nvSpPr>
          <p:cNvPr id="15" name="Rounded Rectangle 14"/>
          <p:cNvSpPr/>
          <p:nvPr/>
        </p:nvSpPr>
        <p:spPr>
          <a:xfrm>
            <a:off x="548640" y="5212080"/>
            <a:ext cx="5486400" cy="1051560"/>
          </a:xfrm>
          <a:prstGeom prst="roundRect">
            <a:avLst>
              <a:gd name="adj" fmla="val 1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600"/>
              </a:spcAft>
            </a:pPr>
            <a:r>
              <a:rPr sz="1300" b="1" i="0">
                <a:solidFill>
                  <a:srgbClr val="128A54"/>
                </a:solidFill>
                <a:latin typeface="Meiryo UI"/>
                <a:ea typeface="Meiryo UI"/>
              </a:rPr>
              <a:t>進め方のルールは1つだけ</a:t>
            </a:r>
          </a:p>
          <a:p>
            <a:pPr algn="ctr">
              <a:lnSpc>
                <a:spcPct val="125000"/>
              </a:lnSpc>
            </a:pPr>
            <a:r>
              <a:rPr sz="1200" b="0" i="0">
                <a:solidFill>
                  <a:srgbClr val="262626"/>
                </a:solidFill>
                <a:latin typeface="Meiryo UI"/>
                <a:ea typeface="Meiryo UI"/>
              </a:rPr>
              <a:t>順番を決めず、思いついた人から話す。人の話に乗っかるのも大歓迎です。</a:t>
            </a:r>
          </a:p>
        </p:txBody>
      </p:sp>
      <p:sp>
        <p:nvSpPr>
          <p:cNvPr id="16" name="Rounded Rectangle 15"/>
          <p:cNvSpPr/>
          <p:nvPr/>
        </p:nvSpPr>
        <p:spPr>
          <a:xfrm>
            <a:off x="6172200" y="5212080"/>
            <a:ext cx="5486400" cy="10515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600"/>
              </a:spcAft>
            </a:pPr>
            <a:r>
              <a:rPr sz="1300" b="1" i="0">
                <a:solidFill>
                  <a:srgbClr val="B86A00"/>
                </a:solidFill>
                <a:latin typeface="Meiryo UI"/>
                <a:ea typeface="Meiryo UI"/>
              </a:rPr>
              <a:t>うまくまとまらなくて当然です</a:t>
            </a:r>
          </a:p>
          <a:p>
            <a:pPr algn="ctr">
              <a:lnSpc>
                <a:spcPct val="125000"/>
              </a:lnSpc>
            </a:pPr>
            <a:r>
              <a:rPr sz="1200" b="0" i="0">
                <a:solidFill>
                  <a:srgbClr val="262626"/>
                </a:solidFill>
                <a:latin typeface="Meiryo UI"/>
                <a:ea typeface="Meiryo UI"/>
              </a:rPr>
              <a:t>今日はじめて考えたことです。詰まった箇所が、そのまま持ち帰りの宿題になります。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5856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BEYOND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影響の輪 — 得た情報とメッセージを、どこまで届けるか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ここからは発展的な視点です。全員が今日到達する必要はありません。持ち帰ってみてください。</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27</a:t>
            </a:r>
          </a:p>
        </p:txBody>
      </p:sp>
      <p:sp>
        <p:nvSpPr>
          <p:cNvPr id="7" name="Oval 6"/>
          <p:cNvSpPr/>
          <p:nvPr/>
        </p:nvSpPr>
        <p:spPr>
          <a:xfrm>
            <a:off x="1143000" y="1920239"/>
            <a:ext cx="4114800" cy="4114800"/>
          </a:xfrm>
          <a:prstGeom prst="ellipse">
            <a:avLst/>
          </a:prstGeom>
          <a:noFill/>
          <a:ln w="2032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1577340" y="2354579"/>
            <a:ext cx="3246120" cy="3246120"/>
          </a:xfrm>
          <a:prstGeom prst="ellipse">
            <a:avLst/>
          </a:prstGeom>
          <a:no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2011680" y="2788920"/>
            <a:ext cx="2377440" cy="2377440"/>
          </a:xfrm>
          <a:prstGeom prst="ellipse">
            <a:avLst/>
          </a:prstGeom>
          <a:noFill/>
          <a:ln w="20320">
            <a:solidFill>
              <a:srgbClr val="3B5C9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0" name="Oval 9"/>
          <p:cNvSpPr/>
          <p:nvPr/>
        </p:nvSpPr>
        <p:spPr>
          <a:xfrm>
            <a:off x="2446020" y="3223259"/>
            <a:ext cx="1508760" cy="1508760"/>
          </a:xfrm>
          <a:prstGeom prst="ellipse">
            <a:avLst/>
          </a:prstGeom>
          <a:noFill/>
          <a:ln w="2032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2286000" y="1975103"/>
            <a:ext cx="1828800" cy="237744"/>
          </a:xfrm>
          <a:prstGeom prst="rect">
            <a:avLst/>
          </a:prstGeom>
          <a:noFill/>
        </p:spPr>
        <p:txBody>
          <a:bodyPr wrap="square" lIns="0" rIns="0" tIns="0" bIns="0" anchor="t">
            <a:spAutoFit/>
          </a:bodyPr>
          <a:lstStyle/>
          <a:p>
            <a:pPr algn="ctr"/>
            <a:r>
              <a:rPr sz="1000" b="1" i="0">
                <a:solidFill>
                  <a:srgbClr val="3DA574"/>
                </a:solidFill>
                <a:latin typeface="Meiryo UI"/>
                <a:ea typeface="Meiryo UI"/>
              </a:rPr>
              <a:t>施設の中</a:t>
            </a:r>
          </a:p>
        </p:txBody>
      </p:sp>
      <p:sp>
        <p:nvSpPr>
          <p:cNvPr id="12" name="TextBox 11"/>
          <p:cNvSpPr txBox="1"/>
          <p:nvPr/>
        </p:nvSpPr>
        <p:spPr>
          <a:xfrm>
            <a:off x="2286000" y="2409444"/>
            <a:ext cx="1828800" cy="237744"/>
          </a:xfrm>
          <a:prstGeom prst="rect">
            <a:avLst/>
          </a:prstGeom>
          <a:noFill/>
        </p:spPr>
        <p:txBody>
          <a:bodyPr wrap="square" lIns="0" rIns="0" tIns="0" bIns="0" anchor="t">
            <a:spAutoFit/>
          </a:bodyPr>
          <a:lstStyle/>
          <a:p>
            <a:pPr algn="ctr"/>
            <a:r>
              <a:rPr sz="1000" b="1" i="0">
                <a:solidFill>
                  <a:srgbClr val="128A54"/>
                </a:solidFill>
                <a:latin typeface="Meiryo UI"/>
                <a:ea typeface="Meiryo UI"/>
              </a:rPr>
              <a:t>関連病院</a:t>
            </a:r>
          </a:p>
        </p:txBody>
      </p:sp>
      <p:sp>
        <p:nvSpPr>
          <p:cNvPr id="13" name="TextBox 12"/>
          <p:cNvSpPr txBox="1"/>
          <p:nvPr/>
        </p:nvSpPr>
        <p:spPr>
          <a:xfrm>
            <a:off x="2286000" y="2843784"/>
            <a:ext cx="1828800" cy="237744"/>
          </a:xfrm>
          <a:prstGeom prst="rect">
            <a:avLst/>
          </a:prstGeom>
          <a:noFill/>
        </p:spPr>
        <p:txBody>
          <a:bodyPr wrap="square" lIns="0" rIns="0" tIns="0" bIns="0" anchor="t">
            <a:spAutoFit/>
          </a:bodyPr>
          <a:lstStyle/>
          <a:p>
            <a:pPr algn="ctr"/>
            <a:r>
              <a:rPr sz="1000" b="1" i="0">
                <a:solidFill>
                  <a:srgbClr val="3B5C99"/>
                </a:solidFill>
                <a:latin typeface="Meiryo UI"/>
                <a:ea typeface="Meiryo UI"/>
              </a:rPr>
              <a:t>担当範囲</a:t>
            </a:r>
          </a:p>
        </p:txBody>
      </p:sp>
      <p:sp>
        <p:nvSpPr>
          <p:cNvPr id="14" name="TextBox 13"/>
          <p:cNvSpPr txBox="1"/>
          <p:nvPr/>
        </p:nvSpPr>
        <p:spPr>
          <a:xfrm>
            <a:off x="2286000" y="3278123"/>
            <a:ext cx="1828800" cy="237744"/>
          </a:xfrm>
          <a:prstGeom prst="rect">
            <a:avLst/>
          </a:prstGeom>
          <a:noFill/>
        </p:spPr>
        <p:txBody>
          <a:bodyPr wrap="square" lIns="0" rIns="0" tIns="0" bIns="0" anchor="t">
            <a:spAutoFit/>
          </a:bodyPr>
          <a:lstStyle/>
          <a:p>
            <a:pPr algn="ctr"/>
            <a:r>
              <a:rPr sz="1000" b="1" i="0">
                <a:solidFill>
                  <a:srgbClr val="1F3864"/>
                </a:solidFill>
                <a:latin typeface="Meiryo UI"/>
                <a:ea typeface="Meiryo UI"/>
              </a:rPr>
              <a:t>営業所・営業部</a:t>
            </a:r>
          </a:p>
        </p:txBody>
      </p:sp>
      <p:sp>
        <p:nvSpPr>
          <p:cNvPr id="15" name="Oval 14"/>
          <p:cNvSpPr/>
          <p:nvPr/>
        </p:nvSpPr>
        <p:spPr>
          <a:xfrm>
            <a:off x="2852928" y="3630168"/>
            <a:ext cx="694944" cy="694944"/>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100" b="1" i="0">
                <a:solidFill>
                  <a:srgbClr val="0B4F37"/>
                </a:solidFill>
                <a:latin typeface="Meiryo UI"/>
                <a:ea typeface="Meiryo UI"/>
              </a:rPr>
              <a:t>先生</a:t>
            </a:r>
          </a:p>
        </p:txBody>
      </p:sp>
      <p:sp>
        <p:nvSpPr>
          <p:cNvPr id="16" name="Rounded Rectangle 15"/>
          <p:cNvSpPr/>
          <p:nvPr/>
        </p:nvSpPr>
        <p:spPr>
          <a:xfrm>
            <a:off x="685800" y="5806440"/>
            <a:ext cx="5074920" cy="502920"/>
          </a:xfrm>
          <a:prstGeom prst="roundRect">
            <a:avLst>
              <a:gd name="adj" fmla="val 15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050" b="1" i="0">
                <a:solidFill>
                  <a:srgbClr val="595959"/>
                </a:solidFill>
                <a:latin typeface="Meiryo UI"/>
                <a:ea typeface="Meiryo UI"/>
              </a:rPr>
              <a:t>※ 大学の先生が、担当範囲を超えて広域・全国に影響を持つこともある</a:t>
            </a:r>
          </a:p>
        </p:txBody>
      </p:sp>
      <p:sp>
        <p:nvSpPr>
          <p:cNvPr id="17" name="Rounded Rectangle 16"/>
          <p:cNvSpPr/>
          <p:nvPr/>
        </p:nvSpPr>
        <p:spPr>
          <a:xfrm>
            <a:off x="6309360" y="1874519"/>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他の大学・基幹病院へ広げる</a:t>
            </a:r>
          </a:p>
          <a:p>
            <a:pPr algn="l">
              <a:lnSpc>
                <a:spcPct val="120000"/>
              </a:lnSpc>
            </a:pPr>
            <a:r>
              <a:rPr sz="1100" b="0" i="0">
                <a:solidFill>
                  <a:srgbClr val="262626"/>
                </a:solidFill>
                <a:latin typeface="Meiryo UI"/>
                <a:ea typeface="Meiryo UI"/>
              </a:rPr>
              <a:t>同じ課題を持つ施設は、範囲の中に必ずある</a:t>
            </a:r>
          </a:p>
        </p:txBody>
      </p:sp>
      <p:sp>
        <p:nvSpPr>
          <p:cNvPr id="18" name="Rounded Rectangle 17"/>
          <p:cNvSpPr/>
          <p:nvPr/>
        </p:nvSpPr>
        <p:spPr>
          <a:xfrm>
            <a:off x="6309360" y="2944368"/>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他の担当MRの活動に活かす</a:t>
            </a:r>
          </a:p>
          <a:p>
            <a:pPr algn="l">
              <a:lnSpc>
                <a:spcPct val="120000"/>
              </a:lnSpc>
            </a:pPr>
            <a:r>
              <a:rPr sz="1100" b="0" i="0">
                <a:solidFill>
                  <a:srgbClr val="262626"/>
                </a:solidFill>
                <a:latin typeface="Meiryo UI"/>
                <a:ea typeface="Meiryo UI"/>
              </a:rPr>
              <a:t>自分が得た情報は、チームの武器になる</a:t>
            </a:r>
          </a:p>
        </p:txBody>
      </p:sp>
      <p:sp>
        <p:nvSpPr>
          <p:cNvPr id="19" name="Rounded Rectangle 18"/>
          <p:cNvSpPr/>
          <p:nvPr/>
        </p:nvSpPr>
        <p:spPr>
          <a:xfrm>
            <a:off x="6309360" y="4014215"/>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講演会・研究会で発信する</a:t>
            </a:r>
          </a:p>
          <a:p>
            <a:pPr algn="l">
              <a:lnSpc>
                <a:spcPct val="120000"/>
              </a:lnSpc>
            </a:pPr>
            <a:r>
              <a:rPr sz="1100" b="0" i="0">
                <a:solidFill>
                  <a:srgbClr val="262626"/>
                </a:solidFill>
                <a:latin typeface="Meiryo UI"/>
                <a:ea typeface="Meiryo UI"/>
              </a:rPr>
              <a:t>1対1の面会では届かない範囲に、一度に届く</a:t>
            </a:r>
          </a:p>
        </p:txBody>
      </p:sp>
      <p:sp>
        <p:nvSpPr>
          <p:cNvPr id="20" name="Rounded Rectangle 19"/>
          <p:cNvSpPr/>
          <p:nvPr/>
        </p:nvSpPr>
        <p:spPr>
          <a:xfrm>
            <a:off x="6309360" y="5084064"/>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疾患啓発へつなげる</a:t>
            </a:r>
          </a:p>
          <a:p>
            <a:pPr algn="l">
              <a:lnSpc>
                <a:spcPct val="120000"/>
              </a:lnSpc>
            </a:pPr>
            <a:r>
              <a:rPr sz="1100" b="0" i="0">
                <a:solidFill>
                  <a:srgbClr val="262626"/>
                </a:solidFill>
                <a:latin typeface="Meiryo UI"/>
                <a:ea typeface="Meiryo UI"/>
              </a:rPr>
              <a:t>担当範囲を超えて、患者さんの流れそのものを変える</a:t>
            </a:r>
          </a:p>
        </p:txBody>
      </p:sp>
      <p:sp>
        <p:nvSpPr>
          <p:cNvPr id="21" name="Rounded Rectangle 20"/>
          <p:cNvSpPr/>
          <p:nvPr/>
        </p:nvSpPr>
        <p:spPr>
          <a:xfrm>
            <a:off x="6309360" y="5806440"/>
            <a:ext cx="5349240" cy="50292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一施設で終わらせない。それが大学担当の価値。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65760"/>
            <a:ext cx="2011680" cy="384048"/>
          </a:xfrm>
          <a:prstGeom prst="roundRect">
            <a:avLst>
              <a:gd name="adj" fmla="val 5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0B4F37"/>
                </a:solidFill>
                <a:latin typeface="Meiryo UI"/>
                <a:ea typeface="Meiryo UI"/>
              </a:rPr>
              <a:t>BEYOND</a:t>
            </a:r>
          </a:p>
        </p:txBody>
      </p:sp>
      <p:sp>
        <p:nvSpPr>
          <p:cNvPr id="4" name="TextBox 3"/>
          <p:cNvSpPr txBox="1"/>
          <p:nvPr/>
        </p:nvSpPr>
        <p:spPr>
          <a:xfrm>
            <a:off x="548640" y="960120"/>
            <a:ext cx="11155680" cy="457200"/>
          </a:xfrm>
          <a:prstGeom prst="rect">
            <a:avLst/>
          </a:prstGeom>
          <a:noFill/>
        </p:spPr>
        <p:txBody>
          <a:bodyPr wrap="square" lIns="0" rIns="0" tIns="0" bIns="0" anchor="t">
            <a:spAutoFit/>
          </a:bodyPr>
          <a:lstStyle/>
          <a:p>
            <a:pPr algn="l"/>
            <a:r>
              <a:rPr sz="1700" b="1" i="0">
                <a:solidFill>
                  <a:srgbClr val="BFE8D2"/>
                </a:solidFill>
                <a:latin typeface="Meiryo UI"/>
                <a:ea typeface="Meiryo UI"/>
              </a:rPr>
              <a:t>大学担当者として、目指す状態</a:t>
            </a:r>
          </a:p>
        </p:txBody>
      </p:sp>
      <p:sp>
        <p:nvSpPr>
          <p:cNvPr id="5" name="Rounded Rectangle 4"/>
          <p:cNvSpPr/>
          <p:nvPr/>
        </p:nvSpPr>
        <p:spPr>
          <a:xfrm>
            <a:off x="548640" y="1554480"/>
            <a:ext cx="11109960" cy="123444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2600" b="1" i="0">
                <a:solidFill>
                  <a:srgbClr val="0B4F37"/>
                </a:solidFill>
                <a:latin typeface="Meiryo UI"/>
                <a:ea typeface="Meiryo UI"/>
              </a:rPr>
              <a:t>「この範囲は、自分に任せてください。</a:t>
            </a:r>
          </a:p>
          <a:p>
            <a:pPr algn="ctr"/>
            <a:r>
              <a:rPr sz="2600" b="1" i="0">
                <a:solidFill>
                  <a:srgbClr val="0B4F37"/>
                </a:solidFill>
                <a:latin typeface="Meiryo UI"/>
                <a:ea typeface="Meiryo UI"/>
              </a:rPr>
              <a:t>そのために、大学をこう使います」</a:t>
            </a:r>
          </a:p>
        </p:txBody>
      </p:sp>
      <p:sp>
        <p:nvSpPr>
          <p:cNvPr id="6" name="TextBox 5"/>
          <p:cNvSpPr txBox="1"/>
          <p:nvPr/>
        </p:nvSpPr>
        <p:spPr>
          <a:xfrm>
            <a:off x="548640" y="2971800"/>
            <a:ext cx="11155680" cy="365760"/>
          </a:xfrm>
          <a:prstGeom prst="rect">
            <a:avLst/>
          </a:prstGeom>
          <a:noFill/>
        </p:spPr>
        <p:txBody>
          <a:bodyPr wrap="square" lIns="0" rIns="0" tIns="0" bIns="0" anchor="t">
            <a:spAutoFit/>
          </a:bodyPr>
          <a:lstStyle/>
          <a:p>
            <a:pPr algn="ctr"/>
            <a:r>
              <a:rPr sz="1400" b="0" i="0">
                <a:solidFill>
                  <a:srgbClr val="FFFFFF"/>
                </a:solidFill>
                <a:latin typeface="Meiryo UI"/>
                <a:ea typeface="Meiryo UI"/>
              </a:rPr>
              <a:t>と、自分の言葉で説明できる状態。そのために、次の5つを自分なりに考えます。</a:t>
            </a:r>
          </a:p>
        </p:txBody>
      </p:sp>
      <p:sp>
        <p:nvSpPr>
          <p:cNvPr id="7" name="Rounded Rectangle 6"/>
          <p:cNvSpPr/>
          <p:nvPr/>
        </p:nvSpPr>
        <p:spPr>
          <a:xfrm>
            <a:off x="548640"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01</a:t>
            </a:r>
          </a:p>
          <a:p>
            <a:pPr algn="ctr">
              <a:lnSpc>
                <a:spcPct val="120000"/>
              </a:lnSpc>
            </a:pPr>
            <a:r>
              <a:rPr sz="1150" b="1" i="0">
                <a:solidFill>
                  <a:srgbClr val="FFFFFF"/>
                </a:solidFill>
                <a:latin typeface="Meiryo UI"/>
                <a:ea typeface="Meiryo UI"/>
              </a:rPr>
              <a:t>どの施設を優先するか</a:t>
            </a:r>
          </a:p>
        </p:txBody>
      </p:sp>
      <p:sp>
        <p:nvSpPr>
          <p:cNvPr id="8" name="Rounded Rectangle 7"/>
          <p:cNvSpPr/>
          <p:nvPr/>
        </p:nvSpPr>
        <p:spPr>
          <a:xfrm>
            <a:off x="2807208"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02</a:t>
            </a:r>
          </a:p>
          <a:p>
            <a:pPr algn="ctr">
              <a:lnSpc>
                <a:spcPct val="120000"/>
              </a:lnSpc>
            </a:pPr>
            <a:r>
              <a:rPr sz="1150" b="1" i="0">
                <a:solidFill>
                  <a:srgbClr val="FFFFFF"/>
                </a:solidFill>
                <a:latin typeface="Meiryo UI"/>
                <a:ea typeface="Meiryo UI"/>
              </a:rPr>
              <a:t>大学と基幹病院を、どう組み合わせるか</a:t>
            </a:r>
          </a:p>
        </p:txBody>
      </p:sp>
      <p:sp>
        <p:nvSpPr>
          <p:cNvPr id="9" name="Rounded Rectangle 8"/>
          <p:cNvSpPr/>
          <p:nvPr/>
        </p:nvSpPr>
        <p:spPr>
          <a:xfrm>
            <a:off x="5065776"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03</a:t>
            </a:r>
          </a:p>
          <a:p>
            <a:pPr algn="ctr">
              <a:lnSpc>
                <a:spcPct val="120000"/>
              </a:lnSpc>
            </a:pPr>
            <a:r>
              <a:rPr sz="1150" b="1" i="0">
                <a:solidFill>
                  <a:srgbClr val="FFFFFF"/>
                </a:solidFill>
                <a:latin typeface="Meiryo UI"/>
                <a:ea typeface="Meiryo UI"/>
              </a:rPr>
              <a:t>誰の影響力を使うか</a:t>
            </a:r>
          </a:p>
        </p:txBody>
      </p:sp>
      <p:sp>
        <p:nvSpPr>
          <p:cNvPr id="10" name="Rounded Rectangle 9"/>
          <p:cNvSpPr/>
          <p:nvPr/>
        </p:nvSpPr>
        <p:spPr>
          <a:xfrm>
            <a:off x="7324344"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04</a:t>
            </a:r>
          </a:p>
          <a:p>
            <a:pPr algn="ctr">
              <a:lnSpc>
                <a:spcPct val="120000"/>
              </a:lnSpc>
            </a:pPr>
            <a:r>
              <a:rPr sz="1150" b="1" i="0">
                <a:solidFill>
                  <a:srgbClr val="FFFFFF"/>
                </a:solidFill>
                <a:latin typeface="Meiryo UI"/>
                <a:ea typeface="Meiryo UI"/>
              </a:rPr>
              <a:t>どの情報を、取りに行くか</a:t>
            </a:r>
          </a:p>
        </p:txBody>
      </p:sp>
      <p:sp>
        <p:nvSpPr>
          <p:cNvPr id="11" name="Rounded Rectangle 10"/>
          <p:cNvSpPr/>
          <p:nvPr/>
        </p:nvSpPr>
        <p:spPr>
          <a:xfrm>
            <a:off x="9582912"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05</a:t>
            </a:r>
          </a:p>
          <a:p>
            <a:pPr algn="ctr">
              <a:lnSpc>
                <a:spcPct val="120000"/>
              </a:lnSpc>
            </a:pPr>
            <a:r>
              <a:rPr sz="1150" b="1" i="0">
                <a:solidFill>
                  <a:srgbClr val="FFFFFF"/>
                </a:solidFill>
                <a:latin typeface="Meiryo UI"/>
                <a:ea typeface="Meiryo UI"/>
              </a:rPr>
              <a:t>どんな施策を打つか</a:t>
            </a:r>
          </a:p>
        </p:txBody>
      </p:sp>
      <p:sp>
        <p:nvSpPr>
          <p:cNvPr id="12" name="Rounded Rectangle 11"/>
          <p:cNvSpPr/>
          <p:nvPr/>
        </p:nvSpPr>
        <p:spPr>
          <a:xfrm>
            <a:off x="548640" y="4800600"/>
            <a:ext cx="11109960" cy="77724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FFFFFF"/>
                </a:solidFill>
                <a:latin typeface="Meiryo UI"/>
                <a:ea typeface="Meiryo UI"/>
              </a:rPr>
              <a:t>一施設の担当者という視点ではなく、営業所・営業部に近い視座で考えてみる。</a:t>
            </a:r>
          </a:p>
          <a:p>
            <a:pPr algn="ctr"/>
            <a:r>
              <a:rPr sz="1350" b="1" i="0">
                <a:solidFill>
                  <a:srgbClr val="FFC000"/>
                </a:solidFill>
                <a:latin typeface="Meiryo UI"/>
                <a:ea typeface="Meiryo UI"/>
              </a:rPr>
              <a:t>指示された活動をこなす人ではなく、任された範囲に責任を持ち、活動を設計・提案できる人へ。</a:t>
            </a:r>
          </a:p>
        </p:txBody>
      </p:sp>
      <p:sp>
        <p:nvSpPr>
          <p:cNvPr id="13" name="Rounded Rectangle 12"/>
          <p:cNvSpPr/>
          <p:nvPr/>
        </p:nvSpPr>
        <p:spPr>
          <a:xfrm>
            <a:off x="548640" y="5715000"/>
            <a:ext cx="11109960" cy="658368"/>
          </a:xfrm>
          <a:prstGeom prst="roundRect">
            <a:avLst>
              <a:gd name="adj" fmla="val 10000"/>
            </a:avLst>
          </a:prstGeom>
          <a:solidFill>
            <a:srgbClr val="1163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BFE8D2"/>
                </a:solidFill>
                <a:latin typeface="Meiryo UI"/>
                <a:ea typeface="Meiryo UI"/>
              </a:rPr>
              <a:t>現実には、会社の方針や予算で、最適でない施策を行うこともあります。それでも、自分の範囲を理解していれば</a:t>
            </a:r>
            <a:r>
              <a:rPr sz="1200" b="1" i="0">
                <a:solidFill>
                  <a:srgbClr val="FFFFFF"/>
                </a:solidFill>
                <a:latin typeface="Meiryo UI"/>
                <a:ea typeface="Meiryo UI"/>
              </a:rPr>
              <a:t>「予算があるなら、こちらの施策のほうが成果につながります」と提案できる。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WRAP UP</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本日のまとめ — 戦略的思考は、この2つから始まる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Rounded Rectangle 5"/>
          <p:cNvSpPr/>
          <p:nvPr/>
        </p:nvSpPr>
        <p:spPr>
          <a:xfrm>
            <a:off x="548640" y="1783080"/>
            <a:ext cx="1463040" cy="9601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視座</a:t>
            </a:r>
          </a:p>
        </p:txBody>
      </p:sp>
      <p:sp>
        <p:nvSpPr>
          <p:cNvPr id="7" name="Rounded Rectangle 6"/>
          <p:cNvSpPr/>
          <p:nvPr/>
        </p:nvSpPr>
        <p:spPr>
          <a:xfrm>
            <a:off x="2148840" y="178308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F3864"/>
                </a:solidFill>
                <a:latin typeface="Meiryo UI"/>
                <a:ea typeface="Meiryo UI"/>
              </a:rPr>
              <a:t>大学に固執しない。大学は範囲の中の「1施設」</a:t>
            </a:r>
          </a:p>
          <a:p>
            <a:pPr algn="l">
              <a:lnSpc>
                <a:spcPct val="120000"/>
              </a:lnSpc>
            </a:pPr>
            <a:r>
              <a:rPr sz="1250" b="0" i="0">
                <a:solidFill>
                  <a:srgbClr val="262626"/>
                </a:solidFill>
                <a:latin typeface="Meiryo UI"/>
                <a:ea typeface="Meiryo UI"/>
              </a:rPr>
              <a:t>「大学を軸としたエリア攻略」ではなく、「エリア攻略のために大学を活かす」。</a:t>
            </a:r>
          </a:p>
        </p:txBody>
      </p:sp>
      <p:sp>
        <p:nvSpPr>
          <p:cNvPr id="8" name="Rounded Rectangle 7"/>
          <p:cNvSpPr/>
          <p:nvPr/>
        </p:nvSpPr>
        <p:spPr>
          <a:xfrm>
            <a:off x="548640" y="2880360"/>
            <a:ext cx="1463040" cy="96012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順序</a:t>
            </a:r>
          </a:p>
        </p:txBody>
      </p:sp>
      <p:sp>
        <p:nvSpPr>
          <p:cNvPr id="9" name="Rounded Rectangle 8"/>
          <p:cNvSpPr/>
          <p:nvPr/>
        </p:nvSpPr>
        <p:spPr>
          <a:xfrm>
            <a:off x="2148840" y="288036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B86A00"/>
                </a:solidFill>
                <a:latin typeface="Meiryo UI"/>
                <a:ea typeface="Meiryo UI"/>
              </a:rPr>
              <a:t>情報からではなく、成功像から</a:t>
            </a:r>
          </a:p>
          <a:p>
            <a:pPr algn="l">
              <a:lnSpc>
                <a:spcPct val="120000"/>
              </a:lnSpc>
            </a:pPr>
            <a:r>
              <a:rPr sz="1250" b="0" i="0">
                <a:solidFill>
                  <a:srgbClr val="262626"/>
                </a:solidFill>
                <a:latin typeface="Meiryo UI"/>
                <a:ea typeface="Meiryo UI"/>
              </a:rPr>
              <a:t>成功像 → 大学・医局に求める役割の仮説 → 必要な情報 → 取りに行く → 修正。</a:t>
            </a:r>
          </a:p>
        </p:txBody>
      </p:sp>
      <p:sp>
        <p:nvSpPr>
          <p:cNvPr id="10" name="Rounded Rectangle 9"/>
          <p:cNvSpPr/>
          <p:nvPr/>
        </p:nvSpPr>
        <p:spPr>
          <a:xfrm>
            <a:off x="548640" y="3977639"/>
            <a:ext cx="1463040" cy="9601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重なり</a:t>
            </a:r>
          </a:p>
        </p:txBody>
      </p:sp>
      <p:sp>
        <p:nvSpPr>
          <p:cNvPr id="11" name="Rounded Rectangle 10"/>
          <p:cNvSpPr/>
          <p:nvPr/>
        </p:nvSpPr>
        <p:spPr>
          <a:xfrm>
            <a:off x="2148840" y="3977639"/>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28A54"/>
                </a:solidFill>
                <a:latin typeface="Meiryo UI"/>
                <a:ea typeface="Meiryo UI"/>
              </a:rPr>
              <a:t>打ち手は、WIN-WINの重なりに置く</a:t>
            </a:r>
          </a:p>
          <a:p>
            <a:pPr algn="l">
              <a:lnSpc>
                <a:spcPct val="120000"/>
              </a:lnSpc>
            </a:pPr>
            <a:r>
              <a:rPr sz="1250" b="0" i="0">
                <a:solidFill>
                  <a:srgbClr val="262626"/>
                </a:solidFill>
                <a:latin typeface="Meiryo UI"/>
                <a:ea typeface="Meiryo UI"/>
              </a:rPr>
              <a:t>自分の範囲の成功像と、医局がしたいことが重なるところ。だから相手も本気で動く。</a:t>
            </a:r>
          </a:p>
        </p:txBody>
      </p:sp>
      <p:sp>
        <p:nvSpPr>
          <p:cNvPr id="12" name="Rounded Rectangle 11"/>
          <p:cNvSpPr/>
          <p:nvPr/>
        </p:nvSpPr>
        <p:spPr>
          <a:xfrm>
            <a:off x="548640" y="5120640"/>
            <a:ext cx="11109960" cy="11430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400" b="1" i="0">
                <a:solidFill>
                  <a:srgbClr val="FFFFFF"/>
                </a:solidFill>
                <a:latin typeface="Meiryo UI"/>
                <a:ea typeface="Meiryo UI"/>
              </a:rPr>
              <a:t>今日の持ち帰りは、これだけで十分です。</a:t>
            </a:r>
          </a:p>
          <a:p>
            <a:pPr algn="ctr">
              <a:spcAft>
                <a:spcPts val="400"/>
              </a:spcAft>
            </a:pPr>
            <a:r>
              <a:rPr sz="2100" b="1" i="0">
                <a:solidFill>
                  <a:srgbClr val="FFC000"/>
                </a:solidFill>
                <a:latin typeface="Meiryo UI"/>
                <a:ea typeface="Meiryo UI"/>
              </a:rPr>
              <a:t>一度、大学という枠を外して、自分の範囲を眺めてみる。</a:t>
            </a:r>
          </a:p>
          <a:p>
            <a:pPr algn="ctr"/>
            <a:r>
              <a:rPr sz="1250" b="0" i="0">
                <a:solidFill>
                  <a:srgbClr val="BFE8D2"/>
                </a:solidFill>
                <a:latin typeface="Meiryo UI"/>
                <a:ea typeface="Meiryo UI"/>
              </a:rPr>
              <a:t>そして、整った戦略より「なぜそれが重要か」を語れる戦略を。</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ACTION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行動宣言 — 明日からの一手を、1人1行</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Rounded Rectangle 5"/>
          <p:cNvSpPr/>
          <p:nvPr/>
        </p:nvSpPr>
        <p:spPr>
          <a:xfrm>
            <a:off x="548640" y="1691640"/>
            <a:ext cx="111099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700" b="1" i="0">
                <a:solidFill>
                  <a:srgbClr val="262626"/>
                </a:solidFill>
                <a:latin typeface="Meiryo UI"/>
                <a:ea typeface="Meiryo UI"/>
              </a:rPr>
              <a:t>今日つくった絵と言葉から</a:t>
            </a:r>
            <a:r>
              <a:rPr sz="1700" b="1" i="0">
                <a:solidFill>
                  <a:srgbClr val="C00000"/>
                </a:solidFill>
                <a:latin typeface="Meiryo UI"/>
                <a:ea typeface="Meiryo UI"/>
              </a:rPr>
              <a:t>「明日やること」を1つだけ</a:t>
            </a:r>
            <a:r>
              <a:rPr sz="1700" b="1" i="0">
                <a:solidFill>
                  <a:srgbClr val="262626"/>
                </a:solidFill>
                <a:latin typeface="Meiryo UI"/>
                <a:ea typeface="Meiryo UI"/>
              </a:rPr>
              <a:t>選び、チャットに投稿してください</a:t>
            </a:r>
          </a:p>
          <a:p>
            <a:pPr algn="ctr"/>
            <a:r>
              <a:rPr sz="1250" b="0" i="0">
                <a:solidFill>
                  <a:srgbClr val="595959"/>
                </a:solidFill>
                <a:latin typeface="Meiryo UI"/>
                <a:ea typeface="Meiryo UI"/>
              </a:rPr>
              <a:t>宣言した瞬間、研修は「聞いた話」から「自分の計画」に変わります</a:t>
            </a:r>
          </a:p>
        </p:txBody>
      </p:sp>
      <p:sp>
        <p:nvSpPr>
          <p:cNvPr id="7" name="Rounded Rectangle 6"/>
          <p:cNvSpPr/>
          <p:nvPr/>
        </p:nvSpPr>
        <p:spPr>
          <a:xfrm>
            <a:off x="548640" y="2926080"/>
            <a:ext cx="137160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例①</a:t>
            </a:r>
          </a:p>
        </p:txBody>
      </p:sp>
      <p:sp>
        <p:nvSpPr>
          <p:cNvPr id="8" name="Rounded Rectangle 7"/>
          <p:cNvSpPr/>
          <p:nvPr/>
        </p:nvSpPr>
        <p:spPr>
          <a:xfrm>
            <a:off x="2011680" y="292608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「自分の範囲の絵で『？』にした線を、来週の面会で1つ確認する」</a:t>
            </a:r>
          </a:p>
        </p:txBody>
      </p:sp>
      <p:sp>
        <p:nvSpPr>
          <p:cNvPr id="9" name="Rounded Rectangle 8"/>
          <p:cNvSpPr/>
          <p:nvPr/>
        </p:nvSpPr>
        <p:spPr>
          <a:xfrm>
            <a:off x="548640" y="3703320"/>
            <a:ext cx="1371600" cy="658368"/>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例②</a:t>
            </a:r>
          </a:p>
        </p:txBody>
      </p:sp>
      <p:sp>
        <p:nvSpPr>
          <p:cNvPr id="10" name="Rounded Rectangle 9"/>
          <p:cNvSpPr/>
          <p:nvPr/>
        </p:nvSpPr>
        <p:spPr>
          <a:xfrm>
            <a:off x="2011680" y="370332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「A大学の医局長に、B大学との関係について聞いてみる」</a:t>
            </a:r>
          </a:p>
        </p:txBody>
      </p:sp>
      <p:sp>
        <p:nvSpPr>
          <p:cNvPr id="11" name="Rounded Rectangle 10"/>
          <p:cNvSpPr/>
          <p:nvPr/>
        </p:nvSpPr>
        <p:spPr>
          <a:xfrm>
            <a:off x="548640" y="4480559"/>
            <a:ext cx="1371600" cy="658368"/>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例③</a:t>
            </a:r>
          </a:p>
        </p:txBody>
      </p:sp>
      <p:sp>
        <p:nvSpPr>
          <p:cNvPr id="12" name="Rounded Rectangle 11"/>
          <p:cNvSpPr/>
          <p:nvPr/>
        </p:nvSpPr>
        <p:spPr>
          <a:xfrm>
            <a:off x="2011680" y="4480559"/>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「描いた絵を上司に見せて、施設の優先順位が合っているか相談する」</a:t>
            </a:r>
          </a:p>
        </p:txBody>
      </p:sp>
      <p:sp>
        <p:nvSpPr>
          <p:cNvPr id="13" name="Rounded Rectangle 12"/>
          <p:cNvSpPr/>
          <p:nvPr/>
        </p:nvSpPr>
        <p:spPr>
          <a:xfrm>
            <a:off x="548640" y="5349240"/>
            <a:ext cx="11109960" cy="91440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50" b="1" i="0">
                <a:solidFill>
                  <a:srgbClr val="C00000"/>
                </a:solidFill>
                <a:latin typeface="Meiryo UI"/>
                <a:ea typeface="Meiryo UI"/>
              </a:rPr>
              <a:t>コツは「電話1本サイズ」に割ること。</a:t>
            </a:r>
            <a:r>
              <a:rPr sz="1350" b="0" i="0">
                <a:solidFill>
                  <a:srgbClr val="262626"/>
                </a:solidFill>
                <a:latin typeface="Meiryo UI"/>
                <a:ea typeface="Meiryo UI"/>
              </a:rPr>
              <a:t>　最初の一歩が小さいほど、実行されます。</a:t>
            </a:r>
          </a:p>
          <a:p>
            <a:pPr algn="ctr"/>
            <a:r>
              <a:rPr sz="1250" b="0" i="0">
                <a:solidFill>
                  <a:srgbClr val="595959"/>
                </a:solidFill>
                <a:latin typeface="Meiryo UI"/>
                <a:ea typeface="Meiryo UI"/>
              </a:rPr>
              <a:t>投稿された宣言と気づきは、事務局が集約し、録画・資料とあわせて全員（欠席者含む）へ共有します。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914400" y="1600200"/>
            <a:ext cx="10332720" cy="1097280"/>
          </a:xfrm>
          <a:prstGeom prst="rect">
            <a:avLst/>
          </a:prstGeom>
          <a:noFill/>
        </p:spPr>
        <p:txBody>
          <a:bodyPr wrap="square" lIns="0" rIns="0" tIns="0" bIns="0" anchor="t">
            <a:spAutoFit/>
          </a:bodyPr>
          <a:lstStyle/>
          <a:p>
            <a:pPr algn="l"/>
            <a:r>
              <a:rPr sz="4200" b="1" i="0">
                <a:solidFill>
                  <a:srgbClr val="FFFFFF"/>
                </a:solidFill>
                <a:latin typeface="Meiryo UI"/>
                <a:ea typeface="Meiryo UI"/>
              </a:rPr>
              <a:t>ありがとうございました</a:t>
            </a:r>
          </a:p>
        </p:txBody>
      </p:sp>
      <p:sp>
        <p:nvSpPr>
          <p:cNvPr id="4" name="TextBox 3"/>
          <p:cNvSpPr txBox="1"/>
          <p:nvPr/>
        </p:nvSpPr>
        <p:spPr>
          <a:xfrm>
            <a:off x="960120" y="2834640"/>
            <a:ext cx="10332720" cy="548640"/>
          </a:xfrm>
          <a:prstGeom prst="rect">
            <a:avLst/>
          </a:prstGeom>
          <a:noFill/>
        </p:spPr>
        <p:txBody>
          <a:bodyPr wrap="square" lIns="0" rIns="0" tIns="0" bIns="0" anchor="t">
            <a:spAutoFit/>
          </a:bodyPr>
          <a:lstStyle/>
          <a:p>
            <a:pPr algn="l"/>
            <a:r>
              <a:rPr sz="1800" b="1" i="0">
                <a:solidFill>
                  <a:srgbClr val="BFE8D2"/>
                </a:solidFill>
                <a:latin typeface="Meiryo UI"/>
                <a:ea typeface="Meiryo UI"/>
              </a:rPr>
              <a:t>4回シリーズ、おつかれさまでした。ここからが本番です。</a:t>
            </a:r>
          </a:p>
        </p:txBody>
      </p:sp>
      <p:sp>
        <p:nvSpPr>
          <p:cNvPr id="5" name="Rounded Rectangle 4"/>
          <p:cNvSpPr/>
          <p:nvPr/>
        </p:nvSpPr>
        <p:spPr>
          <a:xfrm>
            <a:off x="91440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今日中</a:t>
            </a:r>
          </a:p>
          <a:p>
            <a:pPr algn="ctr">
              <a:lnSpc>
                <a:spcPct val="120000"/>
              </a:lnSpc>
            </a:pPr>
            <a:r>
              <a:rPr sz="1200" b="0" i="0">
                <a:solidFill>
                  <a:srgbClr val="FFFFFF"/>
                </a:solidFill>
                <a:latin typeface="Meiryo UI"/>
                <a:ea typeface="Meiryo UI"/>
              </a:rPr>
              <a:t>行動宣言と気づきをチャットへ</a:t>
            </a:r>
          </a:p>
        </p:txBody>
      </p:sp>
      <p:sp>
        <p:nvSpPr>
          <p:cNvPr id="6" name="Rounded Rectangle 5"/>
          <p:cNvSpPr/>
          <p:nvPr/>
        </p:nvSpPr>
        <p:spPr>
          <a:xfrm>
            <a:off x="443484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今週</a:t>
            </a:r>
          </a:p>
          <a:p>
            <a:pPr algn="ctr">
              <a:lnSpc>
                <a:spcPct val="120000"/>
              </a:lnSpc>
            </a:pPr>
            <a:r>
              <a:rPr sz="1200" b="0" i="0">
                <a:solidFill>
                  <a:srgbClr val="FFFFFF"/>
                </a:solidFill>
                <a:latin typeface="Meiryo UI"/>
                <a:ea typeface="Meiryo UI"/>
              </a:rPr>
              <a:t>気づきリスト・録画・テンプレートを事務局から共有</a:t>
            </a:r>
          </a:p>
        </p:txBody>
      </p:sp>
      <p:sp>
        <p:nvSpPr>
          <p:cNvPr id="7" name="Rounded Rectangle 6"/>
          <p:cNvSpPr/>
          <p:nvPr/>
        </p:nvSpPr>
        <p:spPr>
          <a:xfrm>
            <a:off x="7955279"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これから</a:t>
            </a:r>
          </a:p>
          <a:p>
            <a:pPr algn="ctr">
              <a:lnSpc>
                <a:spcPct val="120000"/>
              </a:lnSpc>
            </a:pPr>
            <a:r>
              <a:rPr sz="1200" b="0" i="0">
                <a:solidFill>
                  <a:srgbClr val="FFFFFF"/>
                </a:solidFill>
                <a:latin typeface="Meiryo UI"/>
                <a:ea typeface="Meiryo UI"/>
              </a:rPr>
              <a:t>困ったら、全国の仲間に相談を</a:t>
            </a:r>
          </a:p>
        </p:txBody>
      </p:sp>
      <p:sp>
        <p:nvSpPr>
          <p:cNvPr id="8" name="TextBox 7"/>
          <p:cNvSpPr txBox="1"/>
          <p:nvPr/>
        </p:nvSpPr>
        <p:spPr>
          <a:xfrm>
            <a:off x="914400" y="5440680"/>
            <a:ext cx="10332720" cy="457200"/>
          </a:xfrm>
          <a:prstGeom prst="rect">
            <a:avLst/>
          </a:prstGeom>
          <a:noFill/>
        </p:spPr>
        <p:txBody>
          <a:bodyPr wrap="square" lIns="0" rIns="0" tIns="0" bIns="0" anchor="t">
            <a:spAutoFit/>
          </a:bodyPr>
          <a:lstStyle/>
          <a:p>
            <a:pPr algn="l"/>
            <a:r>
              <a:rPr sz="1600" b="1" i="0">
                <a:solidFill>
                  <a:srgbClr val="BFE8D2"/>
                </a:solidFill>
                <a:latin typeface="Meiryo UI"/>
                <a:ea typeface="Meiryo UI"/>
              </a:rPr>
              <a:t>「この範囲は、自分に任せてください。そのために、大学をこう使います」</a:t>
            </a:r>
          </a:p>
        </p:txBody>
      </p:sp>
      <p:sp>
        <p:nvSpPr>
          <p:cNvPr id="9" name="TextBox 8"/>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0" name="TextBox 9"/>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ワークシート① 自分のテリトリーを描く（印刷・配布用）</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554480"/>
            <a:ext cx="8138160" cy="4160520"/>
          </a:xfrm>
          <a:prstGeom prst="roundRect">
            <a:avLst>
              <a:gd name="adj" fmla="val 2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7" name="TextBox 6"/>
          <p:cNvSpPr txBox="1"/>
          <p:nvPr/>
        </p:nvSpPr>
        <p:spPr>
          <a:xfrm>
            <a:off x="731520" y="1645920"/>
            <a:ext cx="5943600" cy="292608"/>
          </a:xfrm>
          <a:prstGeom prst="rect">
            <a:avLst/>
          </a:prstGeom>
          <a:noFill/>
        </p:spPr>
        <p:txBody>
          <a:bodyPr wrap="square" lIns="0" rIns="0" tIns="0" bIns="0" anchor="t">
            <a:spAutoFit/>
          </a:bodyPr>
          <a:lstStyle/>
          <a:p>
            <a:pPr algn="l"/>
            <a:r>
              <a:rPr sz="1200" b="1" i="0">
                <a:solidFill>
                  <a:srgbClr val="128A54"/>
                </a:solidFill>
                <a:latin typeface="Meiryo UI"/>
                <a:ea typeface="Meiryo UI"/>
              </a:rPr>
              <a:t>私の任された範囲（　　　　　　　　　　　　　　　）</a:t>
            </a:r>
          </a:p>
        </p:txBody>
      </p:sp>
      <p:sp>
        <p:nvSpPr>
          <p:cNvPr id="8" name="TextBox 7"/>
          <p:cNvSpPr txBox="1"/>
          <p:nvPr/>
        </p:nvSpPr>
        <p:spPr>
          <a:xfrm>
            <a:off x="777240" y="2011680"/>
            <a:ext cx="7680960" cy="365760"/>
          </a:xfrm>
          <a:prstGeom prst="rect">
            <a:avLst/>
          </a:prstGeom>
          <a:noFill/>
        </p:spPr>
        <p:txBody>
          <a:bodyPr wrap="square" lIns="0" rIns="0" tIns="0" bIns="0" anchor="t">
            <a:spAutoFit/>
          </a:bodyPr>
          <a:lstStyle/>
          <a:p>
            <a:pPr algn="l"/>
            <a:r>
              <a:rPr sz="1050" b="0" i="0">
                <a:solidFill>
                  <a:srgbClr val="595959"/>
                </a:solidFill>
                <a:latin typeface="Meiryo UI"/>
                <a:ea typeface="Meiryo UI"/>
              </a:rPr>
              <a:t>この枠の中に、施設を丸で置いてください。丸の大きさ＝あなたが考える重要度です。</a:t>
            </a:r>
          </a:p>
        </p:txBody>
      </p:sp>
      <p:sp>
        <p:nvSpPr>
          <p:cNvPr id="9" name="Rounded Rectangle 8"/>
          <p:cNvSpPr/>
          <p:nvPr/>
        </p:nvSpPr>
        <p:spPr>
          <a:xfrm>
            <a:off x="8915400" y="1554480"/>
            <a:ext cx="2743200" cy="2011680"/>
          </a:xfrm>
          <a:prstGeom prst="roundRect">
            <a:avLst>
              <a:gd name="adj" fmla="val 8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300" b="1" i="0">
                <a:solidFill>
                  <a:srgbClr val="FFFFFF"/>
                </a:solidFill>
                <a:latin typeface="Meiryo UI"/>
                <a:ea typeface="Meiryo UI"/>
              </a:rPr>
              <a:t>描く要素</a:t>
            </a:r>
          </a:p>
          <a:p>
            <a:pPr algn="l">
              <a:lnSpc>
                <a:spcPct val="120000"/>
              </a:lnSpc>
              <a:spcAft>
                <a:spcPts val="700"/>
              </a:spcAft>
            </a:pPr>
            <a:r>
              <a:rPr sz="1100" b="0" i="0">
                <a:solidFill>
                  <a:srgbClr val="FFFFFF"/>
                </a:solidFill>
                <a:latin typeface="Meiryo UI"/>
                <a:ea typeface="Meiryo UI"/>
              </a:rPr>
              <a:t>□ 担当する大学・基幹病院（全部）</a:t>
            </a:r>
          </a:p>
          <a:p>
            <a:pPr algn="l">
              <a:lnSpc>
                <a:spcPct val="120000"/>
              </a:lnSpc>
              <a:spcAft>
                <a:spcPts val="700"/>
              </a:spcAft>
            </a:pPr>
            <a:r>
              <a:rPr sz="1100" b="0" i="0">
                <a:solidFill>
                  <a:srgbClr val="FFFFFF"/>
                </a:solidFill>
                <a:latin typeface="Meiryo UI"/>
                <a:ea typeface="Meiryo UI"/>
              </a:rPr>
              <a:t>□ 担当外だが流れに関わる施設（薄く）</a:t>
            </a:r>
          </a:p>
          <a:p>
            <a:pPr algn="l">
              <a:lnSpc>
                <a:spcPct val="120000"/>
              </a:lnSpc>
              <a:spcAft>
                <a:spcPts val="700"/>
              </a:spcAft>
            </a:pPr>
            <a:r>
              <a:rPr sz="1100" b="0" i="0">
                <a:solidFill>
                  <a:srgbClr val="FFFFFF"/>
                </a:solidFill>
                <a:latin typeface="Meiryo UI"/>
                <a:ea typeface="Meiryo UI"/>
              </a:rPr>
              <a:t>□ 重要な医師（誰が動かす？）</a:t>
            </a:r>
          </a:p>
          <a:p>
            <a:pPr algn="l">
              <a:lnSpc>
                <a:spcPct val="120000"/>
              </a:lnSpc>
              <a:spcAft>
                <a:spcPts val="700"/>
              </a:spcAft>
            </a:pPr>
            <a:r>
              <a:rPr sz="1100" b="0" i="0">
                <a:solidFill>
                  <a:srgbClr val="FFFFFF"/>
                </a:solidFill>
                <a:latin typeface="Meiryo UI"/>
                <a:ea typeface="Meiryo UI"/>
              </a:rPr>
              <a:t>□ 患者の流れ</a:t>
            </a:r>
          </a:p>
          <a:p>
            <a:pPr algn="l">
              <a:lnSpc>
                <a:spcPct val="120000"/>
              </a:lnSpc>
              <a:spcAft>
                <a:spcPts val="700"/>
              </a:spcAft>
            </a:pPr>
            <a:r>
              <a:rPr sz="1100" b="0" i="0">
                <a:solidFill>
                  <a:srgbClr val="FFFFFF"/>
                </a:solidFill>
                <a:latin typeface="Meiryo UI"/>
                <a:ea typeface="Meiryo UI"/>
              </a:rPr>
              <a:t>□ 医師の人事・派遣</a:t>
            </a:r>
          </a:p>
          <a:p>
            <a:pPr algn="l">
              <a:lnSpc>
                <a:spcPct val="120000"/>
              </a:lnSpc>
            </a:pPr>
            <a:r>
              <a:rPr sz="1100" b="0" i="0">
                <a:solidFill>
                  <a:srgbClr val="FFFFFF"/>
                </a:solidFill>
                <a:latin typeface="Meiryo UI"/>
                <a:ea typeface="Meiryo UI"/>
              </a:rPr>
              <a:t>□ 情報・診療方針の流れ</a:t>
            </a:r>
          </a:p>
        </p:txBody>
      </p:sp>
      <p:sp>
        <p:nvSpPr>
          <p:cNvPr id="10" name="Rounded Rectangle 9"/>
          <p:cNvSpPr/>
          <p:nvPr/>
        </p:nvSpPr>
        <p:spPr>
          <a:xfrm>
            <a:off x="8915400" y="3703320"/>
            <a:ext cx="2743200" cy="2011680"/>
          </a:xfrm>
          <a:prstGeom prst="roundRect">
            <a:avLst>
              <a:gd name="adj" fmla="val 8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250" b="1" i="0">
                <a:solidFill>
                  <a:srgbClr val="262626"/>
                </a:solidFill>
                <a:latin typeface="Meiryo UI"/>
                <a:ea typeface="Meiryo UI"/>
              </a:rPr>
              <a:t>使う「機能」を書き込む</a:t>
            </a:r>
          </a:p>
          <a:p>
            <a:pPr algn="l">
              <a:lnSpc>
                <a:spcPct val="130000"/>
              </a:lnSpc>
              <a:spcAft>
                <a:spcPts val="800"/>
              </a:spcAft>
            </a:pPr>
            <a:r>
              <a:rPr sz="1100" b="0" i="0">
                <a:solidFill>
                  <a:srgbClr val="262626"/>
                </a:solidFill>
                <a:latin typeface="Meiryo UI"/>
                <a:ea typeface="Meiryo UI"/>
              </a:rPr>
              <a:t>教育／研究／臨床／医局人事／医師派遣／情報発信／講演会・研究会</a:t>
            </a:r>
          </a:p>
          <a:p>
            <a:pPr algn="l">
              <a:lnSpc>
                <a:spcPct val="125000"/>
              </a:lnSpc>
            </a:pPr>
            <a:r>
              <a:rPr sz="1100" b="1" i="0">
                <a:solidFill>
                  <a:srgbClr val="B86A00"/>
                </a:solidFill>
                <a:latin typeface="Meiryo UI"/>
                <a:ea typeface="Meiryo UI"/>
              </a:rPr>
              <a:t>→ この課題を解くのに必要な機能を、丸の中に書く</a:t>
            </a:r>
          </a:p>
        </p:txBody>
      </p:sp>
      <p:sp>
        <p:nvSpPr>
          <p:cNvPr id="11" name="Rounded Rectangle 10"/>
          <p:cNvSpPr/>
          <p:nvPr/>
        </p:nvSpPr>
        <p:spPr>
          <a:xfrm>
            <a:off x="548640" y="585216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問い：あなたの絵で、大学は何番目に大きいですか？　その理由を説明できますか？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ワークシート② 4つの問いで言語化する（＝4Sシート）</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33</a:t>
            </a:r>
          </a:p>
        </p:txBody>
      </p:sp>
      <p:sp>
        <p:nvSpPr>
          <p:cNvPr id="6" name="TextBox 5"/>
          <p:cNvSpPr txBox="1"/>
          <p:nvPr/>
        </p:nvSpPr>
        <p:spPr>
          <a:xfrm>
            <a:off x="548640" y="1463040"/>
            <a:ext cx="11109960" cy="292608"/>
          </a:xfrm>
          <a:prstGeom prst="rect">
            <a:avLst/>
          </a:prstGeom>
          <a:noFill/>
        </p:spPr>
        <p:txBody>
          <a:bodyPr wrap="square" lIns="0" rIns="0" tIns="0" bIns="0" anchor="t">
            <a:spAutoFit/>
          </a:bodyPr>
          <a:lstStyle/>
          <a:p>
            <a:pPr algn="l"/>
            <a:r>
              <a:rPr sz="1150" b="0" i="0">
                <a:solidFill>
                  <a:srgbClr val="262626"/>
                </a:solidFill>
                <a:latin typeface="Meiryo UI"/>
                <a:ea typeface="Meiryo UI"/>
              </a:rPr>
              <a:t>範囲名（　　　　　　　　　　）　作成日（　　／　　）　作成者（　　　　　　）</a:t>
            </a:r>
          </a:p>
        </p:txBody>
      </p:sp>
      <p:sp>
        <p:nvSpPr>
          <p:cNvPr id="7" name="Rounded Rectangle 6"/>
          <p:cNvSpPr/>
          <p:nvPr/>
        </p:nvSpPr>
        <p:spPr>
          <a:xfrm>
            <a:off x="548640" y="178308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① 成功像　—　範囲がどうなっていたら最高か</a:t>
            </a:r>
          </a:p>
        </p:txBody>
      </p:sp>
      <p:sp>
        <p:nvSpPr>
          <p:cNvPr id="8" name="Rounded Rectangle 7"/>
          <p:cNvSpPr/>
          <p:nvPr/>
        </p:nvSpPr>
        <p:spPr>
          <a:xfrm>
            <a:off x="548640" y="2240280"/>
            <a:ext cx="5486400" cy="91440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9" name="Rounded Rectangle 8"/>
          <p:cNvSpPr/>
          <p:nvPr/>
        </p:nvSpPr>
        <p:spPr>
          <a:xfrm>
            <a:off x="6172200" y="178308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② 現状・課題　—　理想とどこがどう違うか</a:t>
            </a:r>
          </a:p>
        </p:txBody>
      </p:sp>
      <p:sp>
        <p:nvSpPr>
          <p:cNvPr id="10" name="Rounded Rectangle 9"/>
          <p:cNvSpPr/>
          <p:nvPr/>
        </p:nvSpPr>
        <p:spPr>
          <a:xfrm>
            <a:off x="6172200" y="2240280"/>
            <a:ext cx="5486400" cy="914400"/>
          </a:xfrm>
          <a:prstGeom prst="roundRect">
            <a:avLst>
              <a:gd name="adj" fmla="val 1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1" name="Rounded Rectangle 10"/>
          <p:cNvSpPr/>
          <p:nvPr/>
        </p:nvSpPr>
        <p:spPr>
          <a:xfrm>
            <a:off x="548640" y="32004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③ 原因　—　なぜそのギャップが生まれているか</a:t>
            </a:r>
          </a:p>
        </p:txBody>
      </p:sp>
      <p:sp>
        <p:nvSpPr>
          <p:cNvPr id="12" name="Rounded Rectangle 11"/>
          <p:cNvSpPr/>
          <p:nvPr/>
        </p:nvSpPr>
        <p:spPr>
          <a:xfrm>
            <a:off x="548640" y="3657600"/>
            <a:ext cx="5486400" cy="914400"/>
          </a:xfrm>
          <a:prstGeom prst="roundRect">
            <a:avLst>
              <a:gd name="adj" fmla="val 1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3" name="Rounded Rectangle 12"/>
          <p:cNvSpPr/>
          <p:nvPr/>
        </p:nvSpPr>
        <p:spPr>
          <a:xfrm>
            <a:off x="6172200" y="32004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④ 解決法　—　何を起こすか</a:t>
            </a:r>
          </a:p>
        </p:txBody>
      </p:sp>
      <p:sp>
        <p:nvSpPr>
          <p:cNvPr id="14" name="Rounded Rectangle 13"/>
          <p:cNvSpPr/>
          <p:nvPr/>
        </p:nvSpPr>
        <p:spPr>
          <a:xfrm>
            <a:off x="6172200" y="3657600"/>
            <a:ext cx="5486400" cy="91440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5" name="Rounded Rectangle 14"/>
          <p:cNvSpPr/>
          <p:nvPr/>
        </p:nvSpPr>
        <p:spPr>
          <a:xfrm>
            <a:off x="548640"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大学・医局のWIN（相手は何をしたいか）</a:t>
            </a:r>
          </a:p>
        </p:txBody>
      </p:sp>
      <p:sp>
        <p:nvSpPr>
          <p:cNvPr id="16" name="Rounded Rectangle 15"/>
          <p:cNvSpPr/>
          <p:nvPr/>
        </p:nvSpPr>
        <p:spPr>
          <a:xfrm>
            <a:off x="548640"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7" name="Rounded Rectangle 16"/>
          <p:cNvSpPr/>
          <p:nvPr/>
        </p:nvSpPr>
        <p:spPr>
          <a:xfrm>
            <a:off x="4288536"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使う機能・影響力（誰に・何を・どこまで）</a:t>
            </a:r>
          </a:p>
        </p:txBody>
      </p:sp>
      <p:sp>
        <p:nvSpPr>
          <p:cNvPr id="18" name="Rounded Rectangle 17"/>
          <p:cNvSpPr/>
          <p:nvPr/>
        </p:nvSpPr>
        <p:spPr>
          <a:xfrm>
            <a:off x="4288536"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9" name="Rounded Rectangle 18"/>
          <p:cNvSpPr/>
          <p:nvPr/>
        </p:nvSpPr>
        <p:spPr>
          <a:xfrm>
            <a:off x="8028431"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自分の介入点／次の行動</a:t>
            </a:r>
          </a:p>
        </p:txBody>
      </p:sp>
      <p:sp>
        <p:nvSpPr>
          <p:cNvPr id="20" name="Rounded Rectangle 19"/>
          <p:cNvSpPr/>
          <p:nvPr/>
        </p:nvSpPr>
        <p:spPr>
          <a:xfrm>
            <a:off x="8028431"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21" name="Rounded Rectangle 20"/>
          <p:cNvSpPr/>
          <p:nvPr/>
        </p:nvSpPr>
        <p:spPr>
          <a:xfrm>
            <a:off x="548640" y="5870448"/>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0B4F37"/>
                </a:solidFill>
                <a:latin typeface="Meiryo UI"/>
                <a:ea typeface="Meiryo UI"/>
              </a:rPr>
              <a:t>セルフチェック：　□ 主語は「範囲」か　　□ 相手のWINを書けたか　　□ 影響力の効かせ方を決めたか　　□ 「なぜ重要か」を語れるか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DAY1〜3の学び 総まとめ（1枚で振り返る）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34</a:t>
            </a:r>
          </a:p>
        </p:txBody>
      </p:sp>
      <p:sp>
        <p:nvSpPr>
          <p:cNvPr id="6" name="Rounded Rectangle 5"/>
          <p:cNvSpPr/>
          <p:nvPr/>
        </p:nvSpPr>
        <p:spPr>
          <a:xfrm>
            <a:off x="548640" y="1600200"/>
            <a:ext cx="3566160" cy="62179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1　</a:t>
            </a:r>
            <a:r>
              <a:rPr sz="1100" b="1" i="0">
                <a:solidFill>
                  <a:srgbClr val="FFFFFF"/>
                </a:solidFill>
                <a:latin typeface="Meiryo UI"/>
                <a:ea typeface="Meiryo UI"/>
              </a:rPr>
              <a:t>大学・基幹病院のイロハ</a:t>
            </a:r>
          </a:p>
        </p:txBody>
      </p:sp>
      <p:sp>
        <p:nvSpPr>
          <p:cNvPr id="7" name="Rounded Rectangle 6"/>
          <p:cNvSpPr/>
          <p:nvPr/>
        </p:nvSpPr>
        <p:spPr>
          <a:xfrm>
            <a:off x="548640"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・大学の3使命：教育・研究・臨床。医師派遣で地域医療を支える</a:t>
            </a:r>
          </a:p>
          <a:p>
            <a:pPr algn="l">
              <a:lnSpc>
                <a:spcPct val="125000"/>
              </a:lnSpc>
              <a:spcAft>
                <a:spcPts val="900"/>
              </a:spcAft>
            </a:pPr>
            <a:r>
              <a:rPr sz="1050" b="0" i="0">
                <a:solidFill>
                  <a:srgbClr val="262626"/>
                </a:solidFill>
                <a:latin typeface="Meiryo UI"/>
                <a:ea typeface="Meiryo UI"/>
              </a:rPr>
              <a:t>・影響力はテリトリーとニーズで決まる（GP／HP／HS）</a:t>
            </a:r>
          </a:p>
          <a:p>
            <a:pPr algn="l">
              <a:lnSpc>
                <a:spcPct val="125000"/>
              </a:lnSpc>
              <a:spcAft>
                <a:spcPts val="900"/>
              </a:spcAft>
            </a:pPr>
            <a:r>
              <a:rPr sz="1050" b="0" i="0">
                <a:solidFill>
                  <a:srgbClr val="262626"/>
                </a:solidFill>
                <a:latin typeface="Meiryo UI"/>
                <a:ea typeface="Meiryo UI"/>
              </a:rPr>
              <a:t>・教授の裁量権：臨床機会の配分・医局人事・教授選・研究教育の方向性</a:t>
            </a:r>
          </a:p>
          <a:p>
            <a:pPr algn="l">
              <a:lnSpc>
                <a:spcPct val="125000"/>
              </a:lnSpc>
              <a:spcAft>
                <a:spcPts val="900"/>
              </a:spcAft>
            </a:pPr>
            <a:r>
              <a:rPr sz="1050" b="0" i="0">
                <a:solidFill>
                  <a:srgbClr val="262626"/>
                </a:solidFill>
                <a:latin typeface="Meiryo UI"/>
                <a:ea typeface="Meiryo UI"/>
              </a:rPr>
              <a:t>・大学は「医局の集合体」。病院教授／特任教授は財源・任期・実権で見分ける</a:t>
            </a:r>
          </a:p>
          <a:p>
            <a:pPr algn="l">
              <a:lnSpc>
                <a:spcPct val="125000"/>
              </a:lnSpc>
              <a:spcAft>
                <a:spcPts val="900"/>
              </a:spcAft>
            </a:pPr>
            <a:r>
              <a:rPr sz="1050" b="0" i="0">
                <a:solidFill>
                  <a:srgbClr val="262626"/>
                </a:solidFill>
                <a:latin typeface="Meiryo UI"/>
                <a:ea typeface="Meiryo UI"/>
              </a:rPr>
              <a:t>・薬審・採用は施設ごとに流れが違う。宣伝許可・申請時期・採用形態を確認</a:t>
            </a:r>
          </a:p>
        </p:txBody>
      </p:sp>
      <p:sp>
        <p:nvSpPr>
          <p:cNvPr id="8" name="Rounded Rectangle 7"/>
          <p:cNvSpPr/>
          <p:nvPr/>
        </p:nvSpPr>
        <p:spPr>
          <a:xfrm>
            <a:off x="4288536" y="1600200"/>
            <a:ext cx="3566160" cy="621792"/>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2　</a:t>
            </a:r>
            <a:r>
              <a:rPr sz="1100" b="1" i="0">
                <a:solidFill>
                  <a:srgbClr val="FFFFFF"/>
                </a:solidFill>
                <a:latin typeface="Meiryo UI"/>
                <a:ea typeface="Meiryo UI"/>
              </a:rPr>
              <a:t>「会えない」を「会える」に</a:t>
            </a:r>
          </a:p>
        </p:txBody>
      </p:sp>
      <p:sp>
        <p:nvSpPr>
          <p:cNvPr id="9" name="Rounded Rectangle 8"/>
          <p:cNvSpPr/>
          <p:nvPr/>
        </p:nvSpPr>
        <p:spPr>
          <a:xfrm>
            <a:off x="4288536"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・未訪問 → 初回接点 → 仮説面会 → 定期面会 と段階で設計する</a:t>
            </a:r>
          </a:p>
          <a:p>
            <a:pPr algn="l">
              <a:lnSpc>
                <a:spcPct val="125000"/>
              </a:lnSpc>
              <a:spcAft>
                <a:spcPts val="900"/>
              </a:spcAft>
            </a:pPr>
            <a:r>
              <a:rPr sz="1050" b="0" i="0">
                <a:solidFill>
                  <a:srgbClr val="262626"/>
                </a:solidFill>
                <a:latin typeface="Meiryo UI"/>
                <a:ea typeface="Meiryo UI"/>
              </a:rPr>
              <a:t>・アクセス方法：訪問ルール確認・秘書経由・メール・手紙・直接訪問</a:t>
            </a:r>
          </a:p>
          <a:p>
            <a:pPr algn="l">
              <a:lnSpc>
                <a:spcPct val="125000"/>
              </a:lnSpc>
              <a:spcAft>
                <a:spcPts val="900"/>
              </a:spcAft>
            </a:pPr>
            <a:r>
              <a:rPr sz="1050" b="0" i="0">
                <a:solidFill>
                  <a:srgbClr val="262626"/>
                </a:solidFill>
                <a:latin typeface="Meiryo UI"/>
                <a:ea typeface="Meiryo UI"/>
              </a:rPr>
              <a:t>・Best Time / Best Place：外来・外勤・医局会・総回診・カンファを把握</a:t>
            </a:r>
          </a:p>
          <a:p>
            <a:pPr algn="l">
              <a:lnSpc>
                <a:spcPct val="125000"/>
              </a:lnSpc>
              <a:spcAft>
                <a:spcPts val="900"/>
              </a:spcAft>
            </a:pPr>
            <a:r>
              <a:rPr sz="1050" b="0" i="0">
                <a:solidFill>
                  <a:srgbClr val="262626"/>
                </a:solidFill>
                <a:latin typeface="Meiryo UI"/>
                <a:ea typeface="Meiryo UI"/>
              </a:rPr>
              <a:t>・カレンダーで情報管理し、行動ログで1週間後に検証する</a:t>
            </a:r>
          </a:p>
          <a:p>
            <a:pPr algn="l">
              <a:lnSpc>
                <a:spcPct val="125000"/>
              </a:lnSpc>
              <a:spcAft>
                <a:spcPts val="900"/>
              </a:spcAft>
            </a:pPr>
            <a:r>
              <a:rPr sz="1050" b="0" i="0">
                <a:solidFill>
                  <a:srgbClr val="262626"/>
                </a:solidFill>
                <a:latin typeface="Meiryo UI"/>
                <a:ea typeface="Meiryo UI"/>
              </a:rPr>
              <a:t>・「会う理由」を設計し次回の約束を残す。まず1人、My teacherをつくる</a:t>
            </a:r>
          </a:p>
        </p:txBody>
      </p:sp>
      <p:sp>
        <p:nvSpPr>
          <p:cNvPr id="10" name="Rounded Rectangle 9"/>
          <p:cNvSpPr/>
          <p:nvPr/>
        </p:nvSpPr>
        <p:spPr>
          <a:xfrm>
            <a:off x="8028431" y="1600200"/>
            <a:ext cx="3566160" cy="621792"/>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3　</a:t>
            </a:r>
            <a:r>
              <a:rPr sz="1100" b="1" i="0">
                <a:solidFill>
                  <a:srgbClr val="FFFFFF"/>
                </a:solidFill>
                <a:latin typeface="Meiryo UI"/>
                <a:ea typeface="Meiryo UI"/>
              </a:rPr>
              <a:t>やっぱりMRは情報が命</a:t>
            </a:r>
          </a:p>
        </p:txBody>
      </p:sp>
      <p:sp>
        <p:nvSpPr>
          <p:cNvPr id="11" name="Rounded Rectangle 10"/>
          <p:cNvSpPr/>
          <p:nvPr/>
        </p:nvSpPr>
        <p:spPr>
          <a:xfrm>
            <a:off x="8028431"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・ドライ情報：HP・機関紙・掲示物・Veeva Link・講演内容 など</a:t>
            </a:r>
          </a:p>
          <a:p>
            <a:pPr algn="l">
              <a:lnSpc>
                <a:spcPct val="125000"/>
              </a:lnSpc>
              <a:spcAft>
                <a:spcPts val="900"/>
              </a:spcAft>
            </a:pPr>
            <a:r>
              <a:rPr sz="1050" b="0" i="0">
                <a:solidFill>
                  <a:srgbClr val="262626"/>
                </a:solidFill>
                <a:latin typeface="Meiryo UI"/>
                <a:ea typeface="Meiryo UI"/>
              </a:rPr>
              <a:t>・ウェット情報：面会・他Dr・社内他領域・MS・HCP・講演会での雑談 など</a:t>
            </a:r>
          </a:p>
          <a:p>
            <a:pPr algn="l">
              <a:lnSpc>
                <a:spcPct val="125000"/>
              </a:lnSpc>
              <a:spcAft>
                <a:spcPts val="900"/>
              </a:spcAft>
            </a:pPr>
            <a:r>
              <a:rPr sz="1050" b="0" i="0">
                <a:solidFill>
                  <a:srgbClr val="262626"/>
                </a:solidFill>
                <a:latin typeface="Meiryo UI"/>
                <a:ea typeface="Meiryo UI"/>
              </a:rPr>
              <a:t>・分からないことは small b として面会に持ち込み、解像度を上げていく</a:t>
            </a:r>
          </a:p>
          <a:p>
            <a:pPr algn="l">
              <a:lnSpc>
                <a:spcPct val="125000"/>
              </a:lnSpc>
              <a:spcAft>
                <a:spcPts val="900"/>
              </a:spcAft>
            </a:pPr>
            <a:r>
              <a:rPr sz="1050" b="0" i="0">
                <a:solidFill>
                  <a:srgbClr val="262626"/>
                </a:solidFill>
                <a:latin typeface="Meiryo UI"/>
                <a:ea typeface="Meiryo UI"/>
              </a:rPr>
              <a:t>・顧客理解＝現状把握。何を・なぜ使い、患者をどうしたいのかを知る</a:t>
            </a:r>
          </a:p>
          <a:p>
            <a:pPr algn="l">
              <a:lnSpc>
                <a:spcPct val="125000"/>
              </a:lnSpc>
              <a:spcAft>
                <a:spcPts val="900"/>
              </a:spcAft>
            </a:pPr>
            <a:r>
              <a:rPr sz="1050" b="0" i="0">
                <a:solidFill>
                  <a:srgbClr val="262626"/>
                </a:solidFill>
                <a:latin typeface="Meiryo UI"/>
                <a:ea typeface="Meiryo UI"/>
              </a:rPr>
              <a:t>・面会後は「なぜ」を分解し、仮説を立てて次の面会へつなげる</a:t>
            </a:r>
          </a:p>
        </p:txBody>
      </p:sp>
      <p:sp>
        <p:nvSpPr>
          <p:cNvPr id="12" name="Rounded Rectangle 11"/>
          <p:cNvSpPr/>
          <p:nvPr/>
        </p:nvSpPr>
        <p:spPr>
          <a:xfrm>
            <a:off x="548640" y="5715000"/>
            <a:ext cx="11109960" cy="59436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DAY4：この3つを「何のために使うか」を決めるのが、戦略的思考です。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大学の「肩書き」早見表 — DAY1の補足</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肩書きではなく「財源・任期・実権・医局への接続」で判断する、というDAY1の考え方の一覧版です。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35</a:t>
            </a:r>
          </a:p>
        </p:txBody>
      </p:sp>
      <p:sp>
        <p:nvSpPr>
          <p:cNvPr id="7" name="Rounded Rectangle 6"/>
          <p:cNvSpPr/>
          <p:nvPr/>
        </p:nvSpPr>
        <p:spPr>
          <a:xfrm>
            <a:off x="548640" y="1874519"/>
            <a:ext cx="548640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院内の本流ライン</a:t>
            </a:r>
          </a:p>
        </p:txBody>
      </p:sp>
      <p:sp>
        <p:nvSpPr>
          <p:cNvPr id="8" name="Rounded Rectangle 7"/>
          <p:cNvSpPr/>
          <p:nvPr/>
        </p:nvSpPr>
        <p:spPr>
          <a:xfrm>
            <a:off x="6172200" y="1874519"/>
            <a:ext cx="548640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読み違えやすい肩書き（要・個別確認）</a:t>
            </a:r>
          </a:p>
        </p:txBody>
      </p:sp>
      <p:sp>
        <p:nvSpPr>
          <p:cNvPr id="9" name="Rounded Rectangle 8"/>
          <p:cNvSpPr/>
          <p:nvPr/>
        </p:nvSpPr>
        <p:spPr>
          <a:xfrm>
            <a:off x="54864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教授（診療科長）</a:t>
            </a:r>
          </a:p>
          <a:p>
            <a:pPr algn="l">
              <a:lnSpc>
                <a:spcPct val="118000"/>
              </a:lnSpc>
            </a:pPr>
            <a:r>
              <a:rPr sz="1050" b="0" i="0">
                <a:solidFill>
                  <a:srgbClr val="262626"/>
                </a:solidFill>
                <a:latin typeface="Meiryo UI"/>
                <a:ea typeface="Meiryo UI"/>
              </a:rPr>
              <a:t>方針・人事の最終決定者。ただし多忙で、現場の細部は下のポジションが握っていることが多い</a:t>
            </a:r>
          </a:p>
        </p:txBody>
      </p:sp>
      <p:sp>
        <p:nvSpPr>
          <p:cNvPr id="10" name="Rounded Rectangle 9"/>
          <p:cNvSpPr/>
          <p:nvPr/>
        </p:nvSpPr>
        <p:spPr>
          <a:xfrm>
            <a:off x="54864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准教授・講師</a:t>
            </a:r>
          </a:p>
          <a:p>
            <a:pPr algn="l">
              <a:lnSpc>
                <a:spcPct val="118000"/>
              </a:lnSpc>
            </a:pPr>
            <a:r>
              <a:rPr sz="1050" b="0" i="0">
                <a:solidFill>
                  <a:srgbClr val="262626"/>
                </a:solidFill>
                <a:latin typeface="Meiryo UI"/>
                <a:ea typeface="Meiryo UI"/>
              </a:rPr>
              <a:t>実務の要であり、次期教授候補。3年後のキーパーソンとして関係構築は先行投資になる</a:t>
            </a:r>
          </a:p>
        </p:txBody>
      </p:sp>
      <p:sp>
        <p:nvSpPr>
          <p:cNvPr id="11" name="Rounded Rectangle 10"/>
          <p:cNvSpPr/>
          <p:nvPr/>
        </p:nvSpPr>
        <p:spPr>
          <a:xfrm>
            <a:off x="54864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医局長</a:t>
            </a:r>
          </a:p>
          <a:p>
            <a:pPr algn="l">
              <a:lnSpc>
                <a:spcPct val="118000"/>
              </a:lnSpc>
            </a:pPr>
            <a:r>
              <a:rPr sz="1050" b="0" i="0">
                <a:solidFill>
                  <a:srgbClr val="262626"/>
                </a:solidFill>
                <a:latin typeface="Meiryo UI"/>
                <a:ea typeface="Meiryo UI"/>
              </a:rPr>
              <a:t>医局の雑務・人事、医局行事の窓口。教授からの信頼が高く、影響力が大きい</a:t>
            </a:r>
          </a:p>
        </p:txBody>
      </p:sp>
      <p:sp>
        <p:nvSpPr>
          <p:cNvPr id="12" name="Rounded Rectangle 11"/>
          <p:cNvSpPr/>
          <p:nvPr/>
        </p:nvSpPr>
        <p:spPr>
          <a:xfrm>
            <a:off x="54864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助教・医員・専攻医</a:t>
            </a:r>
          </a:p>
          <a:p>
            <a:pPr algn="l">
              <a:lnSpc>
                <a:spcPct val="118000"/>
              </a:lnSpc>
            </a:pPr>
            <a:r>
              <a:rPr sz="1050" b="0" i="0">
                <a:solidFill>
                  <a:srgbClr val="262626"/>
                </a:solidFill>
                <a:latin typeface="Meiryo UI"/>
                <a:ea typeface="Meiryo UI"/>
              </a:rPr>
              <a:t>実処方と臨床研究の担い手。数年後、関連病院の幹部として範囲の中に散っていく</a:t>
            </a:r>
          </a:p>
        </p:txBody>
      </p:sp>
      <p:sp>
        <p:nvSpPr>
          <p:cNvPr id="13" name="Rounded Rectangle 12"/>
          <p:cNvSpPr/>
          <p:nvPr/>
        </p:nvSpPr>
        <p:spPr>
          <a:xfrm>
            <a:off x="617220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病院教授</a:t>
            </a:r>
          </a:p>
          <a:p>
            <a:pPr algn="l">
              <a:lnSpc>
                <a:spcPct val="118000"/>
              </a:lnSpc>
            </a:pPr>
            <a:r>
              <a:rPr sz="1050" b="0" i="0">
                <a:solidFill>
                  <a:srgbClr val="262626"/>
                </a:solidFill>
                <a:latin typeface="Meiryo UI"/>
                <a:ea typeface="Meiryo UI"/>
              </a:rPr>
              <a:t>臨床・病院運営に強い教授級ポスト。採用・薬審・院内導線には強いが、医局人事権とは別のことがある</a:t>
            </a:r>
          </a:p>
        </p:txBody>
      </p:sp>
      <p:sp>
        <p:nvSpPr>
          <p:cNvPr id="14" name="Rounded Rectangle 13"/>
          <p:cNvSpPr/>
          <p:nvPr/>
        </p:nvSpPr>
        <p:spPr>
          <a:xfrm>
            <a:off x="617220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特任教授</a:t>
            </a:r>
          </a:p>
          <a:p>
            <a:pPr algn="l">
              <a:lnSpc>
                <a:spcPct val="118000"/>
              </a:lnSpc>
            </a:pPr>
            <a:r>
              <a:rPr sz="1050" b="0" i="0">
                <a:solidFill>
                  <a:srgbClr val="262626"/>
                </a:solidFill>
                <a:latin typeface="Meiryo UI"/>
                <a:ea typeface="Meiryo UI"/>
              </a:rPr>
              <a:t>寄附講座・共同研究など外部資金による任用。研究・講演には強いが、医局人事は限定的なことも</a:t>
            </a:r>
          </a:p>
        </p:txBody>
      </p:sp>
      <p:sp>
        <p:nvSpPr>
          <p:cNvPr id="15" name="Rounded Rectangle 14"/>
          <p:cNvSpPr/>
          <p:nvPr/>
        </p:nvSpPr>
        <p:spPr>
          <a:xfrm>
            <a:off x="617220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客員・非常勤</a:t>
            </a:r>
          </a:p>
          <a:p>
            <a:pPr algn="l">
              <a:lnSpc>
                <a:spcPct val="118000"/>
              </a:lnSpc>
            </a:pPr>
            <a:r>
              <a:rPr sz="1050" b="0" i="0">
                <a:solidFill>
                  <a:srgbClr val="262626"/>
                </a:solidFill>
                <a:latin typeface="Meiryo UI"/>
                <a:ea typeface="Meiryo UI"/>
              </a:rPr>
              <a:t>本務は他施設。院内の決定権は限定的だが、施設間ネットワークのハブになっていることがある</a:t>
            </a:r>
          </a:p>
        </p:txBody>
      </p:sp>
      <p:sp>
        <p:nvSpPr>
          <p:cNvPr id="16" name="Rounded Rectangle 15"/>
          <p:cNvSpPr/>
          <p:nvPr/>
        </p:nvSpPr>
        <p:spPr>
          <a:xfrm>
            <a:off x="617220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名誉教授</a:t>
            </a:r>
          </a:p>
          <a:p>
            <a:pPr algn="l">
              <a:lnSpc>
                <a:spcPct val="118000"/>
              </a:lnSpc>
            </a:pPr>
            <a:r>
              <a:rPr sz="1050" b="0" i="0">
                <a:solidFill>
                  <a:srgbClr val="262626"/>
                </a:solidFill>
                <a:latin typeface="Meiryo UI"/>
                <a:ea typeface="Meiryo UI"/>
              </a:rPr>
              <a:t>退官後の称号で現役の決定権はない。ただし人脈・影響力は健在。研究会や講演会の重鎮</a:t>
            </a:r>
          </a:p>
        </p:txBody>
      </p:sp>
      <p:sp>
        <p:nvSpPr>
          <p:cNvPr id="17" name="Rounded Rectangle 16"/>
          <p:cNvSpPr/>
          <p:nvPr/>
        </p:nvSpPr>
        <p:spPr>
          <a:xfrm>
            <a:off x="548640" y="589788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MR確認チェック：① 財源　② 任期　③ 実権（薬審・採用・医局人事のどこに効くか）　④ 本務教授・医局長・薬剤部との距離　⑤ COIの扱い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大学活動 コンプライアンスの5原則</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アンケートの不安「寄附金・広告協賛・宣伝許可・施設ルール」に応えて。攻める活動ほど、守りが土台になります。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36</a:t>
            </a:r>
          </a:p>
        </p:txBody>
      </p:sp>
      <p:sp>
        <p:nvSpPr>
          <p:cNvPr id="7" name="Rounded Rectangle 6"/>
          <p:cNvSpPr/>
          <p:nvPr/>
        </p:nvSpPr>
        <p:spPr>
          <a:xfrm>
            <a:off x="548640" y="196596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① 施設ルールが最優先</a:t>
            </a:r>
          </a:p>
        </p:txBody>
      </p:sp>
      <p:sp>
        <p:nvSpPr>
          <p:cNvPr id="8" name="Rounded Rectangle 7"/>
          <p:cNvSpPr/>
          <p:nvPr/>
        </p:nvSpPr>
        <p:spPr>
          <a:xfrm>
            <a:off x="4480560" y="196596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訪問・面会・資材配布のルールは施設ごとに違う。着任時と変更時に必ず確認し、迷ったら守りに倒す</a:t>
            </a:r>
          </a:p>
        </p:txBody>
      </p:sp>
      <p:sp>
        <p:nvSpPr>
          <p:cNvPr id="9" name="Rounded Rectangle 8"/>
          <p:cNvSpPr/>
          <p:nvPr/>
        </p:nvSpPr>
        <p:spPr>
          <a:xfrm>
            <a:off x="548640" y="278892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② 寄附金・広告協賛は「その場で約束しない」</a:t>
            </a:r>
          </a:p>
        </p:txBody>
      </p:sp>
      <p:sp>
        <p:nvSpPr>
          <p:cNvPr id="10" name="Rounded Rectangle 9"/>
          <p:cNvSpPr/>
          <p:nvPr/>
        </p:nvSpPr>
        <p:spPr>
          <a:xfrm>
            <a:off x="4480560" y="278892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依頼を受けたら即答せず、必ず社内の申請・審査手続きに乗せる。誠実な「持ち帰ります」は信頼を損なわない</a:t>
            </a:r>
          </a:p>
        </p:txBody>
      </p:sp>
      <p:sp>
        <p:nvSpPr>
          <p:cNvPr id="11" name="Rounded Rectangle 10"/>
          <p:cNvSpPr/>
          <p:nvPr/>
        </p:nvSpPr>
        <p:spPr>
          <a:xfrm>
            <a:off x="548640" y="3611879"/>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③ 宣伝許可・採用ルールは現行の文書で確認</a:t>
            </a:r>
          </a:p>
        </p:txBody>
      </p:sp>
      <p:sp>
        <p:nvSpPr>
          <p:cNvPr id="12" name="Rounded Rectangle 11"/>
          <p:cNvSpPr/>
          <p:nvPr/>
        </p:nvSpPr>
        <p:spPr>
          <a:xfrm>
            <a:off x="4480560" y="3611879"/>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「前任者がやっていた」は根拠にならない。DAY1で学んだ薬審・採用の流れを、施設ごとに毎回確認する</a:t>
            </a:r>
          </a:p>
        </p:txBody>
      </p:sp>
      <p:sp>
        <p:nvSpPr>
          <p:cNvPr id="13" name="Rounded Rectangle 12"/>
          <p:cNvSpPr/>
          <p:nvPr/>
        </p:nvSpPr>
        <p:spPr>
          <a:xfrm>
            <a:off x="548640" y="443484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④ 迷ったら自己判断しない</a:t>
            </a:r>
          </a:p>
        </p:txBody>
      </p:sp>
      <p:sp>
        <p:nvSpPr>
          <p:cNvPr id="14" name="Rounded Rectangle 13"/>
          <p:cNvSpPr/>
          <p:nvPr/>
        </p:nvSpPr>
        <p:spPr>
          <a:xfrm>
            <a:off x="4480560" y="443484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判断基準はプロモーションコードと社内SOP。少しでも迷ったら上司・コンプライアンス部門に相談してから動く</a:t>
            </a:r>
          </a:p>
        </p:txBody>
      </p:sp>
      <p:sp>
        <p:nvSpPr>
          <p:cNvPr id="15" name="Rounded Rectangle 14"/>
          <p:cNvSpPr/>
          <p:nvPr/>
        </p:nvSpPr>
        <p:spPr>
          <a:xfrm>
            <a:off x="548640" y="525780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⑤ 記録を残す</a:t>
            </a:r>
          </a:p>
        </p:txBody>
      </p:sp>
      <p:sp>
        <p:nvSpPr>
          <p:cNvPr id="16" name="Rounded Rectangle 15"/>
          <p:cNvSpPr/>
          <p:nvPr/>
        </p:nvSpPr>
        <p:spPr>
          <a:xfrm>
            <a:off x="4480560" y="525780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依頼・回答・手続きの経緯を記録に残す。誠実さの証明であり、先生と自分の両方を守る武器になる</a:t>
            </a:r>
          </a:p>
        </p:txBody>
      </p:sp>
      <p:sp>
        <p:nvSpPr>
          <p:cNvPr id="17" name="TextBox 16"/>
          <p:cNvSpPr txBox="1"/>
          <p:nvPr/>
        </p:nvSpPr>
        <p:spPr>
          <a:xfrm>
            <a:off x="2560320" y="6144768"/>
            <a:ext cx="9144000" cy="292608"/>
          </a:xfrm>
          <a:prstGeom prst="rect">
            <a:avLst/>
          </a:prstGeom>
          <a:noFill/>
        </p:spPr>
        <p:txBody>
          <a:bodyPr wrap="square" lIns="0" rIns="0" tIns="0" bIns="0" anchor="t">
            <a:spAutoFit/>
          </a:bodyPr>
          <a:lstStyle/>
          <a:p>
            <a:pPr algn="l"/>
            <a:r>
              <a:rPr sz="1150" b="1" i="0">
                <a:solidFill>
                  <a:srgbClr val="595959"/>
                </a:solidFill>
                <a:latin typeface="Meiryo UI"/>
                <a:ea typeface="Meiryo UI"/>
              </a:rPr>
              <a:t>※ 本スライドは一般的な注意喚起です。個別の案件は、必ず最新の社内規程と担当部門の指示に従ってください。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F</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ファシリテーター用メモ（進行のコツ）</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37</a:t>
            </a:r>
          </a:p>
        </p:txBody>
      </p:sp>
      <p:sp>
        <p:nvSpPr>
          <p:cNvPr id="6" name="Rounded Rectangle 5"/>
          <p:cNvSpPr/>
          <p:nvPr/>
        </p:nvSpPr>
        <p:spPr>
          <a:xfrm>
            <a:off x="54864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事前準備・時間管理</a:t>
            </a:r>
          </a:p>
        </p:txBody>
      </p:sp>
      <p:sp>
        <p:nvSpPr>
          <p:cNvPr id="7" name="Rounded Rectangle 6"/>
          <p:cNvSpPr/>
          <p:nvPr/>
        </p:nvSpPr>
        <p:spPr>
          <a:xfrm>
            <a:off x="54864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・事前案内：A4白紙1枚とペンを持参、担当範囲の施設を思い出してくる</a:t>
            </a:r>
          </a:p>
          <a:p>
            <a:pPr algn="l">
              <a:lnSpc>
                <a:spcPct val="120000"/>
              </a:lnSpc>
              <a:spcAft>
                <a:spcPts val="700"/>
              </a:spcAft>
            </a:pPr>
            <a:r>
              <a:rPr sz="1100" b="0" i="0">
                <a:solidFill>
                  <a:srgbClr val="262626"/>
                </a:solidFill>
                <a:latin typeface="Meiryo UI"/>
                <a:ea typeface="Meiryo UI"/>
              </a:rPr>
              <a:t>・録画を回し、気づきリストとセットで欠席者へ共有（アンケートで要望多数）</a:t>
            </a:r>
          </a:p>
          <a:p>
            <a:pPr algn="l">
              <a:lnSpc>
                <a:spcPct val="120000"/>
              </a:lnSpc>
              <a:spcAft>
                <a:spcPts val="700"/>
              </a:spcAft>
            </a:pPr>
            <a:r>
              <a:rPr sz="1100" b="0" i="0">
                <a:solidFill>
                  <a:srgbClr val="262626"/>
                </a:solidFill>
                <a:latin typeface="Meiryo UI"/>
                <a:ea typeface="Meiryo UI"/>
              </a:rPr>
              <a:t>・オープニングは5分厳守。テーマ①②の各25分（講義10・ワーク10・共有5）を死守する</a:t>
            </a:r>
          </a:p>
        </p:txBody>
      </p:sp>
      <p:sp>
        <p:nvSpPr>
          <p:cNvPr id="8" name="Rounded Rectangle 7"/>
          <p:cNvSpPr/>
          <p:nvPr/>
        </p:nvSpPr>
        <p:spPr>
          <a:xfrm>
            <a:off x="617220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場づくり</a:t>
            </a:r>
          </a:p>
        </p:txBody>
      </p:sp>
      <p:sp>
        <p:nvSpPr>
          <p:cNvPr id="9" name="Rounded Rectangle 8"/>
          <p:cNvSpPr/>
          <p:nvPr/>
        </p:nvSpPr>
        <p:spPr>
          <a:xfrm>
            <a:off x="617220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・チェックインは進行役が最初に投稿し、投稿のハードルを下げる</a:t>
            </a:r>
          </a:p>
          <a:p>
            <a:pPr algn="l">
              <a:lnSpc>
                <a:spcPct val="120000"/>
              </a:lnSpc>
              <a:spcAft>
                <a:spcPts val="700"/>
              </a:spcAft>
            </a:pPr>
            <a:r>
              <a:rPr sz="1100" b="0" i="0">
                <a:solidFill>
                  <a:srgbClr val="262626"/>
                </a:solidFill>
                <a:latin typeface="Meiryo UI"/>
                <a:ea typeface="Meiryo UI"/>
              </a:rPr>
              <a:t>・「大学が一番大きくない絵」が出たら、その場で全体に紹介する</a:t>
            </a:r>
          </a:p>
          <a:p>
            <a:pPr algn="l">
              <a:lnSpc>
                <a:spcPct val="120000"/>
              </a:lnSpc>
              <a:spcAft>
                <a:spcPts val="700"/>
              </a:spcAft>
            </a:pPr>
            <a:r>
              <a:rPr sz="1100" b="0" i="0">
                <a:solidFill>
                  <a:srgbClr val="262626"/>
                </a:solidFill>
                <a:latin typeface="Meiryo UI"/>
                <a:ea typeface="Meiryo UI"/>
              </a:rPr>
              <a:t>・ワーク中は沈黙OKと伝える。ブレイクアウトは各室を1周して1声かけ</a:t>
            </a:r>
          </a:p>
        </p:txBody>
      </p:sp>
      <p:sp>
        <p:nvSpPr>
          <p:cNvPr id="10" name="Rounded Rectangle 9"/>
          <p:cNvSpPr/>
          <p:nvPr/>
        </p:nvSpPr>
        <p:spPr>
          <a:xfrm>
            <a:off x="54864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つまずき対応</a:t>
            </a:r>
          </a:p>
        </p:txBody>
      </p:sp>
      <p:sp>
        <p:nvSpPr>
          <p:cNvPr id="11" name="Rounded Rectangle 10"/>
          <p:cNvSpPr/>
          <p:nvPr/>
        </p:nvSpPr>
        <p:spPr>
          <a:xfrm>
            <a:off x="54864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・絵が描けない人には「重要そうな5施設だけ」と伝える</a:t>
            </a:r>
          </a:p>
          <a:p>
            <a:pPr algn="l">
              <a:lnSpc>
                <a:spcPct val="120000"/>
              </a:lnSpc>
              <a:spcAft>
                <a:spcPts val="700"/>
              </a:spcAft>
            </a:pPr>
            <a:r>
              <a:rPr sz="1100" b="0" i="0">
                <a:solidFill>
                  <a:srgbClr val="262626"/>
                </a:solidFill>
                <a:latin typeface="Meiryo UI"/>
                <a:ea typeface="Meiryo UI"/>
              </a:rPr>
              <a:t>・「正解がない」ことに戸惑う人には、4パターンのスライドに戻る</a:t>
            </a:r>
          </a:p>
          <a:p>
            <a:pPr algn="l">
              <a:lnSpc>
                <a:spcPct val="120000"/>
              </a:lnSpc>
              <a:spcAft>
                <a:spcPts val="700"/>
              </a:spcAft>
            </a:pPr>
            <a:r>
              <a:rPr sz="1100" b="0" i="0">
                <a:solidFill>
                  <a:srgbClr val="262626"/>
                </a:solidFill>
                <a:latin typeface="Meiryo UI"/>
                <a:ea typeface="Meiryo UI"/>
              </a:rPr>
              <a:t>・言葉が埋まらない人には「1つでも言い切れれば成功」と伝える</a:t>
            </a:r>
          </a:p>
        </p:txBody>
      </p:sp>
      <p:sp>
        <p:nvSpPr>
          <p:cNvPr id="12" name="Rounded Rectangle 11"/>
          <p:cNvSpPr/>
          <p:nvPr/>
        </p:nvSpPr>
        <p:spPr>
          <a:xfrm>
            <a:off x="617220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Beyondの扱い</a:t>
            </a:r>
          </a:p>
        </p:txBody>
      </p:sp>
      <p:sp>
        <p:nvSpPr>
          <p:cNvPr id="13" name="Rounded Rectangle 12"/>
          <p:cNvSpPr/>
          <p:nvPr/>
        </p:nvSpPr>
        <p:spPr>
          <a:xfrm>
            <a:off x="617220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・Beyondは全員必達にしない。「考え方の紹介」として軽く置く</a:t>
            </a:r>
          </a:p>
          <a:p>
            <a:pPr algn="l">
              <a:lnSpc>
                <a:spcPct val="120000"/>
              </a:lnSpc>
              <a:spcAft>
                <a:spcPts val="700"/>
              </a:spcAft>
            </a:pPr>
            <a:r>
              <a:rPr sz="1100" b="0" i="0">
                <a:solidFill>
                  <a:srgbClr val="262626"/>
                </a:solidFill>
                <a:latin typeface="Meiryo UI"/>
                <a:ea typeface="Meiryo UI"/>
              </a:rPr>
              <a:t>・難しくしすぎて手が止まるより、「大学の枠を外す」体験の持ち帰りを優先</a:t>
            </a:r>
          </a:p>
          <a:p>
            <a:pPr algn="l">
              <a:lnSpc>
                <a:spcPct val="120000"/>
              </a:lnSpc>
              <a:spcAft>
                <a:spcPts val="700"/>
              </a:spcAft>
            </a:pPr>
            <a:r>
              <a:rPr sz="1100" b="0" i="0">
                <a:solidFill>
                  <a:srgbClr val="262626"/>
                </a:solidFill>
                <a:latin typeface="Meiryo UI"/>
                <a:ea typeface="Meiryo UI"/>
              </a:rPr>
              <a:t>・最終回なので、シリーズ全体の感想を1言ずつ集めてから終える</a:t>
            </a:r>
          </a:p>
        </p:txBody>
      </p:sp>
      <p:sp>
        <p:nvSpPr>
          <p:cNvPr id="14" name="TextBox 13"/>
          <p:cNvSpPr txBox="1"/>
          <p:nvPr/>
        </p:nvSpPr>
        <p:spPr>
          <a:xfrm>
            <a:off x="2560320" y="6144768"/>
            <a:ext cx="9144000" cy="292608"/>
          </a:xfrm>
          <a:prstGeom prst="rect">
            <a:avLst/>
          </a:prstGeom>
          <a:noFill/>
        </p:spPr>
        <p:txBody>
          <a:bodyPr wrap="square" lIns="0" rIns="0" tIns="0" bIns="0" anchor="t">
            <a:spAutoFit/>
          </a:bodyPr>
          <a:lstStyle/>
          <a:p>
            <a:pPr algn="l"/>
            <a:r>
              <a:rPr sz="1100" b="0" i="0">
                <a:solidFill>
                  <a:srgbClr val="595959"/>
                </a:solidFill>
                <a:latin typeface="Meiryo UI"/>
                <a:ea typeface="Meiryo UI"/>
              </a:rPr>
              <a:t>本資料の事例・人名はすべて架空です。実施設の情報を扱う際は、社内の情報取り扱いルールに従ってください。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