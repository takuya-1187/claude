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■ワーク①「ウォンツとニーズの仕分け」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■ワーク②「仮説立て」とエリアプラン・4S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3回の振り返り｜Winをエリアまで広げる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ワーク①「Wants と Needs 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 4S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WantsをNeedsへ｜解決策まで出す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91256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44184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4496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07424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4S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解決策にする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情報の量では、差がつかない。</a:t>
            </a:r>
          </a:p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4495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 +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3者のWinを、エリアまで広げる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患者さん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適切な治療に、適切な時期で届く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顧客（医局・施設）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果たしたい役割が、果たせる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ノバルティス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必要な患者さんに、届く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解決策とは、この3者が同時にWinになっているもの（SAM）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80"/>
            <a:ext cx="1110996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BEYOND　―　Winは、その施設の外まで広げられる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関連病院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近隣大学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地域の先生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7424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患者さんの流れ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Needsは「状態」、Wantsは「手段」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76272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80944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13432" y="3520440"/>
            <a:ext cx="402336" cy="292608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Gapを埋める手段 ＝ Wants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53712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顧客が口にするのは、ほとんどWants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6459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64592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観察できること。願望が入っていない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例：腎生検が3年前の半分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265176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265176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「〜が欲しい」「〜してほしい」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例：勉強会をやってほしい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6576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65760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「〜したい」「〜が足りない・困っている」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例：若手を育てたい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4663440"/>
            <a:ext cx="6720840" cy="4572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迷ったら「これは状態か、手段か」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Factは仮説の材料。Wantsは入口。Needsは目指す状態。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①-1　｜　4分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例題を、Fact／Wants／Needs に仕分ける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腎臓内科の医局・先生から得た情報です。①〜⑨を、下の3つのどこに置きますか。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① 関連病院の先生向けに、CKDの勉強会をやってほしい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〇〇大学の△△先生を、次の研究会に呼んでほしい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58768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858768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645152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645152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431536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431536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619963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番号を入れて、なぜそこに置いたかを一言で言えるように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①-2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これまでの経験を共有する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先生のWantsから、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Needsを汲み取れた経験</a:t>
            </a:r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はありますか？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63240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26464" y="3063240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どんな言葉（Wants）から始まりましたか？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67912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6464" y="3867912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その裏にあるNeedsは、何だと考えましたか？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72584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4672584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気づいたあと、活動はどう変わりましたか？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23560"/>
            <a:ext cx="11109960" cy="60350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3〜4人で。うまくいかなかった経験でも構いません。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642616" cy="384048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Wantsから、Needsを汲み取った経験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出てきた Wants（言われた言葉）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399" y="141732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汲み取った Needs（状態）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9" y="1417320"/>
            <a:ext cx="3611880" cy="50292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活動・提案がどう変わったか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399" y="1993392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38159" y="1993392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399" y="3054096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59" y="3054096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399" y="4114800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59" y="4114800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175504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3399" y="5175504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59" y="5175504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6090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Wantsに「なぜ？」を重ねて、Needsへ降りる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Wantsに応えるだけなら、御用聞き。</a:t>
            </a: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　Needsまで降りると、提案になる。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Wants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28600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81912" y="296265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15468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315468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81912" y="383133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4023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581912" y="470001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8920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Needs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489204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地域で早く見つけ、適切な時期に紹介される状態にしたい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715000"/>
            <a:ext cx="11109960" cy="53035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仮説は1つとは限らない。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複数立てて、次の面談の質問で確かめる。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自分の担当施設で、仮説と解決策を考える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1　Fact・Wants・Needsを置く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82696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2　仮説を1文にする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35624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3　4Sに当てはめる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4　解決策を出す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9152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08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・「地域の腎臓診療の入口」を担いたいのではないか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・学会長の年に、医局の実績を外に出したいのではないか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・若手が育っていないことが、腎生検の減少の原因ではないか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・紹介基準が、地域の先生に伝わっていないのではないか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・全国発信の場を求めていて、近隣大学とも組めるのではないか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59152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解決策の例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・紹介基準を、研究会や連携パスで地域と共有する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・若手向けの症例検討会を、医局の教育実績として残す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・医局の症例を、エリア・全国の講演会で発信する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・案内を医師から医師へ回してもらい、参加の角度を上げる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例は参考。自分のエリアの言葉に置き換えてください。</a:t>
            </a:r>
          </a:p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解決策は「顧客・患者さん・自社」の3者がWinになっているかで検証する。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42616" cy="365760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　　　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6583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350008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048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理想とのGAPを洗い出す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350008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404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91256"/>
            <a:ext cx="5486400" cy="1234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480560"/>
            <a:ext cx="274320" cy="310896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079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その理由を深掘る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打ち手（Wantsを手がかりに）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91256"/>
            <a:ext cx="5486400" cy="30358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39496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414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記入例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仕分けと仮説が、そのまま4Sに入る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3657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84248"/>
            <a:ext cx="11109960" cy="548640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地域で早く見つかり、適切な時期に紹介される状態になっている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24912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548640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・腎生検が3年前の半減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・進行してから紹介されることが多い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・教授が来年、学会の会長を務める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27448"/>
            <a:ext cx="5486400" cy="914400"/>
          </a:xfrm>
          <a:prstGeom prst="roundRect">
            <a:avLst>
              <a:gd name="adj" fmla="val 2000"/>
            </a:avLst>
          </a:prstGeom>
          <a:solidFill>
            <a:srgbClr val="EAF0F9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地域の入口を担いたいが、関連病院との接点が薄く、紹介基準が共有されていない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724912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86400" cy="2532888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・テーマは「紹介基準の共通認識づくり」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・近隣大学のファカルティも登壇に入れる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・案内は医師から医師へ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・学会長の年に合わせ、医局の症例発信の場も設計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788152"/>
            <a:ext cx="1110996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Wants（勉強会をやってほしい）は入口。Needsまで降りたから、エリアの形になった。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⑦ インタビュー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0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 決め手になったFact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2377440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46704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先生のWantsとNeeds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346704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31596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エリアの誰を、どの順番で巻き込んだか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4315968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2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④ 自分のエリアで確かめたいこと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5285232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一言のWantsから、3大学をつないだ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初回面談の一言（Wants）　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Fact ─ 集まっていた事実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使用経験は女子医大に複数例、近隣2大学は未使用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院内の小児腎・移植でも共有Needs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近隣大学の先生は共同研究者・女子医大出身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Needs と 仮説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Needs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仮説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女子医大をHUBにすれば、近隣2大学と院内へ横展開が起こる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設計 と 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設計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近隣2大学を企画段階から巻き込む／案内は医師から医師へ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成果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参加35名／処方確約1例・患者発掘1例・IC向上2施設／医師同士の関係性を複数確認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Fact・Wants・Needs。どれかに置くだけで、次に何を聞くかが決まる。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Needsまで降りれば、手段は選べる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Wantsに応えるのが仕事ではない。仮説を立てて、4Sで解決策を選ぶ。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173736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</a:t>
            </a:r>
          </a:p>
          <a:p>
            <a:pPr algn="ctr">
              <a:spcAft>
                <a:spcPts val="1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得た情報から仮説を立て、エリアの中でWinを広げられること。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「なぜ？」を重ねてNeedsへ降りる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一つの発言にも、複数の解釈があり得ます。仕分けが割れること自体が、確認すべき情報の在りかです。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参考：考えられるFact（事実）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評価や推測を混ぜず、確認できた事実として書く。大学・基幹病院で取得し得るFactの例です。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施設・診療体制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・腎生検件数が3年前より減少している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・腎病理を専門とする医師が院内にいない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・腎生検結果の確認まで平均3週間かかる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・専門外来が週1回のみである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・他院からの症例相談は医局長が一括対応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患者・診療実態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・腎機能が高度に低下してから紹介される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・大学と関連病院で治療方針が異なる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・治療導入の判断が特定の医師に集中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・若手医師によって検査・治療の進め方に差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・紹介後のフィードバックが紹介元へ返らない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人事・組織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・来年度に教授交代が予定されている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・医局長が関連病院人事の調整を担当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・複数の基幹病院部長が同じ医局の出身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・新たな寄附講座が設置された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教育・研究・学術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・教授が次年度の学会長を務める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・医局が特定疾患の研究班へ参加している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・若手向け勉強会が定期開催されていない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・研究会の演者が毎回同じ医師に偏る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・複数大学による共同研究実績がある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・基幹病院部長が大学教授へ定期的に症例相談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・若手の相談相手は教授ではなく講師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・近隣大学間に共同研究・同年卒のつながり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・過去の人事を背景に施設間の関係が良好でない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・研究会の実務を医局長ではなく若手が担う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地域・外部環境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・地域の腎臓専門医数が減少している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・専門医療機関への患者流出が増えている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・地域連携パスが十分に活用されていない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・行政がCKD連携事業を開始している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・紹介基準が地域内で統一されていない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Factは単独では打ち手にならない。いくつかを線でつなぎ、仮説の材料にする。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参考：Wants → 複数のNeeds仮説 → 確かめる質問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一つのWantsに、Needs仮説は複数あり得ます。決めつけず、質問で確かめる。中央列はNeedsの例としても使えます。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「勉強会をやってほしい」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若手の診療力向上／接点の維持／紹介を早める／方針の浸透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特に誰に、何を持ち帰ってほしいですか？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「A大学のB先生を呼んでほしい」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外部の知見／A大学との関係強化／医局を変える刺激／若手への視点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B先生の、どの経験を聞きたいのでしょうか？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「学会のスライド・文献が欲しい」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院内で共有したい／理解を深めたい／症例判断・教育に使いたい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どの内容を、どの場面で活用したいですか？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「若手に腎病理を学ばせたい」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診断の質の安定／特定医師への依存減／将来の体制維持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「連携パスを整えたい」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役割分担の明確化／逆紹介の円滑化／患者の流れの安定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今、連携のどこで最も困っていますか？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「もっと早く紹介してほしい」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適切な時期につなぐ／治療の選択肢を残す／地域の基準を揃える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紹介の、どの段階が最も課題ですか？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「症例をまとめたい・論文にしたい」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業績が必要／専門医・学位／医局の評価を上げたい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いつまでに、どの形で発表したいですか？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「医局の活動を全国へ発信したい」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存在価値を高める／入局者を増やす／共同研究へつなげる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全国に最も伝えたい強みは何ですか？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「関連病院に若手を出したい」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経験を積ませたい／派遣先との関係維持／ポストの確保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派遣で、若手に何を得てほしいですか？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「市民公開講座をやりたい」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地域での認知向上／早期受診につなげる／患者・家族の支援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参加者に、何を持ち帰ってほしいですか？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「〇〇大学と共同で会をやりたい」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研究の幅を広げる／人材交流／エリアでの存在感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その大学と、何を一緒に実現したいですか？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「小児科・移植科と話す場が欲しい」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移行期診療の円滑化／院内での症例共有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どの患者さんの場面を想定していますか？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同じWantsでも、裏のNeedsは施設によって違う。仮説が変われば、解決策も変わる。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参考：4Sへつなげる思考プロセスの例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以下は参考例です。同じ情報から異なる仮説・解決策も考えられます。どのFactからどの仮説を立てたかを見てください。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例1：関連病院向け勉強会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例2：全国発信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7616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例3：腎病理教育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932688" cy="603504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起点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Fact：進行後の紹介が多く、施設で時期に差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Wants：関連病院向けに勉強会を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Fact：症例・研究実績はあるが発表は一部に限定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Wants：医局の活動を全国へ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Fact：病理評価が少数医師に集中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Wants：若手に腎病理を学ばせたい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52344"/>
            <a:ext cx="932688" cy="4572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紹介判断の考え方を共有し、適切な時期につなぎたい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存在価値を高め、若手の成長機会と人脈を広げたい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7616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診断の質と、将来の診療・教育体制を維持したい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5526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質問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勉強会の後、関連病院の何が変わってほしいですか？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56048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全国に最も伝えたい医局の強みは何ですか？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5818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Success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相談・紹介の考え方が、大学と関連病院で共有されている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強みが認知され、若手も含め継続的に発信している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7616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複数の医師が病理所見を臨床と統合して検討できる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6110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Situation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54480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進行後の紹介が多く、施設ごとに紹介時期が異なる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実績はあるが、発信する医師と機会が限られている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評価が少数に集中し、若手の教育機会が少ない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402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Source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54480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紹介の目安が共有されず、相談の時期を判断しにくい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テーマ整理・若手育成・外部との接点が不足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継続的に振り返る場と、臨床と病理をつなぐ機会が不足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66943"/>
            <a:ext cx="932688" cy="54864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Solution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54480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一方向の講演ではなく、症例で相談時期を議論する場を設計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6048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若手・中堅も含め、近隣大学・基幹病院と共同で発信機会を設計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57616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病理医・臨床医・関連病院の若手による継続的な症例検討を設計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420624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解決策は影響の範囲で選べる：　① 施設内　→　② 大学と関連病院　→　③ 複数の大学・基幹病院　→　④ エリア全体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ワーク①・②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・①前半4分：例題9件を仕分け（13枚目の欄に番号）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・①後半6分：WantsからNeedsを汲み取った経験を共有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・②：17枚目の例を残したまま、18枚目の4Sに書き切る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付録の使い方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・A〜Cは、ワーク①の後に投影してよい（考える材料）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・D（4S参考例）はワーク前に投影しない — なぞってしまうため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・使うのは、ワーク②後の解説／議論が止まった時／研修後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・「例が正しいのではなく、どのFactからどの仮説を立てたかを見る」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記録・書記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・15・18・20枚目が記録用スライド（そのまま入力可）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・ワーク①はWants／Needs／変化の3列で拾う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・終了後、記録用スライドをTeamsへ格納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ワーク①の題材・付録の事例はすべて架空です。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