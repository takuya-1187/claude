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■振り返り／Triple Win Beyond　10分</a:t>
            </a:r>
          </a:p>
          <a:p>
            <a:r>
              <a:rPr lang="ja-JP" altLang="en-US" sz="3200" dirty="0">
                <a:solidFill>
                  <a:schemeClr val="bg1"/>
                </a:solidFill>
                <a:latin typeface="Meiryo UI"/>
                <a:ea typeface="Meiryo UI"/>
              </a:rPr>
              <a:t>■ワーク①「ウォンツとニーズの仕分け」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■ワーク②「仮説立て」とエリアプラン・4S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■インタビュー／まとめ・総括　20分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82880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振り返り ／ Triple Win Beyond</a:t>
            </a:r>
          </a:p>
        </p:txBody>
      </p:sp>
      <p:sp>
        <p:nvSpPr>
          <p:cNvPr id="7" name="Rounded Rectangle 6"/>
          <p:cNvSpPr/>
          <p:nvPr/>
        </p:nvSpPr>
        <p:spPr>
          <a:xfrm>
            <a:off x="6400800" y="182880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10分</a:t>
            </a:r>
          </a:p>
        </p:txBody>
      </p:sp>
      <p:sp>
        <p:nvSpPr>
          <p:cNvPr id="8" name="Rounded Rectangle 7"/>
          <p:cNvSpPr/>
          <p:nvPr/>
        </p:nvSpPr>
        <p:spPr>
          <a:xfrm>
            <a:off x="7635240" y="182880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3回の振り返り｜Winをエリアまで広げる</a:t>
            </a:r>
          </a:p>
        </p:txBody>
      </p:sp>
      <p:sp>
        <p:nvSpPr>
          <p:cNvPr id="9" name="Rounded Rectangle 8"/>
          <p:cNvSpPr/>
          <p:nvPr/>
        </p:nvSpPr>
        <p:spPr>
          <a:xfrm>
            <a:off x="548640" y="292608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ワーク①「Wants と Needs の仕分け」</a:t>
            </a:r>
          </a:p>
        </p:txBody>
      </p:sp>
      <p:sp>
        <p:nvSpPr>
          <p:cNvPr id="10" name="Rounded Rectangle 9"/>
          <p:cNvSpPr/>
          <p:nvPr/>
        </p:nvSpPr>
        <p:spPr>
          <a:xfrm>
            <a:off x="6400800" y="292608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1" name="Rounded Rectangle 10"/>
          <p:cNvSpPr/>
          <p:nvPr/>
        </p:nvSpPr>
        <p:spPr>
          <a:xfrm>
            <a:off x="7635240" y="292608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得た情報を3つに分ける</a:t>
            </a:r>
          </a:p>
        </p:txBody>
      </p:sp>
      <p:sp>
        <p:nvSpPr>
          <p:cNvPr id="12" name="Rounded Rectangle 11"/>
          <p:cNvSpPr/>
          <p:nvPr/>
        </p:nvSpPr>
        <p:spPr>
          <a:xfrm>
            <a:off x="548640" y="402336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ワーク②「仮説立て」と 4S</a:t>
            </a:r>
          </a:p>
        </p:txBody>
      </p:sp>
      <p:sp>
        <p:nvSpPr>
          <p:cNvPr id="13" name="Rounded Rectangle 12"/>
          <p:cNvSpPr/>
          <p:nvPr/>
        </p:nvSpPr>
        <p:spPr>
          <a:xfrm>
            <a:off x="6400800" y="402336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4" name="Rounded Rectangle 13"/>
          <p:cNvSpPr/>
          <p:nvPr/>
        </p:nvSpPr>
        <p:spPr>
          <a:xfrm>
            <a:off x="7635240" y="402336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WantsをNeedsへ｜解決策まで出す</a:t>
            </a:r>
          </a:p>
        </p:txBody>
      </p:sp>
      <p:sp>
        <p:nvSpPr>
          <p:cNvPr id="15" name="Rounded Rectangle 14"/>
          <p:cNvSpPr/>
          <p:nvPr/>
        </p:nvSpPr>
        <p:spPr>
          <a:xfrm>
            <a:off x="548640" y="512064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インタビュー ／ まとめ・総括</a:t>
            </a:r>
          </a:p>
        </p:txBody>
      </p:sp>
      <p:sp>
        <p:nvSpPr>
          <p:cNvPr id="16" name="Rounded Rectangle 15"/>
          <p:cNvSpPr/>
          <p:nvPr/>
        </p:nvSpPr>
        <p:spPr>
          <a:xfrm>
            <a:off x="6400800" y="512064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20分</a:t>
            </a:r>
          </a:p>
        </p:txBody>
      </p:sp>
      <p:sp>
        <p:nvSpPr>
          <p:cNvPr id="17" name="Rounded Rectangle 16"/>
          <p:cNvSpPr/>
          <p:nvPr/>
        </p:nvSpPr>
        <p:spPr>
          <a:xfrm>
            <a:off x="7635240" y="512064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エリア＋大学攻略事例｜女子医大の活動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975104"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GOAL</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情報を「仕分ける」と、仮説が立つ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00" b="0" i="0">
                <a:solidFill>
                  <a:srgbClr val="FFFFFF"/>
                </a:solidFill>
                <a:latin typeface="Meiryo UI"/>
                <a:ea typeface="Meiryo UI"/>
              </a:rPr>
              <a:t>DAY 1</a:t>
            </a:r>
          </a:p>
        </p:txBody>
      </p:sp>
      <p:sp>
        <p:nvSpPr>
          <p:cNvPr id="7" name="Rounded Rectangle 6"/>
          <p:cNvSpPr/>
          <p:nvPr/>
        </p:nvSpPr>
        <p:spPr>
          <a:xfrm>
            <a:off x="3401568"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00" b="0" i="0">
                <a:solidFill>
                  <a:srgbClr val="FFFFFF"/>
                </a:solidFill>
                <a:latin typeface="Meiryo UI"/>
                <a:ea typeface="Meiryo UI"/>
              </a:rPr>
              <a:t>DAY 2</a:t>
            </a:r>
          </a:p>
        </p:txBody>
      </p:sp>
      <p:sp>
        <p:nvSpPr>
          <p:cNvPr id="8" name="Rounded Rectangle 7"/>
          <p:cNvSpPr/>
          <p:nvPr/>
        </p:nvSpPr>
        <p:spPr>
          <a:xfrm>
            <a:off x="6254496"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00" b="0" i="0">
                <a:solidFill>
                  <a:srgbClr val="FFFFFF"/>
                </a:solidFill>
                <a:latin typeface="Meiryo UI"/>
                <a:ea typeface="Meiryo UI"/>
              </a:rPr>
              <a:t>DAY 3</a:t>
            </a:r>
          </a:p>
        </p:txBody>
      </p:sp>
      <p:sp>
        <p:nvSpPr>
          <p:cNvPr id="9" name="Rounded Rectangle 8"/>
          <p:cNvSpPr/>
          <p:nvPr/>
        </p:nvSpPr>
        <p:spPr>
          <a:xfrm>
            <a:off x="9107424" y="1554480"/>
            <a:ext cx="2697480" cy="65836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00" b="0" i="0">
                <a:solidFill>
                  <a:srgbClr val="FFFFFF"/>
                </a:solidFill>
                <a:latin typeface="Meiryo UI"/>
                <a:ea typeface="Meiryo UI"/>
              </a:rPr>
              <a:t>DAY 4</a:t>
            </a:r>
          </a:p>
        </p:txBody>
      </p:sp>
      <p:sp>
        <p:nvSpPr>
          <p:cNvPr id="10" name="Rounded Rectangle 9"/>
          <p:cNvSpPr/>
          <p:nvPr/>
        </p:nvSpPr>
        <p:spPr>
          <a:xfrm>
            <a:off x="548640" y="2395728"/>
            <a:ext cx="11109960" cy="82296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500"/>
              </a:spcAft>
            </a:pPr>
            <a:r>
              <a:rPr sz="1350" b="1" i="0">
                <a:solidFill>
                  <a:srgbClr val="0B4F37"/>
                </a:solidFill>
                <a:latin typeface="Meiryo UI"/>
                <a:ea typeface="Meiryo UI"/>
              </a:rPr>
              <a:t>到達目標：</a:t>
            </a:r>
            <a:r>
              <a:rPr sz="1500" b="1" i="0">
                <a:solidFill>
                  <a:srgbClr val="C00000"/>
                </a:solidFill>
                <a:latin typeface="Meiryo UI"/>
                <a:ea typeface="Meiryo UI"/>
              </a:rPr>
              <a:t>収集した情報から、エリアの課題・原因・解決方法を可視化できる</a:t>
            </a:r>
          </a:p>
          <a:p>
            <a:pPr algn="ctr"/>
            <a:r>
              <a:rPr sz="1350" b="1" i="0">
                <a:solidFill>
                  <a:srgbClr val="0B4F37"/>
                </a:solidFill>
                <a:latin typeface="Meiryo UI"/>
                <a:ea typeface="Meiryo UI"/>
              </a:rPr>
              <a:t>本日の到達点：得た情報を仕分け、そこから仮説を立てられる</a:t>
            </a:r>
          </a:p>
        </p:txBody>
      </p:sp>
      <p:sp>
        <p:nvSpPr>
          <p:cNvPr id="11" name="Rounded Rectangle 10"/>
          <p:cNvSpPr/>
          <p:nvPr/>
        </p:nvSpPr>
        <p:spPr>
          <a:xfrm>
            <a:off x="548640" y="3520440"/>
            <a:ext cx="260604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Fact</a:t>
            </a:r>
          </a:p>
        </p:txBody>
      </p:sp>
      <p:sp>
        <p:nvSpPr>
          <p:cNvPr id="12" name="Rounded Rectangle 11"/>
          <p:cNvSpPr/>
          <p:nvPr/>
        </p:nvSpPr>
        <p:spPr>
          <a:xfrm>
            <a:off x="548640"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集めた事実</a:t>
            </a:r>
          </a:p>
        </p:txBody>
      </p:sp>
      <p:sp>
        <p:nvSpPr>
          <p:cNvPr id="13" name="Right Arrow 12"/>
          <p:cNvSpPr/>
          <p:nvPr/>
        </p:nvSpPr>
        <p:spPr>
          <a:xfrm>
            <a:off x="3191256"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01568" y="3520440"/>
            <a:ext cx="2606040" cy="56692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仕分け</a:t>
            </a:r>
          </a:p>
        </p:txBody>
      </p:sp>
      <p:sp>
        <p:nvSpPr>
          <p:cNvPr id="15" name="Rounded Rectangle 14"/>
          <p:cNvSpPr/>
          <p:nvPr/>
        </p:nvSpPr>
        <p:spPr>
          <a:xfrm>
            <a:off x="3401568"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3つに分ける</a:t>
            </a:r>
          </a:p>
        </p:txBody>
      </p:sp>
      <p:sp>
        <p:nvSpPr>
          <p:cNvPr id="16" name="Right Arrow 15"/>
          <p:cNvSpPr/>
          <p:nvPr/>
        </p:nvSpPr>
        <p:spPr>
          <a:xfrm>
            <a:off x="6044184"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54496" y="3520440"/>
            <a:ext cx="2606040" cy="56692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仮説</a:t>
            </a:r>
          </a:p>
        </p:txBody>
      </p:sp>
      <p:sp>
        <p:nvSpPr>
          <p:cNvPr id="18" name="Rounded Rectangle 17"/>
          <p:cNvSpPr/>
          <p:nvPr/>
        </p:nvSpPr>
        <p:spPr>
          <a:xfrm>
            <a:off x="6254496"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なぜかを立てる</a:t>
            </a:r>
          </a:p>
        </p:txBody>
      </p:sp>
      <p:sp>
        <p:nvSpPr>
          <p:cNvPr id="19" name="Right Arrow 18"/>
          <p:cNvSpPr/>
          <p:nvPr/>
        </p:nvSpPr>
        <p:spPr>
          <a:xfrm>
            <a:off x="8897112"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07424" y="3520440"/>
            <a:ext cx="260604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4S</a:t>
            </a:r>
          </a:p>
        </p:txBody>
      </p:sp>
      <p:sp>
        <p:nvSpPr>
          <p:cNvPr id="21" name="Rounded Rectangle 20"/>
          <p:cNvSpPr/>
          <p:nvPr/>
        </p:nvSpPr>
        <p:spPr>
          <a:xfrm>
            <a:off x="9107424"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解決策にする</a:t>
            </a:r>
          </a:p>
        </p:txBody>
      </p:sp>
      <p:sp>
        <p:nvSpPr>
          <p:cNvPr id="22" name="Rounded Rectangle 21"/>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情報の量では、差がつかない。</a:t>
            </a:r>
          </a:p>
          <a:p>
            <a:pPr algn="ctr"/>
            <a:r>
              <a:rPr sz="2300" b="1" i="0">
                <a:solidFill>
                  <a:srgbClr val="FFC000"/>
                </a:solidFill>
                <a:latin typeface="Meiryo UI"/>
                <a:ea typeface="Meiryo UI"/>
              </a:rPr>
              <a:t>同じ情報から、どんな仮説を立てられるかで差がつく。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① 振り返り</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3回で手に入れた力</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737360"/>
            <a:ext cx="3566160" cy="6858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1</a:t>
            </a:r>
          </a:p>
          <a:p>
            <a:pPr algn="ctr"/>
            <a:r>
              <a:rPr sz="1600" b="1" i="0">
                <a:solidFill>
                  <a:srgbClr val="FFFFFF"/>
                </a:solidFill>
                <a:latin typeface="Meiryo UI"/>
                <a:ea typeface="Meiryo UI"/>
              </a:rPr>
              <a:t>見る力</a:t>
            </a:r>
          </a:p>
        </p:txBody>
      </p:sp>
      <p:sp>
        <p:nvSpPr>
          <p:cNvPr id="7" name="Rounded Rectangle 6"/>
          <p:cNvSpPr/>
          <p:nvPr/>
        </p:nvSpPr>
        <p:spPr>
          <a:xfrm>
            <a:off x="548640"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・大学・基幹病院の構造</a:t>
            </a:r>
          </a:p>
          <a:p>
            <a:pPr algn="l">
              <a:lnSpc>
                <a:spcPct val="125000"/>
              </a:lnSpc>
              <a:spcAft>
                <a:spcPts val="900"/>
              </a:spcAft>
            </a:pPr>
            <a:r>
              <a:rPr sz="1300" b="0" i="0">
                <a:solidFill>
                  <a:srgbClr val="262626"/>
                </a:solidFill>
                <a:latin typeface="Meiryo UI"/>
                <a:ea typeface="Meiryo UI"/>
              </a:rPr>
              <a:t>・誰がどこまで決められるか</a:t>
            </a:r>
          </a:p>
        </p:txBody>
      </p:sp>
      <p:sp>
        <p:nvSpPr>
          <p:cNvPr id="8" name="Rounded Rectangle 7"/>
          <p:cNvSpPr/>
          <p:nvPr/>
        </p:nvSpPr>
        <p:spPr>
          <a:xfrm>
            <a:off x="4288536" y="1737360"/>
            <a:ext cx="3566160" cy="685800"/>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2</a:t>
            </a:r>
          </a:p>
          <a:p>
            <a:pPr algn="ctr"/>
            <a:r>
              <a:rPr sz="1600" b="1" i="0">
                <a:solidFill>
                  <a:srgbClr val="FFFFFF"/>
                </a:solidFill>
                <a:latin typeface="Meiryo UI"/>
                <a:ea typeface="Meiryo UI"/>
              </a:rPr>
              <a:t>会う力</a:t>
            </a:r>
          </a:p>
        </p:txBody>
      </p:sp>
      <p:sp>
        <p:nvSpPr>
          <p:cNvPr id="9" name="Rounded Rectangle 8"/>
          <p:cNvSpPr/>
          <p:nvPr/>
        </p:nvSpPr>
        <p:spPr>
          <a:xfrm>
            <a:off x="4288536"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・Best Time / Best Place</a:t>
            </a:r>
          </a:p>
          <a:p>
            <a:pPr algn="l">
              <a:lnSpc>
                <a:spcPct val="125000"/>
              </a:lnSpc>
              <a:spcAft>
                <a:spcPts val="900"/>
              </a:spcAft>
            </a:pPr>
            <a:r>
              <a:rPr sz="1300" b="0" i="0">
                <a:solidFill>
                  <a:srgbClr val="262626"/>
                </a:solidFill>
                <a:latin typeface="Meiryo UI"/>
                <a:ea typeface="Meiryo UI"/>
              </a:rPr>
              <a:t>・一人で突破しない</a:t>
            </a:r>
          </a:p>
        </p:txBody>
      </p:sp>
      <p:sp>
        <p:nvSpPr>
          <p:cNvPr id="10" name="Rounded Rectangle 9"/>
          <p:cNvSpPr/>
          <p:nvPr/>
        </p:nvSpPr>
        <p:spPr>
          <a:xfrm>
            <a:off x="8028431" y="1737360"/>
            <a:ext cx="3566160" cy="6858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3</a:t>
            </a:r>
          </a:p>
          <a:p>
            <a:pPr algn="ctr"/>
            <a:r>
              <a:rPr sz="1600" b="1" i="0">
                <a:solidFill>
                  <a:srgbClr val="FFFFFF"/>
                </a:solidFill>
                <a:latin typeface="Meiryo UI"/>
                <a:ea typeface="Meiryo UI"/>
              </a:rPr>
              <a:t>情報を取る力</a:t>
            </a:r>
          </a:p>
        </p:txBody>
      </p:sp>
      <p:sp>
        <p:nvSpPr>
          <p:cNvPr id="11" name="Rounded Rectangle 10"/>
          <p:cNvSpPr/>
          <p:nvPr/>
        </p:nvSpPr>
        <p:spPr>
          <a:xfrm>
            <a:off x="8028431"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・Dry情報とWet情報</a:t>
            </a:r>
          </a:p>
          <a:p>
            <a:pPr algn="l">
              <a:lnSpc>
                <a:spcPct val="125000"/>
              </a:lnSpc>
              <a:spcAft>
                <a:spcPts val="900"/>
              </a:spcAft>
            </a:pPr>
            <a:r>
              <a:rPr sz="1300" b="0" i="0">
                <a:solidFill>
                  <a:srgbClr val="262626"/>
                </a:solidFill>
                <a:latin typeface="Meiryo UI"/>
                <a:ea typeface="Meiryo UI"/>
              </a:rPr>
              <a:t>・顧客理解を深める</a:t>
            </a:r>
          </a:p>
        </p:txBody>
      </p:sp>
      <p:sp>
        <p:nvSpPr>
          <p:cNvPr id="12" name="Rounded Rectangle 11"/>
          <p:cNvSpPr/>
          <p:nvPr/>
        </p:nvSpPr>
        <p:spPr>
          <a:xfrm>
            <a:off x="548640" y="3977639"/>
            <a:ext cx="11109960" cy="68580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DAY3の最後の問い　</a:t>
            </a:r>
            <a:r>
              <a:rPr sz="1700" b="1" i="0">
                <a:solidFill>
                  <a:srgbClr val="C00000"/>
                </a:solidFill>
                <a:latin typeface="Meiryo UI"/>
                <a:ea typeface="Meiryo UI"/>
              </a:rPr>
              <a:t>「営業として、その情報をどう活かすか」</a:t>
            </a:r>
          </a:p>
        </p:txBody>
      </p:sp>
      <p:sp>
        <p:nvSpPr>
          <p:cNvPr id="13" name="Rounded Rectangle 12"/>
          <p:cNvSpPr/>
          <p:nvPr/>
        </p:nvSpPr>
        <p:spPr>
          <a:xfrm>
            <a:off x="548640" y="4892040"/>
            <a:ext cx="11109960" cy="12801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700"/>
              </a:spcAft>
            </a:pPr>
            <a:r>
              <a:rPr sz="1500" b="0" i="0">
                <a:solidFill>
                  <a:srgbClr val="FFFFFF"/>
                </a:solidFill>
                <a:latin typeface="Meiryo UI"/>
                <a:ea typeface="Meiryo UI"/>
              </a:rPr>
              <a:t>情報は、もう集まっている。</a:t>
            </a:r>
          </a:p>
          <a:p>
            <a:pPr algn="ctr"/>
            <a:r>
              <a:rPr sz="2100" b="1" i="0">
                <a:solidFill>
                  <a:srgbClr val="FFC000"/>
                </a:solidFill>
                <a:latin typeface="Meiryo UI"/>
                <a:ea typeface="Meiryo UI"/>
              </a:rPr>
              <a:t>今日は、その情報を仕分けて、仮説を立てて、エリアで動かす。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04495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② TRIPLE WIN + BEYOND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3者のWinを、エリアまで広げる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
        <p:nvSpPr>
          <p:cNvPr id="6" name="Rounded Rectangle 5"/>
          <p:cNvSpPr/>
          <p:nvPr/>
        </p:nvSpPr>
        <p:spPr>
          <a:xfrm>
            <a:off x="548640" y="1645920"/>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患者さん</a:t>
            </a:r>
          </a:p>
        </p:txBody>
      </p:sp>
      <p:sp>
        <p:nvSpPr>
          <p:cNvPr id="7" name="Rounded Rectangle 6"/>
          <p:cNvSpPr/>
          <p:nvPr/>
        </p:nvSpPr>
        <p:spPr>
          <a:xfrm>
            <a:off x="548640"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適切な治療に、適切な時期で届く</a:t>
            </a:r>
          </a:p>
        </p:txBody>
      </p:sp>
      <p:sp>
        <p:nvSpPr>
          <p:cNvPr id="8" name="Rounded Rectangle 7"/>
          <p:cNvSpPr/>
          <p:nvPr/>
        </p:nvSpPr>
        <p:spPr>
          <a:xfrm>
            <a:off x="4288536" y="1645920"/>
            <a:ext cx="356616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顧客（医局・施設）</a:t>
            </a:r>
          </a:p>
        </p:txBody>
      </p:sp>
      <p:sp>
        <p:nvSpPr>
          <p:cNvPr id="9" name="Rounded Rectangle 8"/>
          <p:cNvSpPr/>
          <p:nvPr/>
        </p:nvSpPr>
        <p:spPr>
          <a:xfrm>
            <a:off x="4288536"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果たしたい役割が、果たせる</a:t>
            </a:r>
          </a:p>
        </p:txBody>
      </p:sp>
      <p:sp>
        <p:nvSpPr>
          <p:cNvPr id="10" name="Rounded Rectangle 9"/>
          <p:cNvSpPr/>
          <p:nvPr/>
        </p:nvSpPr>
        <p:spPr>
          <a:xfrm>
            <a:off x="8028431" y="1645920"/>
            <a:ext cx="3566160" cy="50292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ノバルティス</a:t>
            </a:r>
          </a:p>
        </p:txBody>
      </p:sp>
      <p:sp>
        <p:nvSpPr>
          <p:cNvPr id="11" name="Rounded Rectangle 10"/>
          <p:cNvSpPr/>
          <p:nvPr/>
        </p:nvSpPr>
        <p:spPr>
          <a:xfrm>
            <a:off x="8028431"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必要な患者さんに、届く</a:t>
            </a:r>
          </a:p>
        </p:txBody>
      </p:sp>
      <p:sp>
        <p:nvSpPr>
          <p:cNvPr id="12" name="Rounded Rectangle 11"/>
          <p:cNvSpPr/>
          <p:nvPr/>
        </p:nvSpPr>
        <p:spPr>
          <a:xfrm>
            <a:off x="548640" y="2880360"/>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解決策とは、この3者が同時にWinになっているもの（SAM）</a:t>
            </a:r>
          </a:p>
        </p:txBody>
      </p:sp>
      <p:sp>
        <p:nvSpPr>
          <p:cNvPr id="13" name="Rounded Rectangle 12"/>
          <p:cNvSpPr/>
          <p:nvPr/>
        </p:nvSpPr>
        <p:spPr>
          <a:xfrm>
            <a:off x="548640" y="3611880"/>
            <a:ext cx="111099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BEYOND　―　Winは、その施設の外まで広げられる</a:t>
            </a:r>
          </a:p>
        </p:txBody>
      </p:sp>
      <p:sp>
        <p:nvSpPr>
          <p:cNvPr id="14" name="Rounded Rectangle 13"/>
          <p:cNvSpPr/>
          <p:nvPr/>
        </p:nvSpPr>
        <p:spPr>
          <a:xfrm>
            <a:off x="548640"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関連病院</a:t>
            </a:r>
          </a:p>
        </p:txBody>
      </p:sp>
      <p:sp>
        <p:nvSpPr>
          <p:cNvPr id="15" name="Rounded Rectangle 14"/>
          <p:cNvSpPr/>
          <p:nvPr/>
        </p:nvSpPr>
        <p:spPr>
          <a:xfrm>
            <a:off x="3401568"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近隣大学</a:t>
            </a:r>
          </a:p>
        </p:txBody>
      </p:sp>
      <p:sp>
        <p:nvSpPr>
          <p:cNvPr id="16" name="Rounded Rectangle 15"/>
          <p:cNvSpPr/>
          <p:nvPr/>
        </p:nvSpPr>
        <p:spPr>
          <a:xfrm>
            <a:off x="6254496"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地域の先生</a:t>
            </a:r>
          </a:p>
        </p:txBody>
      </p:sp>
      <p:sp>
        <p:nvSpPr>
          <p:cNvPr id="17" name="Rounded Rectangle 16"/>
          <p:cNvSpPr/>
          <p:nvPr/>
        </p:nvSpPr>
        <p:spPr>
          <a:xfrm>
            <a:off x="9107424"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患者さんの流れ</a:t>
            </a:r>
          </a:p>
        </p:txBody>
      </p:sp>
      <p:sp>
        <p:nvSpPr>
          <p:cNvPr id="18" name="Rounded Rectangle 17"/>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大学は、エリアの1施設。</a:t>
            </a:r>
          </a:p>
          <a:p>
            <a:pPr algn="ctr"/>
            <a:r>
              <a:rPr sz="2100" b="1" i="0">
                <a:solidFill>
                  <a:srgbClr val="FFC000"/>
                </a:solidFill>
                <a:latin typeface="Meiryo UI"/>
                <a:ea typeface="Meiryo UI"/>
              </a:rPr>
              <a:t>影響の輪まで設計すると、同じ打ち手でもWinが大きくなる。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3172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③ NEEDS &amp; WANTS</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Needsは「状態」、Wantsは「手段」</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12</a:t>
            </a:r>
          </a:p>
        </p:txBody>
      </p:sp>
      <p:sp>
        <p:nvSpPr>
          <p:cNvPr id="6" name="Rounded Rectangle 5"/>
          <p:cNvSpPr/>
          <p:nvPr/>
        </p:nvSpPr>
        <p:spPr>
          <a:xfrm>
            <a:off x="548640" y="1645920"/>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理想の状態</a:t>
            </a:r>
          </a:p>
        </p:txBody>
      </p:sp>
      <p:sp>
        <p:nvSpPr>
          <p:cNvPr id="7" name="Rounded Rectangle 6"/>
          <p:cNvSpPr/>
          <p:nvPr/>
        </p:nvSpPr>
        <p:spPr>
          <a:xfrm>
            <a:off x="548640" y="2176272"/>
            <a:ext cx="4114800" cy="7315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200" b="1" i="0">
                <a:solidFill>
                  <a:srgbClr val="FFFFFF"/>
                </a:solidFill>
                <a:latin typeface="Meiryo UI"/>
                <a:ea typeface="Meiryo UI"/>
              </a:rPr>
              <a:t>Gap ＝ Needs</a:t>
            </a:r>
          </a:p>
        </p:txBody>
      </p:sp>
      <p:sp>
        <p:nvSpPr>
          <p:cNvPr id="8" name="Rounded Rectangle 7"/>
          <p:cNvSpPr/>
          <p:nvPr/>
        </p:nvSpPr>
        <p:spPr>
          <a:xfrm>
            <a:off x="548640" y="2980944"/>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現状</a:t>
            </a:r>
          </a:p>
        </p:txBody>
      </p:sp>
      <p:sp>
        <p:nvSpPr>
          <p:cNvPr id="9" name="Down Arrow 8"/>
          <p:cNvSpPr/>
          <p:nvPr/>
        </p:nvSpPr>
        <p:spPr>
          <a:xfrm>
            <a:off x="2313432" y="3520440"/>
            <a:ext cx="402336" cy="292608"/>
          </a:xfrm>
          <a:prstGeom prst="down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886200"/>
            <a:ext cx="411480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Gapを埋める手段 ＝ Wants</a:t>
            </a:r>
          </a:p>
        </p:txBody>
      </p:sp>
      <p:sp>
        <p:nvSpPr>
          <p:cNvPr id="11" name="TextBox 10"/>
          <p:cNvSpPr txBox="1"/>
          <p:nvPr/>
        </p:nvSpPr>
        <p:spPr>
          <a:xfrm>
            <a:off x="548640" y="4553712"/>
            <a:ext cx="4114800" cy="329184"/>
          </a:xfrm>
          <a:prstGeom prst="rect">
            <a:avLst/>
          </a:prstGeom>
          <a:noFill/>
        </p:spPr>
        <p:txBody>
          <a:bodyPr wrap="square" lIns="0" rIns="0" tIns="0" bIns="0" anchor="t">
            <a:spAutoFit/>
          </a:bodyPr>
          <a:lstStyle/>
          <a:p>
            <a:pPr algn="ctr"/>
            <a:r>
              <a:rPr sz="1250" b="1" i="0">
                <a:solidFill>
                  <a:srgbClr val="0B4F37"/>
                </a:solidFill>
                <a:latin typeface="Meiryo UI"/>
                <a:ea typeface="Meiryo UI"/>
              </a:rPr>
              <a:t>顧客が口にするのは、ほとんどWants</a:t>
            </a:r>
          </a:p>
        </p:txBody>
      </p:sp>
      <p:sp>
        <p:nvSpPr>
          <p:cNvPr id="12" name="Rounded Rectangle 11"/>
          <p:cNvSpPr/>
          <p:nvPr/>
        </p:nvSpPr>
        <p:spPr>
          <a:xfrm>
            <a:off x="4937760" y="1645920"/>
            <a:ext cx="2286000" cy="9144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Fact（事実）</a:t>
            </a:r>
          </a:p>
        </p:txBody>
      </p:sp>
      <p:sp>
        <p:nvSpPr>
          <p:cNvPr id="13" name="Rounded Rectangle 12"/>
          <p:cNvSpPr/>
          <p:nvPr/>
        </p:nvSpPr>
        <p:spPr>
          <a:xfrm>
            <a:off x="7360920" y="164592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観察できること。願望が入っていない</a:t>
            </a:r>
          </a:p>
          <a:p>
            <a:pPr algn="l">
              <a:lnSpc>
                <a:spcPct val="120000"/>
              </a:lnSpc>
            </a:pPr>
            <a:r>
              <a:rPr sz="1150" b="0" i="0">
                <a:solidFill>
                  <a:srgbClr val="595959"/>
                </a:solidFill>
                <a:latin typeface="Meiryo UI"/>
                <a:ea typeface="Meiryo UI"/>
              </a:rPr>
              <a:t>例：腎生検が3年前の半分</a:t>
            </a:r>
          </a:p>
        </p:txBody>
      </p:sp>
      <p:sp>
        <p:nvSpPr>
          <p:cNvPr id="14" name="Rounded Rectangle 13"/>
          <p:cNvSpPr/>
          <p:nvPr/>
        </p:nvSpPr>
        <p:spPr>
          <a:xfrm>
            <a:off x="4937760" y="2651760"/>
            <a:ext cx="228600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Wants（手段）</a:t>
            </a:r>
          </a:p>
        </p:txBody>
      </p:sp>
      <p:sp>
        <p:nvSpPr>
          <p:cNvPr id="15" name="Rounded Rectangle 14"/>
          <p:cNvSpPr/>
          <p:nvPr/>
        </p:nvSpPr>
        <p:spPr>
          <a:xfrm>
            <a:off x="7360920" y="265176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「〜が欲しい」「〜してほしい」</a:t>
            </a:r>
          </a:p>
          <a:p>
            <a:pPr algn="l">
              <a:lnSpc>
                <a:spcPct val="120000"/>
              </a:lnSpc>
            </a:pPr>
            <a:r>
              <a:rPr sz="1150" b="0" i="0">
                <a:solidFill>
                  <a:srgbClr val="595959"/>
                </a:solidFill>
                <a:latin typeface="Meiryo UI"/>
                <a:ea typeface="Meiryo UI"/>
              </a:rPr>
              <a:t>例：勉強会をやってほしい</a:t>
            </a:r>
          </a:p>
        </p:txBody>
      </p:sp>
      <p:sp>
        <p:nvSpPr>
          <p:cNvPr id="16" name="Rounded Rectangle 15"/>
          <p:cNvSpPr/>
          <p:nvPr/>
        </p:nvSpPr>
        <p:spPr>
          <a:xfrm>
            <a:off x="4937760" y="3657600"/>
            <a:ext cx="2286000" cy="9144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Needs（状態）</a:t>
            </a:r>
          </a:p>
        </p:txBody>
      </p:sp>
      <p:sp>
        <p:nvSpPr>
          <p:cNvPr id="17" name="Rounded Rectangle 16"/>
          <p:cNvSpPr/>
          <p:nvPr/>
        </p:nvSpPr>
        <p:spPr>
          <a:xfrm>
            <a:off x="7360920" y="365760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「〜したい」「〜が足りない・困っている」</a:t>
            </a:r>
          </a:p>
          <a:p>
            <a:pPr algn="l">
              <a:lnSpc>
                <a:spcPct val="120000"/>
              </a:lnSpc>
            </a:pPr>
            <a:r>
              <a:rPr sz="1150" b="0" i="0">
                <a:solidFill>
                  <a:srgbClr val="595959"/>
                </a:solidFill>
                <a:latin typeface="Meiryo UI"/>
                <a:ea typeface="Meiryo UI"/>
              </a:rPr>
              <a:t>例：若手を育てたい</a:t>
            </a:r>
          </a:p>
        </p:txBody>
      </p:sp>
      <p:sp>
        <p:nvSpPr>
          <p:cNvPr id="18" name="Rounded Rectangle 17"/>
          <p:cNvSpPr/>
          <p:nvPr/>
        </p:nvSpPr>
        <p:spPr>
          <a:xfrm>
            <a:off x="4937760" y="4663440"/>
            <a:ext cx="6720840" cy="4572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迷ったら「これは状態か、手段か」</a:t>
            </a:r>
          </a:p>
        </p:txBody>
      </p:sp>
      <p:sp>
        <p:nvSpPr>
          <p:cNvPr id="19" name="Rounded Rectangle 18"/>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Factは仮説の材料。Wantsは入口。Needsは目指す状態。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①-1　｜　4分</a:t>
            </a:r>
          </a:p>
        </p:txBody>
      </p:sp>
      <p:sp>
        <p:nvSpPr>
          <p:cNvPr id="4" name="TextBox 3"/>
          <p:cNvSpPr txBox="1"/>
          <p:nvPr/>
        </p:nvSpPr>
        <p:spPr>
          <a:xfrm>
            <a:off x="548640" y="786384"/>
            <a:ext cx="11155680" cy="475488"/>
          </a:xfrm>
          <a:prstGeom prst="rect">
            <a:avLst/>
          </a:prstGeom>
          <a:noFill/>
        </p:spPr>
        <p:txBody>
          <a:bodyPr wrap="square" lIns="0" rIns="0" tIns="0" bIns="0" anchor="t">
            <a:spAutoFit/>
          </a:bodyPr>
          <a:lstStyle/>
          <a:p>
            <a:pPr algn="l"/>
            <a:r>
              <a:rPr sz="2400" b="1" i="0">
                <a:solidFill>
                  <a:srgbClr val="0B4F37"/>
                </a:solidFill>
                <a:latin typeface="Meiryo UI"/>
                <a:ea typeface="Meiryo UI"/>
              </a:rPr>
              <a:t>例題を、Fact／Wants／Needs に仕分ける</a:t>
            </a:r>
          </a:p>
        </p:txBody>
      </p:sp>
      <p:sp>
        <p:nvSpPr>
          <p:cNvPr id="5" name="TextBox 4"/>
          <p:cNvSpPr txBox="1"/>
          <p:nvPr/>
        </p:nvSpPr>
        <p:spPr>
          <a:xfrm>
            <a:off x="548640" y="1316736"/>
            <a:ext cx="11155680" cy="292608"/>
          </a:xfrm>
          <a:prstGeom prst="rect">
            <a:avLst/>
          </a:prstGeom>
          <a:noFill/>
        </p:spPr>
        <p:txBody>
          <a:bodyPr wrap="square" lIns="0" rIns="0" tIns="0" bIns="0" anchor="t">
            <a:spAutoFit/>
          </a:bodyPr>
          <a:lstStyle/>
          <a:p>
            <a:pPr algn="l"/>
            <a:r>
              <a:rPr sz="1350" b="0" i="0">
                <a:solidFill>
                  <a:srgbClr val="262626"/>
                </a:solidFill>
                <a:latin typeface="Meiryo UI"/>
                <a:ea typeface="Meiryo UI"/>
              </a:rPr>
              <a:t>ある基幹病院の腎臓内科について、集めた情報9件です。①〜⑨を、下の3つのどこに置きますか。</a:t>
            </a:r>
          </a:p>
        </p:txBody>
      </p:sp>
      <p:sp>
        <p:nvSpPr>
          <p:cNvPr id="6" name="Rounded Rectangle 5"/>
          <p:cNvSpPr/>
          <p:nvPr/>
        </p:nvSpPr>
        <p:spPr>
          <a:xfrm>
            <a:off x="548640" y="166420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① 腎生検数が、1年で36件から90件に増えた</a:t>
            </a:r>
          </a:p>
        </p:txBody>
      </p:sp>
      <p:sp>
        <p:nvSpPr>
          <p:cNvPr id="7" name="Rounded Rectangle 6"/>
          <p:cNvSpPr/>
          <p:nvPr/>
        </p:nvSpPr>
        <p:spPr>
          <a:xfrm>
            <a:off x="4288536" y="166420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② その後も96件、99件で推移している</a:t>
            </a:r>
          </a:p>
        </p:txBody>
      </p:sp>
      <p:sp>
        <p:nvSpPr>
          <p:cNvPr id="8" name="Rounded Rectangle 7"/>
          <p:cNvSpPr/>
          <p:nvPr/>
        </p:nvSpPr>
        <p:spPr>
          <a:xfrm>
            <a:off x="8028431" y="166420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③ 血液浄化センター・臨床研究・学会発表のページがある</a:t>
            </a:r>
          </a:p>
        </p:txBody>
      </p:sp>
      <p:sp>
        <p:nvSpPr>
          <p:cNvPr id="9" name="Rounded Rectangle 8"/>
          <p:cNvSpPr/>
          <p:nvPr/>
        </p:nvSpPr>
        <p:spPr>
          <a:xfrm>
            <a:off x="548640" y="239572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④ 部長は前任地で、腎臓内科の立ち上げを経験している</a:t>
            </a:r>
          </a:p>
        </p:txBody>
      </p:sp>
      <p:sp>
        <p:nvSpPr>
          <p:cNvPr id="10" name="Rounded Rectangle 9"/>
          <p:cNvSpPr/>
          <p:nvPr/>
        </p:nvSpPr>
        <p:spPr>
          <a:xfrm>
            <a:off x="4288536" y="239572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⑤「腎臓に問題がある患者様がいたら、いつでもご紹介ください」</a:t>
            </a:r>
          </a:p>
        </p:txBody>
      </p:sp>
      <p:sp>
        <p:nvSpPr>
          <p:cNvPr id="11" name="Rounded Rectangle 10"/>
          <p:cNvSpPr/>
          <p:nvPr/>
        </p:nvSpPr>
        <p:spPr>
          <a:xfrm>
            <a:off x="8028431" y="239572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⑥「まず透析の話をせず、透析にならない方法を一緒に考えたい」</a:t>
            </a:r>
          </a:p>
        </p:txBody>
      </p:sp>
      <p:sp>
        <p:nvSpPr>
          <p:cNvPr id="12" name="Rounded Rectangle 11"/>
          <p:cNvSpPr/>
          <p:nvPr/>
        </p:nvSpPr>
        <p:spPr>
          <a:xfrm>
            <a:off x="548640" y="312724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⑦「透析を導入する医療ではなく、透析患者さんを一人でも減らしたい」</a:t>
            </a:r>
          </a:p>
        </p:txBody>
      </p:sp>
      <p:sp>
        <p:nvSpPr>
          <p:cNvPr id="13" name="Rounded Rectangle 12"/>
          <p:cNvSpPr/>
          <p:nvPr/>
        </p:nvSpPr>
        <p:spPr>
          <a:xfrm>
            <a:off x="4288536" y="312724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⑧「どんな腎疾患の患者様にも、ベストな医療を偏りなく行いたい」</a:t>
            </a:r>
          </a:p>
        </p:txBody>
      </p:sp>
      <p:sp>
        <p:nvSpPr>
          <p:cNvPr id="14" name="Rounded Rectangle 13"/>
          <p:cNvSpPr/>
          <p:nvPr/>
        </p:nvSpPr>
        <p:spPr>
          <a:xfrm>
            <a:off x="8028431" y="312724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⑨「安心して任せられる医師・医療を目指したい」</a:t>
            </a:r>
          </a:p>
        </p:txBody>
      </p:sp>
      <p:sp>
        <p:nvSpPr>
          <p:cNvPr id="15" name="Rounded Rectangle 14"/>
          <p:cNvSpPr/>
          <p:nvPr/>
        </p:nvSpPr>
        <p:spPr>
          <a:xfrm>
            <a:off x="548640" y="3950208"/>
            <a:ext cx="2377440" cy="65836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Fact（事実）</a:t>
            </a:r>
          </a:p>
        </p:txBody>
      </p:sp>
      <p:sp>
        <p:nvSpPr>
          <p:cNvPr id="16" name="Rounded Rectangle 15"/>
          <p:cNvSpPr/>
          <p:nvPr/>
        </p:nvSpPr>
        <p:spPr>
          <a:xfrm>
            <a:off x="3063240" y="3950208"/>
            <a:ext cx="8595360" cy="65836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4681728"/>
            <a:ext cx="237744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Wants（手段）</a:t>
            </a:r>
          </a:p>
        </p:txBody>
      </p:sp>
      <p:sp>
        <p:nvSpPr>
          <p:cNvPr id="18" name="Rounded Rectangle 17"/>
          <p:cNvSpPr/>
          <p:nvPr/>
        </p:nvSpPr>
        <p:spPr>
          <a:xfrm>
            <a:off x="3063240" y="4681728"/>
            <a:ext cx="8595360" cy="65836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548640" y="5413248"/>
            <a:ext cx="237744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Needs（状態）</a:t>
            </a:r>
          </a:p>
        </p:txBody>
      </p:sp>
      <p:sp>
        <p:nvSpPr>
          <p:cNvPr id="20" name="Rounded Rectangle 19"/>
          <p:cNvSpPr/>
          <p:nvPr/>
        </p:nvSpPr>
        <p:spPr>
          <a:xfrm>
            <a:off x="3063240" y="5413248"/>
            <a:ext cx="8595360" cy="65836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3063240" y="6163056"/>
            <a:ext cx="8595360" cy="256032"/>
          </a:xfrm>
          <a:prstGeom prst="rect">
            <a:avLst/>
          </a:prstGeom>
          <a:noFill/>
        </p:spPr>
        <p:txBody>
          <a:bodyPr wrap="square" lIns="0" rIns="0" tIns="0" bIns="0" anchor="t">
            <a:spAutoFit/>
          </a:bodyPr>
          <a:lstStyle/>
          <a:p>
            <a:pPr algn="l"/>
            <a:r>
              <a:rPr sz="1050" b="0" i="0">
                <a:solidFill>
                  <a:srgbClr val="595959"/>
                </a:solidFill>
                <a:latin typeface="Meiryo UI"/>
                <a:ea typeface="Meiryo UI"/>
              </a:rPr>
              <a:t>※ 番号を入れて、なぜそこに置いたかを一言で言えるように</a:t>
            </a:r>
          </a:p>
        </p:txBody>
      </p:sp>
      <p:sp>
        <p:nvSpPr>
          <p:cNvPr id="22" name="TextBox 21"/>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3" name="TextBox 22"/>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①-2　｜　6分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これまでの経験を共有する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50" b="1" i="0">
                <a:solidFill>
                  <a:srgbClr val="0B4F37"/>
                </a:solidFill>
                <a:latin typeface="Meiryo UI"/>
                <a:ea typeface="Meiryo UI"/>
              </a:rPr>
              <a:t>公開情報から取れるWantsは、わずかでした。Wantsは、面談でしか増えません。</a:t>
            </a:r>
          </a:p>
        </p:txBody>
      </p:sp>
      <p:sp>
        <p:nvSpPr>
          <p:cNvPr id="7" name="Rounded Rectangle 6"/>
          <p:cNvSpPr/>
          <p:nvPr/>
        </p:nvSpPr>
        <p:spPr>
          <a:xfrm>
            <a:off x="548640" y="1810512"/>
            <a:ext cx="11109960" cy="86868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2000" b="0" i="0">
                <a:solidFill>
                  <a:srgbClr val="262626"/>
                </a:solidFill>
                <a:latin typeface="Meiryo UI"/>
                <a:ea typeface="Meiryo UI"/>
              </a:rPr>
              <a:t>先生のWantsから、</a:t>
            </a:r>
            <a:r>
              <a:rPr sz="2000" b="1" i="0">
                <a:solidFill>
                  <a:srgbClr val="C00000"/>
                </a:solidFill>
                <a:latin typeface="Meiryo UI"/>
                <a:ea typeface="Meiryo UI"/>
              </a:rPr>
              <a:t>Needsを汲み取れた経験</a:t>
            </a:r>
            <a:r>
              <a:rPr sz="2000" b="0" i="0">
                <a:solidFill>
                  <a:srgbClr val="262626"/>
                </a:solidFill>
                <a:latin typeface="Meiryo UI"/>
                <a:ea typeface="Meiryo UI"/>
              </a:rPr>
              <a:t>はありますか？</a:t>
            </a:r>
          </a:p>
        </p:txBody>
      </p:sp>
      <p:sp>
        <p:nvSpPr>
          <p:cNvPr id="8" name="Oval 7"/>
          <p:cNvSpPr/>
          <p:nvPr/>
        </p:nvSpPr>
        <p:spPr>
          <a:xfrm>
            <a:off x="548640" y="3090672"/>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1</a:t>
            </a:r>
          </a:p>
        </p:txBody>
      </p:sp>
      <p:sp>
        <p:nvSpPr>
          <p:cNvPr id="9" name="Rounded Rectangle 8"/>
          <p:cNvSpPr/>
          <p:nvPr/>
        </p:nvSpPr>
        <p:spPr>
          <a:xfrm>
            <a:off x="1426464" y="3090672"/>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面談で、先生のどんな言葉から始まりましたか？</a:t>
            </a:r>
          </a:p>
        </p:txBody>
      </p:sp>
      <p:sp>
        <p:nvSpPr>
          <p:cNvPr id="10" name="Oval 9"/>
          <p:cNvSpPr/>
          <p:nvPr/>
        </p:nvSpPr>
        <p:spPr>
          <a:xfrm>
            <a:off x="548640" y="3895344"/>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2</a:t>
            </a:r>
          </a:p>
        </p:txBody>
      </p:sp>
      <p:sp>
        <p:nvSpPr>
          <p:cNvPr id="11" name="Rounded Rectangle 10"/>
          <p:cNvSpPr/>
          <p:nvPr/>
        </p:nvSpPr>
        <p:spPr>
          <a:xfrm>
            <a:off x="1426464" y="3895344"/>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その裏にあるNeedsは、何だと考えましたか？</a:t>
            </a:r>
          </a:p>
        </p:txBody>
      </p:sp>
      <p:sp>
        <p:nvSpPr>
          <p:cNvPr id="12" name="Oval 11"/>
          <p:cNvSpPr/>
          <p:nvPr/>
        </p:nvSpPr>
        <p:spPr>
          <a:xfrm>
            <a:off x="548640" y="4700016"/>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3</a:t>
            </a:r>
          </a:p>
        </p:txBody>
      </p:sp>
      <p:sp>
        <p:nvSpPr>
          <p:cNvPr id="13" name="Rounded Rectangle 12"/>
          <p:cNvSpPr/>
          <p:nvPr/>
        </p:nvSpPr>
        <p:spPr>
          <a:xfrm>
            <a:off x="1426464" y="4700016"/>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気づいたあと、活動はどう変わりましたか？</a:t>
            </a:r>
          </a:p>
        </p:txBody>
      </p:sp>
      <p:sp>
        <p:nvSpPr>
          <p:cNvPr id="14" name="Rounded Rectangle 13"/>
          <p:cNvSpPr/>
          <p:nvPr/>
        </p:nvSpPr>
        <p:spPr>
          <a:xfrm>
            <a:off x="548640" y="5623560"/>
            <a:ext cx="11109960" cy="603504"/>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3〜4人で。うまくいかなかった経験でも構いません。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642616" cy="384048"/>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参考例　｜　ワーク①</a:t>
            </a:r>
          </a:p>
        </p:txBody>
      </p:sp>
      <p:sp>
        <p:nvSpPr>
          <p:cNvPr id="4" name="TextBox 3"/>
          <p:cNvSpPr txBox="1"/>
          <p:nvPr/>
        </p:nvSpPr>
        <p:spPr>
          <a:xfrm>
            <a:off x="548640" y="786384"/>
            <a:ext cx="11155680" cy="457200"/>
          </a:xfrm>
          <a:prstGeom prst="rect">
            <a:avLst/>
          </a:prstGeom>
          <a:noFill/>
        </p:spPr>
        <p:txBody>
          <a:bodyPr wrap="square" lIns="0" rIns="0" tIns="0" bIns="0" anchor="t">
            <a:spAutoFit/>
          </a:bodyPr>
          <a:lstStyle/>
          <a:p>
            <a:pPr algn="l"/>
            <a:r>
              <a:rPr sz="2300" b="1" i="0">
                <a:solidFill>
                  <a:srgbClr val="0B4F37"/>
                </a:solidFill>
                <a:latin typeface="Meiryo UI"/>
                <a:ea typeface="Meiryo UI"/>
              </a:rPr>
              <a:t>Wantsから、Needsを汲み取った経験</a:t>
            </a:r>
          </a:p>
        </p:txBody>
      </p:sp>
      <p:sp>
        <p:nvSpPr>
          <p:cNvPr id="5" name="TextBox 4"/>
          <p:cNvSpPr txBox="1"/>
          <p:nvPr/>
        </p:nvSpPr>
        <p:spPr>
          <a:xfrm>
            <a:off x="548640" y="1298448"/>
            <a:ext cx="11155680" cy="274320"/>
          </a:xfrm>
          <a:prstGeom prst="rect">
            <a:avLst/>
          </a:prstGeom>
          <a:noFill/>
        </p:spPr>
        <p:txBody>
          <a:bodyPr wrap="square" lIns="0" rIns="0" tIns="0" bIns="0" anchor="t">
            <a:spAutoFit/>
          </a:bodyPr>
          <a:lstStyle/>
          <a:p>
            <a:pPr algn="l"/>
            <a:r>
              <a:rPr sz="1200" b="0" i="0">
                <a:solidFill>
                  <a:srgbClr val="595959"/>
                </a:solidFill>
                <a:latin typeface="Meiryo UI"/>
                <a:ea typeface="Meiryo UI"/>
              </a:rPr>
              <a:t>A病院の〇〇先生との面談で、こう聞こえたら ─ 同じ先生でも、言葉ごとにNeedsは違う。</a:t>
            </a:r>
          </a:p>
        </p:txBody>
      </p:sp>
      <p:sp>
        <p:nvSpPr>
          <p:cNvPr id="6" name="Rounded Rectangle 5"/>
          <p:cNvSpPr/>
          <p:nvPr/>
        </p:nvSpPr>
        <p:spPr>
          <a:xfrm>
            <a:off x="548640" y="1600200"/>
            <a:ext cx="3566160" cy="54864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出てきた Wants</a:t>
            </a:r>
          </a:p>
          <a:p>
            <a:pPr algn="ctr"/>
            <a:r>
              <a:rPr sz="1000" b="0" i="0">
                <a:solidFill>
                  <a:srgbClr val="FFFFFF"/>
                </a:solidFill>
                <a:latin typeface="Meiryo UI"/>
                <a:ea typeface="Meiryo UI"/>
              </a:rPr>
              <a:t>先生が言った言葉のまま</a:t>
            </a:r>
          </a:p>
        </p:txBody>
      </p:sp>
      <p:sp>
        <p:nvSpPr>
          <p:cNvPr id="7" name="Rounded Rectangle 6"/>
          <p:cNvSpPr/>
          <p:nvPr/>
        </p:nvSpPr>
        <p:spPr>
          <a:xfrm>
            <a:off x="4160520" y="1600200"/>
            <a:ext cx="3657600" cy="54864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汲み取った Needs</a:t>
            </a:r>
          </a:p>
          <a:p>
            <a:pPr algn="ctr"/>
            <a:r>
              <a:rPr sz="1000" b="0" i="0">
                <a:solidFill>
                  <a:srgbClr val="FFFFFF"/>
                </a:solidFill>
                <a:latin typeface="Meiryo UI"/>
                <a:ea typeface="Meiryo UI"/>
              </a:rPr>
              <a:t>なぜ、そう言ったのか（＝そのときの仮説）</a:t>
            </a:r>
          </a:p>
        </p:txBody>
      </p:sp>
      <p:sp>
        <p:nvSpPr>
          <p:cNvPr id="8" name="Rounded Rectangle 7"/>
          <p:cNvSpPr/>
          <p:nvPr/>
        </p:nvSpPr>
        <p:spPr>
          <a:xfrm>
            <a:off x="7863840" y="1600200"/>
            <a:ext cx="3794760" cy="5486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活動・提案がどう変わったか</a:t>
            </a:r>
          </a:p>
          <a:p>
            <a:pPr algn="ctr"/>
            <a:r>
              <a:rPr sz="1000" b="0" i="0">
                <a:solidFill>
                  <a:srgbClr val="FFFFFF"/>
                </a:solidFill>
                <a:latin typeface="Meiryo UI"/>
                <a:ea typeface="Meiryo UI"/>
              </a:rPr>
              <a:t>その後、何を変えたか</a:t>
            </a:r>
          </a:p>
        </p:txBody>
      </p:sp>
      <p:sp>
        <p:nvSpPr>
          <p:cNvPr id="9" name="Rounded Rectangle 8"/>
          <p:cNvSpPr/>
          <p:nvPr/>
        </p:nvSpPr>
        <p:spPr>
          <a:xfrm>
            <a:off x="548640" y="2286000"/>
            <a:ext cx="3566160" cy="86868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「もっと早い段階で腎生検をして、診断をつけて治療に入りたいんだよね」</a:t>
            </a:r>
          </a:p>
        </p:txBody>
      </p:sp>
      <p:sp>
        <p:nvSpPr>
          <p:cNvPr id="10" name="Rounded Rectangle 9"/>
          <p:cNvSpPr/>
          <p:nvPr/>
        </p:nvSpPr>
        <p:spPr>
          <a:xfrm>
            <a:off x="4160520" y="2286000"/>
            <a:ext cx="3657600" cy="86868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1" i="0">
                <a:solidFill>
                  <a:srgbClr val="262626"/>
                </a:solidFill>
                <a:latin typeface="Meiryo UI"/>
                <a:ea typeface="Meiryo UI"/>
              </a:rPr>
              <a:t>早期に生検・診断まで持っていける患者が、限られている</a:t>
            </a:r>
          </a:p>
        </p:txBody>
      </p:sp>
      <p:sp>
        <p:nvSpPr>
          <p:cNvPr id="11" name="Rounded Rectangle 10"/>
          <p:cNvSpPr/>
          <p:nvPr/>
        </p:nvSpPr>
        <p:spPr>
          <a:xfrm>
            <a:off x="7863840" y="2286000"/>
            <a:ext cx="3794760" cy="86868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資料を渡すのをやめ、「腎生検のタイミング」の症例検討会を企画</a:t>
            </a:r>
          </a:p>
        </p:txBody>
      </p:sp>
      <p:sp>
        <p:nvSpPr>
          <p:cNvPr id="12" name="Rounded Rectangle 11"/>
          <p:cNvSpPr/>
          <p:nvPr/>
        </p:nvSpPr>
        <p:spPr>
          <a:xfrm>
            <a:off x="548640" y="3218688"/>
            <a:ext cx="3566160" cy="868680"/>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「腎臓に問題がある患者さんがいたら、いつでも紹介してほしい」</a:t>
            </a:r>
          </a:p>
        </p:txBody>
      </p:sp>
      <p:sp>
        <p:nvSpPr>
          <p:cNvPr id="13" name="Rounded Rectangle 12"/>
          <p:cNvSpPr/>
          <p:nvPr/>
        </p:nvSpPr>
        <p:spPr>
          <a:xfrm>
            <a:off x="4160520" y="3218688"/>
            <a:ext cx="3657600" cy="868680"/>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1" i="0">
                <a:solidFill>
                  <a:srgbClr val="262626"/>
                </a:solidFill>
                <a:latin typeface="Meiryo UI"/>
                <a:ea typeface="Meiryo UI"/>
              </a:rPr>
              <a:t>紹介の入口が限られ、エリアから患者が集まってこない</a:t>
            </a:r>
          </a:p>
        </p:txBody>
      </p:sp>
      <p:sp>
        <p:nvSpPr>
          <p:cNvPr id="14" name="Rounded Rectangle 13"/>
          <p:cNvSpPr/>
          <p:nvPr/>
        </p:nvSpPr>
        <p:spPr>
          <a:xfrm>
            <a:off x="7863840" y="3218688"/>
            <a:ext cx="3794760" cy="868680"/>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紹介元になり得る施設を一緒に洗い出し、先生を演者にした会を設計</a:t>
            </a:r>
          </a:p>
        </p:txBody>
      </p:sp>
      <p:sp>
        <p:nvSpPr>
          <p:cNvPr id="15" name="Rounded Rectangle 14"/>
          <p:cNvSpPr/>
          <p:nvPr/>
        </p:nvSpPr>
        <p:spPr>
          <a:xfrm>
            <a:off x="548640" y="4151376"/>
            <a:ext cx="3566160" cy="86868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「まず透析の話をせず、透析にならない方法を一緒に考えたい」</a:t>
            </a:r>
          </a:p>
        </p:txBody>
      </p:sp>
      <p:sp>
        <p:nvSpPr>
          <p:cNvPr id="16" name="Rounded Rectangle 15"/>
          <p:cNvSpPr/>
          <p:nvPr/>
        </p:nvSpPr>
        <p:spPr>
          <a:xfrm>
            <a:off x="4160520" y="4151376"/>
            <a:ext cx="3657600" cy="86868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1" i="0">
                <a:solidFill>
                  <a:srgbClr val="262626"/>
                </a:solidFill>
                <a:latin typeface="Meiryo UI"/>
                <a:ea typeface="Meiryo UI"/>
              </a:rPr>
              <a:t>保存期で介入した成果を、院内外に示す場がない</a:t>
            </a:r>
          </a:p>
        </p:txBody>
      </p:sp>
      <p:sp>
        <p:nvSpPr>
          <p:cNvPr id="17" name="Rounded Rectangle 16"/>
          <p:cNvSpPr/>
          <p:nvPr/>
        </p:nvSpPr>
        <p:spPr>
          <a:xfrm>
            <a:off x="7863840" y="4151376"/>
            <a:ext cx="3794760" cy="86868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保存期CKDの症例検討会を、先生を中心に設計</a:t>
            </a:r>
          </a:p>
        </p:txBody>
      </p:sp>
      <p:sp>
        <p:nvSpPr>
          <p:cNvPr id="18" name="Rounded Rectangle 17"/>
          <p:cNvSpPr/>
          <p:nvPr/>
        </p:nvSpPr>
        <p:spPr>
          <a:xfrm>
            <a:off x="548640" y="5084064"/>
            <a:ext cx="3566160" cy="868680"/>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「前任地でやってきたことを、この病院でも生かしたい」</a:t>
            </a:r>
          </a:p>
        </p:txBody>
      </p:sp>
      <p:sp>
        <p:nvSpPr>
          <p:cNvPr id="19" name="Rounded Rectangle 18"/>
          <p:cNvSpPr/>
          <p:nvPr/>
        </p:nvSpPr>
        <p:spPr>
          <a:xfrm>
            <a:off x="4160520" y="5084064"/>
            <a:ext cx="3657600" cy="868680"/>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1" i="0">
                <a:solidFill>
                  <a:srgbClr val="262626"/>
                </a:solidFill>
                <a:latin typeface="Meiryo UI"/>
                <a:ea typeface="Meiryo UI"/>
              </a:rPr>
              <a:t>立ち上げた診療体制と実績が、この病院にはまだない</a:t>
            </a:r>
          </a:p>
        </p:txBody>
      </p:sp>
      <p:sp>
        <p:nvSpPr>
          <p:cNvPr id="20" name="Rounded Rectangle 19"/>
          <p:cNvSpPr/>
          <p:nvPr/>
        </p:nvSpPr>
        <p:spPr>
          <a:xfrm>
            <a:off x="7863840" y="5084064"/>
            <a:ext cx="3794760" cy="868680"/>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近隣の基幹病院・大学の腎臓内科医とつなぎ、体制づくりの土台に</a:t>
            </a:r>
          </a:p>
        </p:txBody>
      </p:sp>
      <p:sp>
        <p:nvSpPr>
          <p:cNvPr id="21" name="Rounded Rectangle 20"/>
          <p:cNvSpPr/>
          <p:nvPr/>
        </p:nvSpPr>
        <p:spPr>
          <a:xfrm>
            <a:off x="548640" y="6035040"/>
            <a:ext cx="11109960" cy="320040"/>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Needsは仮説です。ここで書いた読み方が、唯一の正解とは限りません。</a:t>
            </a:r>
          </a:p>
        </p:txBody>
      </p:sp>
      <p:sp>
        <p:nvSpPr>
          <p:cNvPr id="22" name="TextBox 21"/>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3" name="TextBox 22"/>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660904"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仮説立て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Wantsに「なぜ？」を重ねて、Needsへ降りる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6" name="Rounded Rectangle 5"/>
          <p:cNvSpPr/>
          <p:nvPr/>
        </p:nvSpPr>
        <p:spPr>
          <a:xfrm>
            <a:off x="548640" y="1627632"/>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Wantsに応えるだけなら、御用聞き。</a:t>
            </a:r>
            <a:r>
              <a:rPr sz="1600" b="1" i="0">
                <a:solidFill>
                  <a:srgbClr val="0B4F37"/>
                </a:solidFill>
                <a:latin typeface="Meiryo UI"/>
                <a:ea typeface="Meiryo UI"/>
              </a:rPr>
              <a:t>　Needsまで降りると、提案になる。</a:t>
            </a:r>
          </a:p>
        </p:txBody>
      </p:sp>
      <p:sp>
        <p:nvSpPr>
          <p:cNvPr id="7" name="Rounded Rectangle 6"/>
          <p:cNvSpPr/>
          <p:nvPr/>
        </p:nvSpPr>
        <p:spPr>
          <a:xfrm>
            <a:off x="548640" y="2286000"/>
            <a:ext cx="228600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Wants</a:t>
            </a:r>
          </a:p>
        </p:txBody>
      </p:sp>
      <p:sp>
        <p:nvSpPr>
          <p:cNvPr id="8" name="Rounded Rectangle 7"/>
          <p:cNvSpPr/>
          <p:nvPr/>
        </p:nvSpPr>
        <p:spPr>
          <a:xfrm>
            <a:off x="2971800" y="228600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関連病院の先生向けに、勉強会をやってほしい</a:t>
            </a:r>
          </a:p>
        </p:txBody>
      </p:sp>
      <p:sp>
        <p:nvSpPr>
          <p:cNvPr id="9" name="Down Arrow 8"/>
          <p:cNvSpPr/>
          <p:nvPr/>
        </p:nvSpPr>
        <p:spPr>
          <a:xfrm>
            <a:off x="1581912" y="296265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154680"/>
            <a:ext cx="2286000" cy="658368"/>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a:t>
            </a:r>
          </a:p>
        </p:txBody>
      </p:sp>
      <p:sp>
        <p:nvSpPr>
          <p:cNvPr id="11" name="Rounded Rectangle 10"/>
          <p:cNvSpPr/>
          <p:nvPr/>
        </p:nvSpPr>
        <p:spPr>
          <a:xfrm>
            <a:off x="2971800" y="315468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関連病院から、進行してから紹介されることが多い</a:t>
            </a:r>
          </a:p>
        </p:txBody>
      </p:sp>
      <p:sp>
        <p:nvSpPr>
          <p:cNvPr id="12" name="Down Arrow 11"/>
          <p:cNvSpPr/>
          <p:nvPr/>
        </p:nvSpPr>
        <p:spPr>
          <a:xfrm>
            <a:off x="1581912" y="383133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4023360"/>
            <a:ext cx="228600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なぜ困る？</a:t>
            </a:r>
          </a:p>
        </p:txBody>
      </p:sp>
      <p:sp>
        <p:nvSpPr>
          <p:cNvPr id="14" name="Rounded Rectangle 13"/>
          <p:cNvSpPr/>
          <p:nvPr/>
        </p:nvSpPr>
        <p:spPr>
          <a:xfrm>
            <a:off x="2971800" y="402336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早く紹介されれば、まだ治療の選択肢が残る</a:t>
            </a:r>
          </a:p>
        </p:txBody>
      </p:sp>
      <p:sp>
        <p:nvSpPr>
          <p:cNvPr id="15" name="Down Arrow 14"/>
          <p:cNvSpPr/>
          <p:nvPr/>
        </p:nvSpPr>
        <p:spPr>
          <a:xfrm>
            <a:off x="1581912" y="470001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892040"/>
            <a:ext cx="228600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Needs</a:t>
            </a:r>
          </a:p>
        </p:txBody>
      </p:sp>
      <p:sp>
        <p:nvSpPr>
          <p:cNvPr id="17" name="Rounded Rectangle 16"/>
          <p:cNvSpPr/>
          <p:nvPr/>
        </p:nvSpPr>
        <p:spPr>
          <a:xfrm>
            <a:off x="2971800" y="4892040"/>
            <a:ext cx="8686800" cy="658368"/>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1" i="0">
                <a:solidFill>
                  <a:srgbClr val="262626"/>
                </a:solidFill>
                <a:latin typeface="Meiryo UI"/>
                <a:ea typeface="Meiryo UI"/>
              </a:rPr>
              <a:t>地域で早く見つけ、適切な時期に紹介される状態にしたい</a:t>
            </a:r>
          </a:p>
        </p:txBody>
      </p:sp>
      <p:sp>
        <p:nvSpPr>
          <p:cNvPr id="18" name="Rounded Rectangle 17"/>
          <p:cNvSpPr/>
          <p:nvPr/>
        </p:nvSpPr>
        <p:spPr>
          <a:xfrm>
            <a:off x="548640" y="5715000"/>
            <a:ext cx="11109960" cy="5303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500" b="0" i="0">
                <a:solidFill>
                  <a:srgbClr val="FFFFFF"/>
                </a:solidFill>
                <a:latin typeface="Meiryo UI"/>
                <a:ea typeface="Meiryo UI"/>
              </a:rPr>
              <a:t>仮説は1つとは限らない。</a:t>
            </a:r>
            <a:r>
              <a:rPr sz="1900" b="1" i="0">
                <a:solidFill>
                  <a:srgbClr val="FFC000"/>
                </a:solidFill>
                <a:latin typeface="Meiryo UI"/>
                <a:ea typeface="Meiryo UI"/>
              </a:rPr>
              <a:t>　複数立てて、次の面談の質問で確かめる。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先ほどの9件は、すべてこの2つから取れます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病院ホームページ ＞ 腎臓内科 ＞ 実績</a:t>
            </a:r>
          </a:p>
        </p:txBody>
      </p:sp>
      <p:sp>
        <p:nvSpPr>
          <p:cNvPr id="7" name="Rounded Rectangle 6"/>
          <p:cNvSpPr/>
          <p:nvPr/>
        </p:nvSpPr>
        <p:spPr>
          <a:xfrm>
            <a:off x="54864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Rounded Rectangle 7"/>
          <p:cNvSpPr/>
          <p:nvPr/>
        </p:nvSpPr>
        <p:spPr>
          <a:xfrm>
            <a:off x="685800" y="2130552"/>
            <a:ext cx="5212080" cy="310896"/>
          </a:xfrm>
          <a:prstGeom prst="roundRect">
            <a:avLst>
              <a:gd name="adj" fmla="val 5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00" b="0" i="0">
                <a:solidFill>
                  <a:srgbClr val="595959"/>
                </a:solidFill>
                <a:latin typeface="Meiryo UI"/>
                <a:ea typeface="Meiryo UI"/>
              </a:rPr>
              <a:t>https://www.■■■■■■.or.jp/departments/nephrology/</a:t>
            </a:r>
          </a:p>
        </p:txBody>
      </p:sp>
      <p:sp>
        <p:nvSpPr>
          <p:cNvPr id="9" name="TextBox 8"/>
          <p:cNvSpPr txBox="1"/>
          <p:nvPr/>
        </p:nvSpPr>
        <p:spPr>
          <a:xfrm>
            <a:off x="685800" y="2523744"/>
            <a:ext cx="5212080" cy="256032"/>
          </a:xfrm>
          <a:prstGeom prst="rect">
            <a:avLst/>
          </a:prstGeom>
          <a:noFill/>
        </p:spPr>
        <p:txBody>
          <a:bodyPr wrap="square" lIns="0" rIns="0" tIns="0" bIns="0" anchor="t">
            <a:spAutoFit/>
          </a:bodyPr>
          <a:lstStyle/>
          <a:p>
            <a:pPr algn="l"/>
            <a:r>
              <a:rPr sz="1300" b="1" i="0">
                <a:solidFill>
                  <a:srgbClr val="262626"/>
                </a:solidFill>
                <a:latin typeface="Meiryo UI"/>
                <a:ea typeface="Meiryo UI"/>
              </a:rPr>
              <a:t>実績</a:t>
            </a:r>
          </a:p>
        </p:txBody>
      </p:sp>
      <p:sp>
        <p:nvSpPr>
          <p:cNvPr id="10" name="Rounded Rectangle 9"/>
          <p:cNvSpPr/>
          <p:nvPr/>
        </p:nvSpPr>
        <p:spPr>
          <a:xfrm>
            <a:off x="685800" y="2852928"/>
            <a:ext cx="1234440"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685800" y="2898648"/>
            <a:ext cx="1234440"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内容</a:t>
            </a:r>
          </a:p>
        </p:txBody>
      </p:sp>
      <p:sp>
        <p:nvSpPr>
          <p:cNvPr id="12" name="Rounded Rectangle 11"/>
          <p:cNvSpPr/>
          <p:nvPr/>
        </p:nvSpPr>
        <p:spPr>
          <a:xfrm>
            <a:off x="685800" y="3218688"/>
            <a:ext cx="1234440"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TextBox 12"/>
          <p:cNvSpPr txBox="1"/>
          <p:nvPr/>
        </p:nvSpPr>
        <p:spPr>
          <a:xfrm>
            <a:off x="685800" y="3291840"/>
            <a:ext cx="1234440"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腎生検数</a:t>
            </a:r>
          </a:p>
        </p:txBody>
      </p:sp>
      <p:sp>
        <p:nvSpPr>
          <p:cNvPr id="14" name="Rounded Rectangle 13"/>
          <p:cNvSpPr/>
          <p:nvPr/>
        </p:nvSpPr>
        <p:spPr>
          <a:xfrm>
            <a:off x="1920240"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TextBox 14"/>
          <p:cNvSpPr txBox="1"/>
          <p:nvPr/>
        </p:nvSpPr>
        <p:spPr>
          <a:xfrm>
            <a:off x="1920240"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16" name="Rounded Rectangle 15"/>
          <p:cNvSpPr/>
          <p:nvPr/>
        </p:nvSpPr>
        <p:spPr>
          <a:xfrm>
            <a:off x="1920240"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1920240"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28件</a:t>
            </a:r>
          </a:p>
        </p:txBody>
      </p:sp>
      <p:sp>
        <p:nvSpPr>
          <p:cNvPr id="18" name="Rounded Rectangle 17"/>
          <p:cNvSpPr/>
          <p:nvPr/>
        </p:nvSpPr>
        <p:spPr>
          <a:xfrm>
            <a:off x="2715768"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TextBox 18"/>
          <p:cNvSpPr txBox="1"/>
          <p:nvPr/>
        </p:nvSpPr>
        <p:spPr>
          <a:xfrm>
            <a:off x="2715768"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0" name="Rounded Rectangle 19"/>
          <p:cNvSpPr/>
          <p:nvPr/>
        </p:nvSpPr>
        <p:spPr>
          <a:xfrm>
            <a:off x="2715768"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715768"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36件</a:t>
            </a:r>
          </a:p>
        </p:txBody>
      </p:sp>
      <p:sp>
        <p:nvSpPr>
          <p:cNvPr id="22" name="Rounded Rectangle 21"/>
          <p:cNvSpPr/>
          <p:nvPr/>
        </p:nvSpPr>
        <p:spPr>
          <a:xfrm>
            <a:off x="3511296"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3" name="TextBox 22"/>
          <p:cNvSpPr txBox="1"/>
          <p:nvPr/>
        </p:nvSpPr>
        <p:spPr>
          <a:xfrm>
            <a:off x="3511296"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着任年</a:t>
            </a:r>
          </a:p>
        </p:txBody>
      </p:sp>
      <p:sp>
        <p:nvSpPr>
          <p:cNvPr id="24" name="Rounded Rectangle 23"/>
          <p:cNvSpPr/>
          <p:nvPr/>
        </p:nvSpPr>
        <p:spPr>
          <a:xfrm>
            <a:off x="3511296"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5" name="TextBox 24"/>
          <p:cNvSpPr txBox="1"/>
          <p:nvPr/>
        </p:nvSpPr>
        <p:spPr>
          <a:xfrm>
            <a:off x="3511296" y="3291840"/>
            <a:ext cx="795528" cy="274320"/>
          </a:xfrm>
          <a:prstGeom prst="rect">
            <a:avLst/>
          </a:prstGeom>
          <a:noFill/>
        </p:spPr>
        <p:txBody>
          <a:bodyPr wrap="square" lIns="0" rIns="0" tIns="0" bIns="0" anchor="t">
            <a:spAutoFit/>
          </a:bodyPr>
          <a:lstStyle/>
          <a:p>
            <a:pPr algn="ctr"/>
            <a:r>
              <a:rPr sz="1150" b="1" i="0">
                <a:solidFill>
                  <a:srgbClr val="C00000"/>
                </a:solidFill>
                <a:latin typeface="Meiryo UI"/>
                <a:ea typeface="Meiryo UI"/>
              </a:rPr>
              <a:t>90件</a:t>
            </a:r>
          </a:p>
        </p:txBody>
      </p:sp>
      <p:sp>
        <p:nvSpPr>
          <p:cNvPr id="26" name="Rounded Rectangle 25"/>
          <p:cNvSpPr/>
          <p:nvPr/>
        </p:nvSpPr>
        <p:spPr>
          <a:xfrm>
            <a:off x="4306824"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TextBox 26"/>
          <p:cNvSpPr txBox="1"/>
          <p:nvPr/>
        </p:nvSpPr>
        <p:spPr>
          <a:xfrm>
            <a:off x="4306824"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8" name="Rounded Rectangle 27"/>
          <p:cNvSpPr/>
          <p:nvPr/>
        </p:nvSpPr>
        <p:spPr>
          <a:xfrm>
            <a:off x="4306824"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9" name="TextBox 28"/>
          <p:cNvSpPr txBox="1"/>
          <p:nvPr/>
        </p:nvSpPr>
        <p:spPr>
          <a:xfrm>
            <a:off x="4306824"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96件</a:t>
            </a:r>
          </a:p>
        </p:txBody>
      </p:sp>
      <p:sp>
        <p:nvSpPr>
          <p:cNvPr id="30" name="Rounded Rectangle 29"/>
          <p:cNvSpPr/>
          <p:nvPr/>
        </p:nvSpPr>
        <p:spPr>
          <a:xfrm>
            <a:off x="5102352"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1" name="TextBox 30"/>
          <p:cNvSpPr txBox="1"/>
          <p:nvPr/>
        </p:nvSpPr>
        <p:spPr>
          <a:xfrm>
            <a:off x="5102352"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32" name="Rounded Rectangle 31"/>
          <p:cNvSpPr/>
          <p:nvPr/>
        </p:nvSpPr>
        <p:spPr>
          <a:xfrm>
            <a:off x="5102352"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3" name="TextBox 32"/>
          <p:cNvSpPr txBox="1"/>
          <p:nvPr/>
        </p:nvSpPr>
        <p:spPr>
          <a:xfrm>
            <a:off x="5102352"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99件</a:t>
            </a:r>
          </a:p>
        </p:txBody>
      </p:sp>
      <p:sp>
        <p:nvSpPr>
          <p:cNvPr id="34" name="TextBox 33"/>
          <p:cNvSpPr txBox="1"/>
          <p:nvPr/>
        </p:nvSpPr>
        <p:spPr>
          <a:xfrm>
            <a:off x="685800" y="3767328"/>
            <a:ext cx="5212080" cy="457200"/>
          </a:xfrm>
          <a:prstGeom prst="rect">
            <a:avLst/>
          </a:prstGeom>
          <a:noFill/>
        </p:spPr>
        <p:txBody>
          <a:bodyPr wrap="square" lIns="0" rIns="0" tIns="0" bIns="0" anchor="t">
            <a:spAutoFit/>
          </a:bodyPr>
          <a:lstStyle/>
          <a:p>
            <a:pPr algn="l">
              <a:lnSpc>
                <a:spcPct val="125000"/>
              </a:lnSpc>
            </a:pPr>
            <a:r>
              <a:rPr sz="950" b="0" i="0">
                <a:solidFill>
                  <a:srgbClr val="595959"/>
                </a:solidFill>
                <a:latin typeface="Meiryo UI"/>
                <a:ea typeface="Meiryo UI"/>
              </a:rPr>
              <a:t>※ 実際のページは「2021年度〜2025年度」の年度表記。ここでは施設が特定できないよう、</a:t>
            </a:r>
          </a:p>
          <a:p>
            <a:pPr algn="l">
              <a:lnSpc>
                <a:spcPct val="125000"/>
              </a:lnSpc>
            </a:pPr>
            <a:r>
              <a:rPr sz="950" b="0" i="0">
                <a:solidFill>
                  <a:srgbClr val="595959"/>
                </a:solidFill>
                <a:latin typeface="Meiryo UI"/>
                <a:ea typeface="Meiryo UI"/>
              </a:rPr>
              <a:t>　 部長の着任年を基準にした相対表記に置き換えています。</a:t>
            </a:r>
          </a:p>
        </p:txBody>
      </p:sp>
      <p:sp>
        <p:nvSpPr>
          <p:cNvPr id="35" name="Rounded Rectangle 34"/>
          <p:cNvSpPr/>
          <p:nvPr/>
        </p:nvSpPr>
        <p:spPr>
          <a:xfrm>
            <a:off x="685800" y="4315968"/>
            <a:ext cx="5212080" cy="384048"/>
          </a:xfrm>
          <a:prstGeom prst="roundRect">
            <a:avLst>
              <a:gd name="adj" fmla="val 6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誰でも見られるページに、年次の推移がそのまま載っている</a:t>
            </a:r>
          </a:p>
        </p:txBody>
      </p:sp>
      <p:sp>
        <p:nvSpPr>
          <p:cNvPr id="36" name="Rounded Rectangle 35"/>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地域連携の広報誌（開業医向け）｜部長 着任のごあいさつ</a:t>
            </a:r>
          </a:p>
        </p:txBody>
      </p:sp>
      <p:sp>
        <p:nvSpPr>
          <p:cNvPr id="37" name="Rounded Rectangle 36"/>
          <p:cNvSpPr/>
          <p:nvPr/>
        </p:nvSpPr>
        <p:spPr>
          <a:xfrm>
            <a:off x="617220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8" name="TextBox 37"/>
          <p:cNvSpPr txBox="1"/>
          <p:nvPr/>
        </p:nvSpPr>
        <p:spPr>
          <a:xfrm>
            <a:off x="6309360" y="2130552"/>
            <a:ext cx="5212080" cy="274320"/>
          </a:xfrm>
          <a:prstGeom prst="rect">
            <a:avLst/>
          </a:prstGeom>
          <a:noFill/>
        </p:spPr>
        <p:txBody>
          <a:bodyPr wrap="square" lIns="0" rIns="0" tIns="0" bIns="0" anchor="t">
            <a:spAutoFit/>
          </a:bodyPr>
          <a:lstStyle/>
          <a:p>
            <a:pPr algn="l"/>
            <a:r>
              <a:rPr sz="950" b="0" i="0">
                <a:solidFill>
                  <a:srgbClr val="595959"/>
                </a:solidFill>
                <a:latin typeface="Meiryo UI"/>
                <a:ea typeface="Meiryo UI"/>
              </a:rPr>
              <a:t>広報誌より抜粋（原文ママ・施設名と氏名は伏せています）</a:t>
            </a:r>
          </a:p>
        </p:txBody>
      </p:sp>
      <p:sp>
        <p:nvSpPr>
          <p:cNvPr id="39" name="Rounded Rectangle 38"/>
          <p:cNvSpPr/>
          <p:nvPr/>
        </p:nvSpPr>
        <p:spPr>
          <a:xfrm>
            <a:off x="6309360" y="2450592"/>
            <a:ext cx="5212080" cy="566928"/>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0" i="0">
                <a:solidFill>
                  <a:srgbClr val="262626"/>
                </a:solidFill>
                <a:latin typeface="Meiryo UI"/>
                <a:ea typeface="Meiryo UI"/>
              </a:rPr>
              <a:t>「◯年4月1日付けで、当院腎臓内科部長に着任しました」</a:t>
            </a:r>
          </a:p>
        </p:txBody>
      </p:sp>
      <p:sp>
        <p:nvSpPr>
          <p:cNvPr id="40" name="Rounded Rectangle 39"/>
          <p:cNvSpPr/>
          <p:nvPr/>
        </p:nvSpPr>
        <p:spPr>
          <a:xfrm>
            <a:off x="6309360" y="309067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「今後は、透析を導入する医療ではなく、透析患者さんを一人でも減らすことが極めて重要と考えています」</a:t>
            </a:r>
          </a:p>
        </p:txBody>
      </p:sp>
      <p:sp>
        <p:nvSpPr>
          <p:cNvPr id="41" name="Rounded Rectangle 40"/>
          <p:cNvSpPr/>
          <p:nvPr/>
        </p:nvSpPr>
        <p:spPr>
          <a:xfrm>
            <a:off x="6309360" y="373075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42" name="TextBox 41"/>
          <p:cNvSpPr txBox="1"/>
          <p:nvPr/>
        </p:nvSpPr>
        <p:spPr>
          <a:xfrm>
            <a:off x="6309360" y="4407408"/>
            <a:ext cx="5212080" cy="274320"/>
          </a:xfrm>
          <a:prstGeom prst="rect">
            <a:avLst/>
          </a:prstGeom>
          <a:noFill/>
        </p:spPr>
        <p:txBody>
          <a:bodyPr wrap="square" lIns="0" rIns="0" tIns="0" bIns="0" anchor="t">
            <a:spAutoFit/>
          </a:bodyPr>
          <a:lstStyle/>
          <a:p>
            <a:pPr algn="r"/>
            <a:r>
              <a:rPr sz="1000" b="1" i="0">
                <a:solidFill>
                  <a:srgbClr val="595959"/>
                </a:solidFill>
                <a:latin typeface="Meiryo UI"/>
                <a:ea typeface="Meiryo UI"/>
              </a:rPr>
              <a:t>■■病院　腎臓内科部長　◯◯</a:t>
            </a:r>
          </a:p>
        </p:txBody>
      </p:sp>
      <p:sp>
        <p:nvSpPr>
          <p:cNvPr id="43" name="Rounded Rectangle 42"/>
          <p:cNvSpPr/>
          <p:nvPr/>
        </p:nvSpPr>
        <p:spPr>
          <a:xfrm>
            <a:off x="6309360" y="4315968"/>
            <a:ext cx="521208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cxnSp>
        <p:nvCxnSpPr>
          <p:cNvPr id="44" name="Connector 43"/>
          <p:cNvCxnSpPr/>
          <p:nvPr/>
        </p:nvCxnSpPr>
        <p:spPr>
          <a:xfrm>
            <a:off x="6309360" y="4279392"/>
            <a:ext cx="521208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309360" y="4956048"/>
            <a:ext cx="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sp>
        <p:nvSpPr>
          <p:cNvPr id="46" name="Rounded Rectangle 45"/>
          <p:cNvSpPr/>
          <p:nvPr/>
        </p:nvSpPr>
        <p:spPr>
          <a:xfrm>
            <a:off x="54864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腎生検数が、いつ・どれだけ動いたか</a:t>
            </a:r>
          </a:p>
        </p:txBody>
      </p:sp>
      <p:sp>
        <p:nvSpPr>
          <p:cNvPr id="47" name="Rounded Rectangle 46"/>
          <p:cNvSpPr/>
          <p:nvPr/>
        </p:nvSpPr>
        <p:spPr>
          <a:xfrm>
            <a:off x="617220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着任の時期と、紹介を受け入れる意思</a:t>
            </a:r>
          </a:p>
        </p:txBody>
      </p:sp>
      <p:sp>
        <p:nvSpPr>
          <p:cNvPr id="48" name="Rounded Rectangle 47"/>
          <p:cNvSpPr/>
          <p:nvPr/>
        </p:nvSpPr>
        <p:spPr>
          <a:xfrm>
            <a:off x="548640" y="5504688"/>
            <a:ext cx="11109960" cy="7589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900" b="1" i="0">
                <a:solidFill>
                  <a:srgbClr val="FFC000"/>
                </a:solidFill>
                <a:latin typeface="Meiryo UI"/>
                <a:ea typeface="Meiryo UI"/>
              </a:rPr>
              <a:t>面会の前に、公開情報だけでここまで分かる。</a:t>
            </a:r>
          </a:p>
          <a:p>
            <a:pPr algn="ctr"/>
            <a:r>
              <a:rPr sz="1000" b="0" i="0">
                <a:solidFill>
                  <a:srgbClr val="FFFFFF"/>
                </a:solidFill>
                <a:latin typeface="Meiryo UI"/>
                <a:ea typeface="Meiryo UI"/>
              </a:rPr>
              <a:t>出典：病院ホームページ「実績」ページ／地域連携の広報誌（いずれも一般公開・研修用に施設名は伏せています）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 — 仕分けたFactとWantsを、並べて見る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①　腎生検数の推移</a:t>
            </a:r>
          </a:p>
        </p:txBody>
      </p:sp>
      <p:sp>
        <p:nvSpPr>
          <p:cNvPr id="7" name="Rectangle 6"/>
          <p:cNvSpPr/>
          <p:nvPr/>
        </p:nvSpPr>
        <p:spPr>
          <a:xfrm>
            <a:off x="822959" y="3176259"/>
            <a:ext cx="685800" cy="2253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TextBox 7"/>
          <p:cNvSpPr txBox="1"/>
          <p:nvPr/>
        </p:nvSpPr>
        <p:spPr>
          <a:xfrm>
            <a:off x="640080" y="2920227"/>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28</a:t>
            </a:r>
          </a:p>
        </p:txBody>
      </p:sp>
      <p:sp>
        <p:nvSpPr>
          <p:cNvPr id="9" name="TextBox 8"/>
          <p:cNvSpPr txBox="1"/>
          <p:nvPr/>
        </p:nvSpPr>
        <p:spPr>
          <a:xfrm>
            <a:off x="640080"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sp>
        <p:nvSpPr>
          <p:cNvPr id="10" name="Rectangle 9"/>
          <p:cNvSpPr/>
          <p:nvPr/>
        </p:nvSpPr>
        <p:spPr>
          <a:xfrm>
            <a:off x="1892807" y="3111886"/>
            <a:ext cx="685800" cy="289681"/>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1709928" y="2855854"/>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36</a:t>
            </a:r>
          </a:p>
        </p:txBody>
      </p:sp>
      <p:sp>
        <p:nvSpPr>
          <p:cNvPr id="12" name="TextBox 11"/>
          <p:cNvSpPr txBox="1"/>
          <p:nvPr/>
        </p:nvSpPr>
        <p:spPr>
          <a:xfrm>
            <a:off x="1709928"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3" name="Rectangle 12"/>
          <p:cNvSpPr/>
          <p:nvPr/>
        </p:nvSpPr>
        <p:spPr>
          <a:xfrm>
            <a:off x="2962656" y="2677363"/>
            <a:ext cx="685800" cy="72420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2779776" y="2421331"/>
            <a:ext cx="1051560" cy="237744"/>
          </a:xfrm>
          <a:prstGeom prst="rect">
            <a:avLst/>
          </a:prstGeom>
          <a:noFill/>
        </p:spPr>
        <p:txBody>
          <a:bodyPr wrap="square" lIns="0" rIns="0" tIns="0" bIns="0" anchor="t">
            <a:spAutoFit/>
          </a:bodyPr>
          <a:lstStyle/>
          <a:p>
            <a:pPr algn="ctr"/>
            <a:r>
              <a:rPr sz="1150" b="1" i="0">
                <a:solidFill>
                  <a:srgbClr val="C00000"/>
                </a:solidFill>
                <a:latin typeface="Meiryo UI"/>
                <a:ea typeface="Meiryo UI"/>
              </a:rPr>
              <a:t>90</a:t>
            </a:r>
          </a:p>
        </p:txBody>
      </p:sp>
      <p:sp>
        <p:nvSpPr>
          <p:cNvPr id="15" name="TextBox 14"/>
          <p:cNvSpPr txBox="1"/>
          <p:nvPr/>
        </p:nvSpPr>
        <p:spPr>
          <a:xfrm>
            <a:off x="2779776" y="3438144"/>
            <a:ext cx="1051560" cy="237744"/>
          </a:xfrm>
          <a:prstGeom prst="rect">
            <a:avLst/>
          </a:prstGeom>
          <a:noFill/>
        </p:spPr>
        <p:txBody>
          <a:bodyPr wrap="square" lIns="0" rIns="0" tIns="0" bIns="0" anchor="t">
            <a:spAutoFit/>
          </a:bodyPr>
          <a:lstStyle/>
          <a:p>
            <a:pPr algn="ctr"/>
            <a:r>
              <a:rPr sz="950" b="1" i="0">
                <a:solidFill>
                  <a:srgbClr val="262626"/>
                </a:solidFill>
                <a:latin typeface="Meiryo UI"/>
                <a:ea typeface="Meiryo UI"/>
              </a:rPr>
              <a:t>着任年</a:t>
            </a:r>
          </a:p>
        </p:txBody>
      </p:sp>
      <p:sp>
        <p:nvSpPr>
          <p:cNvPr id="16" name="Rectangle 15"/>
          <p:cNvSpPr/>
          <p:nvPr/>
        </p:nvSpPr>
        <p:spPr>
          <a:xfrm>
            <a:off x="4032504" y="2629082"/>
            <a:ext cx="685800" cy="77248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3849624" y="237305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96</a:t>
            </a:r>
          </a:p>
        </p:txBody>
      </p:sp>
      <p:sp>
        <p:nvSpPr>
          <p:cNvPr id="18" name="TextBox 17"/>
          <p:cNvSpPr txBox="1"/>
          <p:nvPr/>
        </p:nvSpPr>
        <p:spPr>
          <a:xfrm>
            <a:off x="3849624"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9" name="Rectangle 18"/>
          <p:cNvSpPr/>
          <p:nvPr/>
        </p:nvSpPr>
        <p:spPr>
          <a:xfrm>
            <a:off x="5102352" y="2604942"/>
            <a:ext cx="685800" cy="79662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TextBox 19"/>
          <p:cNvSpPr txBox="1"/>
          <p:nvPr/>
        </p:nvSpPr>
        <p:spPr>
          <a:xfrm>
            <a:off x="4919472" y="234891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99</a:t>
            </a:r>
          </a:p>
        </p:txBody>
      </p:sp>
      <p:sp>
        <p:nvSpPr>
          <p:cNvPr id="21" name="TextBox 20"/>
          <p:cNvSpPr txBox="1"/>
          <p:nvPr/>
        </p:nvSpPr>
        <p:spPr>
          <a:xfrm>
            <a:off x="4919472"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cxnSp>
        <p:nvCxnSpPr>
          <p:cNvPr id="22" name="Connector 21"/>
          <p:cNvCxnSpPr/>
          <p:nvPr/>
        </p:nvCxnSpPr>
        <p:spPr>
          <a:xfrm>
            <a:off x="640080" y="3401568"/>
            <a:ext cx="530352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3657600"/>
            <a:ext cx="5303520" cy="256032"/>
          </a:xfrm>
          <a:prstGeom prst="rect">
            <a:avLst/>
          </a:prstGeom>
          <a:noFill/>
        </p:spPr>
        <p:txBody>
          <a:bodyPr wrap="square" lIns="0" rIns="0" tIns="0" bIns="0" anchor="t">
            <a:spAutoFit/>
          </a:bodyPr>
          <a:lstStyle/>
          <a:p>
            <a:pPr algn="l"/>
            <a:r>
              <a:rPr sz="1100" b="1" i="0">
                <a:solidFill>
                  <a:srgbClr val="0B4F37"/>
                </a:solidFill>
                <a:latin typeface="Meiryo UI"/>
                <a:ea typeface="Meiryo UI"/>
              </a:rPr>
              <a:t>着任年に2.5倍。その後は96→99件で横ばい。</a:t>
            </a:r>
          </a:p>
        </p:txBody>
      </p:sp>
      <p:sp>
        <p:nvSpPr>
          <p:cNvPr id="24" name="Rounded Rectangle 23"/>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②　ページと広報誌から分かること</a:t>
            </a:r>
          </a:p>
        </p:txBody>
      </p:sp>
      <p:sp>
        <p:nvSpPr>
          <p:cNvPr id="25" name="Rounded Rectangle 24"/>
          <p:cNvSpPr/>
          <p:nvPr/>
        </p:nvSpPr>
        <p:spPr>
          <a:xfrm>
            <a:off x="6172200" y="2011680"/>
            <a:ext cx="5486400" cy="190195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・血液浄化センター／臨床研究／学会発表／認定施設のページを持つ</a:t>
            </a:r>
          </a:p>
          <a:p>
            <a:pPr algn="l">
              <a:lnSpc>
                <a:spcPct val="125000"/>
              </a:lnSpc>
              <a:spcAft>
                <a:spcPts val="800"/>
              </a:spcAft>
            </a:pPr>
            <a:r>
              <a:rPr sz="1100" b="0" i="0">
                <a:solidFill>
                  <a:srgbClr val="262626"/>
                </a:solidFill>
                <a:latin typeface="Meiryo UI"/>
                <a:ea typeface="Meiryo UI"/>
              </a:rPr>
              <a:t>・部長は前任地で、腎臓内科の立ち上げと血液浄化センター開設を経験</a:t>
            </a:r>
          </a:p>
          <a:p>
            <a:pPr algn="l">
              <a:lnSpc>
                <a:spcPct val="125000"/>
              </a:lnSpc>
              <a:spcAft>
                <a:spcPts val="800"/>
              </a:spcAft>
            </a:pPr>
            <a:r>
              <a:rPr sz="1100" b="0" i="0">
                <a:solidFill>
                  <a:srgbClr val="262626"/>
                </a:solidFill>
                <a:latin typeface="Meiryo UI"/>
                <a:ea typeface="Meiryo UI"/>
              </a:rPr>
              <a:t>・診療範囲は腎生検・保存期・血液透析・腹膜透析・移植と広い</a:t>
            </a:r>
          </a:p>
          <a:p>
            <a:pPr algn="l">
              <a:lnSpc>
                <a:spcPct val="125000"/>
              </a:lnSpc>
              <a:spcAft>
                <a:spcPts val="800"/>
              </a:spcAft>
            </a:pPr>
            <a:r>
              <a:rPr sz="1100" b="0" i="0">
                <a:solidFill>
                  <a:srgbClr val="262626"/>
                </a:solidFill>
                <a:latin typeface="Meiryo UI"/>
                <a:ea typeface="Meiryo UI"/>
              </a:rPr>
              <a:t>・着任した月に、開業医向けの広報誌へ寄稿している</a:t>
            </a:r>
          </a:p>
        </p:txBody>
      </p:sp>
      <p:sp>
        <p:nvSpPr>
          <p:cNvPr id="26" name="Rounded Rectangle 25"/>
          <p:cNvSpPr/>
          <p:nvPr/>
        </p:nvSpPr>
        <p:spPr>
          <a:xfrm>
            <a:off x="548640" y="4069080"/>
            <a:ext cx="11109960" cy="41148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Wants ─ 広報誌で、実際に口にしている言葉</a:t>
            </a:r>
          </a:p>
        </p:txBody>
      </p:sp>
      <p:sp>
        <p:nvSpPr>
          <p:cNvPr id="27" name="Rounded Rectangle 26"/>
          <p:cNvSpPr/>
          <p:nvPr/>
        </p:nvSpPr>
        <p:spPr>
          <a:xfrm>
            <a:off x="548640"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28" name="Rounded Rectangle 27"/>
          <p:cNvSpPr/>
          <p:nvPr/>
        </p:nvSpPr>
        <p:spPr>
          <a:xfrm>
            <a:off x="4288536"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「どのような腎疾患患者様が来られても、その患者様にベストな医療を偏りなく行いたい」</a:t>
            </a:r>
          </a:p>
        </p:txBody>
      </p:sp>
      <p:sp>
        <p:nvSpPr>
          <p:cNvPr id="29" name="Rounded Rectangle 28"/>
          <p:cNvSpPr/>
          <p:nvPr/>
        </p:nvSpPr>
        <p:spPr>
          <a:xfrm>
            <a:off x="8028431"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「まず透析の話をするのではなく、透析にならないためにどうしていったらいいのかを、患者様と一緒に考えたい」</a:t>
            </a:r>
          </a:p>
        </p:txBody>
      </p:sp>
      <p:sp>
        <p:nvSpPr>
          <p:cNvPr id="30" name="Rounded Rectangle 29"/>
          <p:cNvSpPr/>
          <p:nvPr/>
        </p:nvSpPr>
        <p:spPr>
          <a:xfrm>
            <a:off x="548640" y="5623560"/>
            <a:ext cx="11109960" cy="62179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550" b="1" i="0">
                <a:solidFill>
                  <a:srgbClr val="FFC000"/>
                </a:solidFill>
                <a:latin typeface="Meiryo UI"/>
                <a:ea typeface="Meiryo UI"/>
              </a:rPr>
              <a:t>Wantsは3つある。どれも「やりたいこと」で、まだ「満たされていない状態」ではない。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同じWantsから、Needsの仮説は複数立つ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19</a:t>
            </a:r>
          </a:p>
        </p:txBody>
      </p:sp>
      <p:sp>
        <p:nvSpPr>
          <p:cNvPr id="6" name="Rounded Rectangle 5"/>
          <p:cNvSpPr/>
          <p:nvPr/>
        </p:nvSpPr>
        <p:spPr>
          <a:xfrm>
            <a:off x="548640" y="1536192"/>
            <a:ext cx="11109960" cy="47548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BFE8D2"/>
                </a:solidFill>
                <a:latin typeface="Meiryo UI"/>
                <a:ea typeface="Meiryo UI"/>
              </a:rPr>
              <a:t>Wants　</a:t>
            </a:r>
            <a:r>
              <a:rPr sz="1700" b="1" i="0">
                <a:solidFill>
                  <a:srgbClr val="FFFFFF"/>
                </a:solidFill>
                <a:latin typeface="Meiryo UI"/>
                <a:ea typeface="Meiryo UI"/>
              </a:rPr>
              <a:t>「いつでもご紹介頂けますと幸いです」　—　なぜ、そう言うのか？</a:t>
            </a:r>
          </a:p>
        </p:txBody>
      </p:sp>
      <p:sp>
        <p:nvSpPr>
          <p:cNvPr id="7" name="Rounded Rectangle 6"/>
          <p:cNvSpPr/>
          <p:nvPr/>
        </p:nvSpPr>
        <p:spPr>
          <a:xfrm>
            <a:off x="548640" y="2176272"/>
            <a:ext cx="3566160" cy="475488"/>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仮説A　早期に生検・診断まで持っていきたい</a:t>
            </a:r>
          </a:p>
        </p:txBody>
      </p:sp>
      <p:sp>
        <p:nvSpPr>
          <p:cNvPr id="8" name="Rounded Rectangle 7"/>
          <p:cNvSpPr/>
          <p:nvPr/>
        </p:nvSpPr>
        <p:spPr>
          <a:xfrm>
            <a:off x="548640"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Needs（満たされていない状態）</a:t>
            </a:r>
          </a:p>
          <a:p>
            <a:pPr algn="l">
              <a:lnSpc>
                <a:spcPct val="125000"/>
              </a:lnSpc>
            </a:pPr>
            <a:r>
              <a:rPr sz="1100" b="0" i="0">
                <a:solidFill>
                  <a:srgbClr val="262626"/>
                </a:solidFill>
                <a:latin typeface="Meiryo UI"/>
                <a:ea typeface="Meiryo UI"/>
              </a:rPr>
              <a:t>早期に生検・診断まで持っていける患者が、限られている</a:t>
            </a:r>
          </a:p>
        </p:txBody>
      </p:sp>
      <p:sp>
        <p:nvSpPr>
          <p:cNvPr id="9" name="Rounded Rectangle 8"/>
          <p:cNvSpPr/>
          <p:nvPr/>
        </p:nvSpPr>
        <p:spPr>
          <a:xfrm>
            <a:off x="548640"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確かめる質問</a:t>
            </a:r>
          </a:p>
          <a:p>
            <a:pPr algn="l">
              <a:lnSpc>
                <a:spcPct val="125000"/>
              </a:lnSpc>
            </a:pPr>
            <a:r>
              <a:rPr sz="1100" b="0" i="0">
                <a:solidFill>
                  <a:srgbClr val="262626"/>
                </a:solidFill>
                <a:latin typeface="Meiryo UI"/>
                <a:ea typeface="Meiryo UI"/>
              </a:rPr>
              <a:t>「どの段階でご紹介いただけると、生検まで持っていけますか？」</a:t>
            </a:r>
          </a:p>
        </p:txBody>
      </p:sp>
      <p:sp>
        <p:nvSpPr>
          <p:cNvPr id="10" name="Rounded Rectangle 9"/>
          <p:cNvSpPr/>
          <p:nvPr/>
        </p:nvSpPr>
        <p:spPr>
          <a:xfrm>
            <a:off x="548640"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この仮説なら、解決策は</a:t>
            </a:r>
          </a:p>
          <a:p>
            <a:pPr algn="l">
              <a:lnSpc>
                <a:spcPct val="125000"/>
              </a:lnSpc>
            </a:pPr>
            <a:r>
              <a:rPr sz="1100" b="1" i="0">
                <a:solidFill>
                  <a:srgbClr val="262626"/>
                </a:solidFill>
                <a:latin typeface="Meiryo UI"/>
                <a:ea typeface="Meiryo UI"/>
              </a:rPr>
              <a:t>「腎生検のタイミング」をテーマに、先生を演者にした症例検討会</a:t>
            </a:r>
          </a:p>
        </p:txBody>
      </p:sp>
      <p:sp>
        <p:nvSpPr>
          <p:cNvPr id="11" name="Rounded Rectangle 10"/>
          <p:cNvSpPr/>
          <p:nvPr/>
        </p:nvSpPr>
        <p:spPr>
          <a:xfrm>
            <a:off x="4288536" y="2176272"/>
            <a:ext cx="3566160" cy="47548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仮説B　透析を減らして評価されたい</a:t>
            </a:r>
          </a:p>
        </p:txBody>
      </p:sp>
      <p:sp>
        <p:nvSpPr>
          <p:cNvPr id="12" name="Rounded Rectangle 11"/>
          <p:cNvSpPr/>
          <p:nvPr/>
        </p:nvSpPr>
        <p:spPr>
          <a:xfrm>
            <a:off x="4288536"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Needs（満たされていない状態）</a:t>
            </a:r>
          </a:p>
          <a:p>
            <a:pPr algn="l">
              <a:lnSpc>
                <a:spcPct val="125000"/>
              </a:lnSpc>
            </a:pPr>
            <a:r>
              <a:rPr sz="1100" b="0" i="0">
                <a:solidFill>
                  <a:srgbClr val="262626"/>
                </a:solidFill>
                <a:latin typeface="Meiryo UI"/>
                <a:ea typeface="Meiryo UI"/>
              </a:rPr>
              <a:t>透析を回避した成果を、院内外に示す場がない</a:t>
            </a:r>
          </a:p>
        </p:txBody>
      </p:sp>
      <p:sp>
        <p:nvSpPr>
          <p:cNvPr id="13" name="Rounded Rectangle 12"/>
          <p:cNvSpPr/>
          <p:nvPr/>
        </p:nvSpPr>
        <p:spPr>
          <a:xfrm>
            <a:off x="4288536"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確かめる質問</a:t>
            </a:r>
          </a:p>
          <a:p>
            <a:pPr algn="l">
              <a:lnSpc>
                <a:spcPct val="125000"/>
              </a:lnSpc>
            </a:pPr>
            <a:r>
              <a:rPr sz="1100" b="0" i="0">
                <a:solidFill>
                  <a:srgbClr val="262626"/>
                </a:solidFill>
                <a:latin typeface="Meiryo UI"/>
                <a:ea typeface="Meiryo UI"/>
              </a:rPr>
              <a:t>「腎生検が増えて、次に変わってほしいことは何ですか？」</a:t>
            </a:r>
          </a:p>
        </p:txBody>
      </p:sp>
      <p:sp>
        <p:nvSpPr>
          <p:cNvPr id="14" name="Rounded Rectangle 13"/>
          <p:cNvSpPr/>
          <p:nvPr/>
        </p:nvSpPr>
        <p:spPr>
          <a:xfrm>
            <a:off x="4288536"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この仮説なら、解決策は</a:t>
            </a:r>
          </a:p>
          <a:p>
            <a:pPr algn="l">
              <a:lnSpc>
                <a:spcPct val="125000"/>
              </a:lnSpc>
            </a:pPr>
            <a:r>
              <a:rPr sz="1100" b="1" i="0">
                <a:solidFill>
                  <a:srgbClr val="262626"/>
                </a:solidFill>
                <a:latin typeface="Meiryo UI"/>
                <a:ea typeface="Meiryo UI"/>
              </a:rPr>
              <a:t>保存期CKDの症例検討会を、〇〇先生を中心に設計する</a:t>
            </a:r>
          </a:p>
        </p:txBody>
      </p:sp>
      <p:sp>
        <p:nvSpPr>
          <p:cNvPr id="15" name="Rounded Rectangle 14"/>
          <p:cNvSpPr/>
          <p:nvPr/>
        </p:nvSpPr>
        <p:spPr>
          <a:xfrm>
            <a:off x="8028431" y="2176272"/>
            <a:ext cx="3566160" cy="475488"/>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仮説C　前任地の体制を再現したい</a:t>
            </a:r>
          </a:p>
        </p:txBody>
      </p:sp>
      <p:sp>
        <p:nvSpPr>
          <p:cNvPr id="16" name="Rounded Rectangle 15"/>
          <p:cNvSpPr/>
          <p:nvPr/>
        </p:nvSpPr>
        <p:spPr>
          <a:xfrm>
            <a:off x="8028431"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Needs（満たされていない状態）</a:t>
            </a:r>
          </a:p>
          <a:p>
            <a:pPr algn="l">
              <a:lnSpc>
                <a:spcPct val="125000"/>
              </a:lnSpc>
            </a:pPr>
            <a:r>
              <a:rPr sz="1100" b="0" i="0">
                <a:solidFill>
                  <a:srgbClr val="262626"/>
                </a:solidFill>
                <a:latin typeface="Meiryo UI"/>
                <a:ea typeface="Meiryo UI"/>
              </a:rPr>
              <a:t>立ち上げた診療体制と実績が、この病院にはまだない</a:t>
            </a:r>
          </a:p>
        </p:txBody>
      </p:sp>
      <p:sp>
        <p:nvSpPr>
          <p:cNvPr id="17" name="Rounded Rectangle 16"/>
          <p:cNvSpPr/>
          <p:nvPr/>
        </p:nvSpPr>
        <p:spPr>
          <a:xfrm>
            <a:off x="8028431"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確かめる質問</a:t>
            </a:r>
          </a:p>
          <a:p>
            <a:pPr algn="l">
              <a:lnSpc>
                <a:spcPct val="125000"/>
              </a:lnSpc>
            </a:pPr>
            <a:r>
              <a:rPr sz="1100" b="0" i="0">
                <a:solidFill>
                  <a:srgbClr val="262626"/>
                </a:solidFill>
                <a:latin typeface="Meiryo UI"/>
                <a:ea typeface="Meiryo UI"/>
              </a:rPr>
              <a:t>「前任地でうまくいった仕組みで、再現したいものは？」</a:t>
            </a:r>
          </a:p>
        </p:txBody>
      </p:sp>
      <p:sp>
        <p:nvSpPr>
          <p:cNvPr id="18" name="Rounded Rectangle 17"/>
          <p:cNvSpPr/>
          <p:nvPr/>
        </p:nvSpPr>
        <p:spPr>
          <a:xfrm>
            <a:off x="8028431"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この仮説なら、解決策は</a:t>
            </a:r>
          </a:p>
          <a:p>
            <a:pPr algn="l">
              <a:lnSpc>
                <a:spcPct val="125000"/>
              </a:lnSpc>
            </a:pPr>
            <a:r>
              <a:rPr sz="1100" b="1" i="0">
                <a:solidFill>
                  <a:srgbClr val="262626"/>
                </a:solidFill>
                <a:latin typeface="Meiryo UI"/>
                <a:ea typeface="Meiryo UI"/>
              </a:rPr>
              <a:t>近隣の基幹病院・大学の腎臓内科医とつなぎ、再現の土台をつくる</a:t>
            </a:r>
          </a:p>
        </p:txBody>
      </p:sp>
      <p:sp>
        <p:nvSpPr>
          <p:cNvPr id="19" name="Rounded Rectangle 18"/>
          <p:cNvSpPr/>
          <p:nvPr/>
        </p:nvSpPr>
        <p:spPr>
          <a:xfrm>
            <a:off x="548640" y="5742432"/>
            <a:ext cx="11109960" cy="5029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ctr"/>
            <a:r>
              <a:rPr sz="1700" b="1" i="0">
                <a:solidFill>
                  <a:srgbClr val="FFC000"/>
                </a:solidFill>
                <a:latin typeface="Meiryo UI"/>
                <a:ea typeface="Meiryo UI"/>
              </a:rPr>
              <a:t>打ち手はすべて、〇〇先生に対して。開業医は、その先にいる。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自分の担当施設で、仮説と解決策を考える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6" name="Rounded Rectangle 5"/>
          <p:cNvSpPr/>
          <p:nvPr/>
        </p:nvSpPr>
        <p:spPr>
          <a:xfrm>
            <a:off x="548640" y="1627632"/>
            <a:ext cx="2697480" cy="54864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1　Fact・Wants・Needsを置く</a:t>
            </a:r>
          </a:p>
        </p:txBody>
      </p:sp>
      <p:sp>
        <p:nvSpPr>
          <p:cNvPr id="7" name="Right Arrow 6"/>
          <p:cNvSpPr/>
          <p:nvPr/>
        </p:nvSpPr>
        <p:spPr>
          <a:xfrm>
            <a:off x="3282696"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27632"/>
            <a:ext cx="269748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2　仮説を1文にする</a:t>
            </a:r>
          </a:p>
        </p:txBody>
      </p:sp>
      <p:sp>
        <p:nvSpPr>
          <p:cNvPr id="9" name="Right Arrow 8"/>
          <p:cNvSpPr/>
          <p:nvPr/>
        </p:nvSpPr>
        <p:spPr>
          <a:xfrm>
            <a:off x="6135624"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627632"/>
            <a:ext cx="269748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3　4Sに当てはめる</a:t>
            </a:r>
          </a:p>
        </p:txBody>
      </p:sp>
      <p:sp>
        <p:nvSpPr>
          <p:cNvPr id="11" name="Right Arrow 10"/>
          <p:cNvSpPr/>
          <p:nvPr/>
        </p:nvSpPr>
        <p:spPr>
          <a:xfrm>
            <a:off x="8988552"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1627632"/>
            <a:ext cx="269748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4　解決策を出す</a:t>
            </a:r>
          </a:p>
        </p:txBody>
      </p:sp>
      <p:sp>
        <p:nvSpPr>
          <p:cNvPr id="13" name="Rounded Rectangle 12"/>
          <p:cNvSpPr/>
          <p:nvPr/>
        </p:nvSpPr>
        <p:spPr>
          <a:xfrm>
            <a:off x="548640" y="2359152"/>
            <a:ext cx="548640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仮説の例（A病院の事例より）</a:t>
            </a:r>
          </a:p>
        </p:txBody>
      </p:sp>
      <p:sp>
        <p:nvSpPr>
          <p:cNvPr id="14" name="Rounded Rectangle 13"/>
          <p:cNvSpPr/>
          <p:nvPr/>
        </p:nvSpPr>
        <p:spPr>
          <a:xfrm>
            <a:off x="548640" y="2926080"/>
            <a:ext cx="5486400" cy="23317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・A：もっと早期に生検・診断まで持っていきたいのではないか</a:t>
            </a:r>
          </a:p>
          <a:p>
            <a:pPr algn="l">
              <a:lnSpc>
                <a:spcPct val="130000"/>
              </a:lnSpc>
              <a:spcAft>
                <a:spcPts val="1100"/>
              </a:spcAft>
            </a:pPr>
            <a:r>
              <a:rPr sz="1250" b="0" i="0">
                <a:solidFill>
                  <a:srgbClr val="262626"/>
                </a:solidFill>
                <a:latin typeface="Meiryo UI"/>
                <a:ea typeface="Meiryo UI"/>
              </a:rPr>
              <a:t>・B：透析を回避した成果を、示す場がないのではないか</a:t>
            </a:r>
          </a:p>
          <a:p>
            <a:pPr algn="l">
              <a:lnSpc>
                <a:spcPct val="130000"/>
              </a:lnSpc>
              <a:spcAft>
                <a:spcPts val="1100"/>
              </a:spcAft>
            </a:pPr>
            <a:r>
              <a:rPr sz="1250" b="0" i="0">
                <a:solidFill>
                  <a:srgbClr val="262626"/>
                </a:solidFill>
                <a:latin typeface="Meiryo UI"/>
                <a:ea typeface="Meiryo UI"/>
              </a:rPr>
              <a:t>・C：前任地で立ち上げた体制を、再現したいのではないか</a:t>
            </a:r>
          </a:p>
          <a:p>
            <a:pPr algn="l">
              <a:lnSpc>
                <a:spcPct val="130000"/>
              </a:lnSpc>
              <a:spcAft>
                <a:spcPts val="1100"/>
              </a:spcAft>
            </a:pPr>
            <a:r>
              <a:rPr sz="1250" b="0" i="0">
                <a:solidFill>
                  <a:srgbClr val="262626"/>
                </a:solidFill>
                <a:latin typeface="Meiryo UI"/>
                <a:ea typeface="Meiryo UI"/>
              </a:rPr>
              <a:t>・紹介基準が、地域の先生に伝わっていないのではないか</a:t>
            </a:r>
          </a:p>
          <a:p>
            <a:pPr algn="l">
              <a:lnSpc>
                <a:spcPct val="130000"/>
              </a:lnSpc>
              <a:spcAft>
                <a:spcPts val="1100"/>
              </a:spcAft>
            </a:pPr>
            <a:r>
              <a:rPr sz="1250" b="0" i="0">
                <a:solidFill>
                  <a:srgbClr val="262626"/>
                </a:solidFill>
                <a:latin typeface="Meiryo UI"/>
                <a:ea typeface="Meiryo UI"/>
              </a:rPr>
              <a:t>・全国発信の場を求めていて、近隣大学とも組めるのではないか</a:t>
            </a:r>
          </a:p>
        </p:txBody>
      </p:sp>
      <p:sp>
        <p:nvSpPr>
          <p:cNvPr id="15" name="Rounded Rectangle 14"/>
          <p:cNvSpPr/>
          <p:nvPr/>
        </p:nvSpPr>
        <p:spPr>
          <a:xfrm>
            <a:off x="6172200" y="2359152"/>
            <a:ext cx="548640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解決策の例（仮説に対応）</a:t>
            </a:r>
          </a:p>
        </p:txBody>
      </p:sp>
      <p:sp>
        <p:nvSpPr>
          <p:cNvPr id="16" name="Rounded Rectangle 15"/>
          <p:cNvSpPr/>
          <p:nvPr/>
        </p:nvSpPr>
        <p:spPr>
          <a:xfrm>
            <a:off x="6172200" y="2926080"/>
            <a:ext cx="5486400" cy="2331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・A：「腎生検のタイミング」をテーマにした会を、先生と企画する</a:t>
            </a:r>
          </a:p>
          <a:p>
            <a:pPr algn="l">
              <a:lnSpc>
                <a:spcPct val="130000"/>
              </a:lnSpc>
              <a:spcAft>
                <a:spcPts val="1100"/>
              </a:spcAft>
            </a:pPr>
            <a:r>
              <a:rPr sz="1250" b="0" i="0">
                <a:solidFill>
                  <a:srgbClr val="262626"/>
                </a:solidFill>
                <a:latin typeface="Meiryo UI"/>
                <a:ea typeface="Meiryo UI"/>
              </a:rPr>
              <a:t>・B：保存期CKDの症例検討会を、先生を中心に設計する</a:t>
            </a:r>
          </a:p>
          <a:p>
            <a:pPr algn="l">
              <a:lnSpc>
                <a:spcPct val="130000"/>
              </a:lnSpc>
              <a:spcAft>
                <a:spcPts val="1100"/>
              </a:spcAft>
            </a:pPr>
            <a:r>
              <a:rPr sz="1250" b="0" i="0">
                <a:solidFill>
                  <a:srgbClr val="262626"/>
                </a:solidFill>
                <a:latin typeface="Meiryo UI"/>
                <a:ea typeface="Meiryo UI"/>
              </a:rPr>
              <a:t>・C：近隣の基幹病院・大学の腎臓内科医とつなぐ</a:t>
            </a:r>
          </a:p>
          <a:p>
            <a:pPr algn="l">
              <a:lnSpc>
                <a:spcPct val="130000"/>
              </a:lnSpc>
              <a:spcAft>
                <a:spcPts val="1100"/>
              </a:spcAft>
            </a:pPr>
            <a:r>
              <a:rPr sz="1250" b="0" i="0">
                <a:solidFill>
                  <a:srgbClr val="262626"/>
                </a:solidFill>
                <a:latin typeface="Meiryo UI"/>
                <a:ea typeface="Meiryo UI"/>
              </a:rPr>
              <a:t>・先生の症例を、エリア・全国の講演会で発信する</a:t>
            </a:r>
          </a:p>
          <a:p>
            <a:pPr algn="l">
              <a:lnSpc>
                <a:spcPct val="130000"/>
              </a:lnSpc>
              <a:spcAft>
                <a:spcPts val="1100"/>
              </a:spcAft>
            </a:pPr>
            <a:r>
              <a:rPr sz="1250" b="0" i="0">
                <a:solidFill>
                  <a:srgbClr val="262626"/>
                </a:solidFill>
                <a:latin typeface="Meiryo UI"/>
                <a:ea typeface="Meiryo UI"/>
              </a:rPr>
              <a:t>・案内を医師から医師へ回してもらい、参加の角度を上げる</a:t>
            </a:r>
          </a:p>
        </p:txBody>
      </p:sp>
      <p:sp>
        <p:nvSpPr>
          <p:cNvPr id="17" name="Rounded Rectangle 16"/>
          <p:cNvSpPr/>
          <p:nvPr/>
        </p:nvSpPr>
        <p:spPr>
          <a:xfrm>
            <a:off x="548640" y="5440680"/>
            <a:ext cx="1110996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350" b="0" i="0">
                <a:solidFill>
                  <a:srgbClr val="FFFFFF"/>
                </a:solidFill>
                <a:latin typeface="Meiryo UI"/>
                <a:ea typeface="Meiryo UI"/>
              </a:rPr>
              <a:t>例は参考。自分のエリアの言葉に置き換えてください。</a:t>
            </a:r>
          </a:p>
          <a:p>
            <a:pPr algn="ctr"/>
            <a:r>
              <a:rPr sz="1600" b="1" i="0">
                <a:solidFill>
                  <a:srgbClr val="FFC000"/>
                </a:solidFill>
                <a:latin typeface="Meiryo UI"/>
                <a:ea typeface="Meiryo UI"/>
              </a:rPr>
              <a:t>解決策は「顧客・患者さん・自社」の3者がWinになっているかで検証する。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274320"/>
            <a:ext cx="2642616" cy="365760"/>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ワーク②</a:t>
            </a:r>
          </a:p>
        </p:txBody>
      </p:sp>
      <p:sp>
        <p:nvSpPr>
          <p:cNvPr id="4" name="TextBox 3"/>
          <p:cNvSpPr txBox="1"/>
          <p:nvPr/>
        </p:nvSpPr>
        <p:spPr>
          <a:xfrm>
            <a:off x="548640" y="713232"/>
            <a:ext cx="7863840" cy="420624"/>
          </a:xfrm>
          <a:prstGeom prst="rect">
            <a:avLst/>
          </a:prstGeom>
          <a:noFill/>
        </p:spPr>
        <p:txBody>
          <a:bodyPr wrap="square" lIns="0" rIns="0" tIns="0" bIns="0" anchor="t">
            <a:spAutoFit/>
          </a:bodyPr>
          <a:lstStyle/>
          <a:p>
            <a:pPr algn="l"/>
            <a:r>
              <a:rPr sz="2200" b="1" i="0">
                <a:solidFill>
                  <a:srgbClr val="0B4F37"/>
                </a:solidFill>
                <a:latin typeface="Meiryo UI"/>
                <a:ea typeface="Meiryo UI"/>
              </a:rPr>
              <a:t>4S：エリア・施設の課題解決シート</a:t>
            </a:r>
          </a:p>
        </p:txBody>
      </p:sp>
      <p:sp>
        <p:nvSpPr>
          <p:cNvPr id="5" name="TextBox 4"/>
          <p:cNvSpPr txBox="1"/>
          <p:nvPr/>
        </p:nvSpPr>
        <p:spPr>
          <a:xfrm>
            <a:off x="8503920" y="786384"/>
            <a:ext cx="3154680" cy="274320"/>
          </a:xfrm>
          <a:prstGeom prst="rect">
            <a:avLst/>
          </a:prstGeom>
          <a:noFill/>
        </p:spPr>
        <p:txBody>
          <a:bodyPr wrap="square" lIns="0" rIns="0" tIns="0" bIns="0" anchor="t">
            <a:spAutoFit/>
          </a:bodyPr>
          <a:lstStyle/>
          <a:p>
            <a:pPr algn="r"/>
            <a:r>
              <a:rPr sz="1200" b="0" i="0">
                <a:solidFill>
                  <a:srgbClr val="595959"/>
                </a:solidFill>
                <a:latin typeface="Meiryo UI"/>
                <a:ea typeface="Meiryo UI"/>
              </a:rPr>
              <a:t>施設（　　　　　　　　　）</a:t>
            </a:r>
          </a:p>
        </p:txBody>
      </p:sp>
      <p:sp>
        <p:nvSpPr>
          <p:cNvPr id="6" name="Rounded Rectangle 5"/>
          <p:cNvSpPr/>
          <p:nvPr/>
        </p:nvSpPr>
        <p:spPr>
          <a:xfrm>
            <a:off x="548640" y="1234440"/>
            <a:ext cx="11109960" cy="384048"/>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【成功像】　← Needs</a:t>
            </a:r>
          </a:p>
        </p:txBody>
      </p:sp>
      <p:sp>
        <p:nvSpPr>
          <p:cNvPr id="7" name="Rounded Rectangle 6"/>
          <p:cNvSpPr/>
          <p:nvPr/>
        </p:nvSpPr>
        <p:spPr>
          <a:xfrm>
            <a:off x="548640" y="1636776"/>
            <a:ext cx="11109960" cy="65836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Down Arrow 7"/>
          <p:cNvSpPr/>
          <p:nvPr/>
        </p:nvSpPr>
        <p:spPr>
          <a:xfrm>
            <a:off x="2834640" y="2350008"/>
            <a:ext cx="274320" cy="365760"/>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2404872"/>
            <a:ext cx="301752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理想とのGAPを洗い出す</a:t>
            </a:r>
          </a:p>
        </p:txBody>
      </p:sp>
      <p:sp>
        <p:nvSpPr>
          <p:cNvPr id="10" name="Up Arrow 9"/>
          <p:cNvSpPr/>
          <p:nvPr/>
        </p:nvSpPr>
        <p:spPr>
          <a:xfrm>
            <a:off x="8869680" y="2350008"/>
            <a:ext cx="274320" cy="365760"/>
          </a:xfrm>
          <a:prstGeom prst="up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2404872"/>
            <a:ext cx="2468880" cy="274320"/>
          </a:xfrm>
          <a:prstGeom prst="rect">
            <a:avLst/>
          </a:prstGeom>
          <a:noFill/>
        </p:spPr>
        <p:txBody>
          <a:bodyPr wrap="square" lIns="0" rIns="0" tIns="0" bIns="0" anchor="t">
            <a:spAutoFit/>
          </a:bodyPr>
          <a:lstStyle/>
          <a:p>
            <a:pPr algn="l"/>
            <a:r>
              <a:rPr sz="1150" b="1" i="0">
                <a:solidFill>
                  <a:srgbClr val="C00000"/>
                </a:solidFill>
                <a:latin typeface="Meiryo UI"/>
                <a:ea typeface="Meiryo UI"/>
              </a:rPr>
              <a:t>理想に近づくか検証</a:t>
            </a:r>
          </a:p>
        </p:txBody>
      </p:sp>
      <p:sp>
        <p:nvSpPr>
          <p:cNvPr id="12" name="Rounded Rectangle 11"/>
          <p:cNvSpPr/>
          <p:nvPr/>
        </p:nvSpPr>
        <p:spPr>
          <a:xfrm>
            <a:off x="548640" y="2788920"/>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【現状・課題】　← Fact</a:t>
            </a:r>
          </a:p>
        </p:txBody>
      </p:sp>
      <p:sp>
        <p:nvSpPr>
          <p:cNvPr id="13" name="Rounded Rectangle 12"/>
          <p:cNvSpPr/>
          <p:nvPr/>
        </p:nvSpPr>
        <p:spPr>
          <a:xfrm>
            <a:off x="548640" y="3191256"/>
            <a:ext cx="5486400" cy="12344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Down Arrow 13"/>
          <p:cNvSpPr/>
          <p:nvPr/>
        </p:nvSpPr>
        <p:spPr>
          <a:xfrm>
            <a:off x="2834640" y="4480560"/>
            <a:ext cx="274320" cy="310896"/>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4507992"/>
            <a:ext cx="283464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その理由を深掘る</a:t>
            </a:r>
          </a:p>
        </p:txBody>
      </p:sp>
      <p:sp>
        <p:nvSpPr>
          <p:cNvPr id="16" name="Rounded Rectangle 15"/>
          <p:cNvSpPr/>
          <p:nvPr/>
        </p:nvSpPr>
        <p:spPr>
          <a:xfrm>
            <a:off x="548640" y="4864608"/>
            <a:ext cx="5486400" cy="3840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【原因】　← 仮説</a:t>
            </a:r>
          </a:p>
        </p:txBody>
      </p:sp>
      <p:sp>
        <p:nvSpPr>
          <p:cNvPr id="17" name="Rounded Rectangle 16"/>
          <p:cNvSpPr/>
          <p:nvPr/>
        </p:nvSpPr>
        <p:spPr>
          <a:xfrm>
            <a:off x="548640" y="5266944"/>
            <a:ext cx="5486400" cy="96012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6172200" y="2788920"/>
            <a:ext cx="5486400" cy="384048"/>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【解決策】　← 打ち手（Wantsを手がかりに）</a:t>
            </a:r>
          </a:p>
        </p:txBody>
      </p:sp>
      <p:sp>
        <p:nvSpPr>
          <p:cNvPr id="19" name="Rounded Rectangle 18"/>
          <p:cNvSpPr/>
          <p:nvPr/>
        </p:nvSpPr>
        <p:spPr>
          <a:xfrm>
            <a:off x="6172200" y="3191256"/>
            <a:ext cx="5486400" cy="303580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ight Arrow 19"/>
          <p:cNvSpPr/>
          <p:nvPr/>
        </p:nvSpPr>
        <p:spPr>
          <a:xfrm>
            <a:off x="5742432" y="5394960"/>
            <a:ext cx="365760" cy="274320"/>
          </a:xfrm>
          <a:prstGeom prst="rightArrow">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⑥ 事例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A病院の〇〇先生に対して、何ができるか（仮説Aで4Sに）</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572768"/>
            <a:ext cx="5486400" cy="329184"/>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【成功像】　← Needs</a:t>
            </a:r>
          </a:p>
        </p:txBody>
      </p:sp>
      <p:sp>
        <p:nvSpPr>
          <p:cNvPr id="7" name="Rounded Rectangle 6"/>
          <p:cNvSpPr/>
          <p:nvPr/>
        </p:nvSpPr>
        <p:spPr>
          <a:xfrm>
            <a:off x="548640" y="19293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早期に生検・診断がつき、治療介入で透析に至る患者さんが減っている</a:t>
            </a:r>
          </a:p>
        </p:txBody>
      </p:sp>
      <p:sp>
        <p:nvSpPr>
          <p:cNvPr id="8" name="Rounded Rectangle 7"/>
          <p:cNvSpPr/>
          <p:nvPr/>
        </p:nvSpPr>
        <p:spPr>
          <a:xfrm>
            <a:off x="548640" y="2487168"/>
            <a:ext cx="5486400" cy="32918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【現状・課題】　← Fact</a:t>
            </a:r>
          </a:p>
        </p:txBody>
      </p:sp>
      <p:sp>
        <p:nvSpPr>
          <p:cNvPr id="9" name="Rounded Rectangle 8"/>
          <p:cNvSpPr/>
          <p:nvPr/>
        </p:nvSpPr>
        <p:spPr>
          <a:xfrm>
            <a:off x="548640" y="28437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腎生検は着任年度に2.5倍。ただし直近2年は96→99件で横ばい</a:t>
            </a:r>
          </a:p>
        </p:txBody>
      </p:sp>
      <p:sp>
        <p:nvSpPr>
          <p:cNvPr id="10" name="Rounded Rectangle 9"/>
          <p:cNvSpPr/>
          <p:nvPr/>
        </p:nvSpPr>
        <p:spPr>
          <a:xfrm>
            <a:off x="548640" y="3401568"/>
            <a:ext cx="5486400" cy="329184"/>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【原因】　← 仮説</a:t>
            </a:r>
          </a:p>
        </p:txBody>
      </p:sp>
      <p:sp>
        <p:nvSpPr>
          <p:cNvPr id="11" name="Rounded Rectangle 10"/>
          <p:cNvSpPr/>
          <p:nvPr/>
        </p:nvSpPr>
        <p:spPr>
          <a:xfrm>
            <a:off x="548640" y="3758183"/>
            <a:ext cx="5486400" cy="56692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院内の生検体制は整ったが、早期に紹介される患者がまだ限られている</a:t>
            </a:r>
          </a:p>
          <a:p>
            <a:pPr algn="l">
              <a:lnSpc>
                <a:spcPct val="120000"/>
              </a:lnSpc>
              <a:spcAft>
                <a:spcPts val="500"/>
              </a:spcAft>
            </a:pPr>
            <a:r>
              <a:rPr sz="1100" b="0" i="0">
                <a:solidFill>
                  <a:srgbClr val="262626"/>
                </a:solidFill>
                <a:latin typeface="Meiryo UI"/>
                <a:ea typeface="Meiryo UI"/>
              </a:rPr>
              <a:t>（＝仮説A）</a:t>
            </a:r>
          </a:p>
        </p:txBody>
      </p:sp>
      <p:sp>
        <p:nvSpPr>
          <p:cNvPr id="12" name="Rounded Rectangle 11"/>
          <p:cNvSpPr/>
          <p:nvPr/>
        </p:nvSpPr>
        <p:spPr>
          <a:xfrm>
            <a:off x="548640" y="4425696"/>
            <a:ext cx="5486400" cy="329184"/>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【解決策】　← 〇〇先生への打ち手</a:t>
            </a:r>
          </a:p>
        </p:txBody>
      </p:sp>
      <p:sp>
        <p:nvSpPr>
          <p:cNvPr id="13" name="Rounded Rectangle 12"/>
          <p:cNvSpPr/>
          <p:nvPr/>
        </p:nvSpPr>
        <p:spPr>
          <a:xfrm>
            <a:off x="548640" y="4782312"/>
            <a:ext cx="5486400" cy="960120"/>
          </a:xfrm>
          <a:prstGeom prst="roundRect">
            <a:avLst>
              <a:gd name="adj" fmla="val 2000"/>
            </a:avLst>
          </a:prstGeom>
          <a:solidFill>
            <a:srgbClr val="E9F5EE"/>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・「腎生検のタイミング」をテーマに、先生を演者にした症例検討会</a:t>
            </a:r>
          </a:p>
          <a:p>
            <a:pPr algn="l">
              <a:lnSpc>
                <a:spcPct val="120000"/>
              </a:lnSpc>
              <a:spcAft>
                <a:spcPts val="500"/>
              </a:spcAft>
            </a:pPr>
            <a:r>
              <a:rPr sz="1100" b="0" i="0">
                <a:solidFill>
                  <a:srgbClr val="262626"/>
                </a:solidFill>
                <a:latin typeface="Meiryo UI"/>
                <a:ea typeface="Meiryo UI"/>
              </a:rPr>
              <a:t>・近隣の基幹病院・大学の腎臓内科医とつなぎ、先生を軸の会に</a:t>
            </a:r>
          </a:p>
          <a:p>
            <a:pPr algn="l">
              <a:lnSpc>
                <a:spcPct val="120000"/>
              </a:lnSpc>
              <a:spcAft>
                <a:spcPts val="500"/>
              </a:spcAft>
            </a:pPr>
            <a:r>
              <a:rPr sz="1100" b="0" i="0">
                <a:solidFill>
                  <a:srgbClr val="262626"/>
                </a:solidFill>
                <a:latin typeface="Meiryo UI"/>
                <a:ea typeface="Meiryo UI"/>
              </a:rPr>
              <a:t>・紹介元になり得る施設のマッピングを、一緒に整理する</a:t>
            </a:r>
          </a:p>
        </p:txBody>
      </p:sp>
      <p:sp>
        <p:nvSpPr>
          <p:cNvPr id="14" name="Rounded Rectangle 13"/>
          <p:cNvSpPr/>
          <p:nvPr/>
        </p:nvSpPr>
        <p:spPr>
          <a:xfrm>
            <a:off x="6309360" y="1600200"/>
            <a:ext cx="534924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ノバルティスができること</a:t>
            </a:r>
          </a:p>
        </p:txBody>
      </p:sp>
      <p:sp>
        <p:nvSpPr>
          <p:cNvPr id="15" name="Rounded Rectangle 14"/>
          <p:cNvSpPr/>
          <p:nvPr/>
        </p:nvSpPr>
        <p:spPr>
          <a:xfrm>
            <a:off x="6309360" y="2057400"/>
            <a:ext cx="534924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0" i="0">
                <a:solidFill>
                  <a:srgbClr val="262626"/>
                </a:solidFill>
                <a:latin typeface="Meiryo UI"/>
                <a:ea typeface="Meiryo UI"/>
              </a:rPr>
              <a:t>・「早期診断・早期介入」をテーマにした会の企画と運営支援</a:t>
            </a:r>
          </a:p>
          <a:p>
            <a:pPr algn="l">
              <a:lnSpc>
                <a:spcPct val="125000"/>
              </a:lnSpc>
              <a:spcAft>
                <a:spcPts val="800"/>
              </a:spcAft>
            </a:pPr>
            <a:r>
              <a:rPr sz="1150" b="0" i="0">
                <a:solidFill>
                  <a:srgbClr val="262626"/>
                </a:solidFill>
                <a:latin typeface="Meiryo UI"/>
                <a:ea typeface="Meiryo UI"/>
              </a:rPr>
              <a:t>・近隣の基幹病院・大学の腎臓内科医との接点づくり（エリアマッピング）</a:t>
            </a:r>
          </a:p>
          <a:p>
            <a:pPr algn="l">
              <a:lnSpc>
                <a:spcPct val="125000"/>
              </a:lnSpc>
              <a:spcAft>
                <a:spcPts val="800"/>
              </a:spcAft>
            </a:pPr>
            <a:r>
              <a:rPr sz="1150" b="0" i="0">
                <a:solidFill>
                  <a:srgbClr val="262626"/>
                </a:solidFill>
                <a:latin typeface="Meiryo UI"/>
                <a:ea typeface="Meiryo UI"/>
              </a:rPr>
              <a:t>・生検で確定診断がついた症例を、共有する場をつくる</a:t>
            </a:r>
          </a:p>
        </p:txBody>
      </p:sp>
      <p:sp>
        <p:nvSpPr>
          <p:cNvPr id="16" name="Rounded Rectangle 15"/>
          <p:cNvSpPr/>
          <p:nvPr/>
        </p:nvSpPr>
        <p:spPr>
          <a:xfrm>
            <a:off x="6309360" y="3456432"/>
            <a:ext cx="2148840" cy="65836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患者 WIN</a:t>
            </a:r>
          </a:p>
        </p:txBody>
      </p:sp>
      <p:sp>
        <p:nvSpPr>
          <p:cNvPr id="17" name="Rounded Rectangle 16"/>
          <p:cNvSpPr/>
          <p:nvPr/>
        </p:nvSpPr>
        <p:spPr>
          <a:xfrm>
            <a:off x="8595360" y="345643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早期に確定診断がつき、治療介入で透析に至らない選択肢が残る</a:t>
            </a:r>
          </a:p>
        </p:txBody>
      </p:sp>
      <p:sp>
        <p:nvSpPr>
          <p:cNvPr id="18" name="Rounded Rectangle 17"/>
          <p:cNvSpPr/>
          <p:nvPr/>
        </p:nvSpPr>
        <p:spPr>
          <a:xfrm>
            <a:off x="6309360" y="4187952"/>
            <a:ext cx="2148840" cy="658368"/>
          </a:xfrm>
          <a:prstGeom prst="roundRect">
            <a:avLst>
              <a:gd name="adj" fmla="val 8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〇〇先生 WIN</a:t>
            </a:r>
          </a:p>
        </p:txBody>
      </p:sp>
      <p:sp>
        <p:nvSpPr>
          <p:cNvPr id="19" name="Rounded Rectangle 18"/>
          <p:cNvSpPr/>
          <p:nvPr/>
        </p:nvSpPr>
        <p:spPr>
          <a:xfrm>
            <a:off x="8595360" y="418795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早期の紹介が増え、生検・診療の実績が積み上がる</a:t>
            </a:r>
          </a:p>
        </p:txBody>
      </p:sp>
      <p:sp>
        <p:nvSpPr>
          <p:cNvPr id="20" name="Rounded Rectangle 19"/>
          <p:cNvSpPr/>
          <p:nvPr/>
        </p:nvSpPr>
        <p:spPr>
          <a:xfrm>
            <a:off x="6309360" y="4919472"/>
            <a:ext cx="2148840" cy="65836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ノバルティス WIN</a:t>
            </a:r>
          </a:p>
        </p:txBody>
      </p:sp>
      <p:sp>
        <p:nvSpPr>
          <p:cNvPr id="21" name="Rounded Rectangle 20"/>
          <p:cNvSpPr/>
          <p:nvPr/>
        </p:nvSpPr>
        <p:spPr>
          <a:xfrm>
            <a:off x="8595360" y="491947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診断のついた患者さんに、適切な治療を届けられる</a:t>
            </a:r>
          </a:p>
        </p:txBody>
      </p:sp>
      <p:sp>
        <p:nvSpPr>
          <p:cNvPr id="22" name="Rounded Rectangle 21"/>
          <p:cNvSpPr/>
          <p:nvPr/>
        </p:nvSpPr>
        <p:spPr>
          <a:xfrm>
            <a:off x="548640" y="5806440"/>
            <a:ext cx="11109960" cy="438912"/>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担当は大学・基幹病院。その先生のやりたいことを、エリアで実現できる形にする。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21868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⑦ インタビュー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エリア＋大学攻略事例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6" name="Rounded Rectangle 5"/>
          <p:cNvSpPr/>
          <p:nvPr/>
        </p:nvSpPr>
        <p:spPr>
          <a:xfrm>
            <a:off x="548640" y="1600200"/>
            <a:ext cx="11109960" cy="566928"/>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000" b="1" i="0">
                <a:solidFill>
                  <a:srgbClr val="0B4F37"/>
                </a:solidFill>
                <a:latin typeface="Meiryo UI"/>
                <a:ea typeface="Meiryo UI"/>
              </a:rPr>
              <a:t>どの情報から、その仮説にたどり着いたのか？</a:t>
            </a:r>
          </a:p>
        </p:txBody>
      </p:sp>
      <p:sp>
        <p:nvSpPr>
          <p:cNvPr id="7" name="Rounded Rectangle 6"/>
          <p:cNvSpPr/>
          <p:nvPr/>
        </p:nvSpPr>
        <p:spPr>
          <a:xfrm>
            <a:off x="548640" y="2377440"/>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① 決め手になったFact</a:t>
            </a:r>
          </a:p>
        </p:txBody>
      </p:sp>
      <p:sp>
        <p:nvSpPr>
          <p:cNvPr id="8" name="Rounded Rectangle 7"/>
          <p:cNvSpPr/>
          <p:nvPr/>
        </p:nvSpPr>
        <p:spPr>
          <a:xfrm>
            <a:off x="4069080" y="2377440"/>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548640" y="3346704"/>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② 先生のWantsとNeeds</a:t>
            </a:r>
          </a:p>
        </p:txBody>
      </p:sp>
      <p:sp>
        <p:nvSpPr>
          <p:cNvPr id="10" name="Rounded Rectangle 9"/>
          <p:cNvSpPr/>
          <p:nvPr/>
        </p:nvSpPr>
        <p:spPr>
          <a:xfrm>
            <a:off x="4069080" y="3346704"/>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4315968"/>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③ エリアの誰を、どの順番で巻き込んだか</a:t>
            </a:r>
          </a:p>
        </p:txBody>
      </p:sp>
      <p:sp>
        <p:nvSpPr>
          <p:cNvPr id="12" name="Rounded Rectangle 11"/>
          <p:cNvSpPr/>
          <p:nvPr/>
        </p:nvSpPr>
        <p:spPr>
          <a:xfrm>
            <a:off x="4069080" y="4315968"/>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548640" y="5285232"/>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④ 自分のエリアで確かめたいこと</a:t>
            </a:r>
          </a:p>
        </p:txBody>
      </p:sp>
      <p:sp>
        <p:nvSpPr>
          <p:cNvPr id="14" name="Rounded Rectangle 13"/>
          <p:cNvSpPr/>
          <p:nvPr/>
        </p:nvSpPr>
        <p:spPr>
          <a:xfrm>
            <a:off x="4069080" y="5285232"/>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女子医大の活動 — 一言のWantsから、3大学をつないだ</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00200"/>
            <a:ext cx="11109960" cy="621792"/>
          </a:xfrm>
          <a:prstGeom prst="roundRect">
            <a:avLst>
              <a:gd name="adj" fmla="val 8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300" b="1" i="0">
                <a:solidFill>
                  <a:srgbClr val="595959"/>
                </a:solidFill>
                <a:latin typeface="Meiryo UI"/>
                <a:ea typeface="Meiryo UI"/>
              </a:rPr>
              <a:t>初回面談の一言（Wants）　</a:t>
            </a:r>
            <a:r>
              <a:rPr sz="1900" b="1" i="0">
                <a:solidFill>
                  <a:srgbClr val="C00000"/>
                </a:solidFill>
                <a:latin typeface="Meiryo UI"/>
                <a:ea typeface="Meiryo UI"/>
              </a:rPr>
              <a:t>「女子医大腎臓内科を全国に売り出したい」</a:t>
            </a:r>
          </a:p>
        </p:txBody>
      </p:sp>
      <p:sp>
        <p:nvSpPr>
          <p:cNvPr id="7" name="Rounded Rectangle 6"/>
          <p:cNvSpPr/>
          <p:nvPr/>
        </p:nvSpPr>
        <p:spPr>
          <a:xfrm>
            <a:off x="548640" y="2377440"/>
            <a:ext cx="35661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Fact ─ 集まっていた事実</a:t>
            </a:r>
          </a:p>
        </p:txBody>
      </p:sp>
      <p:sp>
        <p:nvSpPr>
          <p:cNvPr id="8" name="Rounded Rectangle 7"/>
          <p:cNvSpPr/>
          <p:nvPr/>
        </p:nvSpPr>
        <p:spPr>
          <a:xfrm>
            <a:off x="548640" y="2944368"/>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使用経験は女子医大に複数例、近隣2大学は未使用</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「誰に使うべきか」の情報が全国的に不足</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院内の小児腎・移植でも共有Needs</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近隣大学の先生は共同研究者・女子医大出身</a:t>
            </a:r>
          </a:p>
        </p:txBody>
      </p:sp>
      <p:sp>
        <p:nvSpPr>
          <p:cNvPr id="9" name="Rounded Rectangle 8"/>
          <p:cNvSpPr/>
          <p:nvPr/>
        </p:nvSpPr>
        <p:spPr>
          <a:xfrm>
            <a:off x="4288536" y="2377440"/>
            <a:ext cx="3566160" cy="4572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Needs と 仮説</a:t>
            </a:r>
          </a:p>
        </p:txBody>
      </p:sp>
      <p:sp>
        <p:nvSpPr>
          <p:cNvPr id="10" name="Rounded Rectangle 9"/>
          <p:cNvSpPr/>
          <p:nvPr/>
        </p:nvSpPr>
        <p:spPr>
          <a:xfrm>
            <a:off x="4288536"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C00000"/>
                </a:solidFill>
                <a:latin typeface="Meiryo UI"/>
                <a:ea typeface="Meiryo UI"/>
              </a:rPr>
              <a:t>Needs　</a:t>
            </a:r>
            <a:r>
              <a:rPr sz="1150" b="1" i="0">
                <a:solidFill>
                  <a:srgbClr val="262626"/>
                </a:solidFill>
                <a:latin typeface="Meiryo UI"/>
                <a:ea typeface="Meiryo UI"/>
              </a:rPr>
              <a:t>実臨床の経験を、全国と地域に届ける場がない</a:t>
            </a:r>
          </a:p>
          <a:p>
            <a:pPr algn="l">
              <a:lnSpc>
                <a:spcPct val="125000"/>
              </a:lnSpc>
              <a:spcAft>
                <a:spcPts val="900"/>
              </a:spcAft>
            </a:pPr>
            <a:r>
              <a:rPr sz="1150" b="1" i="0">
                <a:solidFill>
                  <a:srgbClr val="C00000"/>
                </a:solidFill>
                <a:latin typeface="Meiryo UI"/>
                <a:ea typeface="Meiryo UI"/>
              </a:rPr>
              <a:t>仮説　</a:t>
            </a:r>
            <a:r>
              <a:rPr sz="1150" b="1" i="0">
                <a:solidFill>
                  <a:srgbClr val="262626"/>
                </a:solidFill>
                <a:latin typeface="Meiryo UI"/>
                <a:ea typeface="Meiryo UI"/>
              </a:rPr>
              <a:t>女子医大をHUBにすれば、近隣2大学と院内へ横展開が起こる</a:t>
            </a:r>
          </a:p>
        </p:txBody>
      </p:sp>
      <p:sp>
        <p:nvSpPr>
          <p:cNvPr id="11" name="Rounded Rectangle 10"/>
          <p:cNvSpPr/>
          <p:nvPr/>
        </p:nvSpPr>
        <p:spPr>
          <a:xfrm>
            <a:off x="8028431" y="2377440"/>
            <a:ext cx="35661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設計 と 成果</a:t>
            </a:r>
          </a:p>
        </p:txBody>
      </p:sp>
      <p:sp>
        <p:nvSpPr>
          <p:cNvPr id="12" name="Rounded Rectangle 11"/>
          <p:cNvSpPr/>
          <p:nvPr/>
        </p:nvSpPr>
        <p:spPr>
          <a:xfrm>
            <a:off x="8028431"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128A54"/>
                </a:solidFill>
                <a:latin typeface="Meiryo UI"/>
                <a:ea typeface="Meiryo UI"/>
              </a:rPr>
              <a:t>設計　</a:t>
            </a:r>
            <a:r>
              <a:rPr sz="1150" b="1" i="0">
                <a:solidFill>
                  <a:srgbClr val="262626"/>
                </a:solidFill>
                <a:latin typeface="Meiryo UI"/>
                <a:ea typeface="Meiryo UI"/>
              </a:rPr>
              <a:t>近隣2大学を企画段階から巻き込む／案内は医師から医師へ</a:t>
            </a:r>
          </a:p>
          <a:p>
            <a:pPr algn="l">
              <a:lnSpc>
                <a:spcPct val="125000"/>
              </a:lnSpc>
              <a:spcAft>
                <a:spcPts val="900"/>
              </a:spcAft>
            </a:pPr>
            <a:r>
              <a:rPr sz="1150" b="1" i="0">
                <a:solidFill>
                  <a:srgbClr val="128A54"/>
                </a:solidFill>
                <a:latin typeface="Meiryo UI"/>
                <a:ea typeface="Meiryo UI"/>
              </a:rPr>
              <a:t>成果　</a:t>
            </a:r>
            <a:r>
              <a:rPr sz="1150" b="1" i="0">
                <a:solidFill>
                  <a:srgbClr val="262626"/>
                </a:solidFill>
                <a:latin typeface="Meiryo UI"/>
                <a:ea typeface="Meiryo UI"/>
              </a:rPr>
              <a:t>参加35名／処方確約1例・患者発掘1例・IC向上2施設／医師同士の関係性を複数確認</a:t>
            </a:r>
          </a:p>
        </p:txBody>
      </p:sp>
      <p:sp>
        <p:nvSpPr>
          <p:cNvPr id="13" name="Rounded Rectangle 12"/>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大学を「個」で見ず、エリアの1施設として影響の輪を設計した。</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本日の3つ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Oval 5"/>
          <p:cNvSpPr/>
          <p:nvPr/>
        </p:nvSpPr>
        <p:spPr>
          <a:xfrm>
            <a:off x="548640" y="1920240"/>
            <a:ext cx="731520" cy="7315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1</a:t>
            </a:r>
          </a:p>
        </p:txBody>
      </p:sp>
      <p:sp>
        <p:nvSpPr>
          <p:cNvPr id="7" name="Rounded Rectangle 6"/>
          <p:cNvSpPr/>
          <p:nvPr/>
        </p:nvSpPr>
        <p:spPr>
          <a:xfrm>
            <a:off x="1463040" y="1783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F3864"/>
                </a:solidFill>
                <a:latin typeface="Meiryo UI"/>
                <a:ea typeface="Meiryo UI"/>
              </a:rPr>
              <a:t>情報は、仕分けた瞬間に意味を持つ</a:t>
            </a:r>
          </a:p>
          <a:p>
            <a:pPr algn="l">
              <a:lnSpc>
                <a:spcPct val="120000"/>
              </a:lnSpc>
            </a:pPr>
            <a:r>
              <a:rPr sz="1300" b="0" i="0">
                <a:solidFill>
                  <a:srgbClr val="262626"/>
                </a:solidFill>
                <a:latin typeface="Meiryo UI"/>
                <a:ea typeface="Meiryo UI"/>
              </a:rPr>
              <a:t>Fact・Wants・Needs。どれかに置くだけで、次に何を聞くかが決まる。</a:t>
            </a:r>
          </a:p>
        </p:txBody>
      </p:sp>
      <p:sp>
        <p:nvSpPr>
          <p:cNvPr id="8" name="Oval 7"/>
          <p:cNvSpPr/>
          <p:nvPr/>
        </p:nvSpPr>
        <p:spPr>
          <a:xfrm>
            <a:off x="548640" y="3063240"/>
            <a:ext cx="731520" cy="73152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2</a:t>
            </a:r>
          </a:p>
        </p:txBody>
      </p:sp>
      <p:sp>
        <p:nvSpPr>
          <p:cNvPr id="9" name="Rounded Rectangle 8"/>
          <p:cNvSpPr/>
          <p:nvPr/>
        </p:nvSpPr>
        <p:spPr>
          <a:xfrm>
            <a:off x="1463040" y="2926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B86A00"/>
                </a:solidFill>
                <a:latin typeface="Meiryo UI"/>
                <a:ea typeface="Meiryo UI"/>
              </a:rPr>
              <a:t>Needsまで降りれば、手段は選べる</a:t>
            </a:r>
          </a:p>
          <a:p>
            <a:pPr algn="l">
              <a:lnSpc>
                <a:spcPct val="120000"/>
              </a:lnSpc>
            </a:pPr>
            <a:r>
              <a:rPr sz="1300" b="0" i="0">
                <a:solidFill>
                  <a:srgbClr val="262626"/>
                </a:solidFill>
                <a:latin typeface="Meiryo UI"/>
                <a:ea typeface="Meiryo UI"/>
              </a:rPr>
              <a:t>Wantsに応えるのが仕事ではない。仮説を立てて、4Sで解決策を選ぶ。</a:t>
            </a:r>
          </a:p>
        </p:txBody>
      </p:sp>
      <p:sp>
        <p:nvSpPr>
          <p:cNvPr id="10" name="Oval 9"/>
          <p:cNvSpPr/>
          <p:nvPr/>
        </p:nvSpPr>
        <p:spPr>
          <a:xfrm>
            <a:off x="548640" y="4206240"/>
            <a:ext cx="731520" cy="73152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3</a:t>
            </a:r>
          </a:p>
        </p:txBody>
      </p:sp>
      <p:sp>
        <p:nvSpPr>
          <p:cNvPr id="11" name="Rounded Rectangle 10"/>
          <p:cNvSpPr/>
          <p:nvPr/>
        </p:nvSpPr>
        <p:spPr>
          <a:xfrm>
            <a:off x="1463040" y="4069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28A54"/>
                </a:solidFill>
                <a:latin typeface="Meiryo UI"/>
                <a:ea typeface="Meiryo UI"/>
              </a:rPr>
              <a:t>大学は、エリアの1施設</a:t>
            </a:r>
          </a:p>
          <a:p>
            <a:pPr algn="l">
              <a:lnSpc>
                <a:spcPct val="120000"/>
              </a:lnSpc>
            </a:pPr>
            <a:r>
              <a:rPr sz="1300" b="0" i="0">
                <a:solidFill>
                  <a:srgbClr val="262626"/>
                </a:solidFill>
                <a:latin typeface="Meiryo UI"/>
                <a:ea typeface="Meiryo UI"/>
              </a:rPr>
              <a:t>Triple Winをエリアまで広げると、同じ打ち手でも残るものが変わる。</a:t>
            </a:r>
          </a:p>
        </p:txBody>
      </p:sp>
      <p:sp>
        <p:nvSpPr>
          <p:cNvPr id="12" name="Rounded Rectangle 11"/>
          <p:cNvSpPr/>
          <p:nvPr/>
        </p:nvSpPr>
        <p:spPr>
          <a:xfrm>
            <a:off x="548640" y="5175504"/>
            <a:ext cx="11109960" cy="102412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500" b="0" i="0">
                <a:solidFill>
                  <a:srgbClr val="FFFFFF"/>
                </a:solidFill>
                <a:latin typeface="Meiryo UI"/>
                <a:ea typeface="Meiryo UI"/>
              </a:rPr>
              <a:t>各自のFactを仕分けて、仮説を立てて、エリア攻略に。</a:t>
            </a:r>
          </a:p>
          <a:p>
            <a:pPr algn="ctr"/>
            <a:r>
              <a:rPr sz="2000" b="1" i="0">
                <a:solidFill>
                  <a:srgbClr val="FFC000"/>
                </a:solidFill>
                <a:latin typeface="Meiryo UI"/>
                <a:ea typeface="Meiryo UI"/>
              </a:rPr>
              <a:t>大学PJで共有した活動を、明日からの担当エリアで活かしてください。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⑨ 総括　｜　5分</a:t>
            </a:r>
          </a:p>
        </p:txBody>
      </p:sp>
      <p:sp>
        <p:nvSpPr>
          <p:cNvPr id="4" name="TextBox 3"/>
          <p:cNvSpPr txBox="1"/>
          <p:nvPr/>
        </p:nvSpPr>
        <p:spPr>
          <a:xfrm>
            <a:off x="548640" y="868680"/>
            <a:ext cx="11155680" cy="731520"/>
          </a:xfrm>
          <a:prstGeom prst="rect">
            <a:avLst/>
          </a:prstGeom>
          <a:noFill/>
        </p:spPr>
        <p:txBody>
          <a:bodyPr wrap="square" lIns="0" rIns="0" tIns="0" bIns="0" anchor="t">
            <a:spAutoFit/>
          </a:bodyPr>
          <a:lstStyle/>
          <a:p>
            <a:pPr algn="l"/>
            <a:r>
              <a:rPr sz="3200" b="1" i="0">
                <a:solidFill>
                  <a:srgbClr val="0B4F37"/>
                </a:solidFill>
                <a:latin typeface="Meiryo UI"/>
                <a:ea typeface="Meiryo UI"/>
              </a:rPr>
              <a:t>総括</a:t>
            </a:r>
          </a:p>
        </p:txBody>
      </p:sp>
      <p:sp>
        <p:nvSpPr>
          <p:cNvPr id="5" name="Rounded Rectangle 4"/>
          <p:cNvSpPr/>
          <p:nvPr/>
        </p:nvSpPr>
        <p:spPr>
          <a:xfrm>
            <a:off x="548640" y="1828800"/>
            <a:ext cx="11109960" cy="77724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200" b="1" i="0">
                <a:solidFill>
                  <a:srgbClr val="262626"/>
                </a:solidFill>
                <a:latin typeface="Meiryo UI"/>
                <a:ea typeface="Meiryo UI"/>
              </a:rPr>
              <a:t>4回を通して、大学・基幹病院の担当として何が変わったか</a:t>
            </a:r>
          </a:p>
        </p:txBody>
      </p:sp>
      <p:sp>
        <p:nvSpPr>
          <p:cNvPr id="6" name="Rounded Rectangle 5"/>
          <p:cNvSpPr/>
          <p:nvPr/>
        </p:nvSpPr>
        <p:spPr>
          <a:xfrm>
            <a:off x="548640"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第1回</a:t>
            </a:r>
          </a:p>
          <a:p>
            <a:pPr algn="ctr">
              <a:lnSpc>
                <a:spcPct val="115000"/>
              </a:lnSpc>
            </a:pPr>
            <a:r>
              <a:rPr sz="1450" b="1" i="0">
                <a:solidFill>
                  <a:srgbClr val="FFFFFF"/>
                </a:solidFill>
                <a:latin typeface="Meiryo UI"/>
                <a:ea typeface="Meiryo UI"/>
              </a:rPr>
              <a:t>見る力</a:t>
            </a:r>
          </a:p>
        </p:txBody>
      </p:sp>
      <p:sp>
        <p:nvSpPr>
          <p:cNvPr id="7" name="Right Arrow 6"/>
          <p:cNvSpPr/>
          <p:nvPr/>
        </p:nvSpPr>
        <p:spPr>
          <a:xfrm>
            <a:off x="3227832"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第2回</a:t>
            </a:r>
          </a:p>
          <a:p>
            <a:pPr algn="ctr">
              <a:lnSpc>
                <a:spcPct val="115000"/>
              </a:lnSpc>
            </a:pPr>
            <a:r>
              <a:rPr sz="1450" b="1" i="0">
                <a:solidFill>
                  <a:srgbClr val="FFFFFF"/>
                </a:solidFill>
                <a:latin typeface="Meiryo UI"/>
                <a:ea typeface="Meiryo UI"/>
              </a:rPr>
              <a:t>会う力</a:t>
            </a:r>
          </a:p>
        </p:txBody>
      </p:sp>
      <p:sp>
        <p:nvSpPr>
          <p:cNvPr id="9" name="Right Arrow 8"/>
          <p:cNvSpPr/>
          <p:nvPr/>
        </p:nvSpPr>
        <p:spPr>
          <a:xfrm>
            <a:off x="6080760"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第3回</a:t>
            </a:r>
          </a:p>
          <a:p>
            <a:pPr algn="ctr">
              <a:lnSpc>
                <a:spcPct val="115000"/>
              </a:lnSpc>
            </a:pPr>
            <a:r>
              <a:rPr sz="1450" b="1" i="0">
                <a:solidFill>
                  <a:srgbClr val="FFFFFF"/>
                </a:solidFill>
                <a:latin typeface="Meiryo UI"/>
                <a:ea typeface="Meiryo UI"/>
              </a:rPr>
              <a:t>情報を取る力</a:t>
            </a:r>
          </a:p>
        </p:txBody>
      </p:sp>
      <p:sp>
        <p:nvSpPr>
          <p:cNvPr id="11" name="Right Arrow 10"/>
          <p:cNvSpPr/>
          <p:nvPr/>
        </p:nvSpPr>
        <p:spPr>
          <a:xfrm>
            <a:off x="8933688"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2880360"/>
            <a:ext cx="265176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0B4F37"/>
                </a:solidFill>
                <a:latin typeface="Meiryo UI"/>
                <a:ea typeface="Meiryo UI"/>
              </a:rPr>
              <a:t>第4回</a:t>
            </a:r>
          </a:p>
          <a:p>
            <a:pPr algn="ctr">
              <a:lnSpc>
                <a:spcPct val="115000"/>
              </a:lnSpc>
            </a:pPr>
            <a:r>
              <a:rPr sz="1450" b="1" i="0">
                <a:solidFill>
                  <a:srgbClr val="0B4F37"/>
                </a:solidFill>
                <a:latin typeface="Meiryo UI"/>
                <a:ea typeface="Meiryo UI"/>
              </a:rPr>
              <a:t>仮説を立てる力</a:t>
            </a:r>
          </a:p>
        </p:txBody>
      </p:sp>
      <p:sp>
        <p:nvSpPr>
          <p:cNvPr id="13" name="Rounded Rectangle 12"/>
          <p:cNvSpPr/>
          <p:nvPr/>
        </p:nvSpPr>
        <p:spPr>
          <a:xfrm>
            <a:off x="548640" y="4023360"/>
            <a:ext cx="11109960" cy="182880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777240" y="4160520"/>
            <a:ext cx="1060704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 所長よりご総括</a:t>
            </a:r>
          </a:p>
        </p:txBody>
      </p:sp>
      <p:sp>
        <p:nvSpPr>
          <p:cNvPr id="15" name="TextBox 1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6" name="TextBox 1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822960" y="1371600"/>
            <a:ext cx="10515600" cy="457200"/>
          </a:xfrm>
          <a:prstGeom prst="rect">
            <a:avLst/>
          </a:prstGeom>
          <a:noFill/>
        </p:spPr>
        <p:txBody>
          <a:bodyPr wrap="square" lIns="0" rIns="0" tIns="0" bIns="0" anchor="t">
            <a:spAutoFit/>
          </a:bodyPr>
          <a:lstStyle/>
          <a:p>
            <a:pPr algn="l"/>
            <a:r>
              <a:rPr sz="1900" b="1" i="0">
                <a:solidFill>
                  <a:srgbClr val="BFE8D2"/>
                </a:solidFill>
                <a:latin typeface="Meiryo UI"/>
                <a:ea typeface="Meiryo UI"/>
              </a:rPr>
              <a:t>ありがとうございました</a:t>
            </a:r>
          </a:p>
        </p:txBody>
      </p:sp>
      <p:sp>
        <p:nvSpPr>
          <p:cNvPr id="4" name="Rounded Rectangle 3"/>
          <p:cNvSpPr/>
          <p:nvPr/>
        </p:nvSpPr>
        <p:spPr>
          <a:xfrm>
            <a:off x="822960" y="2194560"/>
            <a:ext cx="10515600" cy="173736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ctr">
              <a:spcAft>
                <a:spcPts val="800"/>
              </a:spcAft>
            </a:pPr>
            <a:r>
              <a:rPr sz="1500" b="1" i="0">
                <a:solidFill>
                  <a:srgbClr val="0B4F37"/>
                </a:solidFill>
                <a:latin typeface="Meiryo UI"/>
                <a:ea typeface="Meiryo UI"/>
              </a:rPr>
              <a:t>大学担当者に求められるのは、</a:t>
            </a:r>
          </a:p>
          <a:p>
            <a:pPr algn="ctr">
              <a:spcAft>
                <a:spcPts val="1400"/>
              </a:spcAft>
            </a:pPr>
            <a:r>
              <a:rPr sz="1500" b="1" i="0">
                <a:solidFill>
                  <a:srgbClr val="0B4F37"/>
                </a:solidFill>
                <a:latin typeface="Meiryo UI"/>
                <a:ea typeface="Meiryo UI"/>
              </a:rPr>
              <a:t>大学の中だけを詳しく知ることではありません。</a:t>
            </a:r>
          </a:p>
          <a:p>
            <a:pPr algn="ctr">
              <a:lnSpc>
                <a:spcPct val="125000"/>
              </a:lnSpc>
            </a:pPr>
            <a:r>
              <a:rPr sz="2200" b="1" i="0">
                <a:solidFill>
                  <a:srgbClr val="0B4F37"/>
                </a:solidFill>
                <a:latin typeface="Meiryo UI"/>
                <a:ea typeface="Meiryo UI"/>
              </a:rPr>
              <a:t>得た情報から仮説を立て、エリアの中でWinを広げられること。</a:t>
            </a:r>
          </a:p>
        </p:txBody>
      </p:sp>
      <p:sp>
        <p:nvSpPr>
          <p:cNvPr id="5" name="TextBox 4"/>
          <p:cNvSpPr txBox="1"/>
          <p:nvPr/>
        </p:nvSpPr>
        <p:spPr>
          <a:xfrm>
            <a:off x="822960" y="4343400"/>
            <a:ext cx="10515600" cy="365760"/>
          </a:xfrm>
          <a:prstGeom prst="rect">
            <a:avLst/>
          </a:prstGeom>
          <a:noFill/>
        </p:spPr>
        <p:txBody>
          <a:bodyPr wrap="square" lIns="0" rIns="0" tIns="0" bIns="0" anchor="t">
            <a:spAutoFit/>
          </a:bodyPr>
          <a:lstStyle/>
          <a:p>
            <a:pPr algn="ctr"/>
            <a:r>
              <a:rPr sz="1600" b="1" i="0">
                <a:solidFill>
                  <a:srgbClr val="BFE8D2"/>
                </a:solidFill>
                <a:latin typeface="Meiryo UI"/>
                <a:ea typeface="Meiryo UI"/>
              </a:rPr>
              <a:t>明日から、担当施設のFactを1つ仕分けてみてください。</a:t>
            </a:r>
          </a:p>
        </p:txBody>
      </p:sp>
      <p:sp>
        <p:nvSpPr>
          <p:cNvPr id="6" name="TextBox 5"/>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7" name="TextBox 6"/>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参考：ワーク① 仕分けの一例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28</a:t>
            </a:r>
          </a:p>
        </p:txBody>
      </p:sp>
      <p:sp>
        <p:nvSpPr>
          <p:cNvPr id="6" name="TextBox 5"/>
          <p:cNvSpPr txBox="1"/>
          <p:nvPr/>
        </p:nvSpPr>
        <p:spPr>
          <a:xfrm>
            <a:off x="548640" y="1481328"/>
            <a:ext cx="11109960" cy="310896"/>
          </a:xfrm>
          <a:prstGeom prst="rect">
            <a:avLst/>
          </a:prstGeom>
          <a:noFill/>
        </p:spPr>
        <p:txBody>
          <a:bodyPr wrap="square" lIns="0" rIns="0" tIns="0" bIns="0" anchor="t">
            <a:spAutoFit/>
          </a:bodyPr>
          <a:lstStyle/>
          <a:p>
            <a:pPr algn="ctr"/>
            <a:r>
              <a:rPr sz="1250" b="0" i="0">
                <a:solidFill>
                  <a:srgbClr val="595959"/>
                </a:solidFill>
                <a:latin typeface="Meiryo UI"/>
                <a:ea typeface="Meiryo UI"/>
              </a:rPr>
              <a:t>唯一の正解ではありません。なぜそう置いたかを説明できることが目的です。⑥⑧は割れやすい項目です。</a:t>
            </a:r>
          </a:p>
        </p:txBody>
      </p:sp>
      <p:sp>
        <p:nvSpPr>
          <p:cNvPr id="7" name="Rounded Rectangle 6"/>
          <p:cNvSpPr/>
          <p:nvPr/>
        </p:nvSpPr>
        <p:spPr>
          <a:xfrm>
            <a:off x="548640" y="1874519"/>
            <a:ext cx="3566160" cy="50292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Fact（事実）　4件</a:t>
            </a:r>
          </a:p>
        </p:txBody>
      </p:sp>
      <p:sp>
        <p:nvSpPr>
          <p:cNvPr id="8" name="Rounded Rectangle 7"/>
          <p:cNvSpPr/>
          <p:nvPr/>
        </p:nvSpPr>
        <p:spPr>
          <a:xfrm>
            <a:off x="548640" y="2450592"/>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① 腎生検数が、1年で36→90件に増えた</a:t>
            </a:r>
          </a:p>
          <a:p>
            <a:pPr algn="l">
              <a:lnSpc>
                <a:spcPct val="125000"/>
              </a:lnSpc>
              <a:spcAft>
                <a:spcPts val="900"/>
              </a:spcAft>
            </a:pPr>
            <a:r>
              <a:rPr sz="1150" b="0" i="0">
                <a:solidFill>
                  <a:srgbClr val="262626"/>
                </a:solidFill>
                <a:latin typeface="Meiryo UI"/>
                <a:ea typeface="Meiryo UI"/>
              </a:rPr>
              <a:t>② その後も96件、99件で推移している</a:t>
            </a:r>
          </a:p>
          <a:p>
            <a:pPr algn="l">
              <a:lnSpc>
                <a:spcPct val="125000"/>
              </a:lnSpc>
              <a:spcAft>
                <a:spcPts val="900"/>
              </a:spcAft>
            </a:pPr>
            <a:r>
              <a:rPr sz="1150" b="0" i="0">
                <a:solidFill>
                  <a:srgbClr val="262626"/>
                </a:solidFill>
                <a:latin typeface="Meiryo UI"/>
                <a:ea typeface="Meiryo UI"/>
              </a:rPr>
              <a:t>③ 血液浄化センター・臨床研究・学会発表のページ</a:t>
            </a:r>
          </a:p>
          <a:p>
            <a:pPr algn="l">
              <a:lnSpc>
                <a:spcPct val="125000"/>
              </a:lnSpc>
              <a:spcAft>
                <a:spcPts val="900"/>
              </a:spcAft>
            </a:pPr>
            <a:r>
              <a:rPr sz="1150" b="0" i="0">
                <a:solidFill>
                  <a:srgbClr val="262626"/>
                </a:solidFill>
                <a:latin typeface="Meiryo UI"/>
                <a:ea typeface="Meiryo UI"/>
              </a:rPr>
              <a:t>④ 部長は前任地で、立ち上げを経験している</a:t>
            </a:r>
          </a:p>
        </p:txBody>
      </p:sp>
      <p:sp>
        <p:nvSpPr>
          <p:cNvPr id="9" name="Rounded Rectangle 8"/>
          <p:cNvSpPr/>
          <p:nvPr/>
        </p:nvSpPr>
        <p:spPr>
          <a:xfrm>
            <a:off x="548640" y="4690872"/>
            <a:ext cx="3566160" cy="56692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仮説の材料。単独では打ち手にならない</a:t>
            </a:r>
          </a:p>
        </p:txBody>
      </p:sp>
      <p:sp>
        <p:nvSpPr>
          <p:cNvPr id="10" name="Rounded Rectangle 9"/>
          <p:cNvSpPr/>
          <p:nvPr/>
        </p:nvSpPr>
        <p:spPr>
          <a:xfrm>
            <a:off x="4288536" y="1874519"/>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Wants（手段）　2件</a:t>
            </a:r>
          </a:p>
        </p:txBody>
      </p:sp>
      <p:sp>
        <p:nvSpPr>
          <p:cNvPr id="11" name="Rounded Rectangle 10"/>
          <p:cNvSpPr/>
          <p:nvPr/>
        </p:nvSpPr>
        <p:spPr>
          <a:xfrm>
            <a:off x="4288536" y="2450592"/>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⑤ いつでもご紹介ください</a:t>
            </a:r>
          </a:p>
          <a:p>
            <a:pPr algn="l">
              <a:lnSpc>
                <a:spcPct val="125000"/>
              </a:lnSpc>
              <a:spcAft>
                <a:spcPts val="900"/>
              </a:spcAft>
            </a:pPr>
            <a:r>
              <a:rPr sz="1150" b="0" i="0">
                <a:solidFill>
                  <a:srgbClr val="262626"/>
                </a:solidFill>
                <a:latin typeface="Meiryo UI"/>
                <a:ea typeface="Meiryo UI"/>
              </a:rPr>
              <a:t>⑥ まず透析の話をせず、透析にならない方法を一緒に考えたい</a:t>
            </a:r>
          </a:p>
        </p:txBody>
      </p:sp>
      <p:sp>
        <p:nvSpPr>
          <p:cNvPr id="12" name="Rounded Rectangle 11"/>
          <p:cNvSpPr/>
          <p:nvPr/>
        </p:nvSpPr>
        <p:spPr>
          <a:xfrm>
            <a:off x="4288536" y="4690872"/>
            <a:ext cx="3566160" cy="56692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「なぜ？」を重ねてNeedsへ降りる</a:t>
            </a:r>
          </a:p>
        </p:txBody>
      </p:sp>
      <p:sp>
        <p:nvSpPr>
          <p:cNvPr id="13" name="Rounded Rectangle 12"/>
          <p:cNvSpPr/>
          <p:nvPr/>
        </p:nvSpPr>
        <p:spPr>
          <a:xfrm>
            <a:off x="8028431" y="1874519"/>
            <a:ext cx="3566160" cy="5029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Needs（状態）　3件</a:t>
            </a:r>
          </a:p>
        </p:txBody>
      </p:sp>
      <p:sp>
        <p:nvSpPr>
          <p:cNvPr id="14" name="Rounded Rectangle 13"/>
          <p:cNvSpPr/>
          <p:nvPr/>
        </p:nvSpPr>
        <p:spPr>
          <a:xfrm>
            <a:off x="8028431" y="2450592"/>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⑦ 透析患者さんを一人でも減らしたい</a:t>
            </a:r>
          </a:p>
          <a:p>
            <a:pPr algn="l">
              <a:lnSpc>
                <a:spcPct val="125000"/>
              </a:lnSpc>
              <a:spcAft>
                <a:spcPts val="900"/>
              </a:spcAft>
            </a:pPr>
            <a:r>
              <a:rPr sz="1150" b="0" i="0">
                <a:solidFill>
                  <a:srgbClr val="262626"/>
                </a:solidFill>
                <a:latin typeface="Meiryo UI"/>
                <a:ea typeface="Meiryo UI"/>
              </a:rPr>
              <a:t>⑧ どんな腎疾患の患者様にも、ベストな医療を</a:t>
            </a:r>
          </a:p>
          <a:p>
            <a:pPr algn="l">
              <a:lnSpc>
                <a:spcPct val="125000"/>
              </a:lnSpc>
              <a:spcAft>
                <a:spcPts val="900"/>
              </a:spcAft>
            </a:pPr>
            <a:r>
              <a:rPr sz="1150" b="0" i="0">
                <a:solidFill>
                  <a:srgbClr val="262626"/>
                </a:solidFill>
                <a:latin typeface="Meiryo UI"/>
                <a:ea typeface="Meiryo UI"/>
              </a:rPr>
              <a:t>⑨ 安心して任せられる医師・医療を目指したい</a:t>
            </a:r>
          </a:p>
        </p:txBody>
      </p:sp>
      <p:sp>
        <p:nvSpPr>
          <p:cNvPr id="15" name="Rounded Rectangle 14"/>
          <p:cNvSpPr/>
          <p:nvPr/>
        </p:nvSpPr>
        <p:spPr>
          <a:xfrm>
            <a:off x="8028431" y="4690872"/>
            <a:ext cx="3566160" cy="56692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成功像になる。手段はここから選ぶ</a:t>
            </a:r>
          </a:p>
        </p:txBody>
      </p:sp>
      <p:sp>
        <p:nvSpPr>
          <p:cNvPr id="16" name="Rounded Rectangle 15"/>
          <p:cNvSpPr/>
          <p:nvPr/>
        </p:nvSpPr>
        <p:spPr>
          <a:xfrm>
            <a:off x="548640" y="5394960"/>
            <a:ext cx="11109960" cy="8229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lnSpc>
                <a:spcPct val="125000"/>
              </a:lnSpc>
            </a:pPr>
            <a:r>
              <a:rPr sz="1500" b="1" i="0">
                <a:solidFill>
                  <a:srgbClr val="FFC000"/>
                </a:solidFill>
                <a:latin typeface="Meiryo UI"/>
                <a:ea typeface="Meiryo UI"/>
              </a:rPr>
              <a:t>公開情報から取れたWantsは、わずか2件。Wantsは、面談でしか増えません。</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参考：考えられるFact（事実）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評価や推測を混ぜず、確認できた事実として書く。大学・基幹病院で取得し得るFactの例です。</a:t>
            </a:r>
          </a:p>
        </p:txBody>
      </p:sp>
      <p:sp>
        <p:nvSpPr>
          <p:cNvPr id="7" name="Rounded Rectangle 6"/>
          <p:cNvSpPr/>
          <p:nvPr/>
        </p:nvSpPr>
        <p:spPr>
          <a:xfrm>
            <a:off x="548640"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施設・診療体制</a:t>
            </a:r>
          </a:p>
        </p:txBody>
      </p:sp>
      <p:sp>
        <p:nvSpPr>
          <p:cNvPr id="8" name="Rounded Rectangle 7"/>
          <p:cNvSpPr/>
          <p:nvPr/>
        </p:nvSpPr>
        <p:spPr>
          <a:xfrm>
            <a:off x="548640"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・腎生検件数が3年前より減少している</a:t>
            </a:r>
          </a:p>
          <a:p>
            <a:pPr algn="l">
              <a:lnSpc>
                <a:spcPct val="118000"/>
              </a:lnSpc>
              <a:spcAft>
                <a:spcPts val="600"/>
              </a:spcAft>
            </a:pPr>
            <a:r>
              <a:rPr sz="1050" b="0" i="0">
                <a:solidFill>
                  <a:srgbClr val="262626"/>
                </a:solidFill>
                <a:latin typeface="Meiryo UI"/>
                <a:ea typeface="Meiryo UI"/>
              </a:rPr>
              <a:t>・腎病理を専門とする医師が院内にいない</a:t>
            </a:r>
          </a:p>
          <a:p>
            <a:pPr algn="l">
              <a:lnSpc>
                <a:spcPct val="118000"/>
              </a:lnSpc>
              <a:spcAft>
                <a:spcPts val="600"/>
              </a:spcAft>
            </a:pPr>
            <a:r>
              <a:rPr sz="1050" b="0" i="0">
                <a:solidFill>
                  <a:srgbClr val="262626"/>
                </a:solidFill>
                <a:latin typeface="Meiryo UI"/>
                <a:ea typeface="Meiryo UI"/>
              </a:rPr>
              <a:t>・腎生検結果の確認まで平均3週間かかる</a:t>
            </a:r>
          </a:p>
          <a:p>
            <a:pPr algn="l">
              <a:lnSpc>
                <a:spcPct val="118000"/>
              </a:lnSpc>
              <a:spcAft>
                <a:spcPts val="600"/>
              </a:spcAft>
            </a:pPr>
            <a:r>
              <a:rPr sz="1050" b="0" i="0">
                <a:solidFill>
                  <a:srgbClr val="262626"/>
                </a:solidFill>
                <a:latin typeface="Meiryo UI"/>
                <a:ea typeface="Meiryo UI"/>
              </a:rPr>
              <a:t>・専門外来が週1回のみである</a:t>
            </a:r>
          </a:p>
          <a:p>
            <a:pPr algn="l">
              <a:lnSpc>
                <a:spcPct val="118000"/>
              </a:lnSpc>
              <a:spcAft>
                <a:spcPts val="600"/>
              </a:spcAft>
            </a:pPr>
            <a:r>
              <a:rPr sz="1050" b="0" i="0">
                <a:solidFill>
                  <a:srgbClr val="262626"/>
                </a:solidFill>
                <a:latin typeface="Meiryo UI"/>
                <a:ea typeface="Meiryo UI"/>
              </a:rPr>
              <a:t>・他院からの症例相談は医局長が一括対応</a:t>
            </a:r>
          </a:p>
        </p:txBody>
      </p:sp>
      <p:sp>
        <p:nvSpPr>
          <p:cNvPr id="9" name="Rounded Rectangle 8"/>
          <p:cNvSpPr/>
          <p:nvPr/>
        </p:nvSpPr>
        <p:spPr>
          <a:xfrm>
            <a:off x="4288536"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患者・診療実態</a:t>
            </a:r>
          </a:p>
        </p:txBody>
      </p:sp>
      <p:sp>
        <p:nvSpPr>
          <p:cNvPr id="10" name="Rounded Rectangle 9"/>
          <p:cNvSpPr/>
          <p:nvPr/>
        </p:nvSpPr>
        <p:spPr>
          <a:xfrm>
            <a:off x="4288536"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・腎機能が高度に低下してから紹介される</a:t>
            </a:r>
          </a:p>
          <a:p>
            <a:pPr algn="l">
              <a:lnSpc>
                <a:spcPct val="118000"/>
              </a:lnSpc>
              <a:spcAft>
                <a:spcPts val="600"/>
              </a:spcAft>
            </a:pPr>
            <a:r>
              <a:rPr sz="1050" b="0" i="0">
                <a:solidFill>
                  <a:srgbClr val="262626"/>
                </a:solidFill>
                <a:latin typeface="Meiryo UI"/>
                <a:ea typeface="Meiryo UI"/>
              </a:rPr>
              <a:t>・大学と関連病院で治療方針が異なる</a:t>
            </a:r>
          </a:p>
          <a:p>
            <a:pPr algn="l">
              <a:lnSpc>
                <a:spcPct val="118000"/>
              </a:lnSpc>
              <a:spcAft>
                <a:spcPts val="600"/>
              </a:spcAft>
            </a:pPr>
            <a:r>
              <a:rPr sz="1050" b="0" i="0">
                <a:solidFill>
                  <a:srgbClr val="262626"/>
                </a:solidFill>
                <a:latin typeface="Meiryo UI"/>
                <a:ea typeface="Meiryo UI"/>
              </a:rPr>
              <a:t>・治療導入の判断が特定の医師に集中</a:t>
            </a:r>
          </a:p>
          <a:p>
            <a:pPr algn="l">
              <a:lnSpc>
                <a:spcPct val="118000"/>
              </a:lnSpc>
              <a:spcAft>
                <a:spcPts val="600"/>
              </a:spcAft>
            </a:pPr>
            <a:r>
              <a:rPr sz="1050" b="0" i="0">
                <a:solidFill>
                  <a:srgbClr val="262626"/>
                </a:solidFill>
                <a:latin typeface="Meiryo UI"/>
                <a:ea typeface="Meiryo UI"/>
              </a:rPr>
              <a:t>・若手医師によって検査・治療の進め方に差</a:t>
            </a:r>
          </a:p>
          <a:p>
            <a:pPr algn="l">
              <a:lnSpc>
                <a:spcPct val="118000"/>
              </a:lnSpc>
              <a:spcAft>
                <a:spcPts val="600"/>
              </a:spcAft>
            </a:pPr>
            <a:r>
              <a:rPr sz="1050" b="0" i="0">
                <a:solidFill>
                  <a:srgbClr val="262626"/>
                </a:solidFill>
                <a:latin typeface="Meiryo UI"/>
                <a:ea typeface="Meiryo UI"/>
              </a:rPr>
              <a:t>・紹介後のフィードバックが紹介元へ返らない</a:t>
            </a:r>
          </a:p>
        </p:txBody>
      </p:sp>
      <p:sp>
        <p:nvSpPr>
          <p:cNvPr id="11" name="Rounded Rectangle 10"/>
          <p:cNvSpPr/>
          <p:nvPr/>
        </p:nvSpPr>
        <p:spPr>
          <a:xfrm>
            <a:off x="8028431"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人事・組織</a:t>
            </a:r>
          </a:p>
        </p:txBody>
      </p:sp>
      <p:sp>
        <p:nvSpPr>
          <p:cNvPr id="12" name="Rounded Rectangle 11"/>
          <p:cNvSpPr/>
          <p:nvPr/>
        </p:nvSpPr>
        <p:spPr>
          <a:xfrm>
            <a:off x="8028431"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・来年度に教授交代が予定されている</a:t>
            </a:r>
          </a:p>
          <a:p>
            <a:pPr algn="l">
              <a:lnSpc>
                <a:spcPct val="118000"/>
              </a:lnSpc>
              <a:spcAft>
                <a:spcPts val="600"/>
              </a:spcAft>
            </a:pPr>
            <a:r>
              <a:rPr sz="1050" b="0" i="0">
                <a:solidFill>
                  <a:srgbClr val="262626"/>
                </a:solidFill>
                <a:latin typeface="Meiryo UI"/>
                <a:ea typeface="Meiryo UI"/>
              </a:rPr>
              <a:t>・医局長が関連病院人事の調整を担当</a:t>
            </a:r>
          </a:p>
          <a:p>
            <a:pPr algn="l">
              <a:lnSpc>
                <a:spcPct val="118000"/>
              </a:lnSpc>
              <a:spcAft>
                <a:spcPts val="600"/>
              </a:spcAft>
            </a:pPr>
            <a:r>
              <a:rPr sz="1050" b="0" i="0">
                <a:solidFill>
                  <a:srgbClr val="262626"/>
                </a:solidFill>
                <a:latin typeface="Meiryo UI"/>
                <a:ea typeface="Meiryo UI"/>
              </a:rPr>
              <a:t>・複数の基幹病院部長が同じ医局の出身</a:t>
            </a:r>
          </a:p>
          <a:p>
            <a:pPr algn="l">
              <a:lnSpc>
                <a:spcPct val="118000"/>
              </a:lnSpc>
              <a:spcAft>
                <a:spcPts val="600"/>
              </a:spcAft>
            </a:pPr>
            <a:r>
              <a:rPr sz="1050" b="0" i="0">
                <a:solidFill>
                  <a:srgbClr val="262626"/>
                </a:solidFill>
                <a:latin typeface="Meiryo UI"/>
                <a:ea typeface="Meiryo UI"/>
              </a:rPr>
              <a:t>・若手医師が減少している</a:t>
            </a:r>
          </a:p>
          <a:p>
            <a:pPr algn="l">
              <a:lnSpc>
                <a:spcPct val="118000"/>
              </a:lnSpc>
              <a:spcAft>
                <a:spcPts val="600"/>
              </a:spcAft>
            </a:pPr>
            <a:r>
              <a:rPr sz="1050" b="0" i="0">
                <a:solidFill>
                  <a:srgbClr val="262626"/>
                </a:solidFill>
                <a:latin typeface="Meiryo UI"/>
                <a:ea typeface="Meiryo UI"/>
              </a:rPr>
              <a:t>・新たな寄附講座が設置された</a:t>
            </a:r>
          </a:p>
        </p:txBody>
      </p:sp>
      <p:sp>
        <p:nvSpPr>
          <p:cNvPr id="13" name="Rounded Rectangle 12"/>
          <p:cNvSpPr/>
          <p:nvPr/>
        </p:nvSpPr>
        <p:spPr>
          <a:xfrm>
            <a:off x="548640"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教育・研究・学術</a:t>
            </a:r>
          </a:p>
        </p:txBody>
      </p:sp>
      <p:sp>
        <p:nvSpPr>
          <p:cNvPr id="14" name="Rounded Rectangle 13"/>
          <p:cNvSpPr/>
          <p:nvPr/>
        </p:nvSpPr>
        <p:spPr>
          <a:xfrm>
            <a:off x="548640"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・教授が次年度の学会長を務める</a:t>
            </a:r>
          </a:p>
          <a:p>
            <a:pPr algn="l">
              <a:lnSpc>
                <a:spcPct val="118000"/>
              </a:lnSpc>
              <a:spcAft>
                <a:spcPts val="600"/>
              </a:spcAft>
            </a:pPr>
            <a:r>
              <a:rPr sz="1050" b="0" i="0">
                <a:solidFill>
                  <a:srgbClr val="262626"/>
                </a:solidFill>
                <a:latin typeface="Meiryo UI"/>
                <a:ea typeface="Meiryo UI"/>
              </a:rPr>
              <a:t>・医局が特定疾患の研究班へ参加している</a:t>
            </a:r>
          </a:p>
          <a:p>
            <a:pPr algn="l">
              <a:lnSpc>
                <a:spcPct val="118000"/>
              </a:lnSpc>
              <a:spcAft>
                <a:spcPts val="600"/>
              </a:spcAft>
            </a:pPr>
            <a:r>
              <a:rPr sz="1050" b="0" i="0">
                <a:solidFill>
                  <a:srgbClr val="262626"/>
                </a:solidFill>
                <a:latin typeface="Meiryo UI"/>
                <a:ea typeface="Meiryo UI"/>
              </a:rPr>
              <a:t>・若手向け勉強会が定期開催されていない</a:t>
            </a:r>
          </a:p>
          <a:p>
            <a:pPr algn="l">
              <a:lnSpc>
                <a:spcPct val="118000"/>
              </a:lnSpc>
              <a:spcAft>
                <a:spcPts val="600"/>
              </a:spcAft>
            </a:pPr>
            <a:r>
              <a:rPr sz="1050" b="0" i="0">
                <a:solidFill>
                  <a:srgbClr val="262626"/>
                </a:solidFill>
                <a:latin typeface="Meiryo UI"/>
                <a:ea typeface="Meiryo UI"/>
              </a:rPr>
              <a:t>・研究会の演者が毎回同じ医師に偏る</a:t>
            </a:r>
          </a:p>
          <a:p>
            <a:pPr algn="l">
              <a:lnSpc>
                <a:spcPct val="118000"/>
              </a:lnSpc>
              <a:spcAft>
                <a:spcPts val="600"/>
              </a:spcAft>
            </a:pPr>
            <a:r>
              <a:rPr sz="1050" b="0" i="0">
                <a:solidFill>
                  <a:srgbClr val="262626"/>
                </a:solidFill>
                <a:latin typeface="Meiryo UI"/>
                <a:ea typeface="Meiryo UI"/>
              </a:rPr>
              <a:t>・複数大学による共同研究実績がある</a:t>
            </a:r>
          </a:p>
        </p:txBody>
      </p:sp>
      <p:sp>
        <p:nvSpPr>
          <p:cNvPr id="15" name="Rounded Rectangle 14"/>
          <p:cNvSpPr/>
          <p:nvPr/>
        </p:nvSpPr>
        <p:spPr>
          <a:xfrm>
            <a:off x="4288536"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関係性</a:t>
            </a:r>
          </a:p>
        </p:txBody>
      </p:sp>
      <p:sp>
        <p:nvSpPr>
          <p:cNvPr id="16" name="Rounded Rectangle 15"/>
          <p:cNvSpPr/>
          <p:nvPr/>
        </p:nvSpPr>
        <p:spPr>
          <a:xfrm>
            <a:off x="4288536"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・基幹病院部長が大学教授へ定期的に症例相談</a:t>
            </a:r>
          </a:p>
          <a:p>
            <a:pPr algn="l">
              <a:lnSpc>
                <a:spcPct val="118000"/>
              </a:lnSpc>
              <a:spcAft>
                <a:spcPts val="600"/>
              </a:spcAft>
            </a:pPr>
            <a:r>
              <a:rPr sz="1050" b="0" i="0">
                <a:solidFill>
                  <a:srgbClr val="262626"/>
                </a:solidFill>
                <a:latin typeface="Meiryo UI"/>
                <a:ea typeface="Meiryo UI"/>
              </a:rPr>
              <a:t>・若手の相談相手は教授ではなく講師</a:t>
            </a:r>
          </a:p>
          <a:p>
            <a:pPr algn="l">
              <a:lnSpc>
                <a:spcPct val="118000"/>
              </a:lnSpc>
              <a:spcAft>
                <a:spcPts val="600"/>
              </a:spcAft>
            </a:pPr>
            <a:r>
              <a:rPr sz="1050" b="0" i="0">
                <a:solidFill>
                  <a:srgbClr val="262626"/>
                </a:solidFill>
                <a:latin typeface="Meiryo UI"/>
                <a:ea typeface="Meiryo UI"/>
              </a:rPr>
              <a:t>・近隣大学間に共同研究・同年卒のつながり</a:t>
            </a:r>
          </a:p>
          <a:p>
            <a:pPr algn="l">
              <a:lnSpc>
                <a:spcPct val="118000"/>
              </a:lnSpc>
              <a:spcAft>
                <a:spcPts val="600"/>
              </a:spcAft>
            </a:pPr>
            <a:r>
              <a:rPr sz="1050" b="0" i="0">
                <a:solidFill>
                  <a:srgbClr val="262626"/>
                </a:solidFill>
                <a:latin typeface="Meiryo UI"/>
                <a:ea typeface="Meiryo UI"/>
              </a:rPr>
              <a:t>・過去の人事を背景に施設間の関係が良好でない</a:t>
            </a:r>
          </a:p>
          <a:p>
            <a:pPr algn="l">
              <a:lnSpc>
                <a:spcPct val="118000"/>
              </a:lnSpc>
              <a:spcAft>
                <a:spcPts val="600"/>
              </a:spcAft>
            </a:pPr>
            <a:r>
              <a:rPr sz="1050" b="0" i="0">
                <a:solidFill>
                  <a:srgbClr val="262626"/>
                </a:solidFill>
                <a:latin typeface="Meiryo UI"/>
                <a:ea typeface="Meiryo UI"/>
              </a:rPr>
              <a:t>・研究会の実務を医局長ではなく若手が担う</a:t>
            </a:r>
          </a:p>
        </p:txBody>
      </p:sp>
      <p:sp>
        <p:nvSpPr>
          <p:cNvPr id="17" name="Rounded Rectangle 16"/>
          <p:cNvSpPr/>
          <p:nvPr/>
        </p:nvSpPr>
        <p:spPr>
          <a:xfrm>
            <a:off x="8028431"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地域・外部環境</a:t>
            </a:r>
          </a:p>
        </p:txBody>
      </p:sp>
      <p:sp>
        <p:nvSpPr>
          <p:cNvPr id="18" name="Rounded Rectangle 17"/>
          <p:cNvSpPr/>
          <p:nvPr/>
        </p:nvSpPr>
        <p:spPr>
          <a:xfrm>
            <a:off x="8028431"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・地域の腎臓専門医数が減少している</a:t>
            </a:r>
          </a:p>
          <a:p>
            <a:pPr algn="l">
              <a:lnSpc>
                <a:spcPct val="118000"/>
              </a:lnSpc>
              <a:spcAft>
                <a:spcPts val="600"/>
              </a:spcAft>
            </a:pPr>
            <a:r>
              <a:rPr sz="1050" b="0" i="0">
                <a:solidFill>
                  <a:srgbClr val="262626"/>
                </a:solidFill>
                <a:latin typeface="Meiryo UI"/>
                <a:ea typeface="Meiryo UI"/>
              </a:rPr>
              <a:t>・専門医療機関への患者流出が増えている</a:t>
            </a:r>
          </a:p>
          <a:p>
            <a:pPr algn="l">
              <a:lnSpc>
                <a:spcPct val="118000"/>
              </a:lnSpc>
              <a:spcAft>
                <a:spcPts val="600"/>
              </a:spcAft>
            </a:pPr>
            <a:r>
              <a:rPr sz="1050" b="0" i="0">
                <a:solidFill>
                  <a:srgbClr val="262626"/>
                </a:solidFill>
                <a:latin typeface="Meiryo UI"/>
                <a:ea typeface="Meiryo UI"/>
              </a:rPr>
              <a:t>・地域連携パスが十分に活用されていない</a:t>
            </a:r>
          </a:p>
          <a:p>
            <a:pPr algn="l">
              <a:lnSpc>
                <a:spcPct val="118000"/>
              </a:lnSpc>
              <a:spcAft>
                <a:spcPts val="600"/>
              </a:spcAft>
            </a:pPr>
            <a:r>
              <a:rPr sz="1050" b="0" i="0">
                <a:solidFill>
                  <a:srgbClr val="262626"/>
                </a:solidFill>
                <a:latin typeface="Meiryo UI"/>
                <a:ea typeface="Meiryo UI"/>
              </a:rPr>
              <a:t>・行政がCKD連携事業を開始している</a:t>
            </a:r>
          </a:p>
          <a:p>
            <a:pPr algn="l">
              <a:lnSpc>
                <a:spcPct val="118000"/>
              </a:lnSpc>
              <a:spcAft>
                <a:spcPts val="600"/>
              </a:spcAft>
            </a:pPr>
            <a:r>
              <a:rPr sz="1050" b="0" i="0">
                <a:solidFill>
                  <a:srgbClr val="262626"/>
                </a:solidFill>
                <a:latin typeface="Meiryo UI"/>
                <a:ea typeface="Meiryo UI"/>
              </a:rPr>
              <a:t>・紹介基準が地域内で統一されていない</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Factは単独では打ち手にならない。いくつかを線でつなぎ、仮説の材料にする。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参考：Wants → 複数のNeeds仮説 → 確かめる質問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一つのWantsに、Needs仮説は複数あり得ます。決めつけず、質問で確かめる。中央列はNeedsの例としても使えます。</a:t>
            </a:r>
          </a:p>
        </p:txBody>
      </p:sp>
      <p:sp>
        <p:nvSpPr>
          <p:cNvPr id="7" name="Rounded Rectangle 6"/>
          <p:cNvSpPr/>
          <p:nvPr/>
        </p:nvSpPr>
        <p:spPr>
          <a:xfrm>
            <a:off x="548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「勉強会をやってほしい」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若手の診療力向上／接点の維持／紹介を早める／方針の浸透</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特に誰に、何を持ち帰ってほしいですか？</a:t>
            </a:r>
          </a:p>
        </p:txBody>
      </p:sp>
      <p:sp>
        <p:nvSpPr>
          <p:cNvPr id="8" name="Rounded Rectangle 7"/>
          <p:cNvSpPr/>
          <p:nvPr/>
        </p:nvSpPr>
        <p:spPr>
          <a:xfrm>
            <a:off x="548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「A大学のB先生を呼んでほしい」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外部の知見／A大学との関係強化／医局を変える刺激／若手への視点</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B先生の、どの経験を聞きたいのでしょうか？</a:t>
            </a:r>
          </a:p>
        </p:txBody>
      </p:sp>
      <p:sp>
        <p:nvSpPr>
          <p:cNvPr id="9" name="Rounded Rectangle 8"/>
          <p:cNvSpPr/>
          <p:nvPr/>
        </p:nvSpPr>
        <p:spPr>
          <a:xfrm>
            <a:off x="548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「学会のスライド・文献が欲しい」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院内で共有したい／理解を深めたい／症例判断・教育に使いたい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どの内容を、どの場面で活用したいですか？</a:t>
            </a:r>
          </a:p>
        </p:txBody>
      </p:sp>
      <p:sp>
        <p:nvSpPr>
          <p:cNvPr id="10" name="Rounded Rectangle 9"/>
          <p:cNvSpPr/>
          <p:nvPr/>
        </p:nvSpPr>
        <p:spPr>
          <a:xfrm>
            <a:off x="548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「若手に腎病理を学ばせたい」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診断の質の安定／特定医師への依存減／将来の体制維持</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どのレベルまで判断できる状態を目指しますか？</a:t>
            </a:r>
          </a:p>
        </p:txBody>
      </p:sp>
      <p:sp>
        <p:nvSpPr>
          <p:cNvPr id="11" name="Rounded Rectangle 10"/>
          <p:cNvSpPr/>
          <p:nvPr/>
        </p:nvSpPr>
        <p:spPr>
          <a:xfrm>
            <a:off x="548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「連携パスを整えたい」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役割分担の明確化／逆紹介の円滑化／患者の流れの安定</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今、連携のどこで最も困っていますか？</a:t>
            </a:r>
          </a:p>
        </p:txBody>
      </p:sp>
      <p:sp>
        <p:nvSpPr>
          <p:cNvPr id="12" name="Rounded Rectangle 11"/>
          <p:cNvSpPr/>
          <p:nvPr/>
        </p:nvSpPr>
        <p:spPr>
          <a:xfrm>
            <a:off x="548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「もっと早く紹介してほしい」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適切な時期につなぐ／治療の選択肢を残す／地域の基準を揃える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紹介の、どの段階が最も課題ですか？</a:t>
            </a:r>
          </a:p>
        </p:txBody>
      </p:sp>
      <p:sp>
        <p:nvSpPr>
          <p:cNvPr id="13" name="Rounded Rectangle 12"/>
          <p:cNvSpPr/>
          <p:nvPr/>
        </p:nvSpPr>
        <p:spPr>
          <a:xfrm>
            <a:off x="6263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「症例をまとめたい・論文にしたい」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業績が必要／専門医・学位／医局の評価を上げたい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いつまでに、どの形で発表したいですか？</a:t>
            </a:r>
          </a:p>
        </p:txBody>
      </p:sp>
      <p:sp>
        <p:nvSpPr>
          <p:cNvPr id="14" name="Rounded Rectangle 13"/>
          <p:cNvSpPr/>
          <p:nvPr/>
        </p:nvSpPr>
        <p:spPr>
          <a:xfrm>
            <a:off x="6263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「医局の活動を全国へ発信したい」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存在価値を高める／入局者を増やす／共同研究へつなげる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全国に最も伝えたい強みは何ですか？</a:t>
            </a:r>
          </a:p>
        </p:txBody>
      </p:sp>
      <p:sp>
        <p:nvSpPr>
          <p:cNvPr id="15" name="Rounded Rectangle 14"/>
          <p:cNvSpPr/>
          <p:nvPr/>
        </p:nvSpPr>
        <p:spPr>
          <a:xfrm>
            <a:off x="6263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「関連病院に若手を出したい」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経験を積ませたい／派遣先との関係維持／ポストの確保</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派遣で、若手に何を得てほしいですか？</a:t>
            </a:r>
          </a:p>
        </p:txBody>
      </p:sp>
      <p:sp>
        <p:nvSpPr>
          <p:cNvPr id="16" name="Rounded Rectangle 15"/>
          <p:cNvSpPr/>
          <p:nvPr/>
        </p:nvSpPr>
        <p:spPr>
          <a:xfrm>
            <a:off x="6263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「市民公開講座をやりたい」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地域での認知向上／早期受診につなげる／患者・家族の支援</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参加者に、何を持ち帰ってほしいですか？</a:t>
            </a:r>
          </a:p>
        </p:txBody>
      </p:sp>
      <p:sp>
        <p:nvSpPr>
          <p:cNvPr id="17" name="Rounded Rectangle 16"/>
          <p:cNvSpPr/>
          <p:nvPr/>
        </p:nvSpPr>
        <p:spPr>
          <a:xfrm>
            <a:off x="6263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「〇〇大学と共同で会をやりたい」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研究の幅を広げる／人材交流／エリアでの存在感</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その大学と、何を一緒に実現したいですか？</a:t>
            </a:r>
          </a:p>
        </p:txBody>
      </p:sp>
      <p:sp>
        <p:nvSpPr>
          <p:cNvPr id="18" name="Rounded Rectangle 17"/>
          <p:cNvSpPr/>
          <p:nvPr/>
        </p:nvSpPr>
        <p:spPr>
          <a:xfrm>
            <a:off x="6263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「小児科・移植科と話す場が欲しい」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移行期診療の円滑化／院内での症例共有</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どの患者さんの場面を想定していますか？</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同じWantsでも、裏のNeedsは施設によって違う。仮説が変われば、解決策も変わる。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参考：4Sへつなげる思考プロセスの例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31</a:t>
            </a:r>
          </a:p>
        </p:txBody>
      </p:sp>
      <p:sp>
        <p:nvSpPr>
          <p:cNvPr id="6" name="TextBox 5"/>
          <p:cNvSpPr txBox="1"/>
          <p:nvPr/>
        </p:nvSpPr>
        <p:spPr>
          <a:xfrm>
            <a:off x="548640" y="1371600"/>
            <a:ext cx="11109960" cy="274320"/>
          </a:xfrm>
          <a:prstGeom prst="rect">
            <a:avLst/>
          </a:prstGeom>
          <a:noFill/>
        </p:spPr>
        <p:txBody>
          <a:bodyPr wrap="square" lIns="0" rIns="0" tIns="0" bIns="0" anchor="t">
            <a:spAutoFit/>
          </a:bodyPr>
          <a:lstStyle/>
          <a:p>
            <a:pPr algn="ctr"/>
            <a:r>
              <a:rPr sz="1150" b="1" i="0">
                <a:solidFill>
                  <a:srgbClr val="0B4F37"/>
                </a:solidFill>
                <a:latin typeface="Meiryo UI"/>
                <a:ea typeface="Meiryo UI"/>
              </a:rPr>
              <a:t>以下は参考例です。同じ情報から異なる仮説・解決策も考えられます。どのFactからどの仮説を立てたかを見てください。</a:t>
            </a:r>
          </a:p>
        </p:txBody>
      </p:sp>
      <p:sp>
        <p:nvSpPr>
          <p:cNvPr id="7" name="Rounded Rectangle 6"/>
          <p:cNvSpPr/>
          <p:nvPr/>
        </p:nvSpPr>
        <p:spPr>
          <a:xfrm>
            <a:off x="1554480" y="1719072"/>
            <a:ext cx="3310128" cy="329184"/>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例1：関連病院向け勉強会</a:t>
            </a:r>
          </a:p>
        </p:txBody>
      </p:sp>
      <p:sp>
        <p:nvSpPr>
          <p:cNvPr id="8" name="Rounded Rectangle 7"/>
          <p:cNvSpPr/>
          <p:nvPr/>
        </p:nvSpPr>
        <p:spPr>
          <a:xfrm>
            <a:off x="4956048" y="1719072"/>
            <a:ext cx="3310128" cy="329184"/>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例2：全国発信</a:t>
            </a:r>
          </a:p>
        </p:txBody>
      </p:sp>
      <p:sp>
        <p:nvSpPr>
          <p:cNvPr id="9" name="Rounded Rectangle 8"/>
          <p:cNvSpPr/>
          <p:nvPr/>
        </p:nvSpPr>
        <p:spPr>
          <a:xfrm>
            <a:off x="8357616" y="1719072"/>
            <a:ext cx="3310128" cy="329184"/>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例3：腎病理教育</a:t>
            </a:r>
          </a:p>
        </p:txBody>
      </p:sp>
      <p:sp>
        <p:nvSpPr>
          <p:cNvPr id="10" name="Rounded Rectangle 9"/>
          <p:cNvSpPr/>
          <p:nvPr/>
        </p:nvSpPr>
        <p:spPr>
          <a:xfrm>
            <a:off x="548640" y="2103120"/>
            <a:ext cx="932688" cy="60350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起点</a:t>
            </a:r>
          </a:p>
        </p:txBody>
      </p:sp>
      <p:sp>
        <p:nvSpPr>
          <p:cNvPr id="11" name="Rounded Rectangle 10"/>
          <p:cNvSpPr/>
          <p:nvPr/>
        </p:nvSpPr>
        <p:spPr>
          <a:xfrm>
            <a:off x="1554480"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Fact：進行後の紹介が多く、施設で時期に差</a:t>
            </a:r>
          </a:p>
          <a:p>
            <a:pPr algn="l">
              <a:lnSpc>
                <a:spcPct val="112000"/>
              </a:lnSpc>
            </a:pPr>
            <a:r>
              <a:rPr sz="900" b="0" i="0">
                <a:solidFill>
                  <a:srgbClr val="262626"/>
                </a:solidFill>
                <a:latin typeface="Meiryo UI"/>
                <a:ea typeface="Meiryo UI"/>
              </a:rPr>
              <a:t>Wants：関連病院向けに勉強会を</a:t>
            </a:r>
          </a:p>
        </p:txBody>
      </p:sp>
      <p:sp>
        <p:nvSpPr>
          <p:cNvPr id="12" name="Rounded Rectangle 11"/>
          <p:cNvSpPr/>
          <p:nvPr/>
        </p:nvSpPr>
        <p:spPr>
          <a:xfrm>
            <a:off x="4956048"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Fact：症例・研究実績はあるが発表は一部に限定</a:t>
            </a:r>
          </a:p>
          <a:p>
            <a:pPr algn="l">
              <a:lnSpc>
                <a:spcPct val="112000"/>
              </a:lnSpc>
            </a:pPr>
            <a:r>
              <a:rPr sz="900" b="0" i="0">
                <a:solidFill>
                  <a:srgbClr val="262626"/>
                </a:solidFill>
                <a:latin typeface="Meiryo UI"/>
                <a:ea typeface="Meiryo UI"/>
              </a:rPr>
              <a:t>Wants：医局の活動を全国へ</a:t>
            </a:r>
          </a:p>
        </p:txBody>
      </p:sp>
      <p:sp>
        <p:nvSpPr>
          <p:cNvPr id="13" name="Rounded Rectangle 12"/>
          <p:cNvSpPr/>
          <p:nvPr/>
        </p:nvSpPr>
        <p:spPr>
          <a:xfrm>
            <a:off x="8357616"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Fact：病理評価が少数医師に集中</a:t>
            </a:r>
          </a:p>
          <a:p>
            <a:pPr algn="l">
              <a:lnSpc>
                <a:spcPct val="112000"/>
              </a:lnSpc>
            </a:pPr>
            <a:r>
              <a:rPr sz="900" b="0" i="0">
                <a:solidFill>
                  <a:srgbClr val="262626"/>
                </a:solidFill>
                <a:latin typeface="Meiryo UI"/>
                <a:ea typeface="Meiryo UI"/>
              </a:rPr>
              <a:t>Wants：若手に腎病理を学ばせたい</a:t>
            </a:r>
          </a:p>
        </p:txBody>
      </p:sp>
      <p:sp>
        <p:nvSpPr>
          <p:cNvPr id="14" name="Rounded Rectangle 13"/>
          <p:cNvSpPr/>
          <p:nvPr/>
        </p:nvSpPr>
        <p:spPr>
          <a:xfrm>
            <a:off x="548640" y="2752344"/>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仮説</a:t>
            </a:r>
          </a:p>
        </p:txBody>
      </p:sp>
      <p:sp>
        <p:nvSpPr>
          <p:cNvPr id="15" name="Rounded Rectangle 14"/>
          <p:cNvSpPr/>
          <p:nvPr/>
        </p:nvSpPr>
        <p:spPr>
          <a:xfrm>
            <a:off x="1554480"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紹介判断の考え方を共有し、適切な時期につなぎたい</a:t>
            </a:r>
          </a:p>
        </p:txBody>
      </p:sp>
      <p:sp>
        <p:nvSpPr>
          <p:cNvPr id="16" name="Rounded Rectangle 15"/>
          <p:cNvSpPr/>
          <p:nvPr/>
        </p:nvSpPr>
        <p:spPr>
          <a:xfrm>
            <a:off x="4956048"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存在価値を高め、若手の成長機会と人脈を広げたい</a:t>
            </a:r>
          </a:p>
        </p:txBody>
      </p:sp>
      <p:sp>
        <p:nvSpPr>
          <p:cNvPr id="17" name="Rounded Rectangle 16"/>
          <p:cNvSpPr/>
          <p:nvPr/>
        </p:nvSpPr>
        <p:spPr>
          <a:xfrm>
            <a:off x="8357616"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診断の質と、将来の診療・教育体制を維持したい</a:t>
            </a:r>
          </a:p>
        </p:txBody>
      </p:sp>
      <p:sp>
        <p:nvSpPr>
          <p:cNvPr id="18" name="Rounded Rectangle 17"/>
          <p:cNvSpPr/>
          <p:nvPr/>
        </p:nvSpPr>
        <p:spPr>
          <a:xfrm>
            <a:off x="548640" y="3255263"/>
            <a:ext cx="932688" cy="457200"/>
          </a:xfrm>
          <a:prstGeom prst="roundRect">
            <a:avLst>
              <a:gd name="adj" fmla="val 6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質問</a:t>
            </a:r>
          </a:p>
        </p:txBody>
      </p:sp>
      <p:sp>
        <p:nvSpPr>
          <p:cNvPr id="19" name="Rounded Rectangle 18"/>
          <p:cNvSpPr/>
          <p:nvPr/>
        </p:nvSpPr>
        <p:spPr>
          <a:xfrm>
            <a:off x="1554480"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勉強会の後、関連病院の何が変わってほしいですか？</a:t>
            </a:r>
          </a:p>
        </p:txBody>
      </p:sp>
      <p:sp>
        <p:nvSpPr>
          <p:cNvPr id="20" name="Rounded Rectangle 19"/>
          <p:cNvSpPr/>
          <p:nvPr/>
        </p:nvSpPr>
        <p:spPr>
          <a:xfrm>
            <a:off x="4956048"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全国に最も伝えたい医局の強みは何ですか？</a:t>
            </a:r>
          </a:p>
        </p:txBody>
      </p:sp>
      <p:sp>
        <p:nvSpPr>
          <p:cNvPr id="21" name="Rounded Rectangle 20"/>
          <p:cNvSpPr/>
          <p:nvPr/>
        </p:nvSpPr>
        <p:spPr>
          <a:xfrm>
            <a:off x="8357616"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どのレベルまで判断できる状態を目指しますか？</a:t>
            </a:r>
          </a:p>
        </p:txBody>
      </p:sp>
      <p:sp>
        <p:nvSpPr>
          <p:cNvPr id="22" name="Rounded Rectangle 21"/>
          <p:cNvSpPr/>
          <p:nvPr/>
        </p:nvSpPr>
        <p:spPr>
          <a:xfrm>
            <a:off x="548640" y="3758183"/>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Success</a:t>
            </a:r>
          </a:p>
        </p:txBody>
      </p:sp>
      <p:sp>
        <p:nvSpPr>
          <p:cNvPr id="23" name="Rounded Rectangle 22"/>
          <p:cNvSpPr/>
          <p:nvPr/>
        </p:nvSpPr>
        <p:spPr>
          <a:xfrm>
            <a:off x="1554480"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相談・紹介の考え方が、大学と関連病院で共有されている</a:t>
            </a:r>
          </a:p>
        </p:txBody>
      </p:sp>
      <p:sp>
        <p:nvSpPr>
          <p:cNvPr id="24" name="Rounded Rectangle 23"/>
          <p:cNvSpPr/>
          <p:nvPr/>
        </p:nvSpPr>
        <p:spPr>
          <a:xfrm>
            <a:off x="4956048"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強みが認知され、若手も含め継続的に発信している</a:t>
            </a:r>
          </a:p>
        </p:txBody>
      </p:sp>
      <p:sp>
        <p:nvSpPr>
          <p:cNvPr id="25" name="Rounded Rectangle 24"/>
          <p:cNvSpPr/>
          <p:nvPr/>
        </p:nvSpPr>
        <p:spPr>
          <a:xfrm>
            <a:off x="8357616"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複数の医師が病理所見を臨床と統合して検討できる</a:t>
            </a:r>
          </a:p>
        </p:txBody>
      </p:sp>
      <p:sp>
        <p:nvSpPr>
          <p:cNvPr id="26" name="Rounded Rectangle 25"/>
          <p:cNvSpPr/>
          <p:nvPr/>
        </p:nvSpPr>
        <p:spPr>
          <a:xfrm>
            <a:off x="548640" y="4261103"/>
            <a:ext cx="932688" cy="4572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Situation</a:t>
            </a:r>
          </a:p>
        </p:txBody>
      </p:sp>
      <p:sp>
        <p:nvSpPr>
          <p:cNvPr id="27" name="Rounded Rectangle 26"/>
          <p:cNvSpPr/>
          <p:nvPr/>
        </p:nvSpPr>
        <p:spPr>
          <a:xfrm>
            <a:off x="1554480"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進行後の紹介が多く、施設ごとに紹介時期が異なる</a:t>
            </a:r>
          </a:p>
        </p:txBody>
      </p:sp>
      <p:sp>
        <p:nvSpPr>
          <p:cNvPr id="28" name="Rounded Rectangle 27"/>
          <p:cNvSpPr/>
          <p:nvPr/>
        </p:nvSpPr>
        <p:spPr>
          <a:xfrm>
            <a:off x="4956048"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実績はあるが、発信する医師と機会が限られている</a:t>
            </a:r>
          </a:p>
        </p:txBody>
      </p:sp>
      <p:sp>
        <p:nvSpPr>
          <p:cNvPr id="29" name="Rounded Rectangle 28"/>
          <p:cNvSpPr/>
          <p:nvPr/>
        </p:nvSpPr>
        <p:spPr>
          <a:xfrm>
            <a:off x="8357616"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評価が少数に集中し、若手の教育機会が少ない</a:t>
            </a:r>
          </a:p>
        </p:txBody>
      </p:sp>
      <p:sp>
        <p:nvSpPr>
          <p:cNvPr id="30" name="Rounded Rectangle 29"/>
          <p:cNvSpPr/>
          <p:nvPr/>
        </p:nvSpPr>
        <p:spPr>
          <a:xfrm>
            <a:off x="548640" y="4764023"/>
            <a:ext cx="932688" cy="45720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Source</a:t>
            </a:r>
          </a:p>
        </p:txBody>
      </p:sp>
      <p:sp>
        <p:nvSpPr>
          <p:cNvPr id="31" name="Rounded Rectangle 30"/>
          <p:cNvSpPr/>
          <p:nvPr/>
        </p:nvSpPr>
        <p:spPr>
          <a:xfrm>
            <a:off x="1554480"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紹介の目安が共有されず、相談の時期を判断しにくい</a:t>
            </a:r>
          </a:p>
        </p:txBody>
      </p:sp>
      <p:sp>
        <p:nvSpPr>
          <p:cNvPr id="32" name="Rounded Rectangle 31"/>
          <p:cNvSpPr/>
          <p:nvPr/>
        </p:nvSpPr>
        <p:spPr>
          <a:xfrm>
            <a:off x="4956048"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テーマ整理・若手育成・外部との接点が不足</a:t>
            </a:r>
          </a:p>
        </p:txBody>
      </p:sp>
      <p:sp>
        <p:nvSpPr>
          <p:cNvPr id="33" name="Rounded Rectangle 32"/>
          <p:cNvSpPr/>
          <p:nvPr/>
        </p:nvSpPr>
        <p:spPr>
          <a:xfrm>
            <a:off x="8357616"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継続的に振り返る場と、臨床と病理をつなぐ機会が不足</a:t>
            </a:r>
          </a:p>
        </p:txBody>
      </p:sp>
      <p:sp>
        <p:nvSpPr>
          <p:cNvPr id="34" name="Rounded Rectangle 33"/>
          <p:cNvSpPr/>
          <p:nvPr/>
        </p:nvSpPr>
        <p:spPr>
          <a:xfrm>
            <a:off x="548640" y="5266943"/>
            <a:ext cx="932688" cy="548640"/>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Solution</a:t>
            </a:r>
          </a:p>
        </p:txBody>
      </p:sp>
      <p:sp>
        <p:nvSpPr>
          <p:cNvPr id="35" name="Rounded Rectangle 34"/>
          <p:cNvSpPr/>
          <p:nvPr/>
        </p:nvSpPr>
        <p:spPr>
          <a:xfrm>
            <a:off x="1554480"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一方向の講演ではなく、症例で相談時期を議論する場を設計</a:t>
            </a:r>
          </a:p>
        </p:txBody>
      </p:sp>
      <p:sp>
        <p:nvSpPr>
          <p:cNvPr id="36" name="Rounded Rectangle 35"/>
          <p:cNvSpPr/>
          <p:nvPr/>
        </p:nvSpPr>
        <p:spPr>
          <a:xfrm>
            <a:off x="4956048"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若手・中堅も含め、近隣大学・基幹病院と共同で発信機会を設計</a:t>
            </a:r>
          </a:p>
        </p:txBody>
      </p:sp>
      <p:sp>
        <p:nvSpPr>
          <p:cNvPr id="37" name="Rounded Rectangle 36"/>
          <p:cNvSpPr/>
          <p:nvPr/>
        </p:nvSpPr>
        <p:spPr>
          <a:xfrm>
            <a:off x="8357616"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病理医・臨床医・関連病院の若手による継続的な症例検討を設計</a:t>
            </a:r>
          </a:p>
        </p:txBody>
      </p:sp>
      <p:sp>
        <p:nvSpPr>
          <p:cNvPr id="38" name="Rounded Rectangle 37"/>
          <p:cNvSpPr/>
          <p:nvPr/>
        </p:nvSpPr>
        <p:spPr>
          <a:xfrm>
            <a:off x="548640" y="5806440"/>
            <a:ext cx="11109960" cy="420624"/>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解決策は影響の範囲で選べる：　① 施設内　→　② 大学と関連病院　→　③ 複数の大学・基幹病院　→　④ エリア全体</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当日の進行</a:t>
            </a:r>
          </a:p>
        </p:txBody>
      </p:sp>
      <p:sp>
        <p:nvSpPr>
          <p:cNvPr id="7" name="Rounded Rectangle 6"/>
          <p:cNvSpPr/>
          <p:nvPr/>
        </p:nvSpPr>
        <p:spPr>
          <a:xfrm>
            <a:off x="54864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・0-10 振り返り＋Triple Win Beyond／10-25 ワーク①</a:t>
            </a:r>
          </a:p>
          <a:p>
            <a:pPr algn="l">
              <a:lnSpc>
                <a:spcPct val="120000"/>
              </a:lnSpc>
              <a:spcAft>
                <a:spcPts val="700"/>
              </a:spcAft>
            </a:pPr>
            <a:r>
              <a:rPr sz="1100" b="0" i="0">
                <a:solidFill>
                  <a:srgbClr val="262626"/>
                </a:solidFill>
                <a:latin typeface="Meiryo UI"/>
                <a:ea typeface="Meiryo UI"/>
              </a:rPr>
              <a:t>・25-40 ワーク②＋4S／40-50 インタビュー／50-60 まとめ・総括</a:t>
            </a:r>
          </a:p>
          <a:p>
            <a:pPr algn="l">
              <a:lnSpc>
                <a:spcPct val="120000"/>
              </a:lnSpc>
              <a:spcAft>
                <a:spcPts val="700"/>
              </a:spcAft>
            </a:pPr>
            <a:r>
              <a:rPr sz="1100" b="0" i="0">
                <a:solidFill>
                  <a:srgbClr val="262626"/>
                </a:solidFill>
                <a:latin typeface="Meiryo UI"/>
                <a:ea typeface="Meiryo UI"/>
              </a:rPr>
              <a:t>・レクチャーは合計20分。ワークと共有に30分を残す</a:t>
            </a:r>
          </a:p>
        </p:txBody>
      </p:sp>
      <p:sp>
        <p:nvSpPr>
          <p:cNvPr id="8" name="Rounded Rectangle 7"/>
          <p:cNvSpPr/>
          <p:nvPr/>
        </p:nvSpPr>
        <p:spPr>
          <a:xfrm>
            <a:off x="617220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ワーク①・②と事例</a:t>
            </a:r>
          </a:p>
        </p:txBody>
      </p:sp>
      <p:sp>
        <p:nvSpPr>
          <p:cNvPr id="9" name="Rounded Rectangle 8"/>
          <p:cNvSpPr/>
          <p:nvPr/>
        </p:nvSpPr>
        <p:spPr>
          <a:xfrm>
            <a:off x="617220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・①前半4分：例題9件を仕分け（13枚目の欄に番号）</a:t>
            </a:r>
          </a:p>
          <a:p>
            <a:pPr algn="l">
              <a:lnSpc>
                <a:spcPct val="120000"/>
              </a:lnSpc>
              <a:spcAft>
                <a:spcPts val="700"/>
              </a:spcAft>
            </a:pPr>
            <a:r>
              <a:rPr sz="1100" b="0" i="0">
                <a:solidFill>
                  <a:srgbClr val="262626"/>
                </a:solidFill>
                <a:latin typeface="Meiryo UI"/>
                <a:ea typeface="Meiryo UI"/>
              </a:rPr>
              <a:t>・①後半6分：WantsからNeedsを汲み取った経験を共有</a:t>
            </a:r>
          </a:p>
          <a:p>
            <a:pPr algn="l">
              <a:lnSpc>
                <a:spcPct val="120000"/>
              </a:lnSpc>
              <a:spcAft>
                <a:spcPts val="700"/>
              </a:spcAft>
            </a:pPr>
            <a:r>
              <a:rPr sz="1100" b="0" i="0">
                <a:solidFill>
                  <a:srgbClr val="262626"/>
                </a:solidFill>
                <a:latin typeface="Meiryo UI"/>
                <a:ea typeface="Meiryo UI"/>
              </a:rPr>
              <a:t>・17-19枚目：公開情報の実物 → FactとWants → 3つのNeeds仮説</a:t>
            </a:r>
          </a:p>
          <a:p>
            <a:pPr algn="l">
              <a:lnSpc>
                <a:spcPct val="120000"/>
              </a:lnSpc>
              <a:spcAft>
                <a:spcPts val="700"/>
              </a:spcAft>
            </a:pPr>
            <a:r>
              <a:rPr sz="1100" b="0" i="0">
                <a:solidFill>
                  <a:srgbClr val="262626"/>
                </a:solidFill>
                <a:latin typeface="Meiryo UI"/>
                <a:ea typeface="Meiryo UI"/>
              </a:rPr>
              <a:t>・②：20枚目の例を残したまま、21枚目の4Sに書き切る</a:t>
            </a:r>
          </a:p>
        </p:txBody>
      </p:sp>
      <p:sp>
        <p:nvSpPr>
          <p:cNvPr id="10" name="Rounded Rectangle 9"/>
          <p:cNvSpPr/>
          <p:nvPr/>
        </p:nvSpPr>
        <p:spPr>
          <a:xfrm>
            <a:off x="54864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付録の使い方</a:t>
            </a:r>
          </a:p>
        </p:txBody>
      </p:sp>
      <p:sp>
        <p:nvSpPr>
          <p:cNvPr id="11" name="Rounded Rectangle 10"/>
          <p:cNvSpPr/>
          <p:nvPr/>
        </p:nvSpPr>
        <p:spPr>
          <a:xfrm>
            <a:off x="54864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・A〜Cは、ワーク①の後に投影してよい（考える材料）</a:t>
            </a:r>
          </a:p>
          <a:p>
            <a:pPr algn="l">
              <a:lnSpc>
                <a:spcPct val="120000"/>
              </a:lnSpc>
              <a:spcAft>
                <a:spcPts val="700"/>
              </a:spcAft>
            </a:pPr>
            <a:r>
              <a:rPr sz="1100" b="0" i="0">
                <a:solidFill>
                  <a:srgbClr val="262626"/>
                </a:solidFill>
                <a:latin typeface="Meiryo UI"/>
                <a:ea typeface="Meiryo UI"/>
              </a:rPr>
              <a:t>・D（4S参考例）はワーク前に投影しない — なぞってしまうため</a:t>
            </a:r>
          </a:p>
          <a:p>
            <a:pPr algn="l">
              <a:lnSpc>
                <a:spcPct val="120000"/>
              </a:lnSpc>
              <a:spcAft>
                <a:spcPts val="700"/>
              </a:spcAft>
            </a:pPr>
            <a:r>
              <a:rPr sz="1100" b="0" i="0">
                <a:solidFill>
                  <a:srgbClr val="262626"/>
                </a:solidFill>
                <a:latin typeface="Meiryo UI"/>
                <a:ea typeface="Meiryo UI"/>
              </a:rPr>
              <a:t>・使うのは、ワーク②後の解説／議論が止まった時／研修後</a:t>
            </a:r>
          </a:p>
          <a:p>
            <a:pPr algn="l">
              <a:lnSpc>
                <a:spcPct val="120000"/>
              </a:lnSpc>
              <a:spcAft>
                <a:spcPts val="700"/>
              </a:spcAft>
            </a:pPr>
            <a:r>
              <a:rPr sz="1100" b="0" i="0">
                <a:solidFill>
                  <a:srgbClr val="262626"/>
                </a:solidFill>
                <a:latin typeface="Meiryo UI"/>
                <a:ea typeface="Meiryo UI"/>
              </a:rPr>
              <a:t>・「例が正しいのではなく、どのFactからどの仮説を立てたかを見る」</a:t>
            </a:r>
          </a:p>
        </p:txBody>
      </p:sp>
      <p:sp>
        <p:nvSpPr>
          <p:cNvPr id="12" name="Rounded Rectangle 11"/>
          <p:cNvSpPr/>
          <p:nvPr/>
        </p:nvSpPr>
        <p:spPr>
          <a:xfrm>
            <a:off x="617220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記録・書記</a:t>
            </a:r>
          </a:p>
        </p:txBody>
      </p:sp>
      <p:sp>
        <p:nvSpPr>
          <p:cNvPr id="13" name="Rounded Rectangle 12"/>
          <p:cNvSpPr/>
          <p:nvPr/>
        </p:nvSpPr>
        <p:spPr>
          <a:xfrm>
            <a:off x="617220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・13・15・21・23枚目が記録用スライド（そのまま入力可）</a:t>
            </a:r>
          </a:p>
          <a:p>
            <a:pPr algn="l">
              <a:lnSpc>
                <a:spcPct val="120000"/>
              </a:lnSpc>
              <a:spcAft>
                <a:spcPts val="700"/>
              </a:spcAft>
            </a:pPr>
            <a:r>
              <a:rPr sz="1100" b="0" i="0">
                <a:solidFill>
                  <a:srgbClr val="262626"/>
                </a:solidFill>
                <a:latin typeface="Meiryo UI"/>
                <a:ea typeface="Meiryo UI"/>
              </a:rPr>
              <a:t>・ワーク①はWants／Needs／変化の3列で拾う</a:t>
            </a:r>
          </a:p>
          <a:p>
            <a:pPr algn="l">
              <a:lnSpc>
                <a:spcPct val="120000"/>
              </a:lnSpc>
              <a:spcAft>
                <a:spcPts val="700"/>
              </a:spcAft>
            </a:pPr>
            <a:r>
              <a:rPr sz="1100" b="0" i="0">
                <a:solidFill>
                  <a:srgbClr val="262626"/>
                </a:solidFill>
                <a:latin typeface="Meiryo UI"/>
                <a:ea typeface="Meiryo UI"/>
              </a:rPr>
              <a:t>・終了後、記録用スライドをTeamsへ格納</a:t>
            </a:r>
          </a:p>
        </p:txBody>
      </p:sp>
      <p:sp>
        <p:nvSpPr>
          <p:cNvPr id="14" name="TextBox 13"/>
          <p:cNvSpPr txBox="1"/>
          <p:nvPr/>
        </p:nvSpPr>
        <p:spPr>
          <a:xfrm>
            <a:off x="3977639" y="6309360"/>
            <a:ext cx="768096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ワーク①の題材・付録の事例はすべて架空です。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