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5分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■テーマ①「影響力を考える」　20分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■テーマ②「影響の輪を考える」　30分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■エリア戦略・まとめ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3回の振り返り／今日の2つの視点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テーマ①「影響力を考える」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70632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770632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03904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テーマ②「影響の輪を考える」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03904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30分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803904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その力を、どう活かすか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37176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エリア戦略・まとめ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37176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37176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まとめ／今週の一手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テーマ① 講義7 → ワーク8 → 共有5　　｜　　テーマ② 講義8 → ワーク10 → ディスカッション12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第4回のテーマは「戦略的思考」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87168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本日の到達点：誰が何を動かせるかを整理し、次に確認する情報と行動を決められる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01568"/>
            <a:ext cx="548640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① 影響力</a:t>
            </a:r>
          </a:p>
          <a:p>
            <a:pPr algn="ctr"/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1480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肩書きではなく「動かせるもの」で見る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65192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テーマ①　施設情報を構造で整理し、キーパーソンを特定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401568"/>
            <a:ext cx="548640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② 影響の輪</a:t>
            </a:r>
          </a:p>
          <a:p>
            <a:pPr algn="ctr"/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その力は、どこまで届くのか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11480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施設 → 関連病院 → エリア → その先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965192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86A00"/>
                </a:solidFill>
                <a:latin typeface="Meiryo UI"/>
                <a:ea typeface="Meiryo UI"/>
              </a:rPr>
              <a:t>テーマ②　エリアアプローチ戦略を検討・説明できる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1109960" cy="73152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50" b="1" i="0">
                <a:solidFill>
                  <a:srgbClr val="0B4F37"/>
                </a:solidFill>
                <a:latin typeface="Meiryo UI"/>
                <a:ea typeface="Meiryo UI"/>
              </a:rPr>
              <a:t>戦略的思考 ＝ 影響力を見極め、その輪をどこまで広げるかを決めること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LOOK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・大学の3使命と医師派遣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・影響力はテリトリー×ニーズ（HP／HS）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・教授の裁量権／医局の集合体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・薬審・採用の流れ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誰が“何を動かせるか”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・カレンダー管理と行動ログ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・会う理由を設計し、次の約束を残す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動かせる人に“会える”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・顧客理解を深める必要性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・どこで、どの情報を取るか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・仮説を持ち、クローズドで聞ける状態にする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・そして —— その情報を、どう活かすか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その人のニーズが“分かる”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この3つが揃うと、「影響力」が見える。</a:t>
            </a:r>
          </a:p>
          <a:p>
            <a:pPr algn="ctr"/>
            <a:r>
              <a:rPr sz="1400" b="1" i="0">
                <a:solidFill>
                  <a:srgbClr val="BFE8D2"/>
                </a:solidFill>
                <a:latin typeface="Meiryo UI"/>
                <a:ea typeface="Meiryo UI"/>
              </a:rPr>
              <a:t>DAY3の最後の問い —— 「営業として、その情報をどう活かすか」。今日は、その答えを出します。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3分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3000" b="1" i="0">
                <a:solidFill>
                  <a:srgbClr val="262626"/>
                </a:solidFill>
                <a:latin typeface="Meiryo UI"/>
                <a:ea typeface="Meiryo UI"/>
              </a:rPr>
              <a:t>この3回で、実際に変わったことは何ですか？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103120"/>
            <a:ext cx="873252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Teamsチャットに、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「以前と比べて変わったこと」を1つ、1行で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大学・基幹病院の見方、行動、準備の仕方 — どれでも構いません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611880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教授以外のキーパーソンにも、目を向けるようになった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4270248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面会前に、確認したい仮説を考えるようになった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4928616"/>
            <a:ext cx="7452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大学と基幹病院の関係を、見るようになった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5623560"/>
            <a:ext cx="7452360" cy="64008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まだ変わっていない方は、「今も不安なこと」を1つどうぞ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誰が、何を動かせるのか　｜　20分（講義7・ワーク8・共有5）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あなたの担当施設で、「何かを動かせる人」は誰ですか？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DAY1の「“影響力”を紐解く」を、自分の担当施設で実際にやってみる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影響力は「肩書き」ではなく「何を動かせるか」で見る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DAY2で会えた人・DAY3で分かったニーズを、ここで結びつける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172968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DAY1の復習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影響力は「テリトリー」と「ニーズ」で決まる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HP（基幹病院）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542032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1病院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090672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医師会・医療圏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9312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関連病院・出身医局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ニーズ：紹介率を上げたい／関連病院と協働したい／院内で負けたくない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HS（大学病院）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2542032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県内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090672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県内＋他大学・専門領域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39312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日本全体・学会・世界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297680"/>
            <a:ext cx="5486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ニーズ：研修医が欲しい／論文を出したい／県内での存在感が欲しい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Meiryo UI"/>
                <a:ea typeface="Meiryo UI"/>
              </a:rPr>
              <a:t>テリトリーが違えば、ニーズも違う。ニーズが違えば、動かせるものも違う。</a:t>
            </a:r>
          </a:p>
          <a:p>
            <a:pPr algn="ctr"/>
            <a:r>
              <a:rPr sz="2400" b="1" i="0">
                <a:solidFill>
                  <a:srgbClr val="FFC000"/>
                </a:solidFill>
                <a:latin typeface="Meiryo UI"/>
                <a:ea typeface="Meiryo UI"/>
              </a:rPr>
              <a:t>「この先生は、何を動かせるのか？」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教育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若手が数年後にエリアへ散る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研究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学会・論文で外へ届く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臨床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症例が集まる・評価の場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07424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関連病院の部長・医長を決める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医師派遣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エリアの布陣が決まる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情報発信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治療方針がエリアの標準に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講演会・研究会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地域の共通認識をつくる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3200400"/>
            <a:ext cx="2551176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あなたの担当施設は</a:t>
            </a:r>
          </a:p>
          <a:p>
            <a:pPr algn="ctr"/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どれを動かせる？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教授の裁量権（DAY1）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① 臨床機会の配分　② 医局人事・異動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③ 教授会・教授選　④ 研究・教育の方向性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＝ 教授は「処方者」ではなく、これらを動かせる人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肩書きの落とし穴（DAY1）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病院教授・特任教授は「教授」でも動かせるものが違う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財源・任期・実権・医局への接続で見極める（付録E）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影響力は、1人に集中していない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98448" y="1828800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方針を決める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1" y="1828800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505456"/>
            <a:ext cx="566928" cy="566928"/>
          </a:xfrm>
          <a:prstGeom prst="ellipse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2505456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DA574"/>
                </a:solidFill>
                <a:latin typeface="Meiryo UI"/>
                <a:ea typeface="Meiryo UI"/>
              </a:rPr>
              <a:t>最初に試す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2191" y="2505456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新しい治療を最初に使う。実務の中心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82112"/>
            <a:ext cx="566928" cy="56692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98448" y="3182112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B86A00"/>
                </a:solidFill>
                <a:latin typeface="Meiryo UI"/>
                <a:ea typeface="Meiryo UI"/>
              </a:rPr>
              <a:t>情報ハブ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182112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若手が困ったら聞きに行く。医局長に多い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98448" y="3858768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連携の要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3858768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35424"/>
            <a:ext cx="566928" cy="56692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98448" y="4535424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B5C99"/>
                </a:solidFill>
                <a:latin typeface="Meiryo UI"/>
                <a:ea typeface="Meiryo UI"/>
              </a:rPr>
              <a:t>対外の顔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535424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研究会・講演会で外に発信する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1828800"/>
            <a:ext cx="3154680" cy="3035808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4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DAY2・DAY3が効く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この5人を見分けるには、会って話すしかない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DAY2　会えるようになった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DAY3　ニーズが見えてきた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3回分の学びが、ここで1つに。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8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「この施設で、何かを動かせるのは誰か」を固有名詞で言えるか。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言えない場所が、次に会いに行く相手です。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8分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担当する大学・基幹病院の「影響力マップ」を描く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1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65960" y="16916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重要だと思う施設を、3つ描く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丸の大きさ＝その施設が動いたとき、周囲の施設や診療にどれだけ影響するか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42032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2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5960" y="2542032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各施設で、最も影響力がある人物を1名書く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氏名が分からなければ、役職でOK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92424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3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3392424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その人物が「何を動かせるか」を書く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診療方針・治療導入・教育・研究・派遣人事・連携・発信 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42816"/>
            <a:ext cx="128016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4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1分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4242816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まだ分からないことを「？」で1つ書く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その「？」が、次に取りに行く情報です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66360"/>
            <a:ext cx="7360920" cy="10515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疾患・製品の戦略を書く必要はありません。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今、知っている構造・人物・関係性で考えてください。C3腎症の経験や、今後のIgA腎症をイメージしても構いません。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完成条件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次の一文が作れたら完成です</a:t>
            </a:r>
          </a:p>
          <a:p>
            <a:pPr algn="l">
              <a:lnSpc>
                <a:spcPct val="135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「最も影響力が大きいと考えるのは〇〇施設の△△先生。□□を動かせるから」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411480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迷ったら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・大学が一番大きいとは限らない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・影響が担当エリアを超えるなら、そう書いてよい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・分からないところは「？」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3人1組で、1人60秒ずつ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時計回りに、全員が話してください。1人60秒。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発表の型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35808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最も影響力が大きいと思う施設は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〇〇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キーパーソンは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△△先生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52544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□□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を動かせると考えています。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まだ分からないことは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◇◇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60720"/>
            <a:ext cx="11109960" cy="54864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聞き手の質問は1つだけ　—　</a:t>
            </a:r>
            <a:r>
              <a:rPr sz="1650" b="1" i="0">
                <a:solidFill>
                  <a:srgbClr val="128A54"/>
                </a:solidFill>
                <a:latin typeface="Meiryo UI"/>
                <a:ea typeface="Meiryo UI"/>
              </a:rPr>
              <a:t>「その判断の根拠になった情報は何ですか？」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その力は、どこまで届くのか　｜　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影響の輪を考える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その影響力は、どこまで届きますか？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影響の輪：施設の中 → 関連病院 → 担当エリア → その先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大学に固執しない。輪が一番大きいのは大学とは限らない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目的から逆算して、次に取りに行く情報を決める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影響の輪 — その力は、どこまで届くのか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1234440" y="1783079"/>
            <a:ext cx="3931920" cy="3931920"/>
          </a:xfrm>
          <a:prstGeom prst="ellipse">
            <a:avLst/>
          </a:prstGeom>
          <a:noFill/>
          <a:ln w="2286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20" y="2194559"/>
            <a:ext cx="3108960" cy="3108960"/>
          </a:xfrm>
          <a:prstGeom prst="ellipse">
            <a:avLst/>
          </a:prstGeom>
          <a:noFill/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57400" y="2606039"/>
            <a:ext cx="2286000" cy="2286000"/>
          </a:xfrm>
          <a:prstGeom prst="ellipse">
            <a:avLst/>
          </a:prstGeom>
          <a:noFill/>
          <a:ln w="2286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68880" y="3017520"/>
            <a:ext cx="1463040" cy="1463040"/>
          </a:xfrm>
          <a:prstGeom prst="ellipse">
            <a:avLst/>
          </a:prstGeom>
          <a:noFill/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84708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25856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7004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08152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④ その先</a:t>
            </a:r>
          </a:p>
        </p:txBody>
      </p:sp>
      <p:sp>
        <p:nvSpPr>
          <p:cNvPr id="14" name="Oval 13"/>
          <p:cNvSpPr/>
          <p:nvPr/>
        </p:nvSpPr>
        <p:spPr>
          <a:xfrm>
            <a:off x="2834640" y="3383279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先生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DA574"/>
                </a:solidFill>
                <a:latin typeface="Meiryo UI"/>
                <a:ea typeface="Meiryo UI"/>
              </a:rPr>
              <a:t>① 施設の中まで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院内の方針・採用は動く。エリアには届かない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07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28A54"/>
                </a:solidFill>
                <a:latin typeface="Meiryo UI"/>
                <a:ea typeface="Meiryo UI"/>
              </a:rPr>
              <a:t>② 関連病院まで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医局人事・派遣を通じて、系列に届く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831336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B5C99"/>
                </a:solidFill>
                <a:latin typeface="Meiryo UI"/>
                <a:ea typeface="Meiryo UI"/>
              </a:rPr>
              <a:t>③ 担当エリアまで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研究会・講演会・地域連携で、系列を越える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85546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F3864"/>
                </a:solidFill>
                <a:latin typeface="Meiryo UI"/>
                <a:ea typeface="Meiryo UI"/>
              </a:rPr>
              <a:t>④ その先まで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学会・全国の研究会で、担当範囲を超える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70448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輪の大きさは、肩書きでは決まらない。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あなたの担当で、一番大きな輪を持つのは誰？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大学に固執しない — 大学はエリアの中の「1施設」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08760" y="2907792"/>
            <a:ext cx="1097280" cy="10972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9" name="Oval 8"/>
          <p:cNvSpPr/>
          <p:nvPr/>
        </p:nvSpPr>
        <p:spPr>
          <a:xfrm>
            <a:off x="2514600" y="37307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0" name="Oval 9"/>
          <p:cNvSpPr/>
          <p:nvPr/>
        </p:nvSpPr>
        <p:spPr>
          <a:xfrm>
            <a:off x="841247" y="3822191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方針がエリア全体に波及。人事と発信が効く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3048" y="295351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5" name="Oval 14"/>
          <p:cNvSpPr/>
          <p:nvPr/>
        </p:nvSpPr>
        <p:spPr>
          <a:xfrm>
            <a:off x="5001768" y="354787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6" name="Oval 15"/>
          <p:cNvSpPr/>
          <p:nvPr/>
        </p:nvSpPr>
        <p:spPr>
          <a:xfrm>
            <a:off x="4636008" y="272491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1大学では動かない。共通する課題を探す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77456" y="2953512"/>
            <a:ext cx="1143000" cy="114300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3913632"/>
            <a:ext cx="658368" cy="658368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2" name="Oval 21"/>
          <p:cNvSpPr/>
          <p:nvPr/>
        </p:nvSpPr>
        <p:spPr>
          <a:xfrm>
            <a:off x="8129016" y="3867912"/>
            <a:ext cx="603504" cy="603504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実務は基幹病院。大学は研究・教育で効かせる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6336" y="2907792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7" name="Oval 26"/>
          <p:cNvSpPr/>
          <p:nvPr/>
        </p:nvSpPr>
        <p:spPr>
          <a:xfrm>
            <a:off x="10981943" y="283464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8" name="Oval 27"/>
          <p:cNvSpPr/>
          <p:nvPr/>
        </p:nvSpPr>
        <p:spPr>
          <a:xfrm>
            <a:off x="11073384" y="3867912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営業所・全国への展開を考える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97880"/>
            <a:ext cx="11109960" cy="4572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「大学を軸としたエリア攻略」ではなく、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「エリアを動かすために、どの輪を使うか」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輪を動かす鍵 — 大学・基幹病院が「実現したいこと」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3200400" cy="3200400"/>
          </a:xfrm>
          <a:prstGeom prst="ellipse">
            <a:avLst/>
          </a:prstGeom>
          <a:solidFill>
            <a:srgbClr val="3B5C99">
              <a:alpha val="22000"/>
            </a:srgbClr>
          </a:solidFill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51760" y="1920240"/>
            <a:ext cx="3200400" cy="3200400"/>
          </a:xfrm>
          <a:prstGeom prst="ellipse">
            <a:avLst/>
          </a:prstGeom>
          <a:solidFill>
            <a:srgbClr val="128A54">
              <a:alpha val="22000"/>
            </a:srgbClr>
          </a:solidFill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エリアで
実現したいこと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大学・医局が
実現したいこと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200400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100" b="1" i="0">
                <a:solidFill>
                  <a:srgbClr val="C00000"/>
                </a:solidFill>
                <a:latin typeface="Meiryo UI"/>
                <a:ea typeface="Meiryo UI"/>
              </a:rPr>
              <a:t>はここ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303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重なりが大きいほど、相手は本気で動く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2024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医局が「実現したいこと」の例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87168"/>
            <a:ext cx="548640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・専門性の高い症例を集めたい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・若手・専攻医を増やしたい、育てたい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・研究データを出したい・論文を書きたい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・関連病院との連携／派遣先を確保したい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・県内・地域での存在感を高めたい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・学会・研究会で発信したい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8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DAY1で見た「HSのニーズ」そのもの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109960" cy="7315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50" b="1" i="0">
                <a:solidFill>
                  <a:srgbClr val="C00000"/>
                </a:solidFill>
                <a:latin typeface="Meiryo UI"/>
                <a:ea typeface="Meiryo UI"/>
              </a:rPr>
              <a:t>「先生・医局が実現したいこと」を後押ししながら、「エリアで実現したいこと」も進む打ち手は何か？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目的から逆算して、情報を取りに行く — 第4回の本質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実現したい状態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担当・エリアがどうなっていたら理想か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60904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07208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期待する役割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誰の・どの影響力を活かすか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19472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分からないこと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その仮説の、どこが未確認か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8040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24344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取りに行く情報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誰に・何を聞けば分かるか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36608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82912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次の行動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2912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今週、まず何をするか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01568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情報から考えるのではなく、目的から逆算する。DAY3の「取り方」に「取りに行く理由」が加わります。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67328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例（架空）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41648"/>
            <a:ext cx="2103120" cy="329184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① 実現したい状態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041648"/>
            <a:ext cx="8915400" cy="329184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大学の専門的な知見が、主要な基幹病院に共有されている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07408"/>
            <a:ext cx="2103120" cy="329184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② 期待する役割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07408"/>
            <a:ext cx="8915400" cy="329184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A大学教授＝情報発信（③の輪）／B基幹病院部長＝実臨床での影響力（①の輪）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773168"/>
            <a:ext cx="2103120" cy="329184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③ 分からないこと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773168"/>
            <a:ext cx="8915400" cy="329184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医局が今後力を入れたいテーマが、まだ分からない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38928"/>
            <a:ext cx="2103120" cy="329184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④ 取りに行く情報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5138928"/>
            <a:ext cx="8915400" cy="329184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医局長に、教育・研究で注力したいテーマを確認する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504688"/>
            <a:ext cx="2103120" cy="329184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⑤ 次の行動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0" y="5504688"/>
            <a:ext cx="8915400" cy="329184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今週、医局長との面会を打診する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DAY3の共有事例：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同年同卒・同門のつながりを調べて講演会を設計 → 参加率向上／面会困難な医師との接点創出／エリア認知向上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30分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その情報は、誰から取れるか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DAY3で共有された入手先です。ワーク②の「次の一手」は、ここから選べば決まります。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医師本人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直接聞くのが、最も有効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2491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・今後の目標・成し遂げたいこと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・興味のある領域・研究テーマ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・参考にしている先生・KOL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・人脈、連携している施設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9659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周辺関係者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会えない時間を埋めてくれる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72491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・医局秘書：予定・医局の動き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・看護師・師長：現場の課題と関係性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・若手医師：医局の雰囲気と本音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・前任者・他領域MR・MS・社内メディカル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659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学会・研究会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人的ネットワークが見える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72491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・共著論文：誰と誰が組んでいるか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・演者の顔ぶれ・座長との関係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・卒大・同門・同年次のつながり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・※DAY3事例：同年同卒を調べて会を設計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聞き方のコツ（DAY3）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仮説を持って行き、「クローズドで聞ける状態」にしてから会う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84632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噂レベルの情報は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複数の関係者から確認して、精度を上げる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76072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信頼が深まっているサイン　—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プライベートな話をしてくれる／将来の話をしてくれる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→ 味方になってくれる可能性が高い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大学・基幹病院を、どう活かすか考える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4つの問いに、1人でメモしてください。疾患・製品の戦略を完成させる必要はありません。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167128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148840"/>
            <a:ext cx="2011680" cy="585216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128A54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48840"/>
            <a:ext cx="8229600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担当する大学・基幹病院・周辺エリアが、どうなっていたら理想ですか？（製品名・処方目標は不要）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43784"/>
            <a:ext cx="548640" cy="54864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825496"/>
            <a:ext cx="2011680" cy="585216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3B5C99"/>
                </a:solidFill>
                <a:latin typeface="Meiryo UI"/>
                <a:ea typeface="Meiryo UI"/>
              </a:rPr>
              <a:t>使いたい影響力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825496"/>
            <a:ext cx="8229600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その状態に近づくために、誰の・どの影響力を活かしたいですか？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520440"/>
            <a:ext cx="548640" cy="54864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3502152"/>
            <a:ext cx="2011680" cy="585216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B86A00"/>
                </a:solidFill>
                <a:latin typeface="Meiryo UI"/>
                <a:ea typeface="Meiryo UI"/>
              </a:rPr>
              <a:t>実現したいこと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502152"/>
            <a:ext cx="8229600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その先生・医局は、何を実現したいですか？（DAY3の「成し遂げたいことを直接聞く」／分からなければ確認事項を）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4178808"/>
            <a:ext cx="2011680" cy="585216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次の一手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178808"/>
            <a:ext cx="8229600" cy="5852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今週、誰に・何を確認しますか？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37760"/>
            <a:ext cx="11109960" cy="38404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完成文：この4行が書けたら完成です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6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4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私が目指したい状態は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〇〇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。そのために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△△先生の□□という影響力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 を活かしたい。</a:t>
            </a:r>
          </a:p>
          <a:p>
            <a:pPr algn="ctr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先生・医局が実現したいのは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◇◇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 だと考える（分からなければ、◇◇を確認する）。まず私は、今週 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☆☆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 を確認する。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85292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　｜　12分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3人1組で、仮説を確かめ合う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1人3分 × 3人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7315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発表2分 ＋ 質問1分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36576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最後の3分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651760"/>
            <a:ext cx="7315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グループの一番の気づきを1つ決める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111099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発表は、ワーク②の4行をそのまま読むだけでOK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9392"/>
            <a:ext cx="11109960" cy="10515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聞き手の質問は1つだけ</a:t>
            </a:r>
          </a:p>
          <a:p>
            <a:pPr algn="ctr"/>
            <a:r>
              <a:rPr sz="2200" b="1" i="0">
                <a:solidFill>
                  <a:srgbClr val="C00000"/>
                </a:solidFill>
                <a:latin typeface="Meiryo UI"/>
                <a:ea typeface="Meiryo UI"/>
              </a:rPr>
              <a:t>「その情報が分かると、次の活動はどう変わりますか？」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4864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集めるための情報収集で終わらせず、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「その情報の使い道」まで確かめる時間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にしてください。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誰が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動かせるか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737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◎方針／○最初に試す／★情報ハブ／◇連携の要／□対外の顔。1人とは限らない。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どこまで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届くか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2880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影響の輪で見る。大学に固執しない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施設の中／関連病院／担当エリア／その先。一番大きいのは大学とは限らない。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何を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確認するか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402336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目的から逆算して、次の情報を取りに行く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実現したい状態 → 期待する役割 → 分からないこと → 次の一手。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11109960" cy="10515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一施設で終わらせず、その影響を担当エリアへ広げる。</a:t>
            </a:r>
          </a:p>
          <a:p>
            <a:pPr algn="ctr"/>
            <a:r>
              <a:rPr sz="1300" b="1" i="0">
                <a:solidFill>
                  <a:srgbClr val="BFE8D2"/>
                </a:solidFill>
                <a:latin typeface="Meiryo UI"/>
                <a:ea typeface="Meiryo UI"/>
              </a:rPr>
              <a:t>今日つくった「影響力の仮説」と「確認リスト」が、そのままIgA腎症を担当するときの準備になります。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行動宣言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10996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400" b="1" i="0">
                <a:solidFill>
                  <a:srgbClr val="262626"/>
                </a:solidFill>
                <a:latin typeface="Meiryo UI"/>
                <a:ea typeface="Meiryo UI"/>
              </a:rPr>
              <a:t>Teamsチャットに、「今週、誰に・何を確認するか」を1行で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3063240"/>
            <a:ext cx="7452360" cy="594360"/>
          </a:xfrm>
          <a:prstGeom prst="roundRect">
            <a:avLst>
              <a:gd name="adj" fmla="val 12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記入形式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3730752"/>
            <a:ext cx="74523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今週中に、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〇〇先生</a:t>
            </a:r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 へ 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△△</a:t>
            </a:r>
            <a:r>
              <a:rPr sz="1900" b="0" i="0">
                <a:solidFill>
                  <a:srgbClr val="262626"/>
                </a:solidFill>
                <a:latin typeface="Meiryo UI"/>
                <a:ea typeface="Meiryo UI"/>
              </a:rPr>
              <a:t> を確認する。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4892040"/>
            <a:ext cx="7452360" cy="77724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ワーク②のQ4に書いたことを、そのまま投稿すればOKです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5760720"/>
            <a:ext cx="74523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「電話1本サイズ」に割ること。小さいほど、実行されます。</a:t>
            </a:r>
          </a:p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描いたマップは、営業所でも共有を（DAY3）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64991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62472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9952" y="1947672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60020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何のために使うかを決める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600"/>
              </a:spcAft>
            </a:pPr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「このエリアは、自分に任せてください。</a:t>
            </a:r>
          </a:p>
          <a:p>
            <a:pPr algn="ctr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そのために、大学・基幹病院の力をこう組み合わせます」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そう言える担当者を目指しましょう。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今日中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行動宣言をチャットへ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今週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影響力マップを営業所で共有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521208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これから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困ったら、全国の仲間に相談を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ワークシート① 影響力マップ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担当エリア（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8138160" cy="393192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丸の大きさ＝その施設が動いたとき、他施設の診療がどれだけ変わるか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82880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各施設に書くこと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施設名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誰か（氏名 or 役職）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何を動かせるか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□ 分からないところは「？」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84048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役割の記号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◎　方針を決める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○　最初に試す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★　情報ハブ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◇　連携の要</a:t>
            </a:r>
          </a:p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□　対外の顔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70448"/>
            <a:ext cx="11109960" cy="47548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完成条件：</a:t>
            </a: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「最も影響力が大きいと考えるのは〇〇施設の△△先生。□□を動かせるから」と書けること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動かせるもの：教育／研究／臨床／医局人事／医師派遣／情報発信／講演会・研究会　　※その他の医療機関は、背景となる患者動線として必要に応じて記載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ワークシート② 大学・基幹病院の活かし方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担当エリア（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Q1 目指したい状態　—　どうなっていたら理想か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9514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Q2 使いたい影響力　—　誰の・どの影響力を活かすか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9514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Q3 実現したいこと　—　先生・医局は何を実現したいか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8503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Q4 次の一手　—　今週、誰に・何を確認するか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8503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完成文（この4行が書けたら完成）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02352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私が目指したい状態は〇〇。そのために△△先生の□□という影響力を活かしたい。</a:t>
            </a:r>
          </a:p>
          <a:p>
            <a:pPr algn="ctr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先生・医局が実現したいのは◇◇だと考える（分からなければ、◇◇を確認する）。まず私は、今週☆☆を確認する。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989320"/>
            <a:ext cx="11109960" cy="36576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目指したい状態を書けたか　　□ 使う影響力を決めたか　　□ 実現したいこと（or確認事項）を書けたか　　□ 今週の行動まで落ちたか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参考：疾患が変わると、影響力の見え方も変わる（架空の例）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C3腎症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大学・主要基幹病院の間で、疑う患者像、病理・補体評価、専門医への相談経路について共通認識がある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影響の輪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病理や補体領域に詳しい大学医師から、関連基幹病院へ診断上の視点を発信する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大学の「研究」「情報発信」の輪が効きやすい。まず疑ってもらう段階から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IgA腎症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主要な大学・基幹病院で、患者選択、治療導入、フォローに関する考え方が整理されている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影響の輪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診療経験を持つ基幹病院医師と大学医師が、施設間の治療課題を共有する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基幹病院の「臨床」の輪も大きい。大学と基幹病院を組み合わせる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25312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本編では扱いません。時間が余った場合、または研修後の参考資料として。疾患が違えば、重要施設もキーパーソンも変わります。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DAY1〜3の学び 総まとめ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・大学の3使命：教育・研究・臨床。医師派遣で地域を支える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・教授の裁量権：臨床機会・医局人事・教授選・研究教育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で設計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・アクセス：訪問ルール確認・秘書経由・メール・手紙・直接訪問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・カレンダーで情報管理し、行動ログで検証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・会う理由を設計し次の約束を残す。My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・ドライ情報：HP・機関紙・掲示物・Veeva Link・講演内容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・ウェット情報：面会・他Dr・社内他領域・MS・HCP・雑談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この3つが揃って初めて「影響力」が見え、「影響の輪」を設計できる。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方針・人事の最終決定者。多忙で現場の細部は下が握ることも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実務の要であり次期教授候補。関係構築は先行投資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医局の雑務・人事、行事の窓口。教授の信頼が厚く影響力大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実処方と臨床研究の担い手。数年後は関連病院の幹部へ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臨床・病院運営に強い。採用・薬審には効くが医局人事権は別のことも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寄附講座・外部資金による任用。研究・講演に強いが医局人事は限定的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本務は他施設。院内の決定権は限定的だがネットワークのハブに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現役の決定権はない。人脈・影響力は健在。研究会の重鎮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見極めの5点：① 財源　② 任期　③ 実権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874519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訪問・面会・資材配布のルールは施設ごとに違う。迷ったら守りに倒す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70632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その場で約束しない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770632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寄附金・広告協賛の依頼は即答せず、必ず社内の申請・審査手続きへ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66744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現行の文書で確認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666744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「前任者がやっていた」は根拠にならない。薬審・採用は施設ごとに毎回確認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62856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自己判断しない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562856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基準はプロモーションコードと社内SOP。迷ったら相談してから動く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58968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5458968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依頼・回答・手続きの経緯を記録に。先生と自分の両方を守る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617220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当日の投影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・冒頭は タイトル → 4回のロードマップ → 本日のAgenda の3枚だけ使う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・プロジェクト概要・メンバー紹介は開始前の待機画面／配布資料へ回す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・テーマ① 講義7・ワーク8・共有5／テーマ② 講義8・ワーク10・ディスカッション12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ワークの前提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・疾患・製品の戦略は作らせない。今分かっている情報で考えてもらう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・「完成条件の一文」が書けたら完成、と最初に伝える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・Q4が書けない人は「その情報は、誰から取れるか」のスライドに戻す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共有・ディスカッション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・共有①は時計回りで1人60秒。質問は「その判断の根拠になった情報は？」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・ディスカッションは1人3分×3人＋気づき3分。質問は「その情報が分かると、次の活動はどう変わる？」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・情報収集で終わらせず、情報の使い道まで確かめる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・まとめは3つのメッセージだけ。IgA腎症への接続は一文で言い切る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・行動宣言はワーク②のQ4をそのまま投稿してもらう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・DAY3のチーム展開（営業所で共有）への接続を一言添えて終える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