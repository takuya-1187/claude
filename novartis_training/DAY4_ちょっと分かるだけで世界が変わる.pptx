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  <p:sldId id="527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■振り返り／Triple Win Beyond　10分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■ワーク①「ウォンツとニーズの仕分け」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■ワーク②「仮説立て」とエリアプラン・4S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■インタビュー／まとめ・総括　20分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振り返り ／ Triple Win Beyond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10分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82880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3回の振り返り｜患者・顧客・自社、そしてエリアへ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ワーク①「ウォンツとニーズの仕分け」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92608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得た情報を3つに分ける｜仕分けの意義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ワーク②「仮説立て」とエリアプラン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023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023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ウォンツをニーズへ｜4Sにつなげる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12064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インタビュー ／ まとめ・総括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512064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20分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51206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エリア＋大学攻略事例｜女子医大の活動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情報を「仕分ける」と、仮説が立つ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595959"/>
                </a:solidFill>
                <a:latin typeface="Meiryo UI"/>
                <a:ea typeface="Meiryo UI"/>
              </a:rPr>
              <a:t>― 得た情報をFact・ウォンツ・ニーズに分け、エリアの打ち手につなげる 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7424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本日の到達点：得た情報を仕分け、そこから仮説を立てられる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集めた事実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91256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01568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仕分け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3つに分ける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44184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54496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なぜかを立てる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97112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07424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4S・エリアプラン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7424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打ち手にする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情報の量では差がつかない。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同じ情報から、どんな仮説を立てられるかで差がつく。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振り返り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・大学・基幹病院の構造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・誰がどこまで決められるか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・一人で突破しない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・Dry情報とWet情報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DAY3の最後の問い　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「営業として、その情報をどう活かすか」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情報は、もう集まっている。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今日は、その情報を仕分けて、仮説を立てて、エリアで動かす。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TRIPLE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解決策とは、3者が同時にWinになっているもの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1965960" y="173736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患者さん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・適切な診断・治療に、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・適切なタイミングで届く</a:t>
            </a:r>
          </a:p>
        </p:txBody>
      </p:sp>
      <p:sp>
        <p:nvSpPr>
          <p:cNvPr id="9" name="Oval 8"/>
          <p:cNvSpPr/>
          <p:nvPr/>
        </p:nvSpPr>
        <p:spPr>
          <a:xfrm>
            <a:off x="5705855" y="173736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顧客（医局・施設）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・果たしたい役割が果たせる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・施設・医師の価値が上がる</a:t>
            </a:r>
          </a:p>
        </p:txBody>
      </p:sp>
      <p:sp>
        <p:nvSpPr>
          <p:cNvPr id="12" name="Oval 11"/>
          <p:cNvSpPr/>
          <p:nvPr/>
        </p:nvSpPr>
        <p:spPr>
          <a:xfrm>
            <a:off x="9445752" y="173736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ノバルティス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・必要な患者さんに届く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・エリアで信頼される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72000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ノバルティスの目標・顧客の目標・患者さんの3者がWinになっているか（SAM）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068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どれか1つが欠けた打ち手は、続かない。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Winを、エリアまで広げる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大学を「個」で見ると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67712"/>
            <a:ext cx="534924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・その施設の中でWinが完結する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・1人の先生の要望に応える形になる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・隣の施設には何も起きない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80760" y="2651760"/>
            <a:ext cx="548640" cy="50292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645920"/>
            <a:ext cx="480060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エリアの1施設として見ると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267712"/>
            <a:ext cx="4800600" cy="16002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・関連病院・近隣大学にWinが広がる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・医師同士の関係が動く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・患者さんの流れが変わる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11109960" cy="62179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Triple Win（患者・顧客・自社）　＋　Beyond（関連病院・近隣大学・地域の先生）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8348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大学は、エリアの中の1施設。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影響の輪まで設計すると、同じ打ち手でもWinが大きくなる。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NEEDS &amp; WANTS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ニーズは「状態」、ウォンツは「手段」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20040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理想の状態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Gap ＝ ニーズ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82112"/>
            <a:ext cx="320040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現状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＝ 満たされていない状態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31920" y="2487168"/>
            <a:ext cx="548640" cy="457200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1600200"/>
            <a:ext cx="6995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Gapを埋める具体的なもの ＝ ウォンツ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286000"/>
            <a:ext cx="6995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・顧客が口にするのは、ほとんどがウォンツ（やり方の指定）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・ウォンツに応えるだけでは、その手段が正しいか分からない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・ニーズが分かれば、手段は他にも選べる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840480"/>
            <a:ext cx="3429000" cy="56692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顕在ニーズ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4480560"/>
            <a:ext cx="342900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顧客自身が気づいている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840480"/>
            <a:ext cx="342900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潜在ニーズ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480560"/>
            <a:ext cx="342900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顧客自身が気づいていない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顕在化することは珍しい。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気づかれていないニーズを、競合より早く見つけられるかで差がつく。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仕分けの目安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得た情報を、3つのどれかに置く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観察できること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・数字・出来事・体制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・願望が入っていない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・例：腎生検が半減している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ウォンツ（手段）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やり方の指定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・「〜が欲しい」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・「〜してほしい」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・例：勉強会をやってほしい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ニーズ（状態）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満たされていないGap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・「〜したい」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・「〜が足りない・困っている」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・例：若手を育てたい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628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迷ったら　</a:t>
            </a: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「これは状態か、手段か」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　願望が入っていなければ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9496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Factは、仮説の材料。ウォンツは、入口。ニーズは、目指す状態。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①-1　｜　4分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例題を、Fact／ウォンツ／ニーズに仕分ける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16736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腎臓内科の医局・先生から得た情報です。①〜⑨を、下の3つのどこに置くか決めてください。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① 関連病院の先生向けに、CKDの勉強会をやってほしい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〇〇大学の△△先生を、次の研究会に呼んでほしい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58768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858768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645152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ウォンツ（手段）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4645152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5431536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ニーズ（状態）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63240" y="5431536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619963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※ 番号を入れて、なぜそこに置いたかを一言で言えるようにしてください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①-2　｜　6分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これまでの経験を共有する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これまでの活動で、先生のウォンツから</a:t>
            </a:r>
            <a:r>
              <a:rPr sz="1800" b="1" i="0">
                <a:solidFill>
                  <a:srgbClr val="C00000"/>
                </a:solidFill>
                <a:latin typeface="Meiryo UI"/>
                <a:ea typeface="Meiryo UI"/>
              </a:rPr>
              <a:t>ニーズを汲み取れた経験</a:t>
            </a:r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はありますか？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8892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話を深めるヒント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64992"/>
            <a:ext cx="621792" cy="62179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9888" y="3364992"/>
            <a:ext cx="10268712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50" b="1" i="0">
                <a:solidFill>
                  <a:srgbClr val="262626"/>
                </a:solidFill>
                <a:latin typeface="Meiryo UI"/>
                <a:ea typeface="Meiryo UI"/>
              </a:rPr>
              <a:t>先生の、どんな言葉（ウォンツ）から始まりましたか？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96512"/>
            <a:ext cx="621792" cy="62179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89888" y="4096512"/>
            <a:ext cx="10268712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50" b="1" i="0">
                <a:solidFill>
                  <a:srgbClr val="262626"/>
                </a:solidFill>
                <a:latin typeface="Meiryo UI"/>
                <a:ea typeface="Meiryo UI"/>
              </a:rPr>
              <a:t>その裏にあるニーズは、何だと考えましたか？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828032"/>
            <a:ext cx="621792" cy="62179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89888" y="4828032"/>
            <a:ext cx="10268712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50" b="1" i="0">
                <a:solidFill>
                  <a:srgbClr val="262626"/>
                </a:solidFill>
                <a:latin typeface="Meiryo UI"/>
                <a:ea typeface="Meiryo UI"/>
              </a:rPr>
              <a:t>気づいたあと、活動や提案はどう変わりましたか？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623560"/>
            <a:ext cx="11109960" cy="603504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3〜4人で。うまくいかなかった経験、まだ分からない経験でも構いません。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642616" cy="384048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B4F37"/>
                </a:solidFill>
                <a:latin typeface="Meiryo UI"/>
                <a:ea typeface="Meiryo UI"/>
              </a:rPr>
              <a:t>ウォンツから、ニーズを汲み取った経験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書記の方は、出てきた発言をこの表に記録してください。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出てきたウォンツ（言われた言葉）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399" y="169164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汲み取ったニーズ（状態）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1691640"/>
            <a:ext cx="3611880" cy="50292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活動・提案がどう変わったか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399" y="2267712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38159" y="2267712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255264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399" y="3255264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59" y="3255264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242816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399" y="4242816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59" y="4242816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230368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43399" y="5230368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59" y="5230368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542032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なぜ仕分けるのか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仕分けが終われば、仮説はほとんど出来ている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Factだけでは動けない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7830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情報は「量」ではなく「意味」。並べただけでは打ち手にならない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ウォンツに応えるだけでは足りない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26974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その手段が最善か分からない。次の一手も出てこない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118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ニーズが分かれば手段を選べる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36118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同じニーズに対して、より効く手段を提案できる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1772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御用聞きと提案の違いは、ニーズまで降りているかどうか。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2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参考：付録B・Cに、考えられるFact／ウォンツ／ニーズを掲載（ワーク②の題材にも使えます）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97880"/>
            <a:ext cx="11109960" cy="3474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/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仕分けは、仮説を立てるための下ごしらえ。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仮説立て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ウォンツに「なぜ？」を重ねて、ニーズへ降りる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ウォンツ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73736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関連病院の先生向けに、勉強会をやってほしい</a:t>
            </a:r>
          </a:p>
        </p:txBody>
      </p:sp>
      <p:sp>
        <p:nvSpPr>
          <p:cNvPr id="8" name="Down Arrow 7"/>
          <p:cNvSpPr/>
          <p:nvPr/>
        </p:nvSpPr>
        <p:spPr>
          <a:xfrm>
            <a:off x="1581912" y="2423160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70662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なぜ？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706624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関連病院から、進行してから紹介されることが多い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581912" y="3392424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675887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なぜ困る？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3675887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早く紹介されれば、まだ治療の選択肢が残る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581912" y="4361688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64515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ニーズ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1800" y="4645152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地域で早く見つけ、適切なタイミングで紹介される状態にしたい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手段は1つではない。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　ニーズが分かれば、より効く手段を選べる。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自分の担当施設で、仮説と解決策を考える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1　Fact・ウォンツ・ニーズを置く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82696" y="1783080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2　仮説を1文にする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135624" y="1783080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3　4Sに当てはめる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88552" y="1783080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4　解決策を出す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7744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仮説の例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44368"/>
            <a:ext cx="5486400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・「地域の腎臓診療の入口」を担いたいのではないか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・学会長の年に、医局の実績を外に出したいのではないか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・若手が育っていないことが、腎生検の減少の原因ではないか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・紹介基準が、地域の先生に伝わっていないのではないか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・全国発信の場を求めていて、近隣大学とも組めるのではないか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37744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解決策の例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44368"/>
            <a:ext cx="5486400" cy="23774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・関連病院＋近隣大学の合同勉強会を、医局と共同で企画する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・紹介基準を、研究会や連携パスで地域と共有する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・若手向けの症例検討会を、医局の教育実績として残す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・医局の症例を、エリア・全国の講演会で発信する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・案内を医師から医師へ回してもらい、参加の角度を上げる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86400"/>
            <a:ext cx="11109960" cy="74980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FFFFFF"/>
                </a:solidFill>
                <a:latin typeface="Meiryo UI"/>
                <a:ea typeface="Meiryo UI"/>
              </a:rPr>
              <a:t>例はあくまで参考。自分のエリアの言葉に置き換えてください。</a:t>
            </a:r>
          </a:p>
          <a:p>
            <a:pPr algn="ctr"/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解決策は「顧客・患者さん・自社」の3者がWinになっているかで検証する。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642616" cy="365760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7863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4S：エリア・施設の課題解決シート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786384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施設（　　　　　　　　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1109960" cy="38404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【成功像】　← ニーズ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36776"/>
            <a:ext cx="11109960" cy="6583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2834640" y="2350008"/>
            <a:ext cx="274320" cy="365760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40487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理想とのGAPを洗い出す</a:t>
            </a:r>
          </a:p>
        </p:txBody>
      </p:sp>
      <p:sp>
        <p:nvSpPr>
          <p:cNvPr id="10" name="Up Arrow 9"/>
          <p:cNvSpPr/>
          <p:nvPr/>
        </p:nvSpPr>
        <p:spPr>
          <a:xfrm>
            <a:off x="8869680" y="2350008"/>
            <a:ext cx="274320" cy="365760"/>
          </a:xfrm>
          <a:prstGeom prst="up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24048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理想に近づくか検証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91256"/>
            <a:ext cx="5486400" cy="1234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2834640" y="4480560"/>
            <a:ext cx="274320" cy="310896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5079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その理由を深掘る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64608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66944"/>
            <a:ext cx="548640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打ち手（ウォンツを手がかりに）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91256"/>
            <a:ext cx="5486400" cy="303580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742432" y="5394960"/>
            <a:ext cx="365760" cy="27432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⑥ 記入例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仕分けと仮説が、そのまま4Sに入る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109960" cy="36576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【成功像】　← ニーズ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56816"/>
            <a:ext cx="11109960" cy="548640"/>
          </a:xfrm>
          <a:prstGeom prst="roundRect">
            <a:avLst>
              <a:gd name="adj" fmla="val 2000"/>
            </a:avLst>
          </a:prstGeom>
          <a:solidFill>
            <a:srgbClr val="E9F5EE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地域で早く見つかり、適切なタイミングで紹介される状態になっている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81528"/>
            <a:ext cx="5486400" cy="114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・腎生検が3年前の半減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・進行してから紹介されることが多い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・教授が来年、学会の会長を務める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15968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0016"/>
            <a:ext cx="5486400" cy="960120"/>
          </a:xfrm>
          <a:prstGeom prst="roundRect">
            <a:avLst>
              <a:gd name="adj" fmla="val 2000"/>
            </a:avLst>
          </a:prstGeom>
          <a:solidFill>
            <a:srgbClr val="EAF0F9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地域の腎臓診療の入口を担いたいが、関連病院との接点が薄く、紹介基準が共有されていない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97480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081528"/>
            <a:ext cx="5486400" cy="2578608"/>
          </a:xfrm>
          <a:prstGeom prst="roundRect">
            <a:avLst>
              <a:gd name="adj" fmla="val 2000"/>
            </a:avLst>
          </a:prstGeom>
          <a:solidFill>
            <a:srgbClr val="E9F5EE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・関連病院＋近隣大学の合同勉強会を、医局と共同で企画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・テーマは「紹介基準の共通認識づくり」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・近隣大学のファカルティも登壇に入れる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・案内は医師から医師へ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・学会長の年に合わせ、医局の症例発信の場も設計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06440"/>
            <a:ext cx="11109960" cy="43891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ウォンツ（勉強会をやってほしい）は解決策の入口。ニーズまで降りたから、エリアの形になった。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⑥ エリアプラン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見る単位を変えると、打てる手が変わる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同じ仮説でも、「1施設の話」と考えるか、「エリアの話」と考えるかで、打ち手は変わる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1施設で考える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539496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・その大学の中で完結する企画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・参加者はその施設の先生だけ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・終わったら、また次を探す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37744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エリアで考える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017520"/>
            <a:ext cx="5394960" cy="16002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・関連病院・近隣大学を巻き込む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・医師同士の関係が動く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・次の企画の土台が残る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46320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大学を「個」で見ず、エリアの1施設として、影響の輪で考える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7784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800" b="1" i="0">
                <a:solidFill>
                  <a:srgbClr val="FFC000"/>
                </a:solidFill>
                <a:latin typeface="Meiryo UI"/>
                <a:ea typeface="Meiryo UI"/>
              </a:rPr>
              <a:t>エリアプランは、施設ごとのプランを並べたものではない。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インタビュー　｜　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エリア＋大学攻略事例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どの情報から、その仮説にたどり着いたのか？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大学1施設で終わらせず、エリアにどう広げたか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ウォンツのまま動いた時と、ニーズまで降りた時で、何が違ったか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最初に確かめるのは、どの情報か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82112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インタビュー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B4F37"/>
                </a:solidFill>
                <a:latin typeface="Meiryo UI"/>
                <a:ea typeface="Meiryo UI"/>
              </a:rPr>
              <a:t>聞きながら、自分のエリアに置き換える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決め手になったFact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41732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先生のウォンツとニーズ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260604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エリアの誰を、どの順番で巻き込んだか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379476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自分のエリアで確かめたいこと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498348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女子医大の活動 — 一言のウォンツから始まった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初回面談の一言　</a:t>
            </a:r>
            <a:r>
              <a:rPr sz="2000" b="1" i="0">
                <a:solidFill>
                  <a:srgbClr val="C00000"/>
                </a:solidFill>
                <a:latin typeface="Meiryo UI"/>
                <a:ea typeface="Meiryo UI"/>
              </a:rPr>
              <a:t>「女子医大腎臓内科を全国に売り出したい」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集まっていたFact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90672"/>
            <a:ext cx="53492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・女子医大では新機序薬の使用経験が複数例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・条件の近い近隣2大学では未使用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・希少疾患のため「誰に使うべきか」の情報が全国的に不足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・院内の小児腎・移植でも適正使用の共有ニーズ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・近隣大学の先生は共同研究者・女子医大出身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566160"/>
            <a:ext cx="548640" cy="50292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2468880"/>
            <a:ext cx="4800600" cy="53035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降りた先のニーズ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090672"/>
            <a:ext cx="4800600" cy="8686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実臨床の経験を、全国と地域に届ける場がない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069080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立てた仮説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599432"/>
            <a:ext cx="4800600" cy="3657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女子医大をHUBにすれば、横展開が起こる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12080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「売り出したい」はウォンツ。その裏の</a:t>
            </a:r>
            <a:r>
              <a:rPr sz="1700" b="1" i="0">
                <a:solidFill>
                  <a:srgbClr val="FFC000"/>
                </a:solidFill>
                <a:latin typeface="Meiryo UI"/>
                <a:ea typeface="Meiryo UI"/>
              </a:rPr>
              <a:t>「発信する場がない」というニーズ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まで降りたことが起点。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3つの大学をつないで、影響の輪を設計した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設計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21992"/>
            <a:ext cx="534924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・女子医大をHUBに、近隣2大学を企画段階から巻き込む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・「エリア横展開・院内横展開・成人×小児」を、ファカルティ間で共通認識に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・MRからではなく、医師から医師へ参加案内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・現地開催＋海外演者で、会のPriorityを上げる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0020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21992"/>
            <a:ext cx="534924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・参加医師35名（想定以上）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・処方確約1例／患者発掘1例／IC向上2施設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・大学間・診療科間の医師同士の関係性を複数確認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・次の疾患の活動の土台になった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26280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1つの大学のWinで終わらせず、近隣大学・院内の他科・患者さんの流れまでWinを広げた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大学を「個」で見ず、エリアの1施設として影響の輪を設計した。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本日の3つ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情報は、仕分けた瞬間に意味を持つ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Fact・ウォンツ・ニーズ。どれかに置くだけで、次に何を聞くかが決まる。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ニーズまで降りれば、手段は選べる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ウォンツに応えるのが仕事ではない。仮説を立てて、4Sで解決策を選ぶ。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069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大学は、エリアの1施設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Triple Winをエリアまで広げると、同じ打ち手でも残るものが変わる。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75504"/>
            <a:ext cx="11109960" cy="102412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各自のFactを仕分けて、仮説を立てて、エリア攻略に。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大学PJで共有した活動を、明日からの担当エリアで活かしてください。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22199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⑨ 総括　｜　5分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総括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200" b="1" i="0">
                <a:solidFill>
                  <a:srgbClr val="262626"/>
                </a:solidFill>
                <a:latin typeface="Meiryo UI"/>
                <a:ea typeface="Meiryo UI"/>
              </a:rPr>
              <a:t>4回を通して、大学・基幹病院の担当として何が変わったか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27832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33688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仮説を立てる力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1110996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所長よりご総括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0515600" cy="141732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第3回では「どんな情報を、どこから取るか」を考えました。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第4回では、その情報を仕分け、仮説を立て、エリアの打ち手に変えました。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20440"/>
            <a:ext cx="10515600" cy="15544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大学担当者に求められるのは、大学の中だけを詳しく知ることではありません。</a:t>
            </a:r>
          </a:p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得た情報から仮説を立て、</a:t>
            </a:r>
            <a:r>
              <a:rPr sz="2100" b="1" i="0">
                <a:solidFill>
                  <a:srgbClr val="0B4F37"/>
                </a:solidFill>
                <a:latin typeface="Meiryo UI"/>
                <a:ea typeface="Meiryo UI"/>
              </a:rPr>
              <a:t>エリアの中でWinを広げられること。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明日から、担当施設のFactを1つ仕分けてみてください。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参考：ワーク① 仕分けの一例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唯一の正解ではありません。なぜそう置いたかを説明できることが目的です。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仮説の材料。単独では打ち手にならない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ウォンツ（手段）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① 関連病院向けにCKDの勉強会をやってほしい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〇〇大学の△△先生を研究会に呼んでほしい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「なぜ？」を重ねてニーズへ降りる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ニーズ（状態）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成功像になる。手段はここから選ぶ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⑥「全国に知ってもらいたい」は状態＝ニーズ。④「先生を呼んでほしい」は手段＝ウォンツ。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参考：考えられるFact（事実）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願望が入っていない、観察できる情報。ワーク②の材料としてお使いください。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施設・診療体制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40864"/>
            <a:ext cx="356616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・病床数／腎臓内科の規模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・年間の腎生検件数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・腎病理医の在籍・外部委託先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・透析ベッド数・導入数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・専門外来・カンファの有無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82880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患者・診療の実態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340864"/>
            <a:ext cx="356616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・対象疾患の患者数・疑い例数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・年齢・尿蛋白・eGFRの分布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・通院間隔・来院日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・指定難病の取得状況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・紹介元の分布と紹介時の病期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2880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人事・組織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340864"/>
            <a:ext cx="356616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・医局員数／専攻医の入局数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・医局長・外来主任・病棟主任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・関連病院への派遣先と人数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・退職・異動・開業の予定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・教授選・体制変更の時期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41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学術・発信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53712"/>
            <a:ext cx="356616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・所属学会／研究テーマ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・論文・学会発表の実績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・研究会の幹事・世話人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・来年の学会長・大会運営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・講演・登壇の履歴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4041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関係性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4553712"/>
            <a:ext cx="356616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・出身大学・同門・同年同卒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・共同研究の相手先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・誰に相談しているか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・他院からの紹介経路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・医師同士の師弟関係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4041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外部環境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4553712"/>
            <a:ext cx="356616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・県のCKD連携・紹介基準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・地域の医療圏と患者の流出入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・競合の動きと採用状況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・公開データ（ナビィ・事業報告書）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・研究会・地域連携の会の予定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217920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Factは「集めた」だけでは動けない。仮説の材料として、いくつかを線でつなぐ。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参考：ウォンツ → 考えられるニーズ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「なぜ？」を重ねると、こんなニーズが出てきます。仮説の入口としてお使いください。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92224"/>
            <a:ext cx="4754880" cy="402336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ウォンツ（言われた言葉）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792224"/>
            <a:ext cx="6217920" cy="402336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考えられるニーズ（満たされていない状態）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勉強会・説明会をやってほしい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0680" y="2267712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関連病院との接点を増やしたい／若手を育てたい／紹介を早めたい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51760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〇〇先生を研究会に呼んでほしい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651760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自分の会の格を上げたい／その先生と関係をつくりたい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35808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学会のスライド・文献が欲しい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0680" y="3035808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情報収集の時間がない／院内で説明する材料が要る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19856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症例をまとめたい・論文にしたい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3419856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業績が必要／専門医・学位／医局の評価を上げたい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03904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他施設の使用経験を知りたい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40680" y="3803904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自分の判断に自信を持ちたい／リスクを取りたくない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87952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若手を講演に出したい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4187952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教育実績を残したい／後任を育てたい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データを出してほしい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40680" y="4572000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院内の薬審・採用を通す根拠が要る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56048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症例検討会に来てほしい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40680" y="4956048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診断に迷っている／院内に相談相手がいない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340096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市民公開講座・患者会をやりたい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5340096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地域での認知を上げたい／患者紹介を増やしたい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24144"/>
            <a:ext cx="475488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全国に発信したい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40680" y="5724144"/>
            <a:ext cx="6217920" cy="36576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医局の存在感を高めたい／リクルートにつなげたい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6163056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同じウォンツでも、裏のニーズは施設によって違う。決めつけず、次の面談で確かめる。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7863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4S：エリア・施設の課題解決シート（配布用）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786384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施設（　　　　　）作成日（　／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1109960" cy="38404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【成功像】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36776"/>
            <a:ext cx="1110996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2834640" y="2468880"/>
            <a:ext cx="274320" cy="365760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52374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理想とのGAP洗い出し</a:t>
            </a:r>
          </a:p>
        </p:txBody>
      </p:sp>
      <p:sp>
        <p:nvSpPr>
          <p:cNvPr id="10" name="Up Arrow 9"/>
          <p:cNvSpPr/>
          <p:nvPr/>
        </p:nvSpPr>
        <p:spPr>
          <a:xfrm>
            <a:off x="8869680" y="2468880"/>
            <a:ext cx="274320" cy="365760"/>
          </a:xfrm>
          <a:prstGeom prst="up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25237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理想に近づくか検証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07792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【現状・課題】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10128"/>
            <a:ext cx="5486400" cy="1188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2834640" y="4553712"/>
            <a:ext cx="274320" cy="292608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572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その理由の深掘り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19472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【原因】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21808"/>
            <a:ext cx="5486400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2907792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【解決策】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310128"/>
            <a:ext cx="5486400" cy="2926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742432" y="5440680"/>
            <a:ext cx="365760" cy="27432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629107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ノバルティスのアクションで解決できそうなこと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当日の進行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・0-10 振り返り＋Triple Win Beyond／10-25 ワーク①＋仕分けの意義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・25-40 ワーク②＋4S／40-50 インタビュー／50-60 まとめ・総括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・レクチャーは合計20分。ワークと共有に30分を残す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ワーク①（10分）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・前半4分：例題①〜⑨を3つに仕分ける（15枚目の欄に番号を記入）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・後半6分：ウォンツからニーズを汲み取った経験を3〜4人で共有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・答え合わせは付録A。付録B・Cを投影して次のワークにつなげる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ワーク②（10分）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・自分の担当施設で。20枚目の仮説例・解決策例を残したまま進める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・21枚目の4Sシートに、仮説（原因）と解決策まで書き切る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・「なぜ？」は2回で十分。深追いしない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書記・記録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・17枚目・21枚目・25枚目が記録用スライド（そのまま入力可）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・ワーク①はウォンツ／ニーズ／変化の3列で拾う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・終了後、記録用スライドをTeamsへ格納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ワーク①の題材・記入例はすべて架空です。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