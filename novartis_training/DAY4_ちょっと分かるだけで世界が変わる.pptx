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■テーマ①「影響力を考える」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■テーマ②「影響の輪を考える」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37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737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3回の振り返り／今日の2つの視点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70632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テーマ①「影響力を考える」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70632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770632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03904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テーマ②「影響の輪を考える」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803904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803904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37176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837176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目指す状態／明日の一手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テーマ① 講義10 → ワーク10 → 共有5　　｜　　テーマ② 講義10 → ディスカッション15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45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成功像・現状・課題・解決法を言語化できる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① 影響力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誰が、何を動かせるのか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肩書きではなく「動かせるもの」で見る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テーマ①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42900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② 影響の輪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その力は、どこまで届くのか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187952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施設 → 関連病院 → エリア → その先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138928"/>
            <a:ext cx="118872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テーマ②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戦略的思考 ＝ 影響力を見極め、その輪をどこまで広げるかを決めること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・大学の3使命と医師派遣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・影響力はテリトリー×ニーズ（HP／HS）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・教授の裁量権／医局の集合体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誰が“何を動かせるか”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・カレンダー管理と行動ログ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・会う理由を設計し、次の約束を残す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動かせる人に“会える”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50592"/>
            <a:ext cx="3566160" cy="1783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・ドライ情報 × ウェット情報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・面会後は「なぜ」を分解して次へ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15968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その人のニーズが“分かる”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Meiryo UI"/>
                <a:ea typeface="Meiryo UI"/>
              </a:rPr>
              <a:t>この3つが揃うと、「影響力」が見える。</a:t>
            </a:r>
          </a:p>
          <a:p>
            <a:pPr algn="ctr"/>
            <a:r>
              <a:rPr sz="1500" b="0" i="0">
                <a:solidFill>
                  <a:srgbClr val="BFE8D2"/>
                </a:solidFill>
                <a:latin typeface="Meiryo UI"/>
                <a:ea typeface="Meiryo UI"/>
              </a:rPr>
              <a:t>今日は、それを戦略にします。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089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　｜　3分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111099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2500" b="1" i="0">
                <a:solidFill>
                  <a:srgbClr val="262626"/>
                </a:solidFill>
                <a:latin typeface="Meiryo UI"/>
                <a:ea typeface="Meiryo UI"/>
              </a:rPr>
              <a:t>この3回で、あなたの</a:t>
            </a:r>
            <a:r>
              <a:rPr sz="2500" b="1" i="0">
                <a:solidFill>
                  <a:srgbClr val="C00000"/>
                </a:solidFill>
                <a:latin typeface="Meiryo UI"/>
                <a:ea typeface="Meiryo UI"/>
              </a:rPr>
              <a:t>「大学の見方」</a:t>
            </a:r>
            <a:r>
              <a:rPr sz="2500" b="1" i="0">
                <a:solidFill>
                  <a:srgbClr val="262626"/>
                </a:solidFill>
                <a:latin typeface="Meiryo UI"/>
                <a:ea typeface="Meiryo UI"/>
              </a:rPr>
              <a:t>は変わりましたか？</a:t>
            </a:r>
          </a:p>
          <a:p>
            <a:pPr algn="ctr"/>
            <a:r>
              <a:rPr sz="2500" b="1" i="0">
                <a:solidFill>
                  <a:srgbClr val="262626"/>
                </a:solidFill>
                <a:latin typeface="Meiryo UI"/>
                <a:ea typeface="Meiryo UI"/>
              </a:rPr>
              <a:t>大学担当としての</a:t>
            </a:r>
            <a:r>
              <a:rPr sz="2500" b="1" i="0">
                <a:solidFill>
                  <a:srgbClr val="C00000"/>
                </a:solidFill>
                <a:latin typeface="Meiryo UI"/>
                <a:ea typeface="Meiryo UI"/>
              </a:rPr>
              <a:t>「自信」</a:t>
            </a:r>
            <a:r>
              <a:rPr sz="2500" b="1" i="0">
                <a:solidFill>
                  <a:srgbClr val="262626"/>
                </a:solidFill>
                <a:latin typeface="Meiryo UI"/>
                <a:ea typeface="Meiryo UI"/>
              </a:rPr>
              <a:t>はつきましたか？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468880"/>
            <a:ext cx="6126480" cy="640080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Teamsチャットへ、自由に書き込んでください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2044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大学に行くとき、以前と違うことは？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352044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会う人・聞くことは、変わった？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352044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まだ「分からない」と思うことは？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ひと言でOK。「あまり変わっていない」も歓迎です。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誰が、何を動かせるのか　｜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影響力を考える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あなたの担当施設で、「何かを動かせる人」は誰ですか？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DAY1の「“影響力”を紐解く」を、自分の担当施設で実際にやってみる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影響力は「肩書き」ではなく「何を動かせるか」で見る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DAY2で会えた人・DAY3で分かったニーズを、ここで結びつける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3172968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DAY1の復習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977639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HP（基幹病院）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2423160"/>
            <a:ext cx="3099815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2916936"/>
            <a:ext cx="3538727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0712"/>
            <a:ext cx="3977639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68496"/>
            <a:ext cx="3977639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ニーズ：紹介率を上げたい／関連病院と協働したい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828800"/>
            <a:ext cx="3977639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8071" y="2423160"/>
            <a:ext cx="3099815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28616" y="2916936"/>
            <a:ext cx="3538727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59" y="3410712"/>
            <a:ext cx="3977639" cy="411480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3968496"/>
            <a:ext cx="3977639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ニーズ：研修医が欲しい／論文を出したい／県内での存在感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828800"/>
            <a:ext cx="26517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GP（開業医）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423160"/>
            <a:ext cx="2651760" cy="2139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1000"/>
              </a:spcAft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今回は担当外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ただし患者の流れの起点として、エリアの絵には存在する</a:t>
            </a:r>
          </a:p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「担当する施設」と「エリアにある施設」は別モノ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0060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Meiryo UI"/>
                <a:ea typeface="Meiryo UI"/>
              </a:rPr>
              <a:t>テリトリーが違えば、ニーズも違う。ニーズが違えば、動かせるものも違う。</a:t>
            </a:r>
          </a:p>
          <a:p>
            <a:pPr algn="ctr"/>
            <a:r>
              <a:rPr sz="2400" b="1" i="0">
                <a:solidFill>
                  <a:srgbClr val="FFC000"/>
                </a:solidFill>
                <a:latin typeface="Meiryo UI"/>
                <a:ea typeface="Meiryo UI"/>
              </a:rPr>
              <a:t>「この先生は、何を動かせるのか？」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若手が数年後にエリアへ散る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学会・論文で外へ届く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症例が集まる・評価の場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07424" y="18288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23774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エリアの布陣が決まる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治療方針がエリアの標準に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200400"/>
            <a:ext cx="2697480" cy="5029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749039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地域の共通認識をつくる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7424" y="3200400"/>
            <a:ext cx="2551176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あなたの担当施設は</a:t>
            </a:r>
          </a:p>
          <a:p>
            <a:pPr algn="ctr"/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どれを動かせる？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教授の裁量権（DAY1）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 臨床機会の配分　② 医局人事・異動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③ 教授会・教授選　④ 研究・教育の方向性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＝ 教授は「処方者」ではなく、これらを動かせる人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09160"/>
            <a:ext cx="5486400" cy="15087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C00000"/>
                </a:solidFill>
                <a:latin typeface="Meiryo UI"/>
                <a:ea typeface="Meiryo UI"/>
              </a:rPr>
              <a:t>肩書きの落とし穴（DAY1）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病院教授・特任教授は「教授」でも動かせるものが違う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財源・任期・実権・医局への接続で見極める（付録D）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影響力は、1人に集中していない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28800"/>
            <a:ext cx="566928" cy="56692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8448" y="1828800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方針を決める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22191" y="1828800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治療方針が、この人の一言で決まる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505456"/>
            <a:ext cx="566928" cy="566928"/>
          </a:xfrm>
          <a:prstGeom prst="ellipse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2505456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DA574"/>
                </a:solidFill>
                <a:latin typeface="Meiryo UI"/>
                <a:ea typeface="Meiryo UI"/>
              </a:rPr>
              <a:t>最初に試す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2191" y="2505456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新しい治療を最初に使う。実務の中心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82112"/>
            <a:ext cx="566928" cy="566928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98448" y="3182112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B86A00"/>
                </a:solidFill>
                <a:latin typeface="Meiryo UI"/>
                <a:ea typeface="Meiryo UI"/>
              </a:rPr>
              <a:t>情報ハブ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182112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若手が困ったら聞きに行く。医局長に多い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3858768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連携の要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3858768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紹介患者の受け入れ・行き先を差配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35424"/>
            <a:ext cx="566928" cy="566928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98448" y="4535424"/>
            <a:ext cx="2377440" cy="566928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3B5C99"/>
                </a:solidFill>
                <a:latin typeface="Meiryo UI"/>
                <a:ea typeface="Meiryo UI"/>
              </a:rPr>
              <a:t>対外の顔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535424"/>
            <a:ext cx="44805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研究会・講演会で外に発信する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1828800"/>
            <a:ext cx="3154680" cy="3035808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DAY2・DAY3が効く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この5人を見分けるには、会って話すしかない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DAY2　会えるようになった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250" b="1" i="0">
                <a:solidFill>
                  <a:srgbClr val="BFE8D2"/>
                </a:solidFill>
                <a:latin typeface="Meiryo UI"/>
                <a:ea typeface="Meiryo UI"/>
              </a:rPr>
              <a:t>DAY3　ニーズが見えてきた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3回分の学びが、ここで1つに。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8"/>
            <a:ext cx="11109960" cy="10972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「この施設で、何かを動かせるのは誰か」を固有名詞で言えるか。</a:t>
            </a:r>
          </a:p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言えない場所が、次に会いに行く相手です。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担当施設の「影響力」を絵にする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371600" cy="9601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1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173736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担当する大学・基幹病院を、丸で描く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丸の大きさ＝あなたが感じる影響力。感覚でOK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39"/>
            <a:ext cx="1371600" cy="9601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STEP 2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2834639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丸の中に「動かせる人」を書く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誰が・何を動かせるか。役職や記号（◎○★◇□）だけでも可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7360920" cy="219456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1400"/>
              </a:spcAft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描けたら、ひとつだけ問いかけてください</a:t>
            </a:r>
          </a:p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あなたの絵で、</a:t>
            </a:r>
          </a:p>
          <a:p>
            <a:pPr algn="ctr">
              <a:spcAft>
                <a:spcPts val="1400"/>
              </a:spcAft>
            </a:pPr>
            <a:r>
              <a:rPr sz="2200" b="1" i="0">
                <a:solidFill>
                  <a:srgbClr val="C00000"/>
                </a:solidFill>
                <a:latin typeface="Meiryo UI"/>
                <a:ea typeface="Meiryo UI"/>
              </a:rPr>
              <a:t>大学は何番目に大きいですか？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一番でなくても構いません。それがエリアの実態です。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520440" cy="448056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0817" bIns="140817" lIns="201168" rIns="201168"/>
          <a:lstStyle/>
          <a:p>
            <a:pPr algn="ctr">
              <a:spcAft>
                <a:spcPts val="16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迷ったら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・重要そうな5〜6施設だけでOK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・人が出てこなければ役職だけで可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・大きさは「ここが動けばエリアが変わるか」で決める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BFE8D2"/>
                </a:solidFill>
                <a:latin typeface="Meiryo UI"/>
                <a:ea typeface="Meiryo UI"/>
              </a:rPr>
              <a:t>・分からないところは「？」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描いた絵を見せ合う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3〜4人1組。順番も型もありません。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960120" cy="7772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2697480"/>
            <a:ext cx="9966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一番大きい丸はどこ？　それはなぜ？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96012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3611880"/>
            <a:ext cx="9966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その施設で「動かせる人」は誰でしたか？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80"/>
            <a:ext cx="960120" cy="77724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40" y="4526280"/>
            <a:ext cx="9966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描いてみて、意外だったこと・困ったことは？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どれから話してもOK。人の話に乗っかるのも歓迎です。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その力は、どこまで届くのか　｜　25分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影響の輪を考える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その影響力は、どこまで届きますか？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影響の輪：施設の中 → 関連病院 → 担当エリア → 営業所・その先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大学に固執しない。輪が一番大きいのは大学とは限らない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輪を動かすには、相手のWINが要る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その力は、どこまで届くのか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1234440" y="1783079"/>
            <a:ext cx="3931920" cy="3931920"/>
          </a:xfrm>
          <a:prstGeom prst="ellipse">
            <a:avLst/>
          </a:prstGeom>
          <a:noFill/>
          <a:ln w="2286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20" y="2194559"/>
            <a:ext cx="3108960" cy="3108960"/>
          </a:xfrm>
          <a:prstGeom prst="ellipse">
            <a:avLst/>
          </a:prstGeom>
          <a:noFill/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57400" y="2606039"/>
            <a:ext cx="2286000" cy="2286000"/>
          </a:xfrm>
          <a:prstGeom prst="ellipse">
            <a:avLst/>
          </a:prstGeom>
          <a:noFill/>
          <a:ln w="2286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68880" y="3017520"/>
            <a:ext cx="1463040" cy="1463040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84708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① 施設の中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25856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② 関連病院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7004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3B5C99"/>
                </a:solidFill>
                <a:latin typeface="Meiryo UI"/>
                <a:ea typeface="Meiryo UI"/>
              </a:rPr>
              <a:t>③ 担当エリア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081527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④ その先</a:t>
            </a:r>
          </a:p>
        </p:txBody>
      </p:sp>
      <p:sp>
        <p:nvSpPr>
          <p:cNvPr id="14" name="Oval 13"/>
          <p:cNvSpPr/>
          <p:nvPr/>
        </p:nvSpPr>
        <p:spPr>
          <a:xfrm>
            <a:off x="2834640" y="3383279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DA574"/>
                </a:solidFill>
                <a:latin typeface="Meiryo UI"/>
                <a:ea typeface="Meiryo UI"/>
              </a:rPr>
              <a:t>① 施設の中まで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院内の方針・採用は動く。エリアには届かない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07208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28A54"/>
                </a:solidFill>
                <a:latin typeface="Meiryo UI"/>
                <a:ea typeface="Meiryo UI"/>
              </a:rPr>
              <a:t>② 関連病院まで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医局人事・派遣を通じて、系列に届く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831336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C99"/>
                </a:solidFill>
                <a:latin typeface="Meiryo UI"/>
                <a:ea typeface="Meiryo UI"/>
              </a:rPr>
              <a:t>③ 担当エリアまで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研究会・講演会・地域連携で、系列を越える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55464"/>
            <a:ext cx="5349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8813" bIns="108813" lIns="155448" rIns="155448"/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F3864"/>
                </a:solidFill>
                <a:latin typeface="Meiryo UI"/>
                <a:ea typeface="Meiryo UI"/>
              </a:rPr>
              <a:t>④ その先まで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学会・全国の研究会で、担当範囲を超える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70448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輪の大きさは、肩書きでは決まらない。　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あなたのエリアで、一番大きな輪を持つのは誰？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大学に固執しない — 大学はエリアの中の「1施設」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大学の輪が最大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08760" y="2907792"/>
            <a:ext cx="1097280" cy="10972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37307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822191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方針がエリア全体に波及。人事と発信が効く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3048" y="295351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5" name="Oval 14"/>
          <p:cNvSpPr/>
          <p:nvPr/>
        </p:nvSpPr>
        <p:spPr>
          <a:xfrm>
            <a:off x="5001768" y="3547872"/>
            <a:ext cx="914400" cy="91440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6" name="Oval 15"/>
          <p:cNvSpPr/>
          <p:nvPr/>
        </p:nvSpPr>
        <p:spPr>
          <a:xfrm>
            <a:off x="4636008" y="272491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1大学では動かない。共通する課題を探す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基幹病院の輪が最大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77456" y="2953512"/>
            <a:ext cx="1143000" cy="114300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913632"/>
            <a:ext cx="658368" cy="658368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2" name="Oval 21"/>
          <p:cNvSpPr/>
          <p:nvPr/>
        </p:nvSpPr>
        <p:spPr>
          <a:xfrm>
            <a:off x="8129016" y="3867912"/>
            <a:ext cx="603504" cy="603504"/>
          </a:xfrm>
          <a:prstGeom prst="ellipse">
            <a:avLst/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3B5C9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実務は基幹病院。大学は研究・教育で効かせる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1783080"/>
            <a:ext cx="2697480" cy="475488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輪がエリアを超える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2304288"/>
            <a:ext cx="2697480" cy="24688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907792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7" name="Oval 26"/>
          <p:cNvSpPr/>
          <p:nvPr/>
        </p:nvSpPr>
        <p:spPr>
          <a:xfrm>
            <a:off x="10981943" y="283464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8" name="Oval 27"/>
          <p:cNvSpPr/>
          <p:nvPr/>
        </p:nvSpPr>
        <p:spPr>
          <a:xfrm>
            <a:off x="11073384" y="3867912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07424" y="4864608"/>
            <a:ext cx="2697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営業所・全国への展開を考える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109960" cy="45720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「大学を軸としたエリア攻略」ではなく、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「エリアを動かすために、どの輪を使うか」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輪を動かすには、相手のWINが要る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3200400" cy="3200400"/>
          </a:xfrm>
          <a:prstGeom prst="ellipse">
            <a:avLst/>
          </a:prstGeom>
          <a:solidFill>
            <a:srgbClr val="3B5C99">
              <a:alpha val="22000"/>
            </a:srgbClr>
          </a:solidFill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651760" y="1920240"/>
            <a:ext cx="3200400" cy="3200400"/>
          </a:xfrm>
          <a:prstGeom prst="ellipse">
            <a:avLst/>
          </a:prstGeom>
          <a:solidFill>
            <a:srgbClr val="128A54">
              <a:alpha val="22000"/>
            </a:srgbClr>
          </a:solidFill>
          <a:ln w="2286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エリアで
実現したいこと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86000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大学・医局が
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20040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打ち手</a:t>
            </a:r>
          </a:p>
          <a:p>
            <a:pPr algn="ctr"/>
            <a:r>
              <a:rPr sz="1100" b="1" i="0">
                <a:solidFill>
                  <a:srgbClr val="C00000"/>
                </a:solidFill>
                <a:latin typeface="Meiryo UI"/>
                <a:ea typeface="Meiryo UI"/>
              </a:rPr>
              <a:t>はここ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重なりが大きいほど、相手は本気で動く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2024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腎臓内科の医局が「したいこと」の例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87168"/>
            <a:ext cx="548640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・専門性の高い症例を集めたい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・若手・専攻医を増やしたい、育てたい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・研究データを出したい・論文を書きたい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・関連病院との連携／派遣先を確保したい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・県内・地域での存在感を高めたい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・学会・研究会で発信したい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4864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DAY1で見た「HSのニーズ」そのもの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623560"/>
            <a:ext cx="11109960" cy="7315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「先生がやりたいこと」を叶えながら、「エリアで実現したいこと」も進む打ち手は何か？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エリアプランニング — 5つのステップ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エリアがどうなっていたら最高か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60904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07208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輪を選ぶ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誰の・どの輪を使うと届くか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19472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WINを重ねる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その先生は何をしたいか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8040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24344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情報を取る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確かめるために何を聞くか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36608" y="193852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82912" y="178308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やって、直す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2912" y="2395728"/>
            <a:ext cx="2084831" cy="8686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違っていたら成功像も直す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01568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情報から考えるのではなく、成功像から逆算する。DAY3の「取り方」に「取りに行く理由」が加わります。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94760"/>
            <a:ext cx="111099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例：複数の大学があるエリア（架空）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201168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4224528"/>
            <a:ext cx="9006840" cy="38404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エリアの基幹病院でも、専門治療が必要な患者さんが適切に見極められている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54296"/>
            <a:ext cx="201168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② 輪を選ぶ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4654296"/>
            <a:ext cx="9006840" cy="384048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A大学教授＝県内の研究会で発信（③の輪）／B大学＝関連病院に強い（②の輪）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84064"/>
            <a:ext cx="201168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③ WINを重ねる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084064"/>
            <a:ext cx="9006840" cy="38404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A大学＝県内での存在感／B大学＝関連病院との連携強化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13831"/>
            <a:ext cx="2011680" cy="38404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④ 情報を取る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5513831"/>
            <a:ext cx="9006840" cy="38404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両大学の関係性は？　研究会の世話人は？　基幹病院部長の出身医局は？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43599"/>
            <a:ext cx="2011680" cy="38404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⑤ 打ち手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51760" y="5943599"/>
            <a:ext cx="9006840" cy="384048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両大学と主要基幹病院が同席する会。判断の目安を両大学の連名で発信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エリアプランニングを、みんなで考える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50" b="1" i="0">
                <a:solidFill>
                  <a:srgbClr val="0B4F37"/>
                </a:solidFill>
                <a:latin typeface="Meiryo UI"/>
                <a:ea typeface="Meiryo UI"/>
              </a:rPr>
              <a:t>1人でメモ 5分　→　グループでディスカッション 10分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2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9888" y="2606040"/>
            <a:ext cx="1026871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一番大きな「影響の輪」を持っているのは誰・どの施設？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大学とは限りません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75304"/>
            <a:ext cx="640080" cy="64008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Q2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9888" y="3502152"/>
            <a:ext cx="1026871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その輪を、どこまで広げたいですか？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施設の中？　関連病院まで？　エリア全体？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471416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Q3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89888" y="4398264"/>
            <a:ext cx="1026871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その先生・医局に、何を提供できそうですか？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思いつかなければ「分からない」で十分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C00000"/>
                </a:solidFill>
                <a:latin typeface="Meiryo UI"/>
                <a:ea typeface="Meiryo UI"/>
              </a:rPr>
              <a:t>答えが出なくても構いません。</a:t>
            </a:r>
            <a:r>
              <a:rPr sz="1450" b="0" i="0">
                <a:solidFill>
                  <a:srgbClr val="262626"/>
                </a:solidFill>
                <a:latin typeface="Meiryo UI"/>
                <a:ea typeface="Meiryo UI"/>
              </a:rPr>
              <a:t>　「ここが分からない」と気づけたら十分です。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Meiryo UI"/>
                <a:ea typeface="Meiryo UI"/>
              </a:rPr>
              <a:t>「うまくいった」「難しかった」という実体験も歓迎です。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大学担当者として、目指す状態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13258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600"/>
              </a:spcAft>
            </a:pPr>
            <a:r>
              <a:rPr sz="27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27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そのために、大学の影響力をこう使います」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2084831" cy="118872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01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どの施設を優先するか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7208" y="3200400"/>
            <a:ext cx="2084831" cy="118872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02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大学と基幹病院をどう組むか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3200400"/>
            <a:ext cx="2084831" cy="118872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03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誰の影響力を使うか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3200400"/>
            <a:ext cx="2084831" cy="118872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04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どの情報を取りに行くか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82912" y="3200400"/>
            <a:ext cx="2084831" cy="118872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05</a:t>
            </a:r>
          </a:p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どんな施策を打つか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6634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一施設の担当者ではなく、営業所・営業部に近い視座で。</a:t>
            </a:r>
          </a:p>
          <a:p>
            <a:pPr algn="ctr"/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指示された活動をこなす人ではなく、エリアに責任を持ち、活動を設計・提案できる人へ。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687568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BFE8D2"/>
                </a:solidFill>
                <a:latin typeface="Meiryo UI"/>
                <a:ea typeface="Meiryo UI"/>
              </a:rPr>
              <a:t>会社の方針や予算の制約はある。それでもエリアを理解していれば、</a:t>
            </a: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「こちらの施策のほうが成果につながります」と提案できる。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誰が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動かせるか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178308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影響力は「肩書き」ではなく「何を動かせるか」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◎方針／○最初に試す／★情報ハブ／◇連携の要／□対外の顔。1人とは限らない。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どこまで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届くか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292608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影響の輪で見る。大学に固執しない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施設の中／関連病院／担当エリア／その先。一番大きいのは大学とは限らない。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どう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動かすか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4069080"/>
            <a:ext cx="9418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相手のWINと重ねる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エリアで実現したいことと、医局がしたいことが重なるところに打ち手を置く。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300" b="1" i="0">
                <a:solidFill>
                  <a:srgbClr val="FFC000"/>
                </a:solidFill>
                <a:latin typeface="Meiryo UI"/>
                <a:ea typeface="Meiryo UI"/>
              </a:rPr>
              <a:t>一度、大学という枠を外して、自分のエリアを眺めてみる。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行動宣言 — 明日からの一手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「明日やること」を1つだけ選び、チャットへ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1371600" cy="7315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例①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017520"/>
            <a:ext cx="9646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絵で「？」にしたところを、来週の面会で1つ確認する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86200"/>
            <a:ext cx="1371600" cy="7315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例②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886200"/>
            <a:ext cx="9646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A大学の医局長に、いま力を入れたいことを聞いてみる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54880"/>
            <a:ext cx="1371600" cy="7315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例③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754880"/>
            <a:ext cx="9646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500" b="0" i="0">
                <a:solidFill>
                  <a:srgbClr val="262626"/>
                </a:solidFill>
                <a:latin typeface="Meiryo UI"/>
                <a:ea typeface="Meiryo UI"/>
              </a:rPr>
              <a:t>描いた絵を上司に見せて、施設の優先順位を相談する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6928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コツは「電話1本サイズ」に割ること。最初の一歩が小さいほど、実行されます。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1089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4回シリーズ、おつかれさまでした。ここからが本番です。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10378440" cy="105156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「このエリアは、自分に任せてください。</a:t>
            </a:r>
          </a:p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そのために、大学の影響力をこう使います」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担当施設の「影響力」を描く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8138160" cy="420624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6420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私の担当エリア（　　　　　　　　　　　　　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2996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丸の大きさ＝あなたが感じる影響力の大きさ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5544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丸の中に書くこと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施設名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動かせる人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□ 動かせるもの</a:t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BFE8D2"/>
                </a:solidFill>
                <a:latin typeface="Meiryo UI"/>
                <a:ea typeface="Meiryo UI"/>
              </a:rPr>
              <a:t>□ 分からないところは「？」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657600"/>
            <a:ext cx="2743200" cy="210312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10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役割の記号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◎　方針を決める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○　最初に試す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★　情報ハブ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◇　連携の要</a:t>
            </a:r>
          </a:p>
          <a:p>
            <a:pPr algn="l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□　対外の顔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動かせるもの：教育／研究／臨床／医局人事／医師派遣／情報発信／講演会・研究会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エリアプランニングを考える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エリア名（　　　　　　　　　　）　作成日（　　／　　）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　—　エリアがどうなっていたら最高か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9514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10512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輪を選ぶ　—　誰の・どの輪を使うと届くか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95144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WINを重ねる　—　その先生・医局は何をしたいか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3075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情報を取る　—　確かめるために何を聞くか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30752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81728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打ち手　—　何を起こすか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6636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681728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＋ 明日、まず何をするか（1つだけ）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16636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9788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主語は「エリア」か　　□ 使う輪を決めたか　　□ 相手のWINを書けたか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・大学の3使命：教育・研究・臨床。医師派遣で地域を支える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・影響力はテリトリーとニーズで決まる（GP／HP／HS）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・教授の裁量権：臨床機会・医局人事・教授選・研究教育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で設計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・アクセス：訪問ルール確認・秘書経由・メール・手紙・直接訪問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・カレンダーで情報管理し、行動ログで検証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・会う理由を設計し次の約束を残す。My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04288"/>
            <a:ext cx="356616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・ウェット情報：面会・他Dr・社内他領域・MS・HCP・雑談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66928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この3つが揃って初めて「影響力」が見え、「影響の輪」を設計できる。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方針・人事の最終決定者。多忙で現場の細部は下が握ることも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実務の要であり次期教授候補。関係構築は先行投資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医局の雑務・人事、行事の窓口。教授の信頼が厚く影響力大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実処方と臨床研究の担い手。数年後は関連病院の幹部へ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677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臨床・病院運営に強い。採用・薬審には効くが医局人事権は別のことも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821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寄附講座・外部資金による任用。研究・講演に強いが医局人事は限定的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0965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本務は他施設。院内の決定権は限定的だがネットワークのハブに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5010912"/>
            <a:ext cx="5486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現役の決定権はない。人脈・影響力は健在。研究会の重鎮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4360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見極めの5点：① 財源　② 任期　③ 実権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874519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訪問・面会・資材配布のルールは施設ごとに違う。迷ったら守りに倒す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770632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その場で約束しない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770632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寄附金・広告協賛の依頼は即答せず、必ず社内の申請・審査手続きへ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66744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現行の文書で確認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666744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「前任者がやっていた」は根拠にならない。薬審・採用は施設ごとに毎回確認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62856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自己判断しない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562856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基準はプロモーションコードと社内SOP。迷ったら相談してから動く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58968"/>
            <a:ext cx="3291840" cy="8046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5458968"/>
            <a:ext cx="7680960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依頼・回答・手続きの経緯を記録に。先生と自分の両方を守る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617220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・事前案内：A4白紙1枚とペンを持参、担当施設を思い出してくる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・テーマ① 講義10・ワーク10・共有5／テーマ② 講義10・ディスカッション15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・チェックインは進行役が最初に投稿する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・「大学が一番大きくない絵」が出たら全体に紹介する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・テーマ②は発表会にしない。各室を1周し、止まった部屋にQを振る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・絵が描けない → 重要そうな5施設だけ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・正解がなくて戸惑う → 4パターンのスライドに戻る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・Q3が出ない → 「相手が何をしたいか、まだ知らないだけ」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締め方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・Beyondは全員必達にしない。考え方の紹介として置く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・「大学の枠を外す」体験の持ち帰りを優先する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・シリーズ全体の感想を1言ずつ集めて終える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093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