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402" r:id="rId3"/>
    <p:sldId id="499" r:id="rId4"/>
    <p:sldId id="400" r:id="rId5"/>
    <p:sldId id="393" r:id="rId6"/>
    <p:sldId id="394" r:id="rId7"/>
    <p:sldId id="399" r:id="rId8"/>
    <p:sldId id="396" r:id="rId9"/>
    <p:sldId id="500" r:id="rId16"/>
    <p:sldId id="501" r:id="rId17"/>
    <p:sldId id="502" r:id="rId18"/>
    <p:sldId id="503" r:id="rId19"/>
    <p:sldId id="504" r:id="rId20"/>
    <p:sldId id="505" r:id="rId21"/>
    <p:sldId id="506" r:id="rId22"/>
    <p:sldId id="507" r:id="rId23"/>
    <p:sldId id="508" r:id="rId24"/>
    <p:sldId id="509" r:id="rId25"/>
    <p:sldId id="510" r:id="rId26"/>
    <p:sldId id="511" r:id="rId27"/>
    <p:sldId id="512" r:id="rId28"/>
    <p:sldId id="513" r:id="rId29"/>
    <p:sldId id="514" r:id="rId30"/>
    <p:sldId id="515" r:id="rId31"/>
    <p:sldId id="516" r:id="rId32"/>
    <p:sldId id="517" r:id="rId33"/>
    <p:sldId id="518" r:id="rId34"/>
    <p:sldId id="519" r:id="rId35"/>
    <p:sldId id="520" r:id="rId36"/>
    <p:sldId id="521" r:id="rId37"/>
    <p:sldId id="522" r:id="rId38"/>
    <p:sldId id="523" r:id="rId39"/>
    <p:sldId id="524" r:id="rId40"/>
    <p:sldId id="525" r:id="rId41"/>
    <p:sldId id="526" r:id="rId42"/>
    <p:sldId id="527" r:id="rId43"/>
    <p:sldId id="528" r:id="rId44"/>
    <p:sldId id="529" r:id="rId45"/>
    <p:sldId id="530" r:id="rId4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D533AA-C579-1C45-BEA3-440ECA50460C}" v="3" dt="2026-07-27T11:46:49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microsoft.com/office/2016/11/relationships/changesInfo" Target="changesInfos/changesInfo1.xml"/><Relationship Id="rId5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拓也 井上" userId="36cefa26ecca6a8b" providerId="LiveId" clId="{654E1465-D65A-515B-9566-95ABAE39F78F}"/>
    <pc:docChg chg="undo custSel addSld delSld modSld">
      <pc:chgData name="拓也 井上" userId="36cefa26ecca6a8b" providerId="LiveId" clId="{654E1465-D65A-515B-9566-95ABAE39F78F}" dt="2026-07-27T11:49:06.077" v="36" actId="1038"/>
      <pc:docMkLst>
        <pc:docMk/>
      </pc:docMkLst>
      <pc:sldChg chg="addSp delSp modSp add del mod">
        <pc:chgData name="拓也 井上" userId="36cefa26ecca6a8b" providerId="LiveId" clId="{654E1465-D65A-515B-9566-95ABAE39F78F}" dt="2026-07-27T11:49:06.077" v="36" actId="1038"/>
        <pc:sldMkLst>
          <pc:docMk/>
          <pc:sldMk cId="2656205384" sldId="393"/>
        </pc:sldMkLst>
        <pc:spChg chg="del">
          <ac:chgData name="拓也 井上" userId="36cefa26ecca6a8b" providerId="LiveId" clId="{654E1465-D65A-515B-9566-95ABAE39F78F}" dt="2026-07-27T11:48:17.748" v="13" actId="478"/>
          <ac:spMkLst>
            <pc:docMk/>
            <pc:sldMk cId="2656205384" sldId="393"/>
            <ac:spMk id="7" creationId="{68A3AD31-DDFC-BA89-25E8-B71709CCAB51}"/>
          </ac:spMkLst>
        </pc:spChg>
        <pc:spChg chg="add mod">
          <ac:chgData name="拓也 井上" userId="36cefa26ecca6a8b" providerId="LiveId" clId="{654E1465-D65A-515B-9566-95ABAE39F78F}" dt="2026-07-27T11:49:06.077" v="36" actId="1038"/>
          <ac:spMkLst>
            <pc:docMk/>
            <pc:sldMk cId="2656205384" sldId="393"/>
            <ac:spMk id="12" creationId="{14366105-51EE-2A58-66B0-3AD72D6C0221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78351639" sldId="394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641085143" sldId="396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007888129" sldId="399"/>
        </pc:sldMkLst>
      </pc:sldChg>
      <pc:sldChg chg="modSp add del mod">
        <pc:chgData name="拓也 井上" userId="36cefa26ecca6a8b" providerId="LiveId" clId="{654E1465-D65A-515B-9566-95ABAE39F78F}" dt="2026-07-27T11:46:49.443" v="4"/>
        <pc:sldMkLst>
          <pc:docMk/>
          <pc:sldMk cId="2697407459" sldId="400"/>
        </pc:sldMkLst>
        <pc:spChg chg="mod">
          <ac:chgData name="拓也 井上" userId="36cefa26ecca6a8b" providerId="LiveId" clId="{654E1465-D65A-515B-9566-95ABAE39F78F}" dt="2026-07-27T11:46:49.402" v="3"/>
          <ac:spMkLst>
            <pc:docMk/>
            <pc:sldMk cId="2697407459" sldId="400"/>
            <ac:spMk id="17" creationId="{C23B6A35-B6F0-D784-4F8B-1364DB108CD7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248841499" sldId="402"/>
        </pc:sldMkLst>
      </pc:sldChg>
      <pc:sldChg chg="modSp add del mod">
        <pc:chgData name="拓也 井上" userId="36cefa26ecca6a8b" providerId="LiveId" clId="{654E1465-D65A-515B-9566-95ABAE39F78F}" dt="2026-07-27T11:47:08.564" v="12" actId="20577"/>
        <pc:sldMkLst>
          <pc:docMk/>
          <pc:sldMk cId="2501997366" sldId="499"/>
        </pc:sldMkLst>
        <pc:spChg chg="mod">
          <ac:chgData name="拓也 井上" userId="36cefa26ecca6a8b" providerId="LiveId" clId="{654E1465-D65A-515B-9566-95ABAE39F78F}" dt="2026-07-27T11:47:08.564" v="12" actId="20577"/>
          <ac:spMkLst>
            <pc:docMk/>
            <pc:sldMk cId="2501997366" sldId="499"/>
            <ac:spMk id="17" creationId="{FADAD954-F788-17B4-4954-5A19C0C37BD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B85529-F70A-4750-9FED-7F46D522D6CB}" type="doc">
      <dgm:prSet loTypeId="urn:microsoft.com/office/officeart/2024/layout/NumberedTitleCardList#1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BB8186F1-4D8D-4F1C-8A3F-E9750182C3BC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F6A3CC97-B1D0-4568-B79D-73B7C3DB2F4E}" type="parTrans" cxnId="{0FC7696E-A495-41B7-8A91-10453AA05F10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6642FE9-9D8B-4BF9-9AE6-A4B052F3EA2B}" type="sibTrans" cxnId="{0FC7696E-A495-41B7-8A91-10453AA05F10}">
      <dgm:prSet phldrT="01" phldr="0"/>
      <dgm:spPr/>
      <dgm:t>
        <a:bodyPr/>
        <a:lstStyle/>
        <a:p>
          <a:r>
            <a: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gm:t>
    </dgm:pt>
    <dgm:pt modelId="{9D4579C2-549C-4E36-ADCD-807A30AC87BF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03E57B4E-B8DB-4AD7-8B18-C53DDE978EFE}" type="parTrans" cxnId="{A5DC40A2-DD3E-4991-96C9-326DF2FCB6D5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27929EAD-6052-41FF-8B67-AF7D936E0390}" type="sibTrans" cxnId="{A5DC40A2-DD3E-4991-96C9-326DF2FCB6D5}">
      <dgm:prSet phldrT="02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gm:t>
    </dgm:pt>
    <dgm:pt modelId="{32783916-157E-4466-ADD3-4068200EA9E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gm:t>
    </dgm:pt>
    <dgm:pt modelId="{4F7CFC40-7992-40F5-B54F-DA5CD7B59DA4}" type="parTrans" cxnId="{138E49BB-DDA7-475D-A4DA-F829546D1563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681992B0-7757-4550-BF07-EC8C3E6B5591}" type="sibTrans" cxnId="{138E49BB-DDA7-475D-A4DA-F829546D1563}">
      <dgm:prSet phldrT="03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gm:t>
    </dgm:pt>
    <dgm:pt modelId="{2958E64B-E2FC-4C7C-B297-C0822142C871}">
      <dgm:prSet phldrT="[テキスト]"/>
      <dgm:spPr/>
      <dgm:t>
        <a:bodyPr/>
        <a:lstStyle/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206639D-6D46-480A-8AFF-4CEC78AF0F4C}" type="parTrans" cxnId="{E55A6F15-C820-428A-9A9D-CF867ED99AB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FE0B7CE-5D13-4E42-813E-15AF889D9106}" type="sibTrans" cxnId="{E55A6F15-C820-428A-9A9D-CF867ED99ABD}">
      <dgm:prSet phldrT="04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gm:t>
    </dgm:pt>
    <dgm:pt modelId="{7B6B7B79-4675-40F5-887D-ECCA77238154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gm:t>
    </dgm:pt>
    <dgm:pt modelId="{797B3C42-55B6-416C-B23F-C20DD9AEC73F}" type="parTrans" cxnId="{4A205C94-32E3-4FB5-904B-45B85854154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DEEDE36-5E15-4EB3-9060-FB728839363A}" type="sibTrans" cxnId="{4A205C94-32E3-4FB5-904B-45B85854154D}">
      <dgm:prSet phldrT="05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gm:t>
    </dgm:pt>
    <dgm:pt modelId="{48F22D86-A0F2-47FB-A49B-EA81CC2DED9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83A5E9FE-F64E-4640-AFEF-B94FEEE5333B}" type="parTrans" cxnId="{8CA5681B-E089-4EF1-A39F-A2C04042A906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92B2BAFB-2ECA-4E40-9F20-0A1C56B0A416}" type="sibTrans" cxnId="{8CA5681B-E089-4EF1-A39F-A2C04042A906}">
      <dgm:prSet phldrT="06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gm:t>
    </dgm:pt>
    <dgm:pt modelId="{3CAD313A-0762-434E-855A-3186959C14E0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gm:t>
    </dgm:pt>
    <dgm:pt modelId="{CD6B353A-A339-41E3-8D60-670A3EE8CF9F}" type="parTrans" cxnId="{FB14B0D2-36DA-4ECC-90EC-8A6B1896F341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1C86B84-C6B4-4FAA-A4E0-62E8EE799ED5}" type="sibTrans" cxnId="{FB14B0D2-36DA-4ECC-90EC-8A6B1896F341}">
      <dgm:prSet phldrT="07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gm:t>
    </dgm:pt>
    <dgm:pt modelId="{AADE4A29-391E-4656-A93A-5061E8E0368F}" type="pres">
      <dgm:prSet presAssocID="{03B85529-F70A-4750-9FED-7F46D522D6CB}" presName="Name0" presStyleCnt="0">
        <dgm:presLayoutVars>
          <dgm:dir/>
          <dgm:animLvl val="lvl"/>
          <dgm:resizeHandles val="exact"/>
        </dgm:presLayoutVars>
      </dgm:prSet>
      <dgm:spPr/>
    </dgm:pt>
    <dgm:pt modelId="{B38823E7-9137-4844-AA39-54F585FDB7E4}" type="pres">
      <dgm:prSet presAssocID="{BB8186F1-4D8D-4F1C-8A3F-E9750182C3BC}" presName="compositeNode" presStyleCnt="0">
        <dgm:presLayoutVars>
          <dgm:bulletEnabled val="1"/>
        </dgm:presLayoutVars>
      </dgm:prSet>
      <dgm:spPr/>
    </dgm:pt>
    <dgm:pt modelId="{A080688E-08E3-435C-85E6-43689A127273}" type="pres">
      <dgm:prSet presAssocID="{BB8186F1-4D8D-4F1C-8A3F-E9750182C3BC}" presName="bgRect" presStyleLbl="fgAcc1" presStyleIdx="0" presStyleCnt="7"/>
      <dgm:spPr/>
    </dgm:pt>
    <dgm:pt modelId="{0E8EE4A5-58D7-41AC-B6B1-D0B65540F95D}" type="pres">
      <dgm:prSet presAssocID="{B6642FE9-9D8B-4BF9-9AE6-A4B052F3EA2B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87C6D550-2CD4-498A-A034-951E2B3FDB38}" type="pres">
      <dgm:prSet presAssocID="{BB8186F1-4D8D-4F1C-8A3F-E9750182C3BC}" presName="nodeRect" presStyleLbl="parChTrans1D1" presStyleIdx="0" presStyleCnt="0">
        <dgm:presLayoutVars>
          <dgm:bulletEnabled val="1"/>
        </dgm:presLayoutVars>
      </dgm:prSet>
      <dgm:spPr/>
    </dgm:pt>
    <dgm:pt modelId="{BCDA101A-9E87-4180-AC8A-9FAE60C973E4}" type="pres">
      <dgm:prSet presAssocID="{B6642FE9-9D8B-4BF9-9AE6-A4B052F3EA2B}" presName="sibTrans" presStyleCnt="0"/>
      <dgm:spPr/>
    </dgm:pt>
    <dgm:pt modelId="{2B4FB054-DD74-446B-ABAE-BE513872EDB7}" type="pres">
      <dgm:prSet presAssocID="{9D4579C2-549C-4E36-ADCD-807A30AC87BF}" presName="compositeNode" presStyleCnt="0">
        <dgm:presLayoutVars>
          <dgm:bulletEnabled val="1"/>
        </dgm:presLayoutVars>
      </dgm:prSet>
      <dgm:spPr/>
    </dgm:pt>
    <dgm:pt modelId="{4C6D55FC-7AFE-450D-A3F6-B289CC98E468}" type="pres">
      <dgm:prSet presAssocID="{9D4579C2-549C-4E36-ADCD-807A30AC87BF}" presName="bgRect" presStyleLbl="fgAcc1" presStyleIdx="1" presStyleCnt="7"/>
      <dgm:spPr/>
    </dgm:pt>
    <dgm:pt modelId="{7FF21B61-C7E6-4652-A878-8116A44B181B}" type="pres">
      <dgm:prSet presAssocID="{27929EAD-6052-41FF-8B67-AF7D936E0390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0790A5DC-F788-4527-BBA6-914092D8CA6D}" type="pres">
      <dgm:prSet presAssocID="{9D4579C2-549C-4E36-ADCD-807A30AC87BF}" presName="nodeRect" presStyleLbl="parChTrans1D1" presStyleIdx="0" presStyleCnt="0">
        <dgm:presLayoutVars>
          <dgm:bulletEnabled val="1"/>
        </dgm:presLayoutVars>
      </dgm:prSet>
      <dgm:spPr/>
    </dgm:pt>
    <dgm:pt modelId="{021298B4-4532-40C2-AC2D-FFA843FEFEDE}" type="pres">
      <dgm:prSet presAssocID="{27929EAD-6052-41FF-8B67-AF7D936E0390}" presName="sibTrans" presStyleCnt="0"/>
      <dgm:spPr/>
    </dgm:pt>
    <dgm:pt modelId="{C48E5267-E899-4805-8855-EBF8129FB628}" type="pres">
      <dgm:prSet presAssocID="{32783916-157E-4466-ADD3-4068200EA9E7}" presName="compositeNode" presStyleCnt="0">
        <dgm:presLayoutVars>
          <dgm:bulletEnabled val="1"/>
        </dgm:presLayoutVars>
      </dgm:prSet>
      <dgm:spPr/>
    </dgm:pt>
    <dgm:pt modelId="{B2551D55-18D2-464C-89E7-029111DAA796}" type="pres">
      <dgm:prSet presAssocID="{32783916-157E-4466-ADD3-4068200EA9E7}" presName="bgRect" presStyleLbl="fgAcc1" presStyleIdx="2" presStyleCnt="7"/>
      <dgm:spPr/>
    </dgm:pt>
    <dgm:pt modelId="{31D3F57C-87CF-476C-938B-28015F23DEB9}" type="pres">
      <dgm:prSet presAssocID="{681992B0-7757-4550-BF07-EC8C3E6B5591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300EDA17-CD19-4B1B-AC1C-4FB3552FD21D}" type="pres">
      <dgm:prSet presAssocID="{32783916-157E-4466-ADD3-4068200EA9E7}" presName="nodeRect" presStyleLbl="parChTrans1D1" presStyleIdx="0" presStyleCnt="0">
        <dgm:presLayoutVars>
          <dgm:bulletEnabled val="1"/>
        </dgm:presLayoutVars>
      </dgm:prSet>
      <dgm:spPr/>
    </dgm:pt>
    <dgm:pt modelId="{0E31BCB4-A0D0-4BD9-B929-10F05905872C}" type="pres">
      <dgm:prSet presAssocID="{681992B0-7757-4550-BF07-EC8C3E6B5591}" presName="sibTrans" presStyleCnt="0"/>
      <dgm:spPr/>
    </dgm:pt>
    <dgm:pt modelId="{63C68671-1A05-4F50-A485-48293A6929C4}" type="pres">
      <dgm:prSet presAssocID="{2958E64B-E2FC-4C7C-B297-C0822142C871}" presName="compositeNode" presStyleCnt="0">
        <dgm:presLayoutVars>
          <dgm:bulletEnabled val="1"/>
        </dgm:presLayoutVars>
      </dgm:prSet>
      <dgm:spPr/>
    </dgm:pt>
    <dgm:pt modelId="{B64A6869-3771-41CE-BD3A-30479DBC0A06}" type="pres">
      <dgm:prSet presAssocID="{2958E64B-E2FC-4C7C-B297-C0822142C871}" presName="bgRect" presStyleLbl="fgAcc1" presStyleIdx="3" presStyleCnt="7"/>
      <dgm:spPr/>
    </dgm:pt>
    <dgm:pt modelId="{8D4D5760-C982-4AC0-AD41-50FEA18DA049}" type="pres">
      <dgm:prSet presAssocID="{AFE0B7CE-5D13-4E42-813E-15AF889D910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043F631-B4D5-481E-BCE4-7A82C4D084BF}" type="pres">
      <dgm:prSet presAssocID="{2958E64B-E2FC-4C7C-B297-C0822142C871}" presName="nodeRect" presStyleLbl="parChTrans1D1" presStyleIdx="0" presStyleCnt="0">
        <dgm:presLayoutVars>
          <dgm:bulletEnabled val="1"/>
        </dgm:presLayoutVars>
      </dgm:prSet>
      <dgm:spPr/>
    </dgm:pt>
    <dgm:pt modelId="{48AF6C25-0289-4699-9CDE-2F1C0AFE0A4E}" type="pres">
      <dgm:prSet presAssocID="{AFE0B7CE-5D13-4E42-813E-15AF889D9106}" presName="sibTrans" presStyleCnt="0"/>
      <dgm:spPr/>
    </dgm:pt>
    <dgm:pt modelId="{4E3888B3-0FA1-4FA9-95A5-4DF05C7DA07C}" type="pres">
      <dgm:prSet presAssocID="{7B6B7B79-4675-40F5-887D-ECCA77238154}" presName="compositeNode" presStyleCnt="0">
        <dgm:presLayoutVars>
          <dgm:bulletEnabled val="1"/>
        </dgm:presLayoutVars>
      </dgm:prSet>
      <dgm:spPr/>
    </dgm:pt>
    <dgm:pt modelId="{8093F356-20E1-4280-BC99-9887605E6BCF}" type="pres">
      <dgm:prSet presAssocID="{7B6B7B79-4675-40F5-887D-ECCA77238154}" presName="bgRect" presStyleLbl="fgAcc1" presStyleIdx="4" presStyleCnt="7"/>
      <dgm:spPr/>
    </dgm:pt>
    <dgm:pt modelId="{9B4DE1DC-8E0E-4FF0-8126-A90761FF94F0}" type="pres">
      <dgm:prSet presAssocID="{ADEEDE36-5E15-4EB3-9060-FB728839363A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2DA0C161-3273-4843-B4CE-3364F74BA688}" type="pres">
      <dgm:prSet presAssocID="{7B6B7B79-4675-40F5-887D-ECCA77238154}" presName="nodeRect" presStyleLbl="parChTrans1D1" presStyleIdx="0" presStyleCnt="0">
        <dgm:presLayoutVars>
          <dgm:bulletEnabled val="1"/>
        </dgm:presLayoutVars>
      </dgm:prSet>
      <dgm:spPr/>
    </dgm:pt>
    <dgm:pt modelId="{7D385B09-08CE-49DE-B671-9895980686E6}" type="pres">
      <dgm:prSet presAssocID="{ADEEDE36-5E15-4EB3-9060-FB728839363A}" presName="sibTrans" presStyleCnt="0"/>
      <dgm:spPr/>
    </dgm:pt>
    <dgm:pt modelId="{D60B1E5F-DCB4-452E-B977-1E00122E3505}" type="pres">
      <dgm:prSet presAssocID="{48F22D86-A0F2-47FB-A49B-EA81CC2DED97}" presName="compositeNode" presStyleCnt="0">
        <dgm:presLayoutVars>
          <dgm:bulletEnabled val="1"/>
        </dgm:presLayoutVars>
      </dgm:prSet>
      <dgm:spPr/>
    </dgm:pt>
    <dgm:pt modelId="{5EA9B79B-7FD2-40C6-8CD8-187B6D8BFABA}" type="pres">
      <dgm:prSet presAssocID="{48F22D86-A0F2-47FB-A49B-EA81CC2DED97}" presName="bgRect" presStyleLbl="fgAcc1" presStyleIdx="5" presStyleCnt="7"/>
      <dgm:spPr/>
    </dgm:pt>
    <dgm:pt modelId="{18C7778A-3502-4516-A4B2-37F2693F96FB}" type="pres">
      <dgm:prSet presAssocID="{92B2BAFB-2ECA-4E40-9F20-0A1C56B0A41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CEA0F690-C043-4D0A-920D-D240FD4E560C}" type="pres">
      <dgm:prSet presAssocID="{48F22D86-A0F2-47FB-A49B-EA81CC2DED97}" presName="nodeRect" presStyleLbl="parChTrans1D1" presStyleIdx="0" presStyleCnt="0">
        <dgm:presLayoutVars>
          <dgm:bulletEnabled val="1"/>
        </dgm:presLayoutVars>
      </dgm:prSet>
      <dgm:spPr/>
    </dgm:pt>
    <dgm:pt modelId="{47334656-510F-4C4A-A861-0EB2C7CF394B}" type="pres">
      <dgm:prSet presAssocID="{92B2BAFB-2ECA-4E40-9F20-0A1C56B0A416}" presName="sibTrans" presStyleCnt="0"/>
      <dgm:spPr/>
    </dgm:pt>
    <dgm:pt modelId="{46BCA9A9-37C0-490E-8ECA-920B9802916A}" type="pres">
      <dgm:prSet presAssocID="{3CAD313A-0762-434E-855A-3186959C14E0}" presName="compositeNode" presStyleCnt="0">
        <dgm:presLayoutVars>
          <dgm:bulletEnabled val="1"/>
        </dgm:presLayoutVars>
      </dgm:prSet>
      <dgm:spPr/>
    </dgm:pt>
    <dgm:pt modelId="{CA888CED-7953-4585-B4D7-05B747E4FE8C}" type="pres">
      <dgm:prSet presAssocID="{3CAD313A-0762-434E-855A-3186959C14E0}" presName="bgRect" presStyleLbl="fgAcc1" presStyleIdx="6" presStyleCnt="7"/>
      <dgm:spPr/>
    </dgm:pt>
    <dgm:pt modelId="{C2F5A284-C492-4399-A874-2766E85D6E32}" type="pres">
      <dgm:prSet presAssocID="{B1C86B84-C6B4-4FAA-A4E0-62E8EE799ED5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29D5C8E-5096-4FDE-9C30-25E7639153F0}" type="pres">
      <dgm:prSet presAssocID="{3CAD313A-0762-434E-855A-3186959C14E0}" presName="nodeRect" presStyleLbl="parChTrans1D1" presStyleIdx="0" presStyleCnt="0">
        <dgm:presLayoutVars>
          <dgm:bulletEnabled val="1"/>
        </dgm:presLayoutVars>
      </dgm:prSet>
      <dgm:spPr/>
    </dgm:pt>
  </dgm:ptLst>
  <dgm:cxnLst>
    <dgm:cxn modelId="{B5F03114-6906-44CE-ABDD-C6FAFBA09AD4}" type="presOf" srcId="{32783916-157E-4466-ADD3-4068200EA9E7}" destId="{300EDA17-CD19-4B1B-AC1C-4FB3552FD21D}" srcOrd="1" destOrd="0" presId="urn:microsoft.com/office/officeart/2024/layout/NumberedTitleCardList#1"/>
    <dgm:cxn modelId="{E55A6F15-C820-428A-9A9D-CF867ED99ABD}" srcId="{03B85529-F70A-4750-9FED-7F46D522D6CB}" destId="{2958E64B-E2FC-4C7C-B297-C0822142C871}" srcOrd="3" destOrd="0" parTransId="{0206639D-6D46-480A-8AFF-4CEC78AF0F4C}" sibTransId="{AFE0B7CE-5D13-4E42-813E-15AF889D9106}"/>
    <dgm:cxn modelId="{8CA5681B-E089-4EF1-A39F-A2C04042A906}" srcId="{03B85529-F70A-4750-9FED-7F46D522D6CB}" destId="{48F22D86-A0F2-47FB-A49B-EA81CC2DED97}" srcOrd="5" destOrd="0" parTransId="{83A5E9FE-F64E-4640-AFEF-B94FEEE5333B}" sibTransId="{92B2BAFB-2ECA-4E40-9F20-0A1C56B0A416}"/>
    <dgm:cxn modelId="{3B1BD61C-D74A-4F8A-99FF-612AB3B5999F}" type="presOf" srcId="{2958E64B-E2FC-4C7C-B297-C0822142C871}" destId="{7043F631-B4D5-481E-BCE4-7A82C4D084BF}" srcOrd="1" destOrd="0" presId="urn:microsoft.com/office/officeart/2024/layout/NumberedTitleCardList#1"/>
    <dgm:cxn modelId="{ED1FDB2D-61D5-44A2-972F-5353DA8D0020}" type="presOf" srcId="{48F22D86-A0F2-47FB-A49B-EA81CC2DED97}" destId="{5EA9B79B-7FD2-40C6-8CD8-187B6D8BFABA}" srcOrd="0" destOrd="0" presId="urn:microsoft.com/office/officeart/2024/layout/NumberedTitleCardList#1"/>
    <dgm:cxn modelId="{2161CA39-8CAC-4EE4-BA72-ECE8D4184165}" type="presOf" srcId="{BB8186F1-4D8D-4F1C-8A3F-E9750182C3BC}" destId="{87C6D550-2CD4-498A-A034-951E2B3FDB38}" srcOrd="1" destOrd="0" presId="urn:microsoft.com/office/officeart/2024/layout/NumberedTitleCardList#1"/>
    <dgm:cxn modelId="{67F4FD39-4F68-467D-9B97-49DCF89B4E82}" type="presOf" srcId="{9D4579C2-549C-4E36-ADCD-807A30AC87BF}" destId="{0790A5DC-F788-4527-BBA6-914092D8CA6D}" srcOrd="1" destOrd="0" presId="urn:microsoft.com/office/officeart/2024/layout/NumberedTitleCardList#1"/>
    <dgm:cxn modelId="{C414144A-8394-465D-A1B9-F7257D10E5AE}" type="presOf" srcId="{32783916-157E-4466-ADD3-4068200EA9E7}" destId="{B2551D55-18D2-464C-89E7-029111DAA796}" srcOrd="0" destOrd="0" presId="urn:microsoft.com/office/officeart/2024/layout/NumberedTitleCardList#1"/>
    <dgm:cxn modelId="{6CCFB252-1A65-40C2-B25A-7DE6311C5E68}" type="presOf" srcId="{ADEEDE36-5E15-4EB3-9060-FB728839363A}" destId="{9B4DE1DC-8E0E-4FF0-8126-A90761FF94F0}" srcOrd="0" destOrd="0" presId="urn:microsoft.com/office/officeart/2024/layout/NumberedTitleCardList#1"/>
    <dgm:cxn modelId="{F46F2356-35EE-472A-A9A2-834443A7B303}" type="presOf" srcId="{AFE0B7CE-5D13-4E42-813E-15AF889D9106}" destId="{8D4D5760-C982-4AC0-AD41-50FEA18DA049}" srcOrd="0" destOrd="0" presId="urn:microsoft.com/office/officeart/2024/layout/NumberedTitleCardList#1"/>
    <dgm:cxn modelId="{D1ABE361-A9A1-49DF-A275-7927F77C29FE}" type="presOf" srcId="{2958E64B-E2FC-4C7C-B297-C0822142C871}" destId="{B64A6869-3771-41CE-BD3A-30479DBC0A06}" srcOrd="0" destOrd="0" presId="urn:microsoft.com/office/officeart/2024/layout/NumberedTitleCardList#1"/>
    <dgm:cxn modelId="{0FC7696E-A495-41B7-8A91-10453AA05F10}" srcId="{03B85529-F70A-4750-9FED-7F46D522D6CB}" destId="{BB8186F1-4D8D-4F1C-8A3F-E9750182C3BC}" srcOrd="0" destOrd="0" parTransId="{F6A3CC97-B1D0-4568-B79D-73B7C3DB2F4E}" sibTransId="{B6642FE9-9D8B-4BF9-9AE6-A4B052F3EA2B}"/>
    <dgm:cxn modelId="{15DE5C77-F847-4D1C-A337-DC38FE7E71C5}" type="presOf" srcId="{92B2BAFB-2ECA-4E40-9F20-0A1C56B0A416}" destId="{18C7778A-3502-4516-A4B2-37F2693F96FB}" srcOrd="0" destOrd="0" presId="urn:microsoft.com/office/officeart/2024/layout/NumberedTitleCardList#1"/>
    <dgm:cxn modelId="{0ED3F680-3595-4824-AEF4-95A663B0A7BD}" type="presOf" srcId="{3CAD313A-0762-434E-855A-3186959C14E0}" destId="{729D5C8E-5096-4FDE-9C30-25E7639153F0}" srcOrd="1" destOrd="0" presId="urn:microsoft.com/office/officeart/2024/layout/NumberedTitleCardList#1"/>
    <dgm:cxn modelId="{E7FA7682-FECD-48AA-833D-A2E257C42B71}" type="presOf" srcId="{7B6B7B79-4675-40F5-887D-ECCA77238154}" destId="{8093F356-20E1-4280-BC99-9887605E6BCF}" srcOrd="0" destOrd="0" presId="urn:microsoft.com/office/officeart/2024/layout/NumberedTitleCardList#1"/>
    <dgm:cxn modelId="{5FE23586-851F-4A48-93C0-F1E24C891715}" type="presOf" srcId="{681992B0-7757-4550-BF07-EC8C3E6B5591}" destId="{31D3F57C-87CF-476C-938B-28015F23DEB9}" srcOrd="0" destOrd="0" presId="urn:microsoft.com/office/officeart/2024/layout/NumberedTitleCardList#1"/>
    <dgm:cxn modelId="{4A205C94-32E3-4FB5-904B-45B85854154D}" srcId="{03B85529-F70A-4750-9FED-7F46D522D6CB}" destId="{7B6B7B79-4675-40F5-887D-ECCA77238154}" srcOrd="4" destOrd="0" parTransId="{797B3C42-55B6-416C-B23F-C20DD9AEC73F}" sibTransId="{ADEEDE36-5E15-4EB3-9060-FB728839363A}"/>
    <dgm:cxn modelId="{A5DC40A2-DD3E-4991-96C9-326DF2FCB6D5}" srcId="{03B85529-F70A-4750-9FED-7F46D522D6CB}" destId="{9D4579C2-549C-4E36-ADCD-807A30AC87BF}" srcOrd="1" destOrd="0" parTransId="{03E57B4E-B8DB-4AD7-8B18-C53DDE978EFE}" sibTransId="{27929EAD-6052-41FF-8B67-AF7D936E0390}"/>
    <dgm:cxn modelId="{138E49BB-DDA7-475D-A4DA-F829546D1563}" srcId="{03B85529-F70A-4750-9FED-7F46D522D6CB}" destId="{32783916-157E-4466-ADD3-4068200EA9E7}" srcOrd="2" destOrd="0" parTransId="{4F7CFC40-7992-40F5-B54F-DA5CD7B59DA4}" sibTransId="{681992B0-7757-4550-BF07-EC8C3E6B5591}"/>
    <dgm:cxn modelId="{692BFFC8-BF40-4048-852D-B61969B400D0}" type="presOf" srcId="{48F22D86-A0F2-47FB-A49B-EA81CC2DED97}" destId="{CEA0F690-C043-4D0A-920D-D240FD4E560C}" srcOrd="1" destOrd="0" presId="urn:microsoft.com/office/officeart/2024/layout/NumberedTitleCardList#1"/>
    <dgm:cxn modelId="{D027AECA-C5B9-4040-8D63-639188DF1FFA}" type="presOf" srcId="{03B85529-F70A-4750-9FED-7F46D522D6CB}" destId="{AADE4A29-391E-4656-A93A-5061E8E0368F}" srcOrd="0" destOrd="0" presId="urn:microsoft.com/office/officeart/2024/layout/NumberedTitleCardList#1"/>
    <dgm:cxn modelId="{FB14B0D2-36DA-4ECC-90EC-8A6B1896F341}" srcId="{03B85529-F70A-4750-9FED-7F46D522D6CB}" destId="{3CAD313A-0762-434E-855A-3186959C14E0}" srcOrd="6" destOrd="0" parTransId="{CD6B353A-A339-41E3-8D60-670A3EE8CF9F}" sibTransId="{B1C86B84-C6B4-4FAA-A4E0-62E8EE799ED5}"/>
    <dgm:cxn modelId="{238497D4-5BA8-462D-B151-D11D923CD1CF}" type="presOf" srcId="{3CAD313A-0762-434E-855A-3186959C14E0}" destId="{CA888CED-7953-4585-B4D7-05B747E4FE8C}" srcOrd="0" destOrd="0" presId="urn:microsoft.com/office/officeart/2024/layout/NumberedTitleCardList#1"/>
    <dgm:cxn modelId="{3B80A1D8-9071-4AFC-8C71-5D8A8B1E082F}" type="presOf" srcId="{27929EAD-6052-41FF-8B67-AF7D936E0390}" destId="{7FF21B61-C7E6-4652-A878-8116A44B181B}" srcOrd="0" destOrd="0" presId="urn:microsoft.com/office/officeart/2024/layout/NumberedTitleCardList#1"/>
    <dgm:cxn modelId="{7896DFDA-8EDE-4B0D-BD20-CA1E53F15D6D}" type="presOf" srcId="{B1C86B84-C6B4-4FAA-A4E0-62E8EE799ED5}" destId="{C2F5A284-C492-4399-A874-2766E85D6E32}" srcOrd="0" destOrd="0" presId="urn:microsoft.com/office/officeart/2024/layout/NumberedTitleCardList#1"/>
    <dgm:cxn modelId="{E10615DE-B173-4258-B52F-70DBE0B7AEDD}" type="presOf" srcId="{9D4579C2-549C-4E36-ADCD-807A30AC87BF}" destId="{4C6D55FC-7AFE-450D-A3F6-B289CC98E468}" srcOrd="0" destOrd="0" presId="urn:microsoft.com/office/officeart/2024/layout/NumberedTitleCardList#1"/>
    <dgm:cxn modelId="{FF575BE4-AF07-4E27-A325-E7E3CA3BF70A}" type="presOf" srcId="{7B6B7B79-4675-40F5-887D-ECCA77238154}" destId="{2DA0C161-3273-4843-B4CE-3364F74BA688}" srcOrd="1" destOrd="0" presId="urn:microsoft.com/office/officeart/2024/layout/NumberedTitleCardList#1"/>
    <dgm:cxn modelId="{78A1FEE5-C5F5-43AD-8D5B-1070EC698489}" type="presOf" srcId="{B6642FE9-9D8B-4BF9-9AE6-A4B052F3EA2B}" destId="{0E8EE4A5-58D7-41AC-B6B1-D0B65540F95D}" srcOrd="0" destOrd="0" presId="urn:microsoft.com/office/officeart/2024/layout/NumberedTitleCardList#1"/>
    <dgm:cxn modelId="{86AE48EC-E411-4C44-B62A-47653866E70A}" type="presOf" srcId="{BB8186F1-4D8D-4F1C-8A3F-E9750182C3BC}" destId="{A080688E-08E3-435C-85E6-43689A127273}" srcOrd="0" destOrd="0" presId="urn:microsoft.com/office/officeart/2024/layout/NumberedTitleCardList#1"/>
    <dgm:cxn modelId="{24D42230-A82C-45B3-9ED4-35FA0A7DE135}" type="presParOf" srcId="{AADE4A29-391E-4656-A93A-5061E8E0368F}" destId="{B38823E7-9137-4844-AA39-54F585FDB7E4}" srcOrd="0" destOrd="0" presId="urn:microsoft.com/office/officeart/2024/layout/NumberedTitleCardList#1"/>
    <dgm:cxn modelId="{DDAC9509-4BB9-4DC1-98E2-58C8DD926FCB}" type="presParOf" srcId="{B38823E7-9137-4844-AA39-54F585FDB7E4}" destId="{A080688E-08E3-435C-85E6-43689A127273}" srcOrd="0" destOrd="0" presId="urn:microsoft.com/office/officeart/2024/layout/NumberedTitleCardList#1"/>
    <dgm:cxn modelId="{8D8EA4FB-72E6-466D-8BF6-1342986E6045}" type="presParOf" srcId="{B38823E7-9137-4844-AA39-54F585FDB7E4}" destId="{0E8EE4A5-58D7-41AC-B6B1-D0B65540F95D}" srcOrd="1" destOrd="0" presId="urn:microsoft.com/office/officeart/2024/layout/NumberedTitleCardList#1"/>
    <dgm:cxn modelId="{C88A516D-337D-42FC-B813-2E0469434AE4}" type="presParOf" srcId="{B38823E7-9137-4844-AA39-54F585FDB7E4}" destId="{87C6D550-2CD4-498A-A034-951E2B3FDB38}" srcOrd="2" destOrd="0" presId="urn:microsoft.com/office/officeart/2024/layout/NumberedTitleCardList#1"/>
    <dgm:cxn modelId="{BACD3B3D-4E35-4D23-BBF7-AF0CD8CF5BD2}" type="presParOf" srcId="{AADE4A29-391E-4656-A93A-5061E8E0368F}" destId="{BCDA101A-9E87-4180-AC8A-9FAE60C973E4}" srcOrd="1" destOrd="0" presId="urn:microsoft.com/office/officeart/2024/layout/NumberedTitleCardList#1"/>
    <dgm:cxn modelId="{D6F449D0-329F-4761-8A1C-48C2FBC6BC9C}" type="presParOf" srcId="{AADE4A29-391E-4656-A93A-5061E8E0368F}" destId="{2B4FB054-DD74-446B-ABAE-BE513872EDB7}" srcOrd="2" destOrd="0" presId="urn:microsoft.com/office/officeart/2024/layout/NumberedTitleCardList#1"/>
    <dgm:cxn modelId="{F7CB3DCA-3BCA-4122-B290-7241458B7BFF}" type="presParOf" srcId="{2B4FB054-DD74-446B-ABAE-BE513872EDB7}" destId="{4C6D55FC-7AFE-450D-A3F6-B289CC98E468}" srcOrd="0" destOrd="0" presId="urn:microsoft.com/office/officeart/2024/layout/NumberedTitleCardList#1"/>
    <dgm:cxn modelId="{A36475E9-5983-4513-977E-8CFBD00C5D18}" type="presParOf" srcId="{2B4FB054-DD74-446B-ABAE-BE513872EDB7}" destId="{7FF21B61-C7E6-4652-A878-8116A44B181B}" srcOrd="1" destOrd="0" presId="urn:microsoft.com/office/officeart/2024/layout/NumberedTitleCardList#1"/>
    <dgm:cxn modelId="{82DA02AC-CE69-4FC1-8BDF-FE8EBB662E08}" type="presParOf" srcId="{2B4FB054-DD74-446B-ABAE-BE513872EDB7}" destId="{0790A5DC-F788-4527-BBA6-914092D8CA6D}" srcOrd="2" destOrd="0" presId="urn:microsoft.com/office/officeart/2024/layout/NumberedTitleCardList#1"/>
    <dgm:cxn modelId="{E7666053-9E47-434F-805C-2288F87650A8}" type="presParOf" srcId="{AADE4A29-391E-4656-A93A-5061E8E0368F}" destId="{021298B4-4532-40C2-AC2D-FFA843FEFEDE}" srcOrd="3" destOrd="0" presId="urn:microsoft.com/office/officeart/2024/layout/NumberedTitleCardList#1"/>
    <dgm:cxn modelId="{E3E06BFD-6D20-46FB-A381-33361E653239}" type="presParOf" srcId="{AADE4A29-391E-4656-A93A-5061E8E0368F}" destId="{C48E5267-E899-4805-8855-EBF8129FB628}" srcOrd="4" destOrd="0" presId="urn:microsoft.com/office/officeart/2024/layout/NumberedTitleCardList#1"/>
    <dgm:cxn modelId="{48935F18-8897-4D7C-B5FC-D2B15FF83F5A}" type="presParOf" srcId="{C48E5267-E899-4805-8855-EBF8129FB628}" destId="{B2551D55-18D2-464C-89E7-029111DAA796}" srcOrd="0" destOrd="0" presId="urn:microsoft.com/office/officeart/2024/layout/NumberedTitleCardList#1"/>
    <dgm:cxn modelId="{E1ACCF95-0756-499B-9D9C-78F19641B17B}" type="presParOf" srcId="{C48E5267-E899-4805-8855-EBF8129FB628}" destId="{31D3F57C-87CF-476C-938B-28015F23DEB9}" srcOrd="1" destOrd="0" presId="urn:microsoft.com/office/officeart/2024/layout/NumberedTitleCardList#1"/>
    <dgm:cxn modelId="{FEFEAE85-A1A7-4AE1-B592-B929479260E8}" type="presParOf" srcId="{C48E5267-E899-4805-8855-EBF8129FB628}" destId="{300EDA17-CD19-4B1B-AC1C-4FB3552FD21D}" srcOrd="2" destOrd="0" presId="urn:microsoft.com/office/officeart/2024/layout/NumberedTitleCardList#1"/>
    <dgm:cxn modelId="{4BF4C83A-8993-4829-9448-EE43CA7EDADB}" type="presParOf" srcId="{AADE4A29-391E-4656-A93A-5061E8E0368F}" destId="{0E31BCB4-A0D0-4BD9-B929-10F05905872C}" srcOrd="5" destOrd="0" presId="urn:microsoft.com/office/officeart/2024/layout/NumberedTitleCardList#1"/>
    <dgm:cxn modelId="{9598DC4F-A3B0-4B4F-B469-8B3625D94339}" type="presParOf" srcId="{AADE4A29-391E-4656-A93A-5061E8E0368F}" destId="{63C68671-1A05-4F50-A485-48293A6929C4}" srcOrd="6" destOrd="0" presId="urn:microsoft.com/office/officeart/2024/layout/NumberedTitleCardList#1"/>
    <dgm:cxn modelId="{43BD6248-BA10-4072-814D-DD631079279E}" type="presParOf" srcId="{63C68671-1A05-4F50-A485-48293A6929C4}" destId="{B64A6869-3771-41CE-BD3A-30479DBC0A06}" srcOrd="0" destOrd="0" presId="urn:microsoft.com/office/officeart/2024/layout/NumberedTitleCardList#1"/>
    <dgm:cxn modelId="{292CE510-F060-4E86-9F80-5B0C05D06598}" type="presParOf" srcId="{63C68671-1A05-4F50-A485-48293A6929C4}" destId="{8D4D5760-C982-4AC0-AD41-50FEA18DA049}" srcOrd="1" destOrd="0" presId="urn:microsoft.com/office/officeart/2024/layout/NumberedTitleCardList#1"/>
    <dgm:cxn modelId="{B8C0A15B-971C-4E19-8080-4CB738FC304A}" type="presParOf" srcId="{63C68671-1A05-4F50-A485-48293A6929C4}" destId="{7043F631-B4D5-481E-BCE4-7A82C4D084BF}" srcOrd="2" destOrd="0" presId="urn:microsoft.com/office/officeart/2024/layout/NumberedTitleCardList#1"/>
    <dgm:cxn modelId="{2B1E60E0-3F33-4F35-A374-2CC9AEADFDB2}" type="presParOf" srcId="{AADE4A29-391E-4656-A93A-5061E8E0368F}" destId="{48AF6C25-0289-4699-9CDE-2F1C0AFE0A4E}" srcOrd="7" destOrd="0" presId="urn:microsoft.com/office/officeart/2024/layout/NumberedTitleCardList#1"/>
    <dgm:cxn modelId="{339D8686-1E9A-466A-945C-9DD819371D56}" type="presParOf" srcId="{AADE4A29-391E-4656-A93A-5061E8E0368F}" destId="{4E3888B3-0FA1-4FA9-95A5-4DF05C7DA07C}" srcOrd="8" destOrd="0" presId="urn:microsoft.com/office/officeart/2024/layout/NumberedTitleCardList#1"/>
    <dgm:cxn modelId="{56032845-6C01-4F85-BDA4-9A696DC02BE1}" type="presParOf" srcId="{4E3888B3-0FA1-4FA9-95A5-4DF05C7DA07C}" destId="{8093F356-20E1-4280-BC99-9887605E6BCF}" srcOrd="0" destOrd="0" presId="urn:microsoft.com/office/officeart/2024/layout/NumberedTitleCardList#1"/>
    <dgm:cxn modelId="{80FD2F69-7C15-4090-94B9-EA64A462FF1F}" type="presParOf" srcId="{4E3888B3-0FA1-4FA9-95A5-4DF05C7DA07C}" destId="{9B4DE1DC-8E0E-4FF0-8126-A90761FF94F0}" srcOrd="1" destOrd="0" presId="urn:microsoft.com/office/officeart/2024/layout/NumberedTitleCardList#1"/>
    <dgm:cxn modelId="{9D2AF02F-110B-4DBD-B510-A05A5EEC5A73}" type="presParOf" srcId="{4E3888B3-0FA1-4FA9-95A5-4DF05C7DA07C}" destId="{2DA0C161-3273-4843-B4CE-3364F74BA688}" srcOrd="2" destOrd="0" presId="urn:microsoft.com/office/officeart/2024/layout/NumberedTitleCardList#1"/>
    <dgm:cxn modelId="{FA99D3C3-94D8-48DB-BF6B-0637E1B0AEE0}" type="presParOf" srcId="{AADE4A29-391E-4656-A93A-5061E8E0368F}" destId="{7D385B09-08CE-49DE-B671-9895980686E6}" srcOrd="9" destOrd="0" presId="urn:microsoft.com/office/officeart/2024/layout/NumberedTitleCardList#1"/>
    <dgm:cxn modelId="{5C5ACB08-CAF2-45A7-B4E8-66247441823D}" type="presParOf" srcId="{AADE4A29-391E-4656-A93A-5061E8E0368F}" destId="{D60B1E5F-DCB4-452E-B977-1E00122E3505}" srcOrd="10" destOrd="0" presId="urn:microsoft.com/office/officeart/2024/layout/NumberedTitleCardList#1"/>
    <dgm:cxn modelId="{D1567079-B6E2-45FC-BBEA-AD5371D9EE0A}" type="presParOf" srcId="{D60B1E5F-DCB4-452E-B977-1E00122E3505}" destId="{5EA9B79B-7FD2-40C6-8CD8-187B6D8BFABA}" srcOrd="0" destOrd="0" presId="urn:microsoft.com/office/officeart/2024/layout/NumberedTitleCardList#1"/>
    <dgm:cxn modelId="{34B98DCC-5DFD-4B07-A694-4605AE6F71EE}" type="presParOf" srcId="{D60B1E5F-DCB4-452E-B977-1E00122E3505}" destId="{18C7778A-3502-4516-A4B2-37F2693F96FB}" srcOrd="1" destOrd="0" presId="urn:microsoft.com/office/officeart/2024/layout/NumberedTitleCardList#1"/>
    <dgm:cxn modelId="{E12F7E1F-94F1-47EA-9606-9A98E717E2A6}" type="presParOf" srcId="{D60B1E5F-DCB4-452E-B977-1E00122E3505}" destId="{CEA0F690-C043-4D0A-920D-D240FD4E560C}" srcOrd="2" destOrd="0" presId="urn:microsoft.com/office/officeart/2024/layout/NumberedTitleCardList#1"/>
    <dgm:cxn modelId="{0395AB8E-DE44-4F83-A28D-00121C842E91}" type="presParOf" srcId="{AADE4A29-391E-4656-A93A-5061E8E0368F}" destId="{47334656-510F-4C4A-A861-0EB2C7CF394B}" srcOrd="11" destOrd="0" presId="urn:microsoft.com/office/officeart/2024/layout/NumberedTitleCardList#1"/>
    <dgm:cxn modelId="{D9E016CD-B6FE-4F5C-9AD7-C83DAE3CE633}" type="presParOf" srcId="{AADE4A29-391E-4656-A93A-5061E8E0368F}" destId="{46BCA9A9-37C0-490E-8ECA-920B9802916A}" srcOrd="12" destOrd="0" presId="urn:microsoft.com/office/officeart/2024/layout/NumberedTitleCardList#1"/>
    <dgm:cxn modelId="{4C88D6CA-95FA-4595-996F-849F8F6E1525}" type="presParOf" srcId="{46BCA9A9-37C0-490E-8ECA-920B9802916A}" destId="{CA888CED-7953-4585-B4D7-05B747E4FE8C}" srcOrd="0" destOrd="0" presId="urn:microsoft.com/office/officeart/2024/layout/NumberedTitleCardList#1"/>
    <dgm:cxn modelId="{110988EC-66F1-4BE5-8B49-1EE167084CC1}" type="presParOf" srcId="{46BCA9A9-37C0-490E-8ECA-920B9802916A}" destId="{C2F5A284-C492-4399-A874-2766E85D6E32}" srcOrd="1" destOrd="0" presId="urn:microsoft.com/office/officeart/2024/layout/NumberedTitleCardList#1"/>
    <dgm:cxn modelId="{29BA53A6-6E18-4640-A891-096DB4BC026B}" type="presParOf" srcId="{46BCA9A9-37C0-490E-8ECA-920B9802916A}" destId="{729D5C8E-5096-4FDE-9C30-25E7639153F0}" srcOrd="2" destOrd="0" presId="urn:microsoft.com/office/officeart/2024/layout/NumberedTitleCardList#1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80688E-08E3-435C-85E6-43689A127273}">
      <dsp:nvSpPr>
        <dsp:cNvPr id="0" name=""/>
        <dsp:cNvSpPr/>
      </dsp:nvSpPr>
      <dsp:spPr>
        <a:xfrm>
          <a:off x="6337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6337" y="2527723"/>
        <a:ext cx="1561526" cy="1124298"/>
      </dsp:txXfrm>
    </dsp:sp>
    <dsp:sp modelId="{0E8EE4A5-58D7-41AC-B6B1-D0B65540F95D}">
      <dsp:nvSpPr>
        <dsp:cNvPr id="0" name=""/>
        <dsp:cNvSpPr/>
      </dsp:nvSpPr>
      <dsp:spPr>
        <a:xfrm>
          <a:off x="6337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sp:txBody>
      <dsp:txXfrm>
        <a:off x="6337" y="1778190"/>
        <a:ext cx="1561526" cy="749532"/>
      </dsp:txXfrm>
    </dsp:sp>
    <dsp:sp modelId="{4C6D55FC-7AFE-450D-A3F6-B289CC98E468}">
      <dsp:nvSpPr>
        <dsp:cNvPr id="0" name=""/>
        <dsp:cNvSpPr/>
      </dsp:nvSpPr>
      <dsp:spPr>
        <a:xfrm>
          <a:off x="1692785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1692785" y="2527723"/>
        <a:ext cx="1561526" cy="1124298"/>
      </dsp:txXfrm>
    </dsp:sp>
    <dsp:sp modelId="{7FF21B61-C7E6-4652-A878-8116A44B181B}">
      <dsp:nvSpPr>
        <dsp:cNvPr id="0" name=""/>
        <dsp:cNvSpPr/>
      </dsp:nvSpPr>
      <dsp:spPr>
        <a:xfrm>
          <a:off x="1692785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sp:txBody>
      <dsp:txXfrm>
        <a:off x="1692785" y="1778190"/>
        <a:ext cx="1561526" cy="749532"/>
      </dsp:txXfrm>
    </dsp:sp>
    <dsp:sp modelId="{B2551D55-18D2-464C-89E7-029111DAA796}">
      <dsp:nvSpPr>
        <dsp:cNvPr id="0" name=""/>
        <dsp:cNvSpPr/>
      </dsp:nvSpPr>
      <dsp:spPr>
        <a:xfrm>
          <a:off x="3379233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sp:txBody>
      <dsp:txXfrm>
        <a:off x="3379233" y="2527723"/>
        <a:ext cx="1561526" cy="1124298"/>
      </dsp:txXfrm>
    </dsp:sp>
    <dsp:sp modelId="{31D3F57C-87CF-476C-938B-28015F23DEB9}">
      <dsp:nvSpPr>
        <dsp:cNvPr id="0" name=""/>
        <dsp:cNvSpPr/>
      </dsp:nvSpPr>
      <dsp:spPr>
        <a:xfrm>
          <a:off x="3379233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sp:txBody>
      <dsp:txXfrm>
        <a:off x="3379233" y="1778190"/>
        <a:ext cx="1561526" cy="749532"/>
      </dsp:txXfrm>
    </dsp:sp>
    <dsp:sp modelId="{B64A6869-3771-41CE-BD3A-30479DBC0A06}">
      <dsp:nvSpPr>
        <dsp:cNvPr id="0" name=""/>
        <dsp:cNvSpPr/>
      </dsp:nvSpPr>
      <dsp:spPr>
        <a:xfrm>
          <a:off x="5065681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5065681" y="2527723"/>
        <a:ext cx="1561526" cy="1124298"/>
      </dsp:txXfrm>
    </dsp:sp>
    <dsp:sp modelId="{8D4D5760-C982-4AC0-AD41-50FEA18DA049}">
      <dsp:nvSpPr>
        <dsp:cNvPr id="0" name=""/>
        <dsp:cNvSpPr/>
      </dsp:nvSpPr>
      <dsp:spPr>
        <a:xfrm>
          <a:off x="5065681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sp:txBody>
      <dsp:txXfrm>
        <a:off x="5065681" y="1778190"/>
        <a:ext cx="1561526" cy="749532"/>
      </dsp:txXfrm>
    </dsp:sp>
    <dsp:sp modelId="{8093F356-20E1-4280-BC99-9887605E6BCF}">
      <dsp:nvSpPr>
        <dsp:cNvPr id="0" name=""/>
        <dsp:cNvSpPr/>
      </dsp:nvSpPr>
      <dsp:spPr>
        <a:xfrm>
          <a:off x="6752130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sp:txBody>
      <dsp:txXfrm>
        <a:off x="6752130" y="2527723"/>
        <a:ext cx="1561526" cy="1124298"/>
      </dsp:txXfrm>
    </dsp:sp>
    <dsp:sp modelId="{9B4DE1DC-8E0E-4FF0-8126-A90761FF94F0}">
      <dsp:nvSpPr>
        <dsp:cNvPr id="0" name=""/>
        <dsp:cNvSpPr/>
      </dsp:nvSpPr>
      <dsp:spPr>
        <a:xfrm>
          <a:off x="6752130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sp:txBody>
      <dsp:txXfrm>
        <a:off x="6752130" y="1778190"/>
        <a:ext cx="1561526" cy="749532"/>
      </dsp:txXfrm>
    </dsp:sp>
    <dsp:sp modelId="{5EA9B79B-7FD2-40C6-8CD8-187B6D8BFABA}">
      <dsp:nvSpPr>
        <dsp:cNvPr id="0" name=""/>
        <dsp:cNvSpPr/>
      </dsp:nvSpPr>
      <dsp:spPr>
        <a:xfrm>
          <a:off x="8438578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8438578" y="2527723"/>
        <a:ext cx="1561526" cy="1124298"/>
      </dsp:txXfrm>
    </dsp:sp>
    <dsp:sp modelId="{18C7778A-3502-4516-A4B2-37F2693F96FB}">
      <dsp:nvSpPr>
        <dsp:cNvPr id="0" name=""/>
        <dsp:cNvSpPr/>
      </dsp:nvSpPr>
      <dsp:spPr>
        <a:xfrm>
          <a:off x="8438578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sp:txBody>
      <dsp:txXfrm>
        <a:off x="8438578" y="1778190"/>
        <a:ext cx="1561526" cy="749532"/>
      </dsp:txXfrm>
    </dsp:sp>
    <dsp:sp modelId="{CA888CED-7953-4585-B4D7-05B747E4FE8C}">
      <dsp:nvSpPr>
        <dsp:cNvPr id="0" name=""/>
        <dsp:cNvSpPr/>
      </dsp:nvSpPr>
      <dsp:spPr>
        <a:xfrm>
          <a:off x="10125026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sp:txBody>
      <dsp:txXfrm>
        <a:off x="10125026" y="2527723"/>
        <a:ext cx="1561526" cy="1124298"/>
      </dsp:txXfrm>
    </dsp:sp>
    <dsp:sp modelId="{C2F5A284-C492-4399-A874-2766E85D6E32}">
      <dsp:nvSpPr>
        <dsp:cNvPr id="0" name=""/>
        <dsp:cNvSpPr/>
      </dsp:nvSpPr>
      <dsp:spPr>
        <a:xfrm>
          <a:off x="10125026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sp:txBody>
      <dsp:txXfrm>
        <a:off x="10125026" y="1778190"/>
        <a:ext cx="1561526" cy="749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NumberedTitleCardList#1">
  <dgm:title val=""/>
  <dgm:desc val=""/>
  <dgm:catLst>
    <dgm:cat type="list" pri="81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101" type="sibTrans" cxnId="{65E86F0A-D270-4099-B08B-A2DC00CCA9A8}">
          <dgm:prSet phldrT="01"/>
          <dgm:t>
            <a:bodyPr/>
            <a:lstStyle/>
            <a:p>
              <a:r>
                <a:t>01</a:t>
              </a:r>
            </a:p>
          </dgm:t>
        </dgm:pt>
        <dgm:pt modelId="201" type="sibTrans" cxnId="{996DB9E2-43E4-4C32-913C-1B4D21716AFE}">
          <dgm:prSet phldrT="02"/>
          <dgm:t>
            <a:bodyPr/>
            <a:lstStyle/>
            <a:p>
              <a:r>
                <a:t>02</a:t>
              </a:r>
            </a:p>
          </dgm:t>
        </dgm:pt>
        <dgm:pt modelId="301" type="sibTrans" cxnId="{C4ED3F72-69EB-4E67-8F0D-A1A861DC08ED}">
          <dgm:prSet phldrT="0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L"/>
          <dgm:param type="nodeVertAlign" val="t"/>
        </dgm:alg>
      </dgm:if>
      <dgm:else name="dirRev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fgAcc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bgShp">
            <dgm:varLst>
              <dgm:chMax val="0"/>
              <dgm:bulletEnabled/>
            </dgm:varLst>
            <dgm:presOf axis="self" ptType="sibTrans"/>
            <dgm:choose name="numAlignDir">
              <dgm:if name="numAlignNorm" func="var" arg="dir" op="equ" val="norm">
                <dgm:alg type="tx">
                  <dgm:param type="parTxLTRAlign" val="l"/>
                  <dgm:param type="parTxRTLAlign" val="l"/>
                </dgm:alg>
              </dgm:if>
              <dgm:else name="numAlignRev">
                <dgm:alg type="tx">
                  <dgm:param type="parTxLTRAlign" val="r"/>
                  <dgm:param type="parTxRTLAlign" val="r"/>
                </dgm:alg>
              </dgm:else>
            </dgm:choose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1"/>
              <dgm:constr type="rMarg" refType="w" fact="0.05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parChTrans1D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1"/>
            <dgm:constr type="rMarg" refType="w" fact="0.05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1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Relationship Id="rId3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eg"/><Relationship Id="rId3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svg"/><Relationship Id="rId3" Type="http://schemas.openxmlformats.org/officeDocument/2006/relationships/image" Target="../media/image1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1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7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Logo">
            <a:extLst>
              <a:ext uri="{FF2B5EF4-FFF2-40B4-BE49-F238E27FC236}">
                <a16:creationId xmlns:a16="http://schemas.microsoft.com/office/drawing/2014/main" id="{572B6447-BD74-E19F-F82F-B6AB6B813F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463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1"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dient background">
            <a:extLst>
              <a:ext uri="{FF2B5EF4-FFF2-40B4-BE49-F238E27FC236}">
                <a16:creationId xmlns:a16="http://schemas.microsoft.com/office/drawing/2014/main" id="{92928F57-07A1-1A1B-92F7-6684E21D98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6057900"/>
            <a:ext cx="12192000" cy="8001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E11E6EF-7DEE-709C-8F7C-C05A9D414CD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56DCA5C-54BE-B570-7771-24B6F32B86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9CEC8C55-6D9F-A0BC-1D15-F83CA5ED26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5B90D9E-31F6-9A74-2145-A6288C92CE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AEE872-17BA-5687-6409-5D696FD2CCF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0544A-606F-A954-EFCC-B2A52625FF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3134022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652521A-CD45-F485-9C10-82CE67ACE2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8724D9F6-3E07-EAAB-9C0A-FB3B644A65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34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51C14DD-9794-E6F9-AF00-3571E64B89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DBE46BF-4100-2DC3-ABDE-7C925CA29C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B367B8-A7CD-7CB8-9517-8197F72C4C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5AA0FEE-BD89-5565-F585-CC60A499B7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</p:spTree>
    <p:extLst>
      <p:ext uri="{BB962C8B-B14F-4D97-AF65-F5344CB8AC3E}">
        <p14:creationId xmlns:p14="http://schemas.microsoft.com/office/powerpoint/2010/main" val="1353846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-1" y="2420888"/>
            <a:ext cx="4281056" cy="4437112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l="-811" t="-811" r="-811" b="-811"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729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>
            <a:off x="0" y="2420888"/>
            <a:ext cx="4281056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6" y="2420888"/>
            <a:ext cx="7766944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6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4A620D-E72D-0599-539C-16ECD62CD3D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50520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615" y="2420888"/>
            <a:ext cx="4280440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EDBD3AB-8D5C-9430-21B5-DB44408225B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7086219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27" name="Logo">
            <a:extLst>
              <a:ext uri="{FF2B5EF4-FFF2-40B4-BE49-F238E27FC236}">
                <a16:creationId xmlns:a16="http://schemas.microsoft.com/office/drawing/2014/main" id="{6CB62FDA-7C32-F694-6DE6-E1D01DA97A1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3299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87E83465-E936-9562-7382-58B2C6BC3AC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 bwMode="gray">
          <a:xfrm>
            <a:off x="551384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CEE294DF-F384-A74E-EE39-69C112F65FC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51384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3654B84-E40B-FCB1-3724-1DABC8B1737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80338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26F7F342-6CB9-4537-438D-BA9E5446D5C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359696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8586DED-D6C9-416B-DE95-E998EB52076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3359696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B2BFA5B-027E-0A7B-FD2A-AAC3CBC9749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61172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9" name="Picture Placeholder 7">
            <a:extLst>
              <a:ext uri="{FF2B5EF4-FFF2-40B4-BE49-F238E27FC236}">
                <a16:creationId xmlns:a16="http://schemas.microsoft.com/office/drawing/2014/main" id="{0F726FBF-CB4A-AF8D-5B1E-DCD4213344B7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 bwMode="gray">
          <a:xfrm>
            <a:off x="6168008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D0D834FA-1583-AE1B-9B41-FD20F66F228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6168008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D640CFF1-EE63-44B9-98DB-23D254A8FD2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6420036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32" name="Picture Placeholder 8">
            <a:extLst>
              <a:ext uri="{FF2B5EF4-FFF2-40B4-BE49-F238E27FC236}">
                <a16:creationId xmlns:a16="http://schemas.microsoft.com/office/drawing/2014/main" id="{EAC21E38-8163-B540-E913-991D485220F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 bwMode="gray">
          <a:xfrm>
            <a:off x="8976320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1F29D8D5-6E5E-8B9E-0128-955D7E46C22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8976320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31" name="Text Placeholder 16">
            <a:extLst>
              <a:ext uri="{FF2B5EF4-FFF2-40B4-BE49-F238E27FC236}">
                <a16:creationId xmlns:a16="http://schemas.microsoft.com/office/drawing/2014/main" id="{841AE9E9-C6DA-13DA-947A-F29639F258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9228348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33" name="Logo">
            <a:extLst>
              <a:ext uri="{FF2B5EF4-FFF2-40B4-BE49-F238E27FC236}">
                <a16:creationId xmlns:a16="http://schemas.microsoft.com/office/drawing/2014/main" id="{7D38B19B-8E1F-2476-5E13-10CCDB1136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303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Agenda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0A9B968-2C0B-3E87-C3F8-5A609C6918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11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95B531DC-EDFA-F406-F1A3-7CCD05D79506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00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319D055-168E-C9A6-4B8C-59B80F8FA4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54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Section Divi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4926549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Section name (max.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593291"/>
            <a:ext cx="507262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4CA65FF8-CA33-78E1-DB61-531BB02E1E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5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795">
          <p15:clr>
            <a:srgbClr val="FBAE40"/>
          </p15:clr>
        </p15:guide>
        <p15:guide id="3" pos="3885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693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11088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(One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3179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3179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629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68008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3044E95F-CA3F-13A8-2786-33924D4D7A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272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hree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1804F57-3A4A-9DF7-253D-B1D02A1E5C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E285D2F7-CECB-F944-A2C5-B4FE6727F6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1538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527">
          <p15:clr>
            <a:srgbClr val="9FCC3B"/>
          </p15:clr>
        </p15:guide>
        <p15:guide id="12" pos="1436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3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08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0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BF778B60-B2B6-2C1B-6489-97359DB625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2DDFF32-ABCB-33C4-9D6C-A673B4B53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09FD615-2E6A-9A47-5949-05F77046EE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67460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2BC9066-B5D9-AF6D-6531-C5B70B0F4B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8104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wo images,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371703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168008" y="3717032"/>
            <a:ext cx="5472000" cy="2340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F1CE46F8-E5F0-79EC-BCFD-07B38471E42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D132686C-3404-59C2-A915-D1BF3E01084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C98B57A-3555-40BA-AB17-E55AA71BD4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628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  <p15:guide id="15" orient="horz" pos="234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261E2592-C1EF-3D9B-8998-9CBE468D2E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214862B1-1BEA-07E1-834B-64536F34BB6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 bwMode="gray">
          <a:xfrm>
            <a:off x="551384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8FDE0631-BFE0-D7CB-B38E-9800DAD94A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51384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25D5CD-EB13-7B23-8CE8-72C1140C3D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79D56707-D9C5-867A-9B10-EEE16F55F40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4295800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18DCF02-18F0-F413-650A-1BBBB77FE2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295800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0B06B7A-FFCC-5BC2-0870-633DD5EE80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08F0C17C-68B4-7D82-079D-FE5525B2C86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 bwMode="gray">
          <a:xfrm>
            <a:off x="8040216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4C875757-40AA-FFE0-19F9-4B08BD4DB8E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8040216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32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Full image  (name and posi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8CE8921B-3DA6-94DA-A776-DD044CCFAE4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551384" y="5264626"/>
            <a:ext cx="2398193" cy="792666"/>
          </a:xfrm>
          <a:solidFill>
            <a:schemeClr val="bg1"/>
          </a:solidFill>
        </p:spPr>
        <p:txBody>
          <a:bodyPr wrap="none" lIns="108000" tIns="133200" rIns="108000" bIns="169200"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noProof="0"/>
              <a:t>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37465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Media (full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1">
            <a:extLst>
              <a:ext uri="{FF2B5EF4-FFF2-40B4-BE49-F238E27FC236}">
                <a16:creationId xmlns:a16="http://schemas.microsoft.com/office/drawing/2014/main" id="{CBB6E684-2097-3EE4-C891-8AFA7D49DEA4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メディアを追加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2026702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Key message 1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dient background">
            <a:extLst>
              <a:ext uri="{FF2B5EF4-FFF2-40B4-BE49-F238E27FC236}">
                <a16:creationId xmlns:a16="http://schemas.microsoft.com/office/drawing/2014/main" id="{8D74D201-83D3-6FD9-8655-C4045985B1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8559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5179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Key message 2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266D735-8620-C437-0FB3-0FE9AE77E0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121920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364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1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A803874-3F49-6B30-F1BA-029CAB9E94C7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21362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454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2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C1CC37E-F977-0808-8FE2-EBFB981F74D1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23545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 (Background Grey)">
            <a:extLst>
              <a:ext uri="{FF2B5EF4-FFF2-40B4-BE49-F238E27FC236}">
                <a16:creationId xmlns:a16="http://schemas.microsoft.com/office/drawing/2014/main" id="{F56792E5-C6B9-EC9B-17EE-7D7E78258F0A}"/>
              </a:ext>
            </a:extLst>
          </p:cNvPr>
          <p:cNvSpPr/>
          <p:nvPr userDrawn="1"/>
        </p:nvSpPr>
        <p:spPr bwMode="gray">
          <a:xfrm>
            <a:off x="6168008" y="512676"/>
            <a:ext cx="5472000" cy="55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E0B544B-42EB-16A3-0EBF-8006B62CA02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528008" y="836712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chart title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A94ADB8-8BB9-7BA9-B6D8-7500FFA904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528008" y="1052736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unit of value</a:t>
            </a:r>
          </a:p>
        </p:txBody>
      </p:sp>
      <p:sp>
        <p:nvSpPr>
          <p:cNvPr id="12" name="Chart Placeholder 1">
            <a:extLst>
              <a:ext uri="{FF2B5EF4-FFF2-40B4-BE49-F238E27FC236}">
                <a16:creationId xmlns:a16="http://schemas.microsoft.com/office/drawing/2014/main" id="{6F45CE3C-CE03-F84F-458B-8EB30D44E2C2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 bwMode="gray">
          <a:xfrm>
            <a:off x="6527521" y="1340768"/>
            <a:ext cx="4752975" cy="4140000"/>
          </a:xfrm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グラフを追加</a:t>
            </a:r>
            <a:endParaRPr lang="en-US" noProof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1429D25-4756-CAC6-F902-90E7E3E788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528008" y="5589530"/>
            <a:ext cx="4752000" cy="107722"/>
          </a:xfrm>
        </p:spPr>
        <p:txBody>
          <a:bodyPr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footnote/source</a:t>
            </a:r>
          </a:p>
        </p:txBody>
      </p:sp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8DAF8DC-04B4-6F33-FDF5-0EC9726FA8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C90698-5AC9-14B7-D67A-08FAA7A9C01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0268BFFB-23FF-B2EF-20B1-9397D5C51E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49503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9DD3A440-1CA9-B6A2-DB83-4AED31D0768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87116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021D8988-0F40-25F1-D7E7-AD2B2BD5BE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50863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BF10AE8-C121-8442-377B-88627C9560A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05885C9B-BDFD-3544-8568-29E1331A42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415ECF1-9C67-32ED-D4D3-DDFE8EE0FA8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9C6BBFC-28AE-9E58-2344-AD9D8C100E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6168008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FE697D5E-1E96-8C69-B935-640772D99716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E99907E-A59A-265E-C3BE-FF36FAD57D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8976320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01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40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79F1196-D343-C4C6-E6C1-0481148364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C7C11606-5708-5AF1-A745-7C48C94318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8" name="Gradient background">
            <a:extLst>
              <a:ext uri="{FF2B5EF4-FFF2-40B4-BE49-F238E27FC236}">
                <a16:creationId xmlns:a16="http://schemas.microsoft.com/office/drawing/2014/main" id="{C5FA1B03-9A8B-0B3A-DF97-DDA924BDB59D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72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B592B1CA-9888-E4D0-38AA-72644C82C1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761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EE5160-7157-FD00-72DD-B0C1659617E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ja-JP" altLang="en-US"/>
              <a:t>アイコンをクリックして図を追加</a:t>
            </a:r>
            <a:endParaRPr lang="en-US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7ABF2EA-E0E1-5E97-F9DF-0A25325C6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A238B284-6E1F-DB98-291C-B688B697E4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71B56941-9CB9-1B31-EE5C-90530DC6804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765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953C5D2-2DA0-43FA-4736-78C3F7AAAC1F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915" y="745103"/>
            <a:ext cx="10440000" cy="1226170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Q&amp;A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94" y="2872882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B71C6042-1A08-DE22-F443-2471CE7EBC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53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293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2438" indent="-452438">
              <a:buSzPct val="100000"/>
              <a:buFont typeface="+mj-lt"/>
              <a:buAutoNum type="arabicPeriod"/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  <a:lvl2pPr marL="684213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2pPr>
            <a:lvl3pPr marL="914400" indent="-230188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3pPr>
            <a:lvl4pPr marL="1146175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4pPr>
            <a:lvl5pPr marL="1368425" indent="-222250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547005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65641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ackground (Soft White)">
            <a:extLst>
              <a:ext uri="{FF2B5EF4-FFF2-40B4-BE49-F238E27FC236}">
                <a16:creationId xmlns:a16="http://schemas.microsoft.com/office/drawing/2014/main" id="{AA716554-F91F-95C6-1065-438A52A6D658}"/>
              </a:ext>
            </a:extLst>
          </p:cNvPr>
          <p:cNvSpPr/>
          <p:nvPr userDrawn="1"/>
        </p:nvSpPr>
        <p:spPr bwMode="hidden">
          <a:xfrm>
            <a:off x="-60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BCD9D9-86A4-E818-1FE4-D228D5CDB0BC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51384" y="476672"/>
            <a:ext cx="11088000" cy="415498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35B76263-23BE-7BB5-2901-CB7111507685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551384" y="1844824"/>
            <a:ext cx="11088000" cy="4212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6</a:t>
            </a:r>
          </a:p>
          <a:p>
            <a:pPr lvl="6"/>
            <a:r>
              <a:rPr lang="en-US" noProof="0"/>
              <a:t>7</a:t>
            </a:r>
          </a:p>
          <a:p>
            <a:pPr lvl="7"/>
            <a:r>
              <a:rPr lang="en-US" noProof="0"/>
              <a:t>8</a:t>
            </a:r>
          </a:p>
          <a:p>
            <a:pPr lvl="8"/>
            <a:r>
              <a:rPr lang="en-US" noProof="0"/>
              <a:t>9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8D872605-B8A3-4560-D1E5-773A17639E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168008" y="6433635"/>
            <a:ext cx="4824000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algn="l"/>
            <a:endParaRPr lang="en-US" noProof="0"/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8CE6BD9B-B3F1-1D85-5718-E7D48314B4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352584" y="6433635"/>
            <a:ext cx="288032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94445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2400"/>
        </a:spcBef>
        <a:buFont typeface="Arial" panose="020B0604020202020204" pitchFamily="34" charset="0"/>
        <a:buNone/>
        <a:defRPr kumimoji="1" sz="1800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5.png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Relationship Id="rId8" Type="http://schemas.microsoft.com/office/2007/relationships/diagramDrawing" Target="../diagrams/drawing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2AC39-1CFD-3465-8C0F-C42600EEA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merald Q&amp;A background" descr="emerald-minimalist-abstract-background-for-corpora_2026-06-30T03-11-31_image_DAS_0.jpg">
            <a:extLst>
              <a:ext uri="{FF2B5EF4-FFF2-40B4-BE49-F238E27FC236}">
                <a16:creationId xmlns:a16="http://schemas.microsoft.com/office/drawing/2014/main" id="{CF1B9F71-D57B-600E-BD78-3FF6B3BE28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B1BE8B-26B9-3D0E-D827-51CEEAFE73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87DB73-A292-27DE-217E-9280D21A13D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wrap="square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95FF174-0484-BD41-1C9F-1DD56D411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0428"/>
            <a:ext cx="12192000" cy="445172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76757A0-119C-A88A-987C-38E2D06A0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1144" y="515837"/>
            <a:ext cx="10673728" cy="1226233"/>
          </a:xfrm>
        </p:spPr>
        <p:txBody>
          <a:bodyPr wrap="square"/>
          <a:lstStyle/>
          <a:p>
            <a:pPr algn="ctr"/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MR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スキルアッププロジェクト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DAY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４　</a:t>
            </a:r>
            <a:endParaRPr lang="en-US" altLang="ja-JP" sz="4800" dirty="0">
              <a:solidFill>
                <a:schemeClr val="bg1"/>
              </a:solidFill>
              <a:latin typeface="Meiryo UI"/>
              <a:ea typeface="Meiryo UI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C8CCA-F3FD-B67F-15C9-26BBD4EA7D22}"/>
              </a:ext>
            </a:extLst>
          </p:cNvPr>
          <p:cNvSpPr txBox="1"/>
          <p:nvPr/>
        </p:nvSpPr>
        <p:spPr>
          <a:xfrm>
            <a:off x="5644134" y="1799639"/>
            <a:ext cx="61859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Arial"/>
              </a:rPr>
              <a:t>担当：藤・井上</a:t>
            </a:r>
            <a:endParaRPr kumimoji="0" lang="ja-JP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841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AC696-18A0-CC86-8111-72FDDD6B2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AFD2267D-3C48-5FBA-5823-5297B044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>
            <a:extLst>
              <a:ext uri="{FF2B5EF4-FFF2-40B4-BE49-F238E27FC236}">
                <a16:creationId xmlns:a16="http://schemas.microsoft.com/office/drawing/2014/main" id="{B81A50B6-5E3C-6747-4532-C5F27029963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FADAD954-F788-17B4-4954-5A19C0C37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1784531"/>
            <a:ext cx="9217455" cy="1727139"/>
          </a:xfrm>
        </p:spPr>
        <p:txBody>
          <a:bodyPr wrap="square" lIns="91440" tIns="45720" rIns="91440" bIns="45720" anchor="t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■オープニング　5分</a:t>
            </a: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■レクチャー&amp;ワーク①「構造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>マップ」</a:t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■レクチャー&amp;ワーク②「4S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>シート」</a:t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■エリア戦略・まとめ　5分</a:t>
            </a: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5E049360-E5C5-D85E-E9E6-5AABC40C7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AC9FD2A0-37FB-8455-88BF-06BDBB0A4B4A}"/>
              </a:ext>
            </a:extLst>
          </p:cNvPr>
          <p:cNvSpPr txBox="1">
            <a:spLocks/>
          </p:cNvSpPr>
          <p:nvPr/>
        </p:nvSpPr>
        <p:spPr bwMode="gray">
          <a:xfrm>
            <a:off x="594927" y="687915"/>
            <a:ext cx="6590370" cy="61311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48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+mj-cs"/>
              </a:rPr>
              <a:t>Agenda</a:t>
            </a:r>
            <a:endParaRPr kumimoji="1" lang="ja-JP" altLang="en-US" sz="48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501997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7A5E2B9B-30B1-5640-9240-A723519D28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C23B6A35-B6F0-D784-4F8B-1364DB108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2539274"/>
            <a:ext cx="6590370" cy="408702"/>
          </a:xfrm>
        </p:spPr>
        <p:txBody>
          <a:bodyPr wrap="square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集めた情報、次の一手は？、、、</a:t>
            </a:r>
            <a:endParaRPr lang="en-US" sz="3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F8083B8D-3664-6E79-A2BB-CEF7CEE5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6589FF1D-C39C-D5BF-3830-442EA1F6E63F}"/>
              </a:ext>
            </a:extLst>
          </p:cNvPr>
          <p:cNvSpPr txBox="1">
            <a:spLocks/>
          </p:cNvSpPr>
          <p:nvPr/>
        </p:nvSpPr>
        <p:spPr bwMode="gray">
          <a:xfrm>
            <a:off x="551384" y="4126230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エリア戦略って、、、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BB9E12BD-BFD0-66C0-89E3-C57B308AB563}"/>
              </a:ext>
            </a:extLst>
          </p:cNvPr>
          <p:cNvSpPr txBox="1">
            <a:spLocks/>
          </p:cNvSpPr>
          <p:nvPr/>
        </p:nvSpPr>
        <p:spPr bwMode="gray">
          <a:xfrm>
            <a:off x="555194" y="3332752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いよいよ最終回、、、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88ABD1-1BBB-28E5-8343-E78C68DD1C25}"/>
              </a:ext>
            </a:extLst>
          </p:cNvPr>
          <p:cNvSpPr txBox="1">
            <a:spLocks/>
          </p:cNvSpPr>
          <p:nvPr/>
        </p:nvSpPr>
        <p:spPr bwMode="gray">
          <a:xfrm>
            <a:off x="551384" y="1065286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皆様のお気持ちは？</a:t>
            </a:r>
            <a:endParaRPr kumimoji="1" lang="en-US" sz="3200" b="1" i="0" u="none" strike="noStrike" kern="1200" cap="none" spc="-6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97407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929841C-57BA-89BA-7F4F-DB54345902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4DE1810-19F1-5CF2-085F-A1970AE7A0FD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概要・イメージ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CA8B4306-536C-C523-53C2-61A4A6755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245" y="1315978"/>
            <a:ext cx="6096528" cy="3429297"/>
          </a:xfrm>
          <a:prstGeom prst="rect">
            <a:avLst/>
          </a:prstGeom>
        </p:spPr>
      </p:pic>
      <p:sp>
        <p:nvSpPr>
          <p:cNvPr id="2" name="矢印: 下 1">
            <a:extLst>
              <a:ext uri="{FF2B5EF4-FFF2-40B4-BE49-F238E27FC236}">
                <a16:creationId xmlns:a16="http://schemas.microsoft.com/office/drawing/2014/main" id="{7ABE689D-35AB-8B1F-D092-F57A12EB7D20}"/>
              </a:ext>
            </a:extLst>
          </p:cNvPr>
          <p:cNvSpPr/>
          <p:nvPr/>
        </p:nvSpPr>
        <p:spPr>
          <a:xfrm>
            <a:off x="11357902" y="1694297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矢印: 下 2">
            <a:extLst>
              <a:ext uri="{FF2B5EF4-FFF2-40B4-BE49-F238E27FC236}">
                <a16:creationId xmlns:a16="http://schemas.microsoft.com/office/drawing/2014/main" id="{E1596E16-1B7D-618E-F9B9-DFC22D1F4D13}"/>
              </a:ext>
            </a:extLst>
          </p:cNvPr>
          <p:cNvSpPr/>
          <p:nvPr/>
        </p:nvSpPr>
        <p:spPr>
          <a:xfrm>
            <a:off x="11376171" y="3101293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4D548AD-7AD8-DE61-6175-DA788B61CD6A}"/>
              </a:ext>
            </a:extLst>
          </p:cNvPr>
          <p:cNvSpPr/>
          <p:nvPr/>
        </p:nvSpPr>
        <p:spPr>
          <a:xfrm>
            <a:off x="5996940" y="1699747"/>
            <a:ext cx="428847" cy="1392865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早期完成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8C403BE-4263-6D6B-C79B-7C952D2E932E}"/>
              </a:ext>
            </a:extLst>
          </p:cNvPr>
          <p:cNvSpPr/>
          <p:nvPr/>
        </p:nvSpPr>
        <p:spPr>
          <a:xfrm>
            <a:off x="6002655" y="3161989"/>
            <a:ext cx="428847" cy="1392864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順次完成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A64EBC1-A89F-5909-3BF3-F045DF12FD06}"/>
              </a:ext>
            </a:extLst>
          </p:cNvPr>
          <p:cNvSpPr/>
          <p:nvPr/>
        </p:nvSpPr>
        <p:spPr>
          <a:xfrm>
            <a:off x="1771650" y="5269526"/>
            <a:ext cx="8812530" cy="88888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0000">
                <a:srgbClr val="0D8B5F"/>
              </a:gs>
              <a:gs pos="100000">
                <a:srgbClr val="6BC79B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不安を払拭し、その日からアクションできる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5E71789-B1D2-E7FF-6039-12113C3E91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875"/>
          <a:stretch>
            <a:fillRect/>
          </a:stretch>
        </p:blipFill>
        <p:spPr>
          <a:xfrm>
            <a:off x="125203" y="1315978"/>
            <a:ext cx="5738388" cy="3429297"/>
          </a:xfrm>
          <a:prstGeom prst="rect">
            <a:avLst/>
          </a:prstGeom>
        </p:spPr>
      </p:pic>
      <p:sp>
        <p:nvSpPr>
          <p:cNvPr id="10" name="タイトル 1">
            <a:extLst>
              <a:ext uri="{FF2B5EF4-FFF2-40B4-BE49-F238E27FC236}">
                <a16:creationId xmlns:a16="http://schemas.microsoft.com/office/drawing/2014/main" id="{AF93FE1E-7B8D-24BF-8C8D-E1359ED25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4366105-51EE-2A58-66B0-3AD72D6C0221}"/>
              </a:ext>
            </a:extLst>
          </p:cNvPr>
          <p:cNvSpPr/>
          <p:nvPr/>
        </p:nvSpPr>
        <p:spPr>
          <a:xfrm>
            <a:off x="6464601" y="4093537"/>
            <a:ext cx="5178055" cy="6060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kumimoji="1" lang="ja-JP" altLang="en-US" dirty="0" err="1"/>
          </a:p>
        </p:txBody>
      </p:sp>
    </p:spTree>
    <p:extLst>
      <p:ext uri="{BB962C8B-B14F-4D97-AF65-F5344CB8AC3E}">
        <p14:creationId xmlns:p14="http://schemas.microsoft.com/office/powerpoint/2010/main" val="2656205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89B34-1110-A4B3-6213-181DD852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47B61F-8C0E-1529-D029-CB03A1EEC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0" y="0"/>
            <a:ext cx="12127320" cy="685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687C0AEB-F3DA-ED72-B649-4B73767F7C39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ゴール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D11EB31-F6B4-EF3A-3542-19CC6507C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590" y="1200150"/>
            <a:ext cx="9635489" cy="49784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52E46A4-BE7B-2C87-BD61-B36C125E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7706F-0669-7DBA-8ED9-B7E78EA60F06}"/>
              </a:ext>
            </a:extLst>
          </p:cNvPr>
          <p:cNvSpPr txBox="1"/>
          <p:nvPr/>
        </p:nvSpPr>
        <p:spPr>
          <a:xfrm>
            <a:off x="1522093" y="4302132"/>
            <a:ext cx="7817849" cy="5843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1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D2C5-0EB7-C594-BDA2-251203D6D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A5C4EFE-E5B9-8467-5497-61815DDE31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5748EB0D-A802-1E0E-6EC1-B0AC3A634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B90D169A-CAAD-A716-A031-7239C2838D06}"/>
              </a:ext>
            </a:extLst>
          </p:cNvPr>
          <p:cNvGraphicFramePr/>
          <p:nvPr/>
        </p:nvGraphicFramePr>
        <p:xfrm>
          <a:off x="217170" y="365760"/>
          <a:ext cx="11692890" cy="5430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F84BD35-B2A0-CEF0-2BA5-680A95BEDDD8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プロジェクトメンバー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E97FF1-906A-DBE1-D182-0FD5C8A5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5850" y="5297401"/>
            <a:ext cx="10266734" cy="817403"/>
          </a:xfrm>
        </p:spPr>
        <p:txBody>
          <a:bodyPr wrap="square"/>
          <a:lstStyle/>
          <a:p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Renal 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大学</a:t>
            </a:r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/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基幹病院担当者スキルアッププロジェクト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559E61-A38A-77ED-C1DC-2B7D93032893}"/>
              </a:ext>
            </a:extLst>
          </p:cNvPr>
          <p:cNvSpPr txBox="1"/>
          <p:nvPr/>
        </p:nvSpPr>
        <p:spPr>
          <a:xfrm>
            <a:off x="1832064" y="2028741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84D68D-8EED-203E-6047-C01DBFD925C1}"/>
              </a:ext>
            </a:extLst>
          </p:cNvPr>
          <p:cNvSpPr txBox="1"/>
          <p:nvPr/>
        </p:nvSpPr>
        <p:spPr>
          <a:xfrm>
            <a:off x="6903972" y="1994044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7888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D012-DDA1-D41D-65DA-57E0BA1F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F7488F29-00B5-FA7E-D7C1-E9FDF0735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D09851C-9131-A14A-9A7A-CF6D2A4F251E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今後の流れ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F64936-655E-A5FE-2C24-7CD708F7AAFD}"/>
              </a:ext>
            </a:extLst>
          </p:cNvPr>
          <p:cNvSpPr txBox="1"/>
          <p:nvPr/>
        </p:nvSpPr>
        <p:spPr>
          <a:xfrm>
            <a:off x="3503045" y="456129"/>
            <a:ext cx="7222761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</a:t>
            </a:r>
            <a:r>
              <a:rPr kumimoji="0" lang="en-US" altLang="ja-JP" sz="18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全員が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主体的に参加・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分程度レクチャー・ワーク・共有のイメージ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363B5-F17F-B5BE-25ED-B80B09710E83}"/>
              </a:ext>
            </a:extLst>
          </p:cNvPr>
          <p:cNvSpPr/>
          <p:nvPr/>
        </p:nvSpPr>
        <p:spPr>
          <a:xfrm>
            <a:off x="205740" y="3542124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大学・基幹病院のイロハ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大学病院ってなぜあるの？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この先生、どれだけ偉い？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「採用」活動の心得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…etc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病院に訪問する怖さがちょっとだけ減っているかも🤏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2A49435-E163-4B58-59D7-E082C531BB8C}"/>
              </a:ext>
            </a:extLst>
          </p:cNvPr>
          <p:cNvSpPr/>
          <p:nvPr/>
        </p:nvSpPr>
        <p:spPr>
          <a:xfrm>
            <a:off x="325374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48F0575-2B38-80BF-40CC-32B88F6554CD}"/>
              </a:ext>
            </a:extLst>
          </p:cNvPr>
          <p:cNvSpPr/>
          <p:nvPr/>
        </p:nvSpPr>
        <p:spPr>
          <a:xfrm>
            <a:off x="624459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やっぱり</a:t>
            </a:r>
            <a:r>
              <a:rPr kumimoji="1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は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情報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が命</a:t>
            </a:r>
            <a:endParaRPr kumimoji="1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１：「何を、どこでつかむか」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1-1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：デスクトップリサーチ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→社内外のツールを使いこなす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Wet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な情報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をつかむ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→何を、どこでつかむか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得た情報をどう活かすか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「分かって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」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として信頼がえられるかも🤏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B612F91-5DA9-E5C5-6010-BE98F96CB455}"/>
              </a:ext>
            </a:extLst>
          </p:cNvPr>
          <p:cNvSpPr txBox="1"/>
          <p:nvPr/>
        </p:nvSpPr>
        <p:spPr>
          <a:xfrm>
            <a:off x="745490" y="3029458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第一回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4BB7DBC-DE48-B39E-822A-20B93FB1EC28}"/>
              </a:ext>
            </a:extLst>
          </p:cNvPr>
          <p:cNvSpPr txBox="1"/>
          <p:nvPr/>
        </p:nvSpPr>
        <p:spPr>
          <a:xfrm>
            <a:off x="9767570" y="3029457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第四回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313F23A-BB66-8173-3A30-5545CF8F7E7D}"/>
              </a:ext>
            </a:extLst>
          </p:cNvPr>
          <p:cNvSpPr txBox="1"/>
          <p:nvPr/>
        </p:nvSpPr>
        <p:spPr>
          <a:xfrm>
            <a:off x="679577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第三回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6C49A9-2C2F-C94C-475D-BCB26B7B576A}"/>
              </a:ext>
            </a:extLst>
          </p:cNvPr>
          <p:cNvSpPr txBox="1"/>
          <p:nvPr/>
        </p:nvSpPr>
        <p:spPr>
          <a:xfrm>
            <a:off x="388874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第二回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D2C33E4-045B-0B64-7331-8AC18EA4B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645" y="1035293"/>
            <a:ext cx="3178623" cy="1840087"/>
          </a:xfrm>
          <a:prstGeom prst="rect">
            <a:avLst/>
          </a:prstGeom>
          <a:ln w="12700">
            <a:solidFill>
              <a:srgbClr val="DDEAE1"/>
            </a:solidFill>
          </a:ln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ECCEFBF-7944-BB5B-CDDA-DBD497F486C0}"/>
              </a:ext>
            </a:extLst>
          </p:cNvPr>
          <p:cNvSpPr txBox="1"/>
          <p:nvPr/>
        </p:nvSpPr>
        <p:spPr>
          <a:xfrm>
            <a:off x="282892" y="1060132"/>
            <a:ext cx="6716078" cy="1754326"/>
          </a:xfrm>
          <a:prstGeom prst="rect">
            <a:avLst/>
          </a:prstGeom>
          <a:ln w="12700">
            <a:solidFill>
              <a:srgbClr val="A7D7B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【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開催日程等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】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出欠管理は“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Outlook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”にてチェック✅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■計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回シリーズ　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②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23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③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29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日（水）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14:00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　④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8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※リジュベネーション考慮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■時間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10:00~11:00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（内容によって前後＋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分延長）</a:t>
            </a:r>
          </a:p>
        </p:txBody>
      </p:sp>
      <p:sp>
        <p:nvSpPr>
          <p:cNvPr id="5" name="四角形: 角を丸くする 1">
            <a:extLst>
              <a:ext uri="{FF2B5EF4-FFF2-40B4-BE49-F238E27FC236}">
                <a16:creationId xmlns:a16="http://schemas.microsoft.com/office/drawing/2014/main" id="{EE641EDE-2F7D-C520-4FF0-F263BA0FBB9C}"/>
              </a:ext>
            </a:extLst>
          </p:cNvPr>
          <p:cNvSpPr/>
          <p:nvPr/>
        </p:nvSpPr>
        <p:spPr>
          <a:xfrm>
            <a:off x="3253739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「会えない」を「会える」に変える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医師の導線の見つけ方は？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「会う」ための情報収集は？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継続的に会うための工夫は？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「いつでもどこでも会えるMR」への手がかりが掴めるかも🤏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0" name="四角形: 角を丸くする 1">
            <a:extLst>
              <a:ext uri="{FF2B5EF4-FFF2-40B4-BE49-F238E27FC236}">
                <a16:creationId xmlns:a16="http://schemas.microsoft.com/office/drawing/2014/main" id="{E22EB87F-465B-E288-A038-BCF80447D941}"/>
              </a:ext>
            </a:extLst>
          </p:cNvPr>
          <p:cNvSpPr/>
          <p:nvPr/>
        </p:nvSpPr>
        <p:spPr>
          <a:xfrm>
            <a:off x="9235440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「ちょっと分かるだけで　世界が変わる」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得た情報を整理する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知ることで何ができる？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エリア戦略まで繋げる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担当者としての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自覚がもてるかも🤏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0890E8-5B6F-F809-41C2-76277E1E2EEF}"/>
              </a:ext>
            </a:extLst>
          </p:cNvPr>
          <p:cNvSpPr txBox="1"/>
          <p:nvPr/>
        </p:nvSpPr>
        <p:spPr>
          <a:xfrm>
            <a:off x="9111342" y="2875380"/>
            <a:ext cx="3039355" cy="39516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1085143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本日の進め方 — 大きく4つのブロックです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6035040" cy="93268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オープニング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83080"/>
            <a:ext cx="1051560" cy="93268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128A54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45552" y="1783080"/>
            <a:ext cx="381304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第1〜3回で、あなたは何が変わりましたか？／今日の位置づけ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43784"/>
            <a:ext cx="6035040" cy="93268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レクチャー&amp;ワーク①「構造マップ」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2843784"/>
            <a:ext cx="1051560" cy="93268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1F3864"/>
                </a:solidFill>
                <a:latin typeface="Meiryo UI"/>
                <a:ea typeface="Meiryo UI"/>
              </a:rPr>
              <a:t>25分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45552" y="2843784"/>
            <a:ext cx="381304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大学の枠を一度外し、任された範囲全体を1枚の図に描く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04487"/>
            <a:ext cx="6035040" cy="93268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レクチャー&amp;ワーク②「4Sシート」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3904487"/>
            <a:ext cx="1051560" cy="93268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1F3864"/>
                </a:solidFill>
                <a:latin typeface="Meiryo UI"/>
                <a:ea typeface="Meiryo UI"/>
              </a:rPr>
              <a:t>25分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904487"/>
            <a:ext cx="381304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その情報を何のために使うのか。成功像から逆算して言語化する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65192"/>
            <a:ext cx="6035040" cy="93268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エリア戦略・まとめ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4965192"/>
            <a:ext cx="1051560" cy="93268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128A54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45552" y="4965192"/>
            <a:ext cx="381304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Beyond：影響を広げる／自分の範囲に責任を持つ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70448"/>
            <a:ext cx="11109960" cy="50292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今日は「レクチャー→すぐワーク」を2セット。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　手を動かす時間を長く取っています。巻末に持ち帰り用の付録があります。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TODAY'S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第4回は、知識を「増やす」回ではなく「使う」回です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第1〜3回で、手に入れたもの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50292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✔　大学・基幹病院の構造と役割が分かる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71800"/>
            <a:ext cx="50292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✔　医師に会える／会う工夫ができる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11880"/>
            <a:ext cx="50292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✔　必要な情報を集められる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51960"/>
            <a:ext cx="50292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✔　医師・施設の関係性と影響力が読める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06440" y="3246120"/>
            <a:ext cx="548640" cy="502920"/>
          </a:xfrm>
          <a:prstGeom prst="rightArrow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0" y="1691640"/>
            <a:ext cx="5074920" cy="5486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第4回で、考えること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2331720"/>
            <a:ext cx="5074920" cy="2487168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262626"/>
                </a:solidFill>
                <a:latin typeface="Meiryo UI"/>
                <a:ea typeface="Meiryo UI"/>
              </a:rPr>
              <a:t>その情報を、</a:t>
            </a:r>
          </a:p>
          <a:p>
            <a:pPr algn="ctr">
              <a:spcAft>
                <a:spcPts val="1200"/>
              </a:spcAft>
            </a:pPr>
            <a:r>
              <a:rPr sz="2200" b="1" i="0">
                <a:solidFill>
                  <a:srgbClr val="C00000"/>
                </a:solidFill>
                <a:latin typeface="Meiryo UI"/>
                <a:ea typeface="Meiryo UI"/>
              </a:rPr>
              <a:t>何のために、どう使うのか</a:t>
            </a:r>
          </a:p>
          <a:p>
            <a:pPr algn="ctr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大学を訪問できる。教授や医局長の役割が分かる。情報も集まる。
そこで終わらせず、その情報を活動と戦略に変える。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120640"/>
            <a:ext cx="11109960" cy="109728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今日は「大学に行けるようになった」ことを前提に、その一段先へ進みます。</a:t>
            </a:r>
          </a:p>
          <a:p>
            <a:pPr algn="ctr"/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新しい知識を足すのではなく、すでに持っている情報の</a:t>
            </a:r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使い道を、自分で決められるようになる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のがゴールです。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4F37"/>
                </a:solidFill>
                <a:latin typeface="Meiryo UI"/>
                <a:ea typeface="Meiryo UI"/>
              </a:rPr>
              <a:t>この3回で、あなたは何が変わりましたか？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「何を学んだか」ではなく、「自分がどう変わったか」を思い出してください。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286000"/>
            <a:ext cx="658368" cy="658368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103120"/>
            <a:ext cx="480060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大学の「見方」は変わった？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以前と今で、大学という場所の見え方は？</a:t>
            </a:r>
          </a:p>
        </p:txBody>
      </p:sp>
      <p:sp>
        <p:nvSpPr>
          <p:cNvPr id="8" name="Oval 7"/>
          <p:cNvSpPr/>
          <p:nvPr/>
        </p:nvSpPr>
        <p:spPr>
          <a:xfrm>
            <a:off x="6172200" y="2286000"/>
            <a:ext cx="658368" cy="658368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95160" y="2103120"/>
            <a:ext cx="480060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訪問への不安は減った？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医局に入るとき、以前より足取りは軽い？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474720"/>
            <a:ext cx="658368" cy="658368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291839"/>
            <a:ext cx="480060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担当者としての自信は？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「自分は大学担当だ」と言えるようになった？</a:t>
            </a:r>
          </a:p>
        </p:txBody>
      </p:sp>
      <p:sp>
        <p:nvSpPr>
          <p:cNvPr id="12" name="Oval 11"/>
          <p:cNvSpPr/>
          <p:nvPr/>
        </p:nvSpPr>
        <p:spPr>
          <a:xfrm>
            <a:off x="6172200" y="3474720"/>
            <a:ext cx="658368" cy="658368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04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95160" y="3291839"/>
            <a:ext cx="480060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実際の行動は変わった？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会う相手・聞くこと・準備の仕方は変わった？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4709160"/>
            <a:ext cx="5806440" cy="621792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一番変わったことを1つ、チャットに書いてください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3212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変化が思い浮かばなくても大丈夫です。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「まだここが不安」も立派な出発点 — それが今日のワークの材料になります。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今日は「大学に行けるようになった」その先を扱います。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大学を攻略すれば、</a:t>
            </a:r>
          </a:p>
          <a:p>
            <a:pPr algn="l"/>
            <a:r>
              <a:rPr sz="3400" b="1" i="0">
                <a:solidFill>
                  <a:srgbClr val="FFC000"/>
                </a:solidFill>
                <a:latin typeface="Meiryo UI"/>
                <a:ea typeface="Meiryo UI"/>
              </a:rPr>
              <a:t>あなたの範囲の課題は、すべて解決しますか？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017520"/>
            <a:ext cx="11109960" cy="685800"/>
          </a:xfrm>
          <a:prstGeom prst="roundRect">
            <a:avLst>
              <a:gd name="adj" fmla="val 10000"/>
            </a:avLst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大学を攻略することと、任された範囲全体を攻略することは、同じではありません。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31920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地域で違う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大学が強い地域もあれば、基幹病院のほうが症例数・影響力を持つ地域もある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3931920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疾患で違う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その疾患の患者さんがどこにいるかで、効く施設は変わる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3931920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都市部では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複数の大学があり、1つの大学だけで範囲全体が動くわけではない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394960"/>
            <a:ext cx="11109960" cy="86868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FFFFFF"/>
                </a:solidFill>
                <a:latin typeface="Meiryo UI"/>
                <a:ea typeface="Meiryo UI"/>
              </a:rPr>
              <a:t>今日のゴールは「大学の攻略法」を覚えることではありません。</a:t>
            </a:r>
          </a:p>
          <a:p>
            <a:pPr algn="ctr"/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自分の任された範囲を見渡し、その中で大学をどう使うかを、自分で決められるようになることです。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011680"/>
            <a:ext cx="2194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200" b="1" i="0">
                <a:solidFill>
                  <a:srgbClr val="1D7451"/>
                </a:solidFill>
                <a:latin typeface="Meiryo UI"/>
                <a:ea typeface="Meiryo U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1828800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FE8D2"/>
                </a:solidFill>
                <a:latin typeface="Meiryo UI"/>
                <a:ea typeface="Meiryo UI"/>
              </a:rPr>
              <a:t>レクチャー&amp;ワーク①｜構造マップ　25分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3240" y="2286000"/>
            <a:ext cx="8503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500" b="1" i="0">
                <a:solidFill>
                  <a:srgbClr val="FFFFFF"/>
                </a:solidFill>
                <a:latin typeface="Meiryo UI"/>
                <a:ea typeface="Meiryo UI"/>
              </a:rPr>
              <a:t>大学の枠を外して、範囲全体を描く</a:t>
            </a:r>
          </a:p>
        </p:txBody>
      </p:sp>
      <p:sp>
        <p:nvSpPr>
          <p:cNvPr id="7" name="Oval 6"/>
          <p:cNvSpPr/>
          <p:nvPr/>
        </p:nvSpPr>
        <p:spPr>
          <a:xfrm>
            <a:off x="3108960" y="393192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4005072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大学という「かご」を、一度取り払う</a:t>
            </a:r>
          </a:p>
        </p:txBody>
      </p:sp>
      <p:sp>
        <p:nvSpPr>
          <p:cNvPr id="9" name="Oval 8"/>
          <p:cNvSpPr/>
          <p:nvPr/>
        </p:nvSpPr>
        <p:spPr>
          <a:xfrm>
            <a:off x="3108960" y="464515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718304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任された範囲全体の中に、大学を置き直す</a:t>
            </a:r>
          </a:p>
        </p:txBody>
      </p:sp>
      <p:sp>
        <p:nvSpPr>
          <p:cNvPr id="11" name="Oval 10"/>
          <p:cNvSpPr/>
          <p:nvPr/>
        </p:nvSpPr>
        <p:spPr>
          <a:xfrm>
            <a:off x="3108960" y="5358383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5431536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施設の大きさと役割は、自分の目で決める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734056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①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視点を入れ替える — 「かご」を取り払う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大学の中から周囲を見るのではなく、任された範囲の中に大学を置き直してみましょう。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5303520" cy="566928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これまで：大学の中から、周りを見る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5303520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spcAft>
                <a:spcPts val="9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・視点の中心は「大学」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・成功像は、大学内の採用・処方・面会・講演会になりやすい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・大学から依頼されたことに応える活動になりやすい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・大学を攻略すれば解決する、という前提に立ちやすい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53328" y="3291840"/>
            <a:ext cx="594360" cy="548640"/>
          </a:xfrm>
          <a:prstGeom prst="rightArrow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0" y="1920240"/>
            <a:ext cx="480060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これから：範囲の中に、大学を置く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2560320"/>
            <a:ext cx="4800600" cy="22860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・視点の中心は「自分の任された範囲」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・成功像は、範囲全体がどうなっているか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・大学は、その成功像を実現するために使える資源の一つ</a:t>
            </a:r>
          </a:p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・大学が中心とは限らない。基幹病院が中心の範囲もある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7492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表面的には、同じ「教授面会」「講演会」でも —</a:t>
            </a:r>
          </a:p>
          <a:p>
            <a:pPr algn="ctr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大学だけを見て実施した活動と、範囲全体を見て大学を活用した活動では、</a:t>
            </a:r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意味も成果の質もまったく違います。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734056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①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大学の「どの機能」を使いますか？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大学の影響力を全部使う必要はありません。目的に合う機能を、選んで使います。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診療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269748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症例が集まる。専門治療の実施と評価の場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196596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2468880"/>
            <a:ext cx="269748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エビデンスをつくる。学会・論文で外へ届く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96596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教育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2468880"/>
            <a:ext cx="269748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若手が学び、数年後にエリアへ散っていく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07424" y="196596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医局人事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07424" y="2468880"/>
            <a:ext cx="269748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関連病院の部長・医長を決める。方針が波及する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3756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医師派遣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40480"/>
            <a:ext cx="269748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誰がどの施設に行くか。エリアの布陣が決まる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333756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情報発信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3840480"/>
            <a:ext cx="269748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治療方針が、時間差でエリアの標準になる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333756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講演会・研究会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3840480"/>
            <a:ext cx="269748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地域の医師が集まる場。共通認識をつくれる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3337560"/>
            <a:ext cx="2514600" cy="128016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この7つのうち、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C000"/>
                </a:solidFill>
                <a:latin typeface="Meiryo UI"/>
                <a:ea typeface="Meiryo UI"/>
              </a:rPr>
              <a:t>あなたの課題を解くのに
必要なのはどれ？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109960" cy="128016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700"/>
              </a:spcAft>
            </a:pPr>
            <a:r>
              <a:rPr sz="1550" b="1" i="0">
                <a:solidFill>
                  <a:srgbClr val="0B4F37"/>
                </a:solidFill>
                <a:latin typeface="Meiryo UI"/>
                <a:ea typeface="Meiryo UI"/>
              </a:rPr>
              <a:t>「大学を攻略する」ではなく、「この課題を解くために、大学のこの機能を使う」と言えるか。</a:t>
            </a:r>
          </a:p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例：範囲の紹介が遅い → 使うのは</a:t>
            </a:r>
            <a:r>
              <a:rPr sz="1300" b="1" i="0">
                <a:solidFill>
                  <a:srgbClr val="C00000"/>
                </a:solidFill>
                <a:latin typeface="Meiryo UI"/>
                <a:ea typeface="Meiryo UI"/>
              </a:rPr>
              <a:t>「情報発信」と「講演会」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。　例：基幹病院の治療方針を変えたい → 使うのは</a:t>
            </a:r>
            <a:r>
              <a:rPr sz="1300" b="1" i="0">
                <a:solidFill>
                  <a:srgbClr val="C00000"/>
                </a:solidFill>
                <a:latin typeface="Meiryo UI"/>
                <a:ea typeface="Meiryo UI"/>
              </a:rPr>
              <a:t>「医局人事」と「医師派遣」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734056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①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構造マップの描き方 — 任された範囲を、1枚の図にする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7635240" cy="461772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私の任された範囲（例：◯◯県／◯◯エリア）</a:t>
            </a:r>
          </a:p>
        </p:txBody>
      </p:sp>
      <p:sp>
        <p:nvSpPr>
          <p:cNvPr id="8" name="Oval 7"/>
          <p:cNvSpPr/>
          <p:nvPr/>
        </p:nvSpPr>
        <p:spPr>
          <a:xfrm>
            <a:off x="1417320" y="2331720"/>
            <a:ext cx="1600200" cy="160020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lIns="0" rIns="0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A大学
腎臓内科</a:t>
            </a:r>
          </a:p>
        </p:txBody>
      </p:sp>
      <p:sp>
        <p:nvSpPr>
          <p:cNvPr id="9" name="Oval 8"/>
          <p:cNvSpPr/>
          <p:nvPr/>
        </p:nvSpPr>
        <p:spPr>
          <a:xfrm>
            <a:off x="3977639" y="2514600"/>
            <a:ext cx="1234440" cy="1234440"/>
          </a:xfrm>
          <a:prstGeom prst="ellipse">
            <a:avLst/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lIns="0" rIns="0"/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B基幹病院</a:t>
            </a:r>
          </a:p>
        </p:txBody>
      </p:sp>
      <p:sp>
        <p:nvSpPr>
          <p:cNvPr id="10" name="Oval 9"/>
          <p:cNvSpPr/>
          <p:nvPr/>
        </p:nvSpPr>
        <p:spPr>
          <a:xfrm>
            <a:off x="5989320" y="2148840"/>
            <a:ext cx="960120" cy="96012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lIns="0" rIns="0"/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0B4F37"/>
                </a:solidFill>
                <a:latin typeface="Meiryo UI"/>
                <a:ea typeface="Meiryo UI"/>
              </a:rPr>
              <a:t>C大学</a:t>
            </a:r>
          </a:p>
        </p:txBody>
      </p:sp>
      <p:sp>
        <p:nvSpPr>
          <p:cNvPr id="11" name="Oval 10"/>
          <p:cNvSpPr/>
          <p:nvPr/>
        </p:nvSpPr>
        <p:spPr>
          <a:xfrm>
            <a:off x="1783080" y="452628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D市中病院</a:t>
            </a:r>
          </a:p>
        </p:txBody>
      </p:sp>
      <p:sp>
        <p:nvSpPr>
          <p:cNvPr id="12" name="Oval 11"/>
          <p:cNvSpPr/>
          <p:nvPr/>
        </p:nvSpPr>
        <p:spPr>
          <a:xfrm>
            <a:off x="3703320" y="470916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E病院</a:t>
            </a:r>
          </a:p>
        </p:txBody>
      </p:sp>
      <p:sp>
        <p:nvSpPr>
          <p:cNvPr id="13" name="Oval 12"/>
          <p:cNvSpPr/>
          <p:nvPr/>
        </p:nvSpPr>
        <p:spPr>
          <a:xfrm>
            <a:off x="5623560" y="45262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CL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48463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CL</a:t>
            </a:r>
          </a:p>
        </p:txBody>
      </p:sp>
      <p:sp>
        <p:nvSpPr>
          <p:cNvPr id="15" name="Oval 14"/>
          <p:cNvSpPr/>
          <p:nvPr/>
        </p:nvSpPr>
        <p:spPr>
          <a:xfrm>
            <a:off x="6720840" y="45262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CL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52578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クリニック群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286000" y="3931920"/>
            <a:ext cx="0" cy="594360"/>
          </a:xfrm>
          <a:prstGeom prst="line">
            <a:avLst/>
          </a:prstGeom>
          <a:ln w="27940">
            <a:solidFill>
              <a:srgbClr val="128A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971800" y="3108960"/>
            <a:ext cx="1005839" cy="0"/>
          </a:xfrm>
          <a:prstGeom prst="line">
            <a:avLst/>
          </a:prstGeom>
          <a:ln w="27940">
            <a:solidFill>
              <a:srgbClr val="128A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4069080" y="3749039"/>
            <a:ext cx="548640" cy="960121"/>
          </a:xfrm>
          <a:prstGeom prst="line">
            <a:avLst/>
          </a:prstGeom>
          <a:ln w="22860">
            <a:solidFill>
              <a:srgbClr val="128A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212080" y="3108960"/>
            <a:ext cx="822960" cy="0"/>
          </a:xfrm>
          <a:prstGeom prst="line">
            <a:avLst/>
          </a:prstGeom>
          <a:ln w="20320">
            <a:solidFill>
              <a:srgbClr val="1F386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743200" y="2377440"/>
            <a:ext cx="3246120" cy="0"/>
          </a:xfrm>
          <a:prstGeom prst="line">
            <a:avLst/>
          </a:prstGeom>
          <a:ln w="20320">
            <a:solidFill>
              <a:srgbClr val="1F386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846320" y="3840480"/>
            <a:ext cx="1097280" cy="685800"/>
          </a:xfrm>
          <a:prstGeom prst="line">
            <a:avLst/>
          </a:prstGeom>
          <a:ln w="20320">
            <a:solidFill>
              <a:srgbClr val="B86A00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651760" y="4114800"/>
            <a:ext cx="2971800" cy="640080"/>
          </a:xfrm>
          <a:prstGeom prst="line">
            <a:avLst/>
          </a:prstGeom>
          <a:ln w="20320">
            <a:solidFill>
              <a:srgbClr val="B86A00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5800" y="5742432"/>
            <a:ext cx="7360920" cy="40233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　患者の流れ　</a:t>
            </a: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／</a:t>
            </a:r>
            <a:r>
              <a:rPr sz="1000" b="1" i="0">
                <a:solidFill>
                  <a:srgbClr val="1F3864"/>
                </a:solidFill>
                <a:latin typeface="Meiryo UI"/>
                <a:ea typeface="Meiryo UI"/>
              </a:rPr>
              <a:t>　医師の人事・派遣（破線）　</a:t>
            </a: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／</a:t>
            </a:r>
            <a:r>
              <a:rPr sz="1000" b="1" i="0">
                <a:solidFill>
                  <a:srgbClr val="B86A00"/>
                </a:solidFill>
                <a:latin typeface="Meiryo UI"/>
                <a:ea typeface="Meiryo UI"/>
              </a:rPr>
              <a:t>　情報・診療方針の流れ（点線）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0" y="1645920"/>
            <a:ext cx="3246120" cy="2148840"/>
          </a:xfrm>
          <a:prstGeom prst="roundRect">
            <a:avLst>
              <a:gd name="adj" fmla="val 8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ctr">
              <a:spcAft>
                <a:spcPts val="800"/>
              </a:spcAft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描くもの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・大学／基幹病院／その他の施設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・重要な医師（誰が動かすか）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・患者の流れ（紹介・逆紹介）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・医師の人事・派遣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・情報／診療方針の流れ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・各施設の影響が及ぶ範囲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0" y="3931920"/>
            <a:ext cx="3246120" cy="233172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ctr">
              <a:spcAft>
                <a:spcPts val="800"/>
              </a:spcAft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描き方のルール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・丸の大きさ＝あなたが考える重要度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・大学を一番大きく描く必要はない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・きれいな図でなくてよい。手描きの丸と矢印で十分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・正解の型はない。人によって違う図になる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0" y="3931920"/>
            <a:ext cx="324612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描き方のルール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734056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①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全員が同じ図になる必要はありません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地域や施設構成によって、大学と基幹病院の関係はまったく違います。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一つの大学が中心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08760" y="3063240"/>
            <a:ext cx="1051560" cy="105156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10" name="Oval 9"/>
          <p:cNvSpPr/>
          <p:nvPr/>
        </p:nvSpPr>
        <p:spPr>
          <a:xfrm>
            <a:off x="2468880" y="384048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93192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00600"/>
            <a:ext cx="269748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大学の方針が範囲全体に波及する。医局人事と情報発信が効く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92024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複数の大学が並ぶ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1568" y="242316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858768" y="3108960"/>
            <a:ext cx="868680" cy="8686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16" name="Oval 15"/>
          <p:cNvSpPr/>
          <p:nvPr/>
        </p:nvSpPr>
        <p:spPr>
          <a:xfrm>
            <a:off x="5001768" y="3657600"/>
            <a:ext cx="868680" cy="8686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3DA574"/>
                </a:solidFill>
                <a:latin typeface="Meiryo UI"/>
                <a:ea typeface="Meiryo UI"/>
              </a:rPr>
              <a:t>B大</a:t>
            </a:r>
          </a:p>
        </p:txBody>
      </p:sp>
      <p:sp>
        <p:nvSpPr>
          <p:cNvPr id="17" name="Oval 16"/>
          <p:cNvSpPr/>
          <p:nvPr/>
        </p:nvSpPr>
        <p:spPr>
          <a:xfrm>
            <a:off x="4636008" y="292608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4800600"/>
            <a:ext cx="269748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1大学では範囲は動かない。両大学に共通する課題を探す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192024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基幹病院が中心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242316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3176" y="3108960"/>
            <a:ext cx="1097280" cy="1097280"/>
          </a:xfrm>
          <a:prstGeom prst="ellipse">
            <a:avLst/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1F3864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22" name="Oval 21"/>
          <p:cNvSpPr/>
          <p:nvPr/>
        </p:nvSpPr>
        <p:spPr>
          <a:xfrm>
            <a:off x="6620256" y="4023360"/>
            <a:ext cx="640080" cy="6400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23" name="Oval 22"/>
          <p:cNvSpPr/>
          <p:nvPr/>
        </p:nvSpPr>
        <p:spPr>
          <a:xfrm>
            <a:off x="8220456" y="3977639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CL群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4496" y="4800600"/>
            <a:ext cx="269748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症例数・実務の影響力は基幹病院。大学は研究・教育で効かせる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07424" y="192024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大学の影響が広域に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7424" y="242316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64624" y="3063240"/>
            <a:ext cx="1005840" cy="100584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28" name="Oval 27"/>
          <p:cNvSpPr/>
          <p:nvPr/>
        </p:nvSpPr>
        <p:spPr>
          <a:xfrm>
            <a:off x="10936224" y="301752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県外</a:t>
            </a:r>
          </a:p>
        </p:txBody>
      </p:sp>
      <p:sp>
        <p:nvSpPr>
          <p:cNvPr id="29" name="Oval 28"/>
          <p:cNvSpPr/>
          <p:nvPr/>
        </p:nvSpPr>
        <p:spPr>
          <a:xfrm>
            <a:off x="11027663" y="3977639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県外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07424" y="4800600"/>
            <a:ext cx="269748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先生の影響が担当範囲を超える。営業所・全国への展開を考える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943600"/>
            <a:ext cx="11109960" cy="384048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大事なのは正しい図を描くことではなく、</a:t>
            </a:r>
            <a:r>
              <a:rPr sz="1250" b="1" i="0">
                <a:solidFill>
                  <a:srgbClr val="C00000"/>
                </a:solidFill>
                <a:latin typeface="Meiryo UI"/>
                <a:ea typeface="Meiryo UI"/>
              </a:rPr>
              <a:t>「自分は任された範囲をこう見ている」を可視化すること</a:t>
            </a: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です。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自分の任された範囲を、1枚の図に描く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7360920" cy="658368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手元の紙に、あなたの担当範囲を描いてください。上手さは関係ありません。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68880"/>
            <a:ext cx="640080" cy="64008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4分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468880"/>
            <a:ext cx="65379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施設を丸で置く　</a:t>
            </a: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大学・基幹病院・その他。丸の大きさ＝あなたが考える重要度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46120"/>
            <a:ext cx="640080" cy="64008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3分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246120"/>
            <a:ext cx="65379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矢印を引く　</a:t>
            </a: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患者の流れ／医師の人事・派遣／情報・診療方針の流れ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023360"/>
            <a:ext cx="640080" cy="64008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3分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023360"/>
            <a:ext cx="65379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大学の丸に機能を書く　</a:t>
            </a: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診療・研究・教育・医局人事・医師派遣・情報発信・講演会から選ぶ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6320"/>
            <a:ext cx="7360920" cy="137160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描き終えたら、自分に問いかけてください。</a:t>
            </a:r>
          </a:p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Meiryo UI"/>
                <a:ea typeface="Meiryo UI"/>
              </a:rPr>
              <a:t>あなたの図で、大学は何番目に大きいですか？</a:t>
            </a:r>
          </a:p>
          <a:p>
            <a:pPr algn="l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一番大きくなくても、まったく問題ありません。それがあなたの範囲の実態です。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45920"/>
            <a:ext cx="3520440" cy="4572000"/>
          </a:xfrm>
          <a:prstGeom prst="roundRect">
            <a:avLst>
              <a:gd name="adj" fmla="val 6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ctr">
              <a:spcAft>
                <a:spcPts val="1200"/>
              </a:spcAft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迷ったときは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・施設が多すぎる → 重要そうな5〜6施設だけでOK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・重要度が決められない → 「この施設が変わったら、範囲全体が変わるか？」で判断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・矢印が分からない → 分からない線は点線＋「？」で描く。それが次に取りに行く情報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・大学が複数ある → 全部描く。関係が分からなければ、それも「？」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①　｜　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共有：あなたの範囲を、他の人に説明する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6858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3〜4人1組。1人1分で、自分の図を見せながら説明します。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話す人（1分）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18688"/>
            <a:ext cx="548640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この型で話してみてください：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「私の範囲は◯◯が中心です。大学は△△の機能で効いています。いま一番動かしたいのは□□です」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→ 大学が一番大きくない人は、その理由も添えてください。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6517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聞く人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218688"/>
            <a:ext cx="548640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質問はこの1つだけ：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 i="0">
                <a:solidFill>
                  <a:srgbClr val="1F3864"/>
                </a:solidFill>
                <a:latin typeface="Meiryo UI"/>
                <a:ea typeface="Meiryo UI"/>
              </a:rPr>
              <a:t>「なぜ、その施設が一番大きいのですか？」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答えに詰まったら、それは重要度の根拠がまだ言語化されていないということ。批判ではなく、深めるための質問です。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40680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500"/>
              </a:spcAft>
            </a:pPr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他の人の図は、最高の教材です。</a:t>
            </a:r>
          </a:p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「大学が中心じゃない範囲もあるのか」「その施設の見方があったか」— 自分の図の空白が見えてきます。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011680"/>
            <a:ext cx="2194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200" b="1" i="0">
                <a:solidFill>
                  <a:srgbClr val="1D7451"/>
                </a:solidFill>
                <a:latin typeface="Meiryo UI"/>
                <a:ea typeface="Meiryo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1828800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FE8D2"/>
                </a:solidFill>
                <a:latin typeface="Meiryo UI"/>
                <a:ea typeface="Meiryo UI"/>
              </a:rPr>
              <a:t>レクチャー&amp;ワーク②｜4Sシート　25分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3240" y="2286000"/>
            <a:ext cx="8503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500" b="1" i="0">
                <a:solidFill>
                  <a:srgbClr val="FFFFFF"/>
                </a:solidFill>
                <a:latin typeface="Meiryo UI"/>
                <a:ea typeface="Meiryo UI"/>
              </a:rPr>
              <a:t>その情報は、何のために使うのか</a:t>
            </a:r>
          </a:p>
        </p:txBody>
      </p:sp>
      <p:sp>
        <p:nvSpPr>
          <p:cNvPr id="7" name="Oval 6"/>
          <p:cNvSpPr/>
          <p:nvPr/>
        </p:nvSpPr>
        <p:spPr>
          <a:xfrm>
            <a:off x="3108960" y="393192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4005072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情報は、目的と仮説から逆算して取りに行く</a:t>
            </a:r>
          </a:p>
        </p:txBody>
      </p:sp>
      <p:sp>
        <p:nvSpPr>
          <p:cNvPr id="9" name="Oval 8"/>
          <p:cNvSpPr/>
          <p:nvPr/>
        </p:nvSpPr>
        <p:spPr>
          <a:xfrm>
            <a:off x="3108960" y="464515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718304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「要望に応える活動」から「課題から動かす活動」へ</a:t>
            </a:r>
          </a:p>
        </p:txBody>
      </p:sp>
      <p:sp>
        <p:nvSpPr>
          <p:cNvPr id="11" name="Oval 10"/>
          <p:cNvSpPr/>
          <p:nvPr/>
        </p:nvSpPr>
        <p:spPr>
          <a:xfrm>
            <a:off x="3108960" y="5358383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5431536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4Sは目的ではなく、自分の考えを整理する手段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734056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情報は、集めるほど良いわけではありません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教授の専門、医局員の横のつながり、派遣先、人事、研究内容 — 知ること自体は目的ではありません。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11109960" cy="566928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よくある順番：</a:t>
            </a: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情報を集める</a:t>
            </a:r>
            <a:r>
              <a:rPr sz="1300" b="0" i="0">
                <a:solidFill>
                  <a:srgbClr val="FFFFFF"/>
                </a:solidFill>
                <a:latin typeface="Meiryo UI"/>
                <a:ea typeface="Meiryo UI"/>
              </a:rPr>
              <a:t>　→　</a:t>
            </a: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何に使えるか考える</a:t>
            </a:r>
            <a:r>
              <a:rPr sz="1300" b="0" i="0">
                <a:solidFill>
                  <a:srgbClr val="FFFFFF"/>
                </a:solidFill>
                <a:latin typeface="Meiryo UI"/>
                <a:ea typeface="Meiryo UI"/>
              </a:rPr>
              <a:t>　→　集めたけれど活かせない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① 成功像を考える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502152"/>
            <a:ext cx="2084831" cy="10972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任された範囲を、どうしたいのか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60904" y="3035808"/>
            <a:ext cx="128016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07208" y="288036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② 役割を仮説化する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07208" y="3502152"/>
            <a:ext cx="2084831" cy="10972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大学・基幹病院に、どんな役割が必要か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19472" y="3035808"/>
            <a:ext cx="128016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65776" y="288036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③ 必要な情報を決める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5776" y="3502152"/>
            <a:ext cx="2084831" cy="10972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その仮説を確かめるには、何を知る必要があるか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178040" y="3035808"/>
            <a:ext cx="128016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24344" y="288036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④ 情報を取りに行く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24344" y="3502152"/>
            <a:ext cx="2084831" cy="10972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DAY3で学んだドライ／ウェットの方法で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436608" y="3035808"/>
            <a:ext cx="128016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582912" y="288036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⑤ 仮説と活動を直す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82912" y="3502152"/>
            <a:ext cx="2084831" cy="10972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違っていたら、成功像や打ち手を修正する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548872" y="3931920"/>
            <a:ext cx="0" cy="960120"/>
          </a:xfrm>
          <a:prstGeom prst="line">
            <a:avLst/>
          </a:prstGeom>
          <a:ln w="20320">
            <a:solidFill>
              <a:srgbClr val="3DA57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2960" y="4892040"/>
            <a:ext cx="10725912" cy="0"/>
          </a:xfrm>
          <a:prstGeom prst="line">
            <a:avLst/>
          </a:prstGeom>
          <a:ln w="20320">
            <a:solidFill>
              <a:srgbClr val="3DA57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Up Arrow 23"/>
          <p:cNvSpPr/>
          <p:nvPr/>
        </p:nvSpPr>
        <p:spPr>
          <a:xfrm>
            <a:off x="713232" y="3977639"/>
            <a:ext cx="219456" cy="914400"/>
          </a:xfrm>
          <a:prstGeom prst="up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23360" y="495604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28A54"/>
                </a:solidFill>
                <a:latin typeface="Meiryo UI"/>
                <a:ea typeface="Meiryo UI"/>
              </a:rPr>
              <a:t>← 回しながら精度を上げる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349240"/>
            <a:ext cx="11109960" cy="9144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500"/>
              </a:spcAft>
            </a:pPr>
            <a:r>
              <a:rPr sz="1550" b="1" i="0">
                <a:solidFill>
                  <a:srgbClr val="0B4F37"/>
                </a:solidFill>
                <a:latin typeface="Meiryo UI"/>
                <a:ea typeface="Meiryo UI"/>
              </a:rPr>
              <a:t>「何のためにその情報が必要なのか」が先にある。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範囲をどうしたいかというビジョンと、大学・基幹病院にどんな役割が要るかという仮説があるから、確かめるために情報を取りに行く。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734056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同じ「講演会」でも、価値がまったく違います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530352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A：要望に応える活動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大学から講演会を依頼された</a:t>
            </a:r>
          </a:p>
        </p:txBody>
      </p:sp>
      <p:sp>
        <p:nvSpPr>
          <p:cNvPr id="8" name="Down Arrow 7"/>
          <p:cNvSpPr/>
          <p:nvPr/>
        </p:nvSpPr>
        <p:spPr>
          <a:xfrm>
            <a:off x="3127248" y="2907791"/>
            <a:ext cx="329184" cy="219456"/>
          </a:xfrm>
          <a:prstGeom prst="down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127248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依頼どおりに企画・実施した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127248" y="3703320"/>
            <a:ext cx="329184" cy="219456"/>
          </a:xfrm>
          <a:prstGeom prst="down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3922776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大学の要望に応えられた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54880"/>
            <a:ext cx="54864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Meiryo UI"/>
                <a:ea typeface="Meiryo UI"/>
              </a:rPr>
              <a:t>担当者の介入価値が見えにくい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86400" cy="53035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B：範囲の課題から動かす活動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33172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任された範囲に、この課題がある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8750808" y="2907791"/>
            <a:ext cx="329184" cy="182880"/>
          </a:xfrm>
          <a:prstGeom prst="down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3090672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大学・基幹病院にも共通する課題だと分かった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750808" y="3666744"/>
            <a:ext cx="329184" cy="182880"/>
          </a:xfrm>
          <a:prstGeom prst="down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3849624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解決には、あの先生からこのメッセージが要る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8750808" y="4425696"/>
            <a:ext cx="329184" cy="182880"/>
          </a:xfrm>
          <a:prstGeom prst="down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2200" y="4608576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そのために講演会を企画する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54880"/>
            <a:ext cx="5486400" cy="6858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担当者が課題を捉え、大学を動かした活動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53212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実例：複数の大学がある地域で、一つの大学の要望に応えるのではなく、範囲全体の課題を起点に、各大学の考え方と関係性を踏まえて共通の方向へ乗せた講演会。</a:t>
            </a:r>
          </a:p>
          <a:p>
            <a:pPr algn="l"/>
            <a:r>
              <a:rPr sz="1300" b="1" i="0">
                <a:solidFill>
                  <a:srgbClr val="C00000"/>
                </a:solidFill>
                <a:latin typeface="Meiryo UI"/>
                <a:ea typeface="Meiryo UI"/>
              </a:rPr>
              <a:t>表面上はどちらも「講演会」。違いは、その手前で何を考えたかだけです。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734056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４Sは目的ではありません。整理するための手段です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４Sは、こういうものではない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5486400" cy="566928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✕　大学を攻略するための提出物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90087"/>
            <a:ext cx="5486400" cy="566928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✕　きれいに項目を埋めるシート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48455"/>
            <a:ext cx="5486400" cy="566928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✕　大学1施設の成功像をつくるもの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４Sは、こういうもの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331720"/>
            <a:ext cx="5486400" cy="56692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○　自分が考えた成功像・課題・原因を整理する道具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990087"/>
            <a:ext cx="5486400" cy="56692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○　大学・基幹病院の役割と、自分の介入点を決めるための道具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648455"/>
            <a:ext cx="5486400" cy="56692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○　次の行動を1つに絞り込むための道具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戦略は、一点に強く偏っていてもかまいません。</a:t>
            </a:r>
          </a:p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ある先生に特定のメッセージを発信してもらうことが範囲にとって最重要なら、それが戦略の中心になります。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394960"/>
            <a:ext cx="11109960" cy="8686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整った４Sをつくることより、</a:t>
            </a:r>
            <a:r>
              <a:rPr sz="1700" b="1" i="0">
                <a:solidFill>
                  <a:srgbClr val="FFC000"/>
                </a:solidFill>
                <a:latin typeface="Meiryo UI"/>
                <a:ea typeface="Meiryo UI"/>
              </a:rPr>
              <a:t>「なぜ、それが重要なのか」を説明できること</a:t>
            </a:r>
          </a:p>
          <a:p>
            <a:pPr algn="ctr"/>
            <a:r>
              <a:rPr sz="1200" b="0" i="0">
                <a:solidFill>
                  <a:srgbClr val="BFE8D2"/>
                </a:solidFill>
                <a:latin typeface="Meiryo UI"/>
                <a:ea typeface="Meiryo UI"/>
              </a:rPr>
              <a:t>シートはあくまで、考えを外に出すための一例です。図でも箇条書きでも構いません。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734056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４S ＋ α — 範囲の戦略を、7つの箱で言語化する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プロジェクトのゴール「担当施設と周辺エリアに対する成功像・現状・課題・解決法を言語化できる」を形にします。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5486400" cy="4572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① 成功像　</a:t>
            </a:r>
            <a:r>
              <a:rPr sz="1050" b="0" i="0">
                <a:solidFill>
                  <a:srgbClr val="FFFFFF"/>
                </a:solidFill>
                <a:latin typeface="Meiryo UI"/>
                <a:ea typeface="Meiryo UI"/>
              </a:rPr>
              <a:t>任された範囲が、こうなっていたら最高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20240"/>
            <a:ext cx="5486400" cy="4572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② 現状・課題　</a:t>
            </a:r>
            <a:r>
              <a:rPr sz="1050" b="0" i="0">
                <a:solidFill>
                  <a:srgbClr val="FFFFFF"/>
                </a:solidFill>
                <a:latin typeface="Meiryo UI"/>
                <a:ea typeface="Meiryo UI"/>
              </a:rPr>
              <a:t>成功像とのGAP。どこが、どう詰まっているか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423160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29000"/>
            <a:ext cx="5486400" cy="45720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③ 原因　</a:t>
            </a:r>
            <a:r>
              <a:rPr sz="1050" b="0" i="0">
                <a:solidFill>
                  <a:srgbClr val="FFFFFF"/>
                </a:solidFill>
                <a:latin typeface="Meiryo UI"/>
                <a:ea typeface="Meiryo UI"/>
              </a:rPr>
              <a:t>なぜそのGAPがあるのか（なぜ？を3回）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429000"/>
            <a:ext cx="5486400" cy="45720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④ 解決策　</a:t>
            </a:r>
            <a:r>
              <a:rPr sz="1050" b="0" i="0">
                <a:solidFill>
                  <a:srgbClr val="FFFFFF"/>
                </a:solidFill>
                <a:latin typeface="Meiryo UI"/>
                <a:ea typeface="Meiryo UI"/>
              </a:rPr>
              <a:t>GAPを埋めるために、何を起こすか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931920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5604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＋ 大学・基幹病院の役割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58968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どの施設の、どの機能を使うのか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8536" y="495604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＋ 自分の介入点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8536" y="5458968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自分にしかできないことは何か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28431" y="495604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＋ 次の行動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28431" y="5458968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明日、まず何をするか（1つだけ）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6108192"/>
            <a:ext cx="11109960" cy="36576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①〜④が「範囲をどうしたいか」、＋αが「そのために大学・基幹病院をどう使い、自分が何をするか」です。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734056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記入例：複数の大学がある地域（架空の例）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① 成功像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6712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範囲全体で、専門治療が必要な患者さんが、どの地域にいても適切なタイミングで専門医にたどり着いている。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91640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② 現状・課題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6712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紹介が遅い。地域差が大きい。A大学とB大学で治療方針の温度差があり、地域の医師がどちらに合わせるべきか迷っている。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91840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③ 原因（なぜ×3）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6732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なぜ遅い？→紹介の目安が共有されていない →なぜ？→範囲共通の基準がない →なぜ？→両大学が同じ場で話す機会がない。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④ 解決策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6732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両大学の先生が同席する会を企画し、範囲共通の紹介の目安を、両大学の連名で発信してもらう。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98848"/>
            <a:ext cx="2880360" cy="402336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＋ 大学・基幹病院の役割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4498848"/>
            <a:ext cx="8092440" cy="402336"/>
          </a:xfrm>
          <a:prstGeom prst="roundRect">
            <a:avLst>
              <a:gd name="adj" fmla="val 10000"/>
            </a:avLst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A大学＝情報発信（メッセージの発信源）／B大学＝地域連携の実務／基幹病院C＝受け皿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56048"/>
            <a:ext cx="2880360" cy="402336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＋ 自分の介入点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4956048"/>
            <a:ext cx="8092440" cy="402336"/>
          </a:xfrm>
          <a:prstGeom prst="roundRect">
            <a:avLst>
              <a:gd name="adj" fmla="val 10000"/>
            </a:avLst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両大学の関係性を踏まえた会の設計と、両医局長への事前相談は、範囲を見ている自分にしかできない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13248"/>
            <a:ext cx="2880360" cy="402336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＋ 次の行動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66160" y="5413248"/>
            <a:ext cx="8092440" cy="402336"/>
          </a:xfrm>
          <a:prstGeom prst="roundRect">
            <a:avLst>
              <a:gd name="adj" fmla="val 10000"/>
            </a:avLst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来週、A大学の医局長に「範囲の紹介の遅れ」について相談し、B大学との共催の可能性を確認する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943600"/>
            <a:ext cx="11109960" cy="384048"/>
          </a:xfrm>
          <a:prstGeom prst="roundRect">
            <a:avLst>
              <a:gd name="adj" fmla="val 15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C00000"/>
                </a:solidFill>
                <a:latin typeface="Meiryo UI"/>
                <a:ea typeface="Meiryo UI"/>
              </a:rPr>
              <a:t>注目：この会は「大学から頼まれた会」ではありません。範囲の課題から逆算して、担当者が設計した会です。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②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構造マップを、４S＋αに翻訳する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7360920" cy="6858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さきほど描いた図を横に置いて、範囲の戦略を言葉にします。完璧でなくて構いません。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14600"/>
            <a:ext cx="640080" cy="64008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3分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514600"/>
            <a:ext cx="65379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①成功像 ②現状・課題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図を見ながら「範囲がどうなっていたら最高か」から書く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640080" cy="64008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3分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291840"/>
            <a:ext cx="65379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③原因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「なぜ？」を3回。人・関係性・場・情報の4方向で探す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069080"/>
            <a:ext cx="640080" cy="64008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4分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069080"/>
            <a:ext cx="65379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＋α（役割・介入点・次の行動）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どの施設のどの機能を使うか。自分にしかできないことは何か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7360920" cy="132588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合言葉：整った４Sより、語れる４S。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空欄があってもかまいません。偏っていてもかまいません。1つでも「これが重要だ」と言い切れる箱があれば、今日は成功です。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45920"/>
            <a:ext cx="3520440" cy="4572000"/>
          </a:xfrm>
          <a:prstGeom prst="roundRect">
            <a:avLst>
              <a:gd name="adj" fmla="val 6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ctr">
              <a:spcAft>
                <a:spcPts val="1200"/>
              </a:spcAft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手が止まったら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・成功像が出ない → 「1年後、上司に自慢したい範囲の姿」を想像する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・課題が出ない → 図の中で詰まっている矢印を探す（紹介・人事・情報）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・原因が浅い → 「それでもうまくいっている地域があるのはなぜ？」と自問する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・役割が決まらない → 大学の7つの機能に戻り、必要なものを1つだけ選ぶ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②　｜　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共有：「なぜ、それが重要なのか」を語る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3〜4人1組。1人1分半。シートを読み上げるのではなく、自分の言葉で語ってください。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11109960" cy="12344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700"/>
              </a:spcAft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語り方の型</a:t>
            </a:r>
          </a:p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「私の範囲は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◯◯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が課題です。原因は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△△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。だから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□□先生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に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◇◇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してもらいます。そのために私は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☆☆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をします」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聞き手が聞く質問（1つだけ）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90288"/>
            <a:ext cx="548640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「なぜ、それが重要なのですか？」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答えられれば、その戦略はもう自分のものです。詰まったら、そこが次に考えるところ。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この共有のねらい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590288"/>
            <a:ext cx="548640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・他の人の範囲の見方を知る（アンケート期待1位）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・自分の戦略を、声に出して確かめる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・「大学の使い方」の引き出しを、全員で増やす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126480"/>
            <a:ext cx="11109960" cy="36576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595959"/>
                </a:solidFill>
                <a:latin typeface="Meiryo UI"/>
                <a:ea typeface="Meiryo UI"/>
              </a:rPr>
              <a:t>上手に語れなくて当然です。今日はじめて考えたことなので、詰まった箇所が持ち帰りの宿題になります。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011680"/>
            <a:ext cx="2194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200" b="1" i="0">
                <a:solidFill>
                  <a:srgbClr val="1D7451"/>
                </a:solidFill>
                <a:latin typeface="Meiryo UI"/>
                <a:ea typeface="Meiryo U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1828800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FE8D2"/>
                </a:solidFill>
                <a:latin typeface="Meiryo UI"/>
                <a:ea typeface="Meiryo UI"/>
              </a:rPr>
              <a:t>エリア戦略・まとめ　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3240" y="2286000"/>
            <a:ext cx="8503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500" b="1" i="0">
                <a:solidFill>
                  <a:srgbClr val="FFFFFF"/>
                </a:solidFill>
                <a:latin typeface="Meiryo UI"/>
                <a:ea typeface="Meiryo UI"/>
              </a:rPr>
              <a:t>そして、その先へ　Beyond</a:t>
            </a:r>
          </a:p>
        </p:txBody>
      </p:sp>
      <p:sp>
        <p:nvSpPr>
          <p:cNvPr id="7" name="Oval 6"/>
          <p:cNvSpPr/>
          <p:nvPr/>
        </p:nvSpPr>
        <p:spPr>
          <a:xfrm>
            <a:off x="3108960" y="393192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4005072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影響の輪：目の前の先生は、どこまで届くのか</a:t>
            </a:r>
          </a:p>
        </p:txBody>
      </p:sp>
      <p:sp>
        <p:nvSpPr>
          <p:cNvPr id="9" name="Oval 8"/>
          <p:cNvSpPr/>
          <p:nvPr/>
        </p:nvSpPr>
        <p:spPr>
          <a:xfrm>
            <a:off x="3108960" y="464515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718304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「この範囲は自分に任せてください」と言える状態へ</a:t>
            </a:r>
          </a:p>
        </p:txBody>
      </p:sp>
      <p:sp>
        <p:nvSpPr>
          <p:cNvPr id="11" name="Oval 10"/>
          <p:cNvSpPr/>
          <p:nvPr/>
        </p:nvSpPr>
        <p:spPr>
          <a:xfrm>
            <a:off x="3108960" y="5358383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5431536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会社の方針の中でも、自分の戦略を持つ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影響の輪 — 得た情報とメッセージを、どこまで届けるか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ここからは発展的な視点です。全員が今日到達する必要はありません。持ち帰ってみてください。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28</a:t>
            </a:r>
          </a:p>
        </p:txBody>
      </p:sp>
      <p:sp>
        <p:nvSpPr>
          <p:cNvPr id="7" name="Oval 6"/>
          <p:cNvSpPr/>
          <p:nvPr/>
        </p:nvSpPr>
        <p:spPr>
          <a:xfrm>
            <a:off x="1143000" y="1920239"/>
            <a:ext cx="4114800" cy="4114800"/>
          </a:xfrm>
          <a:prstGeom prst="ellipse">
            <a:avLst/>
          </a:prstGeom>
          <a:noFill/>
          <a:ln w="2032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77340" y="2354579"/>
            <a:ext cx="3246120" cy="3246120"/>
          </a:xfrm>
          <a:prstGeom prst="ellipse">
            <a:avLst/>
          </a:prstGeom>
          <a:noFill/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11680" y="2788920"/>
            <a:ext cx="2377440" cy="2377440"/>
          </a:xfrm>
          <a:prstGeom prst="ellipse">
            <a:avLst/>
          </a:prstGeom>
          <a:noFill/>
          <a:ln w="2032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446020" y="3223259"/>
            <a:ext cx="1508760" cy="1508760"/>
          </a:xfrm>
          <a:prstGeom prst="ellipse">
            <a:avLst/>
          </a:prstGeom>
          <a:noFill/>
          <a:ln w="2032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1975103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DA574"/>
                </a:solidFill>
                <a:latin typeface="Meiryo UI"/>
                <a:ea typeface="Meiryo UI"/>
              </a:rPr>
              <a:t>施設の中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40944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関連病院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84378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B5C99"/>
                </a:solidFill>
                <a:latin typeface="Meiryo UI"/>
                <a:ea typeface="Meiryo UI"/>
              </a:rPr>
              <a:t>担当範囲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278123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F3864"/>
                </a:solidFill>
                <a:latin typeface="Meiryo UI"/>
                <a:ea typeface="Meiryo UI"/>
              </a:rPr>
              <a:t>営業所・営業部</a:t>
            </a:r>
          </a:p>
        </p:txBody>
      </p:sp>
      <p:sp>
        <p:nvSpPr>
          <p:cNvPr id="15" name="Oval 14"/>
          <p:cNvSpPr/>
          <p:nvPr/>
        </p:nvSpPr>
        <p:spPr>
          <a:xfrm>
            <a:off x="2852928" y="3630168"/>
            <a:ext cx="694944" cy="694944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0B4F37"/>
                </a:solidFill>
                <a:latin typeface="Meiryo UI"/>
                <a:ea typeface="Meiryo UI"/>
              </a:rPr>
              <a:t>先生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806440"/>
            <a:ext cx="507492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※ 大学の先生が、担当範囲を超えて広域・全国に影響を持つこともある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874519"/>
            <a:ext cx="534924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他の大学・基幹病院へ広げる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同じ課題を持つ施設は、範囲の中に必ずある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944368"/>
            <a:ext cx="534924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他の担当MRの活動に活かす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自分が得た情報は、チームの武器になる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014215"/>
            <a:ext cx="534924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講演会・研究会で発信する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1対1の面会では届かない範囲に、一度に届く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5084064"/>
            <a:ext cx="534924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疾患啓発へつなげる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担当範囲を超えて、患者さんの流れそのものを変える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5806440"/>
            <a:ext cx="5349240" cy="50292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一施設で終わらせない。それが大学担当の価値。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BFE8D2"/>
                </a:solidFill>
                <a:latin typeface="Meiryo UI"/>
                <a:ea typeface="Meiryo UI"/>
              </a:rPr>
              <a:t>大学担当者として、目指す状態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1109960" cy="123444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「この範囲は、自分に任せてください。</a:t>
            </a:r>
          </a:p>
          <a:p>
            <a:pPr algn="ctr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そのために、大学をこう使います」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Meiryo UI"/>
                <a:ea typeface="Meiryo UI"/>
              </a:rPr>
              <a:t>と、自分の言葉で説明できる状態。そのために、次の5つを自分なりに考えます。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20440"/>
            <a:ext cx="2084831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01</a:t>
            </a:r>
          </a:p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どの施設を優先するか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07208" y="3520440"/>
            <a:ext cx="2084831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02</a:t>
            </a:r>
          </a:p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大学と基幹病院を、どう組み合わせるか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65776" y="3520440"/>
            <a:ext cx="2084831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03</a:t>
            </a:r>
          </a:p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誰の影響力を使うか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24344" y="3520440"/>
            <a:ext cx="2084831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04</a:t>
            </a:r>
          </a:p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どの情報を、取りに行くか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82912" y="3520440"/>
            <a:ext cx="2084831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05</a:t>
            </a:r>
          </a:p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どんな施策を打つか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0060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一施設の担当者という視点ではなく、営業所・営業部に近い視座で考えてみる。</a:t>
            </a:r>
          </a:p>
          <a:p>
            <a:pPr algn="ctr"/>
            <a:r>
              <a:rPr sz="1350" b="1" i="0">
                <a:solidFill>
                  <a:srgbClr val="FFC000"/>
                </a:solidFill>
                <a:latin typeface="Meiryo UI"/>
                <a:ea typeface="Meiryo UI"/>
              </a:rPr>
              <a:t>指示された活動をこなす人ではなく、任された範囲に責任を持ち、活動を設計・提案できる人へ。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71500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BFE8D2"/>
                </a:solidFill>
                <a:latin typeface="Meiryo UI"/>
                <a:ea typeface="Meiryo UI"/>
              </a:rPr>
              <a:t>現実には、会社の方針や予算で、最適でない施策を行うこともあります。それでも、自分の範囲を理解していれば</a:t>
            </a: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「予算があるなら、こちらの施策のほうが成果につながります」と提案できる。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WRAP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30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892807"/>
            <a:ext cx="731520" cy="73152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783080"/>
            <a:ext cx="101955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28A54"/>
                </a:solidFill>
                <a:latin typeface="Meiryo UI"/>
                <a:ea typeface="Meiryo UI"/>
              </a:rPr>
              <a:t>大学の攻略が目的ではない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任された範囲を攻略するために、大学を使う。大学が一番大きいとは限らない。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990088"/>
            <a:ext cx="731520" cy="7315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2880360"/>
            <a:ext cx="101955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Meiryo UI"/>
                <a:ea typeface="Meiryo UI"/>
              </a:rPr>
              <a:t>情報は、目的と仮説から逆算する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成功像 → 大学・基幹病院に求める役割の仮説 → 必要な情報 → 取りに行く → 修正。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87368"/>
            <a:ext cx="731520" cy="731520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3977639"/>
            <a:ext cx="101955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B86A00"/>
                </a:solidFill>
                <a:latin typeface="Meiryo UI"/>
                <a:ea typeface="Meiryo UI"/>
              </a:rPr>
              <a:t>４Sは手段。語れることが目的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整ったシートより、「なぜそれが重要か」を自分の言葉で説明できること。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20640"/>
            <a:ext cx="11109960" cy="11430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今日の持ち帰りは、これだけで十分です。</a:t>
            </a:r>
          </a:p>
          <a:p>
            <a:pPr algn="ctr"/>
            <a:r>
              <a:rPr sz="2200" b="1" i="0">
                <a:solidFill>
                  <a:srgbClr val="FFC000"/>
                </a:solidFill>
                <a:latin typeface="Meiryo UI"/>
                <a:ea typeface="Meiryo UI"/>
              </a:rPr>
              <a:t>一度、大学という枠を外して、自分の範囲を眺めてみる。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25856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ACTION　｜　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行動宣言 — 明日からの一手を、1人1行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96012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262626"/>
                </a:solidFill>
                <a:latin typeface="Meiryo UI"/>
                <a:ea typeface="Meiryo UI"/>
              </a:rPr>
              <a:t>今日つくった図とシートから</a:t>
            </a: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「明日やること」を1つだけ</a:t>
            </a:r>
            <a:r>
              <a:rPr sz="1700" b="1" i="0">
                <a:solidFill>
                  <a:srgbClr val="262626"/>
                </a:solidFill>
                <a:latin typeface="Meiryo UI"/>
                <a:ea typeface="Meiryo UI"/>
              </a:rPr>
              <a:t>選び、チャットに投稿してください</a:t>
            </a:r>
          </a:p>
          <a:p>
            <a:pPr algn="ctr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宣言した瞬間、研修は「聞いた話」から「自分の計画」に変わります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926080"/>
            <a:ext cx="1371600" cy="65836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例①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2926080"/>
            <a:ext cx="964692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「自分の範囲の図で『？』にした線を、来週の面会で1つ確認する」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03320"/>
            <a:ext cx="1371600" cy="65836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例②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3703320"/>
            <a:ext cx="964692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「A大学の医局長に、B大学との関係について聞いてみる」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480559"/>
            <a:ext cx="1371600" cy="658368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例③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4480559"/>
            <a:ext cx="964692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「描いた図を上司に見せて、施設の優先順位が合っているか相談する」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49240"/>
            <a:ext cx="11109960" cy="91440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500"/>
              </a:spcAft>
            </a:pPr>
            <a:r>
              <a:rPr sz="1450" b="1" i="0">
                <a:solidFill>
                  <a:srgbClr val="C00000"/>
                </a:solidFill>
                <a:latin typeface="Meiryo UI"/>
                <a:ea typeface="Meiryo UI"/>
              </a:rPr>
              <a:t>コツは「電話1本サイズ」に割ること。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　最初の一歩が小さいほど、実行されます。</a:t>
            </a:r>
          </a:p>
          <a:p>
            <a:pPr algn="ctr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投稿された宣言と気づきは、事務局が集約し、録画・資料とあわせて全員（欠席者含む）へ共有します。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0020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Meiryo UI"/>
                <a:ea typeface="Meiryo UI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8346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FE8D2"/>
                </a:solidFill>
                <a:latin typeface="Meiryo UI"/>
                <a:ea typeface="Meiryo UI"/>
              </a:rPr>
              <a:t>4回シリーズ、おつかれさまでした。ここからが本番です。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794760"/>
            <a:ext cx="3246120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FFC000"/>
                </a:solidFill>
                <a:latin typeface="Meiryo UI"/>
                <a:ea typeface="Meiryo UI"/>
              </a:rPr>
              <a:t>今日中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行動宣言と気づきをチャットへ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794760"/>
            <a:ext cx="3246120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FFC000"/>
                </a:solidFill>
                <a:latin typeface="Meiryo UI"/>
                <a:ea typeface="Meiryo UI"/>
              </a:rPr>
              <a:t>今週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気づきリスト・録画・テンプレートを事務局から共有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3794760"/>
            <a:ext cx="3246120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FFC000"/>
                </a:solidFill>
                <a:latin typeface="Meiryo UI"/>
                <a:ea typeface="Meiryo UI"/>
              </a:rPr>
              <a:t>これから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困ったら、全国の仲間に相談を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406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FE8D2"/>
                </a:solidFill>
                <a:latin typeface="Meiryo UI"/>
                <a:ea typeface="Meiryo UI"/>
              </a:rPr>
              <a:t>「この範囲は、自分に任せてください。そのために、大学をこう使います」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構造マップ テンプレート（印刷・配布用）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8138160" cy="416052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私の任された範囲（　　　　　　　　　　　　　　　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この枠の中に、施設を丸で置いてください。丸の大きさ＝あなたが考える重要度です。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554480"/>
            <a:ext cx="2743200" cy="2011680"/>
          </a:xfrm>
          <a:prstGeom prst="roundRect">
            <a:avLst>
              <a:gd name="adj" fmla="val 8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ctr">
              <a:spcAft>
                <a:spcPts val="800"/>
              </a:spcAft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描く要素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□ 大学／基幹病院／その他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□ 重要な医師（誰が動かす？）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□ 患者の流れ（実線）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□ 人事・派遣（破線）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□ 情報・方針（点線）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703320"/>
            <a:ext cx="2743200" cy="201168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ctr">
              <a:spcAft>
                <a:spcPts val="8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使う「機能」を書き込む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診療／研究／教育／医局人事／医師派遣／情報発信／講演会・研究会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B86A00"/>
                </a:solidFill>
                <a:latin typeface="Meiryo UI"/>
                <a:ea typeface="Meiryo UI"/>
              </a:rPr>
              <a:t>→ この課題を解くのに必要な機能を、丸の中に書く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897880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問い：あなたの図で、大学は何番目に大きいですか？　その理由を説明できますか？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４S ＋ α シート テンプレート（印刷・配布用）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範囲名（　　　　　　　　　　）　作成日（　　／　　）　作成者（　　　　　　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5486400" cy="41148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① 成功像　—　範囲がこうなっていたら最高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486400" cy="41148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② 現状・課題　—　成功像とのGAP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24028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00400"/>
            <a:ext cx="5486400" cy="41148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③ 原因　—　なぜ？×3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5760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200400"/>
            <a:ext cx="5486400" cy="41148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④ 解決策　—　何を起こすか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65760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1772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＋ 大学・基幹病院の役割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7492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8536" y="461772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＋ 自分の介入点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8536" y="507492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28431" y="461772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＋ 次の行動（1つだけ）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28431" y="507492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989320"/>
            <a:ext cx="11109960" cy="384048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0B4F37"/>
                </a:solidFill>
                <a:latin typeface="Meiryo UI"/>
                <a:ea typeface="Meiryo UI"/>
              </a:rPr>
              <a:t>セルフチェック：　□ 主語は「範囲」になっているか　　□ 使う機能を選べているか　　□ 「なぜ重要か」を語れるか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施設の中を見るとき — キーパーソン5つの問い（DAY1の復習）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範囲全体の図を描いたあと、重要施設の「中」を見るときに使ってください。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35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965960"/>
            <a:ext cx="548640" cy="54864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Q1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1965960"/>
            <a:ext cx="749807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治療方針は、誰の一言で決まる？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965960"/>
            <a:ext cx="2743200" cy="54864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◎ 方針決定者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606039"/>
            <a:ext cx="548640" cy="54864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Q2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80160" y="2606039"/>
            <a:ext cx="749807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新しい治療を最初に試すのは、誰？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2606039"/>
            <a:ext cx="2743200" cy="54864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○ アーリーアダプター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Q3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3246120"/>
            <a:ext cx="749807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若手が困ったとき、誰に聞きに行く？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3246120"/>
            <a:ext cx="2743200" cy="54864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B86A00"/>
                </a:solidFill>
                <a:latin typeface="Meiryo UI"/>
                <a:ea typeface="Meiryo UI"/>
              </a:rPr>
              <a:t>★ 情報ハブ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Q4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80160" y="3886200"/>
            <a:ext cx="749807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紹介患者の受け入れ・行き先を差配するのは、誰？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3886200"/>
            <a:ext cx="2743200" cy="54864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◇ 連携の要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526280"/>
            <a:ext cx="548640" cy="54864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Q5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80160" y="4526280"/>
            <a:ext cx="749807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研究会・講演会など「外の顔」は、誰？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400" y="4526280"/>
            <a:ext cx="2743200" cy="54864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□ 対外の顔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230368"/>
            <a:ext cx="11109960" cy="100584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450" b="1" i="0">
                <a:solidFill>
                  <a:srgbClr val="C00000"/>
                </a:solidFill>
                <a:latin typeface="Meiryo UI"/>
                <a:ea typeface="Meiryo UI"/>
              </a:rPr>
              <a:t>5つの答えは同一人物とは限りません。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「教授＝キーパーソン」と決めつけた瞬間、他の4人が見えなくなります。</a:t>
            </a:r>
          </a:p>
          <a:p>
            <a:pPr algn="l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学会の重鎮（KOL）と、その施設で物事を動かす人は別モノ。範囲の図の中で、誰の影響力を使うかを決めてから中に入りましょう。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大学の「肩書き」早見表 — 立場の読み方と注意点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院内の本流ライン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572768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読み違えやすい肩書き（要・個別確認）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2140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教授（診療科長）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方針・人事の最終決定者。ただし多忙で、現場の細部は下のポジションが握っていることが多い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0896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准教授・講師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実務の要であり、次期教授候補。3年後のキーパーソンとして関係構築は先行投資になる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96512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助教・医員・専攻医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実処方と臨床研究の担い手。数年後、関連病院の幹部として範囲の中に散っていく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084064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医局長（呼称は大学ごと）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人事実務・外部窓口の情報ハブ。講演依頼・面会調整はまずこの人、という大学が多い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2140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特任教授・特任講師 など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特定プロジェクトや資金で任用。医局ラインの人事権・決定権とは別枠のことが多い → 役割を個別確認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10896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客員・非常勤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本務は他施設。院内の決定権は限定的だが、施設間ネットワークのハブになっていることがある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096512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名誉教授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退官後の称号で現役の決定権はない。ただし人脈・影響力は健在。研究会や講演会の重鎮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5084064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寄附講座（教員）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寄附により設置された講座。本流医局との距離感は大学ごとに全く違う → 最初に立ち位置を確認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053328"/>
            <a:ext cx="11109960" cy="36576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肩書きは「地図の記号」。同じ肩書きでも大学ごとに意味が違います — 実際の力関係は、必ず個別に確かめましょう。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大学活動 コンプライアンスの5原則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アンケートの不安「寄附金・広告協賛・宣伝許可・施設ルール」に応えて。攻める活動ほど、守りが土台になります。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① 施設ルールが最優先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965960"/>
            <a:ext cx="7178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訪問・面会・資材配布のルールは施設ごとに違う。着任時と変更時に必ず確認し、迷ったら守りに倒す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88920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② 寄附金・広告協賛は「その場で約束しない」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788920"/>
            <a:ext cx="7178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依頼を受けたら即答せず、必ず社内の申請・審査手続きに乗せる。誠実な「持ち帰ります」は信頼を損なわない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11879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③ 宣伝許可・採用ルールは現行の文書で確認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3611879"/>
            <a:ext cx="7178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「前任者がやっていた」は根拠にならない。DAY1で学んだ院内運用の確認を、毎回やり直す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34840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④ 迷ったら自己判断しない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4434840"/>
            <a:ext cx="7178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判断基準はプロモーションコードと社内SOP。少しでも迷ったら上司・コンプライアンス部門に相談してから動く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257800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⑤ 記録を残す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5257800"/>
            <a:ext cx="7178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依頼・回答・手続きの経緯を記録に残す。誠実さの証明であり、先生と自分の両方を守る武器になる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614476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595959"/>
                </a:solidFill>
                <a:latin typeface="Meiryo UI"/>
                <a:ea typeface="Meiryo UI"/>
              </a:rPr>
              <a:t>※ 本スライドは一般的な注意喚起です。個別の案件は、必ず最新の社内規程と担当部門の指示に従ってください。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ファシリテーター用メモ（進行のコツ）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DAY4｜ちょっと分かるだけで世界が変わる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86400" cy="47548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事前準備・時間管理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30552"/>
            <a:ext cx="5486400" cy="15361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・事前案内：A4白紙1枚とペンを持参、担当範囲の施設を思い出してくる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・録画を回し、気づきリストとセットで欠席者へ共有（アンケートで要望多数）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・ワークは「あと2分」を予告してから切る。2ブロックの時間配分を最優先で守る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00200"/>
            <a:ext cx="5486400" cy="47548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場づくり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30552"/>
            <a:ext cx="5486400" cy="15361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・チェックインは進行役が最初に投稿し、投稿のハードルを下げる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・「大学が一番大きくない図」が出たら、その場で全体に紹介する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・ワーク中は沈黙OKと伝える。ブレイクアウトは各室を1周して1声かけ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840480"/>
            <a:ext cx="5486400" cy="47548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つまずき対応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70832"/>
            <a:ext cx="5486400" cy="15361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・図が描けない人には「重要そうな5施設だけ」と伝える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・「正解がない」ことに戸惑う人には、4パターンのスライドに戻る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・4Sが埋まらない人には「1箱でも言い切れれば成功」と伝える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86400" cy="47548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Beyondの扱い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370832"/>
            <a:ext cx="5486400" cy="15361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・Beyondは全員必達にしない。「考え方の紹介」として軽く置く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・難しくしすぎて手が止まるより、「大学の枠を外す」体験の持ち帰りを優先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・最終回なので、シリーズ全体の感想を1言ずつ集めてから終える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14476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本資料の事例・人名はすべて架空です。実施設の情報を扱う際は、社内の情報取り扱いルールに従ってください。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Emerald Chic">
  <a:themeElements>
    <a:clrScheme name="Novartis 2025">
      <a:dk1>
        <a:srgbClr val="0E322A"/>
      </a:dk1>
      <a:lt1>
        <a:srgbClr val="F7FBF8"/>
      </a:lt1>
      <a:dk2>
        <a:srgbClr val="173A32"/>
      </a:dk2>
      <a:lt2>
        <a:srgbClr val="DDEAE1"/>
      </a:lt2>
      <a:accent1>
        <a:srgbClr val="0D8B5F"/>
      </a:accent1>
      <a:accent2>
        <a:srgbClr val="14543F"/>
      </a:accent2>
      <a:accent3>
        <a:srgbClr val="4C6F62"/>
      </a:accent3>
      <a:accent4>
        <a:srgbClr val="A7D7BF"/>
      </a:accent4>
      <a:accent5>
        <a:srgbClr val="B7CDC2"/>
      </a:accent5>
      <a:accent6>
        <a:srgbClr val="E8F2EC"/>
      </a:accent6>
      <a:hlink>
        <a:srgbClr val="14543F"/>
      </a:hlink>
      <a:folHlink>
        <a:srgbClr val="4C6F62"/>
      </a:folHlink>
    </a:clrScheme>
    <a:fontScheme name="Novartis 2025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108000" rIns="108000" bIns="108000" rtlCol="0" anchor="t"/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>
      <a:srgbClr val="0D8B5F"/>
    </a:custClr>
    <a:custClr>
      <a:srgbClr val="C9D9F9"/>
    </a:custClr>
  </a:custClrLst>
  <a:extLst>
    <a:ext uri="{05A4C25C-085E-4340-85A3-A5531E510DB2}">
      <thm15:themeFamily xmlns:thm15="http://schemas.microsoft.com/office/thememl/2012/main" name="Novartis PowerPoint" id="{46FD7BFE-C972-1446-9555-CBDA807834FC}" vid="{71B7A1DA-CA9E-CE4E-99A9-0C1B386393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4993</Words>
  <Application>Microsoft Macintosh PowerPoint</Application>
  <PresentationFormat>ワイド画面</PresentationFormat>
  <Paragraphs>834</Paragraphs>
  <Slides>47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47</vt:i4>
      </vt:variant>
    </vt:vector>
  </HeadingPairs>
  <TitlesOfParts>
    <vt:vector size="53" baseType="lpstr">
      <vt:lpstr>HG創英ﾌﾟﾚｾﾞﾝｽEB</vt:lpstr>
      <vt:lpstr>Meiryo UI</vt:lpstr>
      <vt:lpstr>Arial</vt:lpstr>
      <vt:lpstr>Calibri</vt:lpstr>
      <vt:lpstr>Office Theme</vt:lpstr>
      <vt:lpstr>Emerald Chic</vt:lpstr>
      <vt:lpstr>Renal　MR　スキルアッププロジェクトDAY４　</vt:lpstr>
      <vt:lpstr>■オープニング　5分 ■レクチャー&amp;ワーク①「構造マップ」 ■レクチャー&amp;ワーク②「4Sシート」 ■エリア戦略・まとめ　5分</vt:lpstr>
      <vt:lpstr>集めた情報、次の一手は？、、、</vt:lpstr>
      <vt:lpstr>Renal 大学/基幹病院担当者スキルアッププロジェクト</vt:lpstr>
      <vt:lpstr>Renal 大学/基幹病院担当者スキルアッププロジェクト</vt:lpstr>
      <vt:lpstr>Renal 大学/基幹病院担当者スキルアッププロジェクト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拓也 井上</cp:lastModifiedBy>
  <cp:revision>1</cp:revision>
  <dcterms:created xsi:type="dcterms:W3CDTF">2013-01-27T09:14:16Z</dcterms:created>
  <dcterms:modified xsi:type="dcterms:W3CDTF">2026-07-27T11:49:09Z</dcterms:modified>
  <cp:category/>
</cp:coreProperties>
</file>