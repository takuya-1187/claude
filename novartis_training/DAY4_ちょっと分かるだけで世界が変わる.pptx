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面談で、先生のどんな言葉から始まりましたか？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TextBox 4"/>
          <p:cNvSpPr txBox="1"/>
          <p:nvPr/>
        </p:nvSpPr>
        <p:spPr>
          <a:xfrm>
            <a:off x="548640" y="1298448"/>
            <a:ext cx="11155680" cy="274320"/>
          </a:xfrm>
          <a:prstGeom prst="rect">
            <a:avLst/>
          </a:prstGeom>
          <a:noFill/>
        </p:spPr>
        <p:txBody>
          <a:bodyPr wrap="square" lIns="0" rIns="0" tIns="0" bIns="0" anchor="t">
            <a:spAutoFit/>
          </a:bodyPr>
          <a:lstStyle/>
          <a:p>
            <a:pPr algn="l"/>
            <a:r>
              <a:rPr sz="1200" b="0" i="0">
                <a:solidFill>
                  <a:srgbClr val="595959"/>
                </a:solidFill>
                <a:latin typeface="Meiryo UI"/>
                <a:ea typeface="Meiryo UI"/>
              </a:rPr>
              <a:t>書記の方へ ─ 先生の言葉はそのまま、Needsは「状態」の形で書いてください。</a:t>
            </a:r>
          </a:p>
        </p:txBody>
      </p:sp>
      <p:sp>
        <p:nvSpPr>
          <p:cNvPr id="6" name="Rounded Rectangle 5"/>
          <p:cNvSpPr/>
          <p:nvPr/>
        </p:nvSpPr>
        <p:spPr>
          <a:xfrm>
            <a:off x="548640" y="1600200"/>
            <a:ext cx="3566160" cy="54864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出てきた Wants</a:t>
            </a:r>
          </a:p>
          <a:p>
            <a:pPr algn="ctr"/>
            <a:r>
              <a:rPr sz="1000" b="0" i="0">
                <a:solidFill>
                  <a:srgbClr val="FFFFFF"/>
                </a:solidFill>
                <a:latin typeface="Meiryo UI"/>
                <a:ea typeface="Meiryo UI"/>
              </a:rPr>
              <a:t>先生が言った言葉のまま</a:t>
            </a:r>
          </a:p>
        </p:txBody>
      </p:sp>
      <p:sp>
        <p:nvSpPr>
          <p:cNvPr id="7" name="Rounded Rectangle 6"/>
          <p:cNvSpPr/>
          <p:nvPr/>
        </p:nvSpPr>
        <p:spPr>
          <a:xfrm>
            <a:off x="4160520" y="1600200"/>
            <a:ext cx="3657600" cy="54864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汲み取った Needs</a:t>
            </a:r>
          </a:p>
          <a:p>
            <a:pPr algn="ctr"/>
            <a:r>
              <a:rPr sz="1000" b="0" i="0">
                <a:solidFill>
                  <a:srgbClr val="FFFFFF"/>
                </a:solidFill>
                <a:latin typeface="Meiryo UI"/>
                <a:ea typeface="Meiryo UI"/>
              </a:rPr>
              <a:t>なぜ、そう言ったのか</a:t>
            </a:r>
          </a:p>
        </p:txBody>
      </p:sp>
      <p:sp>
        <p:nvSpPr>
          <p:cNvPr id="8" name="Rounded Rectangle 7"/>
          <p:cNvSpPr/>
          <p:nvPr/>
        </p:nvSpPr>
        <p:spPr>
          <a:xfrm>
            <a:off x="7863840" y="1600200"/>
            <a:ext cx="3794760" cy="54864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300" b="1" i="0">
                <a:solidFill>
                  <a:srgbClr val="FFFFFF"/>
                </a:solidFill>
                <a:latin typeface="Meiryo UI"/>
                <a:ea typeface="Meiryo UI"/>
              </a:rPr>
              <a:t>活動・提案がどう変わったか</a:t>
            </a:r>
          </a:p>
          <a:p>
            <a:pPr algn="ctr"/>
            <a:r>
              <a:rPr sz="1000" b="0" i="0">
                <a:solidFill>
                  <a:srgbClr val="FFFFFF"/>
                </a:solidFill>
                <a:latin typeface="Meiryo UI"/>
                <a:ea typeface="Meiryo UI"/>
              </a:rPr>
              <a:t>その後、何を変えたか</a:t>
            </a:r>
          </a:p>
        </p:txBody>
      </p:sp>
      <p:sp>
        <p:nvSpPr>
          <p:cNvPr id="9" name="Rounded Rectangle 8"/>
          <p:cNvSpPr/>
          <p:nvPr/>
        </p:nvSpPr>
        <p:spPr>
          <a:xfrm>
            <a:off x="548640" y="2212848"/>
            <a:ext cx="11109960" cy="237744"/>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l"/>
            <a:r>
              <a:rPr sz="1050" b="1" i="0">
                <a:solidFill>
                  <a:srgbClr val="0B4F37"/>
                </a:solidFill>
                <a:latin typeface="Meiryo UI"/>
                <a:ea typeface="Meiryo UI"/>
              </a:rPr>
              <a:t>記入例 ─ 基幹病院 腎臓内科部長との面談から</a:t>
            </a:r>
          </a:p>
        </p:txBody>
      </p:sp>
      <p:sp>
        <p:nvSpPr>
          <p:cNvPr id="10" name="Rounded Rectangle 9"/>
          <p:cNvSpPr/>
          <p:nvPr/>
        </p:nvSpPr>
        <p:spPr>
          <a:xfrm>
            <a:off x="548640" y="2487168"/>
            <a:ext cx="35661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「関連病院の先生にも、うちの診断の考え方を知ってもらいたいんだよね」</a:t>
            </a:r>
          </a:p>
        </p:txBody>
      </p:sp>
      <p:sp>
        <p:nvSpPr>
          <p:cNvPr id="11" name="Rounded Rectangle 10"/>
          <p:cNvSpPr/>
          <p:nvPr/>
        </p:nvSpPr>
        <p:spPr>
          <a:xfrm>
            <a:off x="4160520" y="2487168"/>
            <a:ext cx="365760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関連病院ごとに紹介の時期がばらつき、進行してから来る患者が多い</a:t>
            </a:r>
          </a:p>
        </p:txBody>
      </p:sp>
      <p:sp>
        <p:nvSpPr>
          <p:cNvPr id="12" name="Rounded Rectangle 11"/>
          <p:cNvSpPr/>
          <p:nvPr/>
        </p:nvSpPr>
        <p:spPr>
          <a:xfrm>
            <a:off x="7863840" y="2487168"/>
            <a:ext cx="3794760" cy="640080"/>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資料を渡すのをやめ、先生を演者にした症例検討会を病院と共同で企画</a:t>
            </a:r>
          </a:p>
        </p:txBody>
      </p:sp>
      <p:sp>
        <p:nvSpPr>
          <p:cNvPr id="13" name="Rounded Rectangle 12"/>
          <p:cNvSpPr/>
          <p:nvPr/>
        </p:nvSpPr>
        <p:spPr>
          <a:xfrm>
            <a:off x="548640" y="3236976"/>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4" name="Rounded Rectangle 13"/>
          <p:cNvSpPr/>
          <p:nvPr/>
        </p:nvSpPr>
        <p:spPr>
          <a:xfrm>
            <a:off x="4160520" y="3236976"/>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5" name="Rounded Rectangle 14"/>
          <p:cNvSpPr/>
          <p:nvPr/>
        </p:nvSpPr>
        <p:spPr>
          <a:xfrm>
            <a:off x="7863840" y="3236976"/>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6" name="Rounded Rectangle 15"/>
          <p:cNvSpPr/>
          <p:nvPr/>
        </p:nvSpPr>
        <p:spPr>
          <a:xfrm>
            <a:off x="548640" y="4133087"/>
            <a:ext cx="35661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7" name="Rounded Rectangle 16"/>
          <p:cNvSpPr/>
          <p:nvPr/>
        </p:nvSpPr>
        <p:spPr>
          <a:xfrm>
            <a:off x="4160520" y="4133087"/>
            <a:ext cx="365760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8" name="Rounded Rectangle 17"/>
          <p:cNvSpPr/>
          <p:nvPr/>
        </p:nvSpPr>
        <p:spPr>
          <a:xfrm>
            <a:off x="7863840" y="4133087"/>
            <a:ext cx="3794760" cy="84124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19" name="Rounded Rectangle 18"/>
          <p:cNvSpPr/>
          <p:nvPr/>
        </p:nvSpPr>
        <p:spPr>
          <a:xfrm>
            <a:off x="548640" y="5029200"/>
            <a:ext cx="35661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0" name="Rounded Rectangle 19"/>
          <p:cNvSpPr/>
          <p:nvPr/>
        </p:nvSpPr>
        <p:spPr>
          <a:xfrm>
            <a:off x="4160520" y="5029200"/>
            <a:ext cx="365760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1" name="Rounded Rectangle 20"/>
          <p:cNvSpPr/>
          <p:nvPr/>
        </p:nvSpPr>
        <p:spPr>
          <a:xfrm>
            <a:off x="7863840" y="5029200"/>
            <a:ext cx="3794760" cy="84124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9611" bIns="89611" lIns="128016" rIns="128016"/>
          <a:lstStyle/>
          <a:p>
            <a:pPr algn="l"/>
            <a:r>
              <a:rPr sz="1200" b="0" i="0">
                <a:solidFill>
                  <a:srgbClr val="262626"/>
                </a:solidFill>
                <a:latin typeface="Meiryo UI"/>
                <a:ea typeface="Meiryo UI"/>
              </a:rPr>
              <a:t/>
            </a:r>
          </a:p>
        </p:txBody>
      </p:sp>
      <p:sp>
        <p:nvSpPr>
          <p:cNvPr id="22" name="Rounded Rectangle 21"/>
          <p:cNvSpPr/>
          <p:nvPr/>
        </p:nvSpPr>
        <p:spPr>
          <a:xfrm>
            <a:off x="548640" y="5989320"/>
            <a:ext cx="11109960" cy="36576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0B4F37"/>
                </a:solidFill>
                <a:latin typeface="Meiryo UI"/>
                <a:ea typeface="Meiryo UI"/>
              </a:rPr>
              <a:t>全体共有では、この表から2〜3件を拾います。整った言葉にしなくて構いません。</a:t>
            </a:r>
          </a:p>
        </p:txBody>
      </p:sp>
      <p:sp>
        <p:nvSpPr>
          <p:cNvPr id="23" name="TextBox 22"/>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4" name="TextBox 23"/>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地域の入口を担いたい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地域へ発信する接点が限られ、紹介が増えていない</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「どの施設・どの先生から、もっとご紹介いただきたいですか？」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〇〇先生を演者にした地域向けの会を、病院と共同で企画する</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透析を回避した成果を、院内外に示す場がない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保存期CKDの症例検討会を、〇〇先生を中心に設計する</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近隣の基幹病院・大学の腎臓内科医とつなぎ、再現の土台をつくる</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打ち手はすべて、〇〇先生に対して。開業医は、その先にいる。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・A：「地域の腎臓診療の入口」を担いたいのではないか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・A：先生を演者にした地域向けの会を、病院と共同で企画する</a:t>
            </a:r>
          </a:p>
          <a:p>
            <a:pPr algn="l">
              <a:lnSpc>
                <a:spcPct val="130000"/>
              </a:lnSpc>
              <a:spcAft>
                <a:spcPts val="1100"/>
              </a:spcAft>
            </a:pPr>
            <a:r>
              <a:rPr sz="1250" b="0" i="0">
                <a:solidFill>
                  <a:srgbClr val="262626"/>
                </a:solidFill>
                <a:latin typeface="Meiryo UI"/>
                <a:ea typeface="Meiryo UI"/>
              </a:rPr>
              <a:t>・B：保存期CKDの症例検討会を、先生を中心に設計する</a:t>
            </a:r>
          </a:p>
          <a:p>
            <a:pPr algn="l">
              <a:lnSpc>
                <a:spcPct val="130000"/>
              </a:lnSpc>
              <a:spcAft>
                <a:spcPts val="1100"/>
              </a:spcAft>
            </a:pPr>
            <a:r>
              <a:rPr sz="1250" b="0" i="0">
                <a:solidFill>
                  <a:srgbClr val="262626"/>
                </a:solidFill>
                <a:latin typeface="Meiryo UI"/>
                <a:ea typeface="Meiryo UI"/>
              </a:rPr>
              <a:t>・C：近隣の基幹病院・大学の腎臓内科医とつなぐ</a:t>
            </a:r>
          </a:p>
          <a:p>
            <a:pPr algn="l">
              <a:lnSpc>
                <a:spcPct val="130000"/>
              </a:lnSpc>
              <a:spcAft>
                <a:spcPts val="1100"/>
              </a:spcAft>
            </a:pPr>
            <a:r>
              <a:rPr sz="1250" b="0" i="0">
                <a:solidFill>
                  <a:srgbClr val="262626"/>
                </a:solidFill>
                <a:latin typeface="Meiryo UI"/>
                <a:ea typeface="Meiryo UI"/>
              </a:rPr>
              <a:t>・先生の症例を、エリア・全国の講演会で発信する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A病院の〇〇先生に対して、何ができるか（仮説Aで4Sに）</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〇〇先生を軸に、エリアの腎疾患患者が適切な時期にA病院へ集まっている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院内の診断力は上がったが、〇〇先生が地域へ発信する接点が</a:t>
            </a:r>
          </a:p>
          <a:p>
            <a:pPr algn="l">
              <a:lnSpc>
                <a:spcPct val="120000"/>
              </a:lnSpc>
              <a:spcAft>
                <a:spcPts val="500"/>
              </a:spcAft>
            </a:pPr>
            <a:r>
              <a:rPr sz="1100" b="0" i="0">
                <a:solidFill>
                  <a:srgbClr val="262626"/>
                </a:solidFill>
                <a:latin typeface="Meiryo UI"/>
                <a:ea typeface="Meiryo UI"/>
              </a:rPr>
              <a:t>まだ限られている（＝仮説A）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〇〇先生への打ち手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・〇〇先生を演者にした地域向けの会を、病院と共同で企画</a:t>
            </a:r>
          </a:p>
          <a:p>
            <a:pPr algn="l">
              <a:lnSpc>
                <a:spcPct val="120000"/>
              </a:lnSpc>
              <a:spcAft>
                <a:spcPts val="500"/>
              </a:spcAft>
            </a:pPr>
            <a:r>
              <a:rPr sz="1100" b="0" i="0">
                <a:solidFill>
                  <a:srgbClr val="262626"/>
                </a:solidFill>
                <a:latin typeface="Meiryo UI"/>
                <a:ea typeface="Meiryo UI"/>
              </a:rPr>
              <a:t>・近隣の基幹病院・大学の腎臓内科医とつなぎ、先生を軸の会に</a:t>
            </a:r>
          </a:p>
          <a:p>
            <a:pPr algn="l">
              <a:lnSpc>
                <a:spcPct val="120000"/>
              </a:lnSpc>
              <a:spcAft>
                <a:spcPts val="500"/>
              </a:spcAft>
            </a:pPr>
            <a:r>
              <a:rPr sz="1100" b="0" i="0">
                <a:solidFill>
                  <a:srgbClr val="262626"/>
                </a:solidFill>
                <a:latin typeface="Meiryo UI"/>
                <a:ea typeface="Meiryo UI"/>
              </a:rPr>
              <a:t>・紹介元になり得る施設のマッピングを、一緒に整理する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・〇〇先生を演者にした地域向け・エリア講演会の企画と運営支援</a:t>
            </a:r>
          </a:p>
          <a:p>
            <a:pPr algn="l">
              <a:lnSpc>
                <a:spcPct val="125000"/>
              </a:lnSpc>
              <a:spcAft>
                <a:spcPts val="800"/>
              </a:spcAft>
            </a:pPr>
            <a:r>
              <a:rPr sz="1150" b="0" i="0">
                <a:solidFill>
                  <a:srgbClr val="262626"/>
                </a:solidFill>
                <a:latin typeface="Meiryo UI"/>
                <a:ea typeface="Meiryo UI"/>
              </a:rPr>
              <a:t>・近隣の基幹病院・大学の腎臓内科医との接点づくり（エリアマッピング）</a:t>
            </a:r>
          </a:p>
          <a:p>
            <a:pPr algn="l">
              <a:lnSpc>
                <a:spcPct val="125000"/>
              </a:lnSpc>
              <a:spcAft>
                <a:spcPts val="800"/>
              </a:spcAft>
            </a:pPr>
            <a:r>
              <a:rPr sz="1150" b="0" i="0">
                <a:solidFill>
                  <a:srgbClr val="262626"/>
                </a:solidFill>
                <a:latin typeface="Meiryo UI"/>
                <a:ea typeface="Meiryo UI"/>
              </a:rPr>
              <a:t>・保存期CKDの症例を共有する場をつくる</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適切な時期に専門医へたどり着き、透析に至らない選択肢が残る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〇〇先生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紹介が増え、地域での存在感と診療実績が積み上がる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担当は大学・基幹病院。その先生のやりたいことを、エリアで実現できる形にする。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